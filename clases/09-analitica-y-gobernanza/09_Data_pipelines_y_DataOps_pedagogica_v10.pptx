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1.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233aa743cce4b0a" /><Relationship Type="http://schemas.openxmlformats.org/officeDocument/2006/relationships/extended-properties" Target="/docProps/app.xml" Id="Rafd021028b9541a6" /><Relationship Type="http://schemas.openxmlformats.org/officeDocument/2006/relationships/officeDocument" Target="/ppt/presentation.xml" Id="Rb25593e4c94a45da" /></Relationships>
</file>

<file path=ppt/presentation.xml><?xml version="1.0" encoding="utf-8"?>
<p:presentation xmlns:p="http://schemas.openxmlformats.org/presentationml/2006/main">
  <p:sldMasterIdLst>
    <p:sldMasterId xmlns:r="http://schemas.openxmlformats.org/officeDocument/2006/relationships" id="2147483648" r:id="Ra0d2c22355bc4124"/>
  </p:sldMasterIdLst>
  <p:notesMasterIdLst>
    <p:notesMasterId xmlns:r="http://schemas.openxmlformats.org/officeDocument/2006/relationships" r:id="R50a3e8cc2e1d4a91"/>
  </p:notesMasterIdLst>
  <p:sldIdLst>
    <p:sldId xmlns:r="http://schemas.openxmlformats.org/officeDocument/2006/relationships" id="256" r:id="R331bffa045ee4c63"/>
    <p:sldId xmlns:r="http://schemas.openxmlformats.org/officeDocument/2006/relationships" id="257" r:id="R9055b978897946a2"/>
    <p:sldId xmlns:r="http://schemas.openxmlformats.org/officeDocument/2006/relationships" id="258" r:id="R573b2aa1b74a4583"/>
    <p:sldId xmlns:r="http://schemas.openxmlformats.org/officeDocument/2006/relationships" id="259" r:id="R2288af8b7b75458d"/>
    <p:sldId xmlns:r="http://schemas.openxmlformats.org/officeDocument/2006/relationships" id="260" r:id="R94551a0a26be4b4f"/>
    <p:sldId xmlns:r="http://schemas.openxmlformats.org/officeDocument/2006/relationships" id="261" r:id="R6deec68f90d64256"/>
    <p:sldId xmlns:r="http://schemas.openxmlformats.org/officeDocument/2006/relationships" id="262" r:id="Rb288876f1e744e93"/>
    <p:sldId xmlns:r="http://schemas.openxmlformats.org/officeDocument/2006/relationships" id="263" r:id="R92f8263d9afb4983"/>
    <p:sldId xmlns:r="http://schemas.openxmlformats.org/officeDocument/2006/relationships" id="264" r:id="Radae9f0d71c84e22"/>
    <p:sldId xmlns:r="http://schemas.openxmlformats.org/officeDocument/2006/relationships" id="265" r:id="Rd70ef3f3a3334095"/>
    <p:sldId xmlns:r="http://schemas.openxmlformats.org/officeDocument/2006/relationships" id="266" r:id="R6d56a21a371648a8"/>
    <p:sldId xmlns:r="http://schemas.openxmlformats.org/officeDocument/2006/relationships" id="267" r:id="Rac6f1779dc894df6"/>
    <p:sldId xmlns:r="http://schemas.openxmlformats.org/officeDocument/2006/relationships" id="268" r:id="R1346652855bc4db0"/>
    <p:sldId xmlns:r="http://schemas.openxmlformats.org/officeDocument/2006/relationships" id="269" r:id="R85ab9931a3c74652"/>
    <p:sldId xmlns:r="http://schemas.openxmlformats.org/officeDocument/2006/relationships" id="270" r:id="R8a75a3bdf36c4c77"/>
    <p:sldId xmlns:r="http://schemas.openxmlformats.org/officeDocument/2006/relationships" id="271" r:id="R666977ebb23a4eda"/>
    <p:sldId xmlns:r="http://schemas.openxmlformats.org/officeDocument/2006/relationships" id="272" r:id="Rf1d60cd3089b43c5"/>
    <p:sldId xmlns:r="http://schemas.openxmlformats.org/officeDocument/2006/relationships" id="273" r:id="Rdd766dfb76374547"/>
    <p:sldId xmlns:r="http://schemas.openxmlformats.org/officeDocument/2006/relationships" id="274" r:id="R46407d8200a949eb"/>
    <p:sldId xmlns:r="http://schemas.openxmlformats.org/officeDocument/2006/relationships" id="275" r:id="R39a642cc99d44913"/>
    <p:sldId xmlns:r="http://schemas.openxmlformats.org/officeDocument/2006/relationships" id="276" r:id="Rba4e795fe1d74e38"/>
    <p:sldId xmlns:r="http://schemas.openxmlformats.org/officeDocument/2006/relationships" id="277" r:id="Rccbee0d8b72040a1"/>
    <p:sldId xmlns:r="http://schemas.openxmlformats.org/officeDocument/2006/relationships" id="278" r:id="R390251e6795648d0"/>
    <p:sldId xmlns:r="http://schemas.openxmlformats.org/officeDocument/2006/relationships" id="279" r:id="R86520d23f1904c2b"/>
    <p:sldId xmlns:r="http://schemas.openxmlformats.org/officeDocument/2006/relationships" id="280" r:id="R0a7860c6d4a0435d"/>
    <p:sldId xmlns:r="http://schemas.openxmlformats.org/officeDocument/2006/relationships" id="281" r:id="R48679607c5b146d0"/>
    <p:sldId xmlns:r="http://schemas.openxmlformats.org/officeDocument/2006/relationships" id="282" r:id="R1bd0f24903cd48d9"/>
    <p:sldId xmlns:r="http://schemas.openxmlformats.org/officeDocument/2006/relationships" id="283" r:id="Rdc075b73a8c14c32"/>
    <p:sldId xmlns:r="http://schemas.openxmlformats.org/officeDocument/2006/relationships" id="284" r:id="R0e66fc9a0b7d41c7"/>
    <p:sldId xmlns:r="http://schemas.openxmlformats.org/officeDocument/2006/relationships" id="285" r:id="R9c7c4ac73aac4294"/>
    <p:sldId xmlns:r="http://schemas.openxmlformats.org/officeDocument/2006/relationships" id="286" r:id="R4c9bfbe8b3c84e49"/>
    <p:sldId xmlns:r="http://schemas.openxmlformats.org/officeDocument/2006/relationships" id="287" r:id="R67091eb870a5428a"/>
    <p:sldId xmlns:r="http://schemas.openxmlformats.org/officeDocument/2006/relationships" id="288" r:id="R5d61666aa8954f7b"/>
    <p:sldId xmlns:r="http://schemas.openxmlformats.org/officeDocument/2006/relationships" id="289" r:id="R4a66e2e46ec04e42"/>
    <p:sldId xmlns:r="http://schemas.openxmlformats.org/officeDocument/2006/relationships" id="290" r:id="R302113d93b0d4263"/>
    <p:sldId xmlns:r="http://schemas.openxmlformats.org/officeDocument/2006/relationships" id="291" r:id="Rb6e3efd609584261"/>
    <p:sldId xmlns:r="http://schemas.openxmlformats.org/officeDocument/2006/relationships" id="292" r:id="Rcb50954d12c74939"/>
    <p:sldId xmlns:r="http://schemas.openxmlformats.org/officeDocument/2006/relationships" id="293" r:id="R2efebfff6f174bb8"/>
    <p:sldId xmlns:r="http://schemas.openxmlformats.org/officeDocument/2006/relationships" id="294" r:id="Raccf235f2fcd496b"/>
    <p:sldId xmlns:r="http://schemas.openxmlformats.org/officeDocument/2006/relationships" id="295" r:id="R0886e83568ee438e"/>
    <p:sldId xmlns:r="http://schemas.openxmlformats.org/officeDocument/2006/relationships" id="296" r:id="R528d08888e9c4bff"/>
    <p:sldId xmlns:r="http://schemas.openxmlformats.org/officeDocument/2006/relationships" id="297" r:id="Rbf6574eb5b9d498e"/>
    <p:sldId xmlns:r="http://schemas.openxmlformats.org/officeDocument/2006/relationships" id="298" r:id="Rf27f0524e0214b53"/>
    <p:sldId xmlns:r="http://schemas.openxmlformats.org/officeDocument/2006/relationships" id="299" r:id="Rbe4aa8121bee4ad1"/>
    <p:sldId xmlns:r="http://schemas.openxmlformats.org/officeDocument/2006/relationships" id="300" r:id="Rb4db9871883e4cca"/>
    <p:sldId xmlns:r="http://schemas.openxmlformats.org/officeDocument/2006/relationships" id="301" r:id="R0aa39e375dc546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86c5e6bf9c4412" /><Relationship Type="http://schemas.openxmlformats.org/officeDocument/2006/relationships/slideMaster" Target="/ppt/slideMasters/slideMaster1.xml" Id="Ra0d2c22355bc4124" /><Relationship Type="http://schemas.openxmlformats.org/officeDocument/2006/relationships/notesMaster" Target="/ppt/notesMasters/notesMaster1.xml" Id="R50a3e8cc2e1d4a91" /><Relationship Type="http://schemas.openxmlformats.org/officeDocument/2006/relationships/presProps" Target="/ppt/presProps.xml" Id="Rc3f9b35dd7284db6" /><Relationship Type="http://schemas.openxmlformats.org/officeDocument/2006/relationships/tableStyles" Target="/ppt/tableStyles.xml" Id="R971440ded265421b" /><Relationship Type="http://schemas.openxmlformats.org/officeDocument/2006/relationships/slide" Target="/ppt/slides/slide1.xml" Id="R331bffa045ee4c63" /><Relationship Type="http://schemas.openxmlformats.org/officeDocument/2006/relationships/slide" Target="/ppt/slides/slide2.xml" Id="R9055b978897946a2" /><Relationship Type="http://schemas.openxmlformats.org/officeDocument/2006/relationships/slide" Target="/ppt/slides/slide3.xml" Id="R573b2aa1b74a4583" /><Relationship Type="http://schemas.openxmlformats.org/officeDocument/2006/relationships/slide" Target="/ppt/slides/slide4.xml" Id="R2288af8b7b75458d" /><Relationship Type="http://schemas.openxmlformats.org/officeDocument/2006/relationships/slide" Target="/ppt/slides/slide5.xml" Id="R94551a0a26be4b4f" /><Relationship Type="http://schemas.openxmlformats.org/officeDocument/2006/relationships/slide" Target="/ppt/slides/slide6.xml" Id="R6deec68f90d64256" /><Relationship Type="http://schemas.openxmlformats.org/officeDocument/2006/relationships/slide" Target="/ppt/slides/slide7.xml" Id="Rb288876f1e744e93" /><Relationship Type="http://schemas.openxmlformats.org/officeDocument/2006/relationships/slide" Target="/ppt/slides/slide8.xml" Id="R92f8263d9afb4983" /><Relationship Type="http://schemas.openxmlformats.org/officeDocument/2006/relationships/slide" Target="/ppt/slides/slide9.xml" Id="Radae9f0d71c84e22" /><Relationship Type="http://schemas.openxmlformats.org/officeDocument/2006/relationships/slide" Target="/ppt/slides/slide10.xml" Id="Rd70ef3f3a3334095" /><Relationship Type="http://schemas.openxmlformats.org/officeDocument/2006/relationships/slide" Target="/ppt/slides/slide11.xml" Id="R6d56a21a371648a8" /><Relationship Type="http://schemas.openxmlformats.org/officeDocument/2006/relationships/slide" Target="/ppt/slides/slide12.xml" Id="Rac6f1779dc894df6" /><Relationship Type="http://schemas.openxmlformats.org/officeDocument/2006/relationships/slide" Target="/ppt/slides/slide13.xml" Id="R1346652855bc4db0" /><Relationship Type="http://schemas.openxmlformats.org/officeDocument/2006/relationships/slide" Target="/ppt/slides/slide14.xml" Id="R85ab9931a3c74652" /><Relationship Type="http://schemas.openxmlformats.org/officeDocument/2006/relationships/slide" Target="/ppt/slides/slide15.xml" Id="R8a75a3bdf36c4c77" /><Relationship Type="http://schemas.openxmlformats.org/officeDocument/2006/relationships/slide" Target="/ppt/slides/slide16.xml" Id="R666977ebb23a4eda" /><Relationship Type="http://schemas.openxmlformats.org/officeDocument/2006/relationships/slide" Target="/ppt/slides/slide17.xml" Id="Rf1d60cd3089b43c5" /><Relationship Type="http://schemas.openxmlformats.org/officeDocument/2006/relationships/slide" Target="/ppt/slides/slide18.xml" Id="Rdd766dfb76374547" /><Relationship Type="http://schemas.openxmlformats.org/officeDocument/2006/relationships/slide" Target="/ppt/slides/slide19.xml" Id="R46407d8200a949eb" /><Relationship Type="http://schemas.openxmlformats.org/officeDocument/2006/relationships/slide" Target="/ppt/slides/slide20.xml" Id="R39a642cc99d44913" /><Relationship Type="http://schemas.openxmlformats.org/officeDocument/2006/relationships/slide" Target="/ppt/slides/slide21.xml" Id="Rba4e795fe1d74e38" /><Relationship Type="http://schemas.openxmlformats.org/officeDocument/2006/relationships/slide" Target="/ppt/slides/slide22.xml" Id="Rccbee0d8b72040a1" /><Relationship Type="http://schemas.openxmlformats.org/officeDocument/2006/relationships/slide" Target="/ppt/slides/slide23.xml" Id="R390251e6795648d0" /><Relationship Type="http://schemas.openxmlformats.org/officeDocument/2006/relationships/slide" Target="/ppt/slides/slide24.xml" Id="R86520d23f1904c2b" /><Relationship Type="http://schemas.openxmlformats.org/officeDocument/2006/relationships/slide" Target="/ppt/slides/slide25.xml" Id="R0a7860c6d4a0435d" /><Relationship Type="http://schemas.openxmlformats.org/officeDocument/2006/relationships/slide" Target="/ppt/slides/slide26.xml" Id="R48679607c5b146d0" /><Relationship Type="http://schemas.openxmlformats.org/officeDocument/2006/relationships/slide" Target="/ppt/slides/slide27.xml" Id="R1bd0f24903cd48d9" /><Relationship Type="http://schemas.openxmlformats.org/officeDocument/2006/relationships/slide" Target="/ppt/slides/slide28.xml" Id="Rdc075b73a8c14c32" /><Relationship Type="http://schemas.openxmlformats.org/officeDocument/2006/relationships/slide" Target="/ppt/slides/slide29.xml" Id="R0e66fc9a0b7d41c7" /><Relationship Type="http://schemas.openxmlformats.org/officeDocument/2006/relationships/slide" Target="/ppt/slides/slide30.xml" Id="R9c7c4ac73aac4294" /><Relationship Type="http://schemas.openxmlformats.org/officeDocument/2006/relationships/slide" Target="/ppt/slides/slide31.xml" Id="R4c9bfbe8b3c84e49" /><Relationship Type="http://schemas.openxmlformats.org/officeDocument/2006/relationships/slide" Target="/ppt/slides/slide32.xml" Id="R67091eb870a5428a" /><Relationship Type="http://schemas.openxmlformats.org/officeDocument/2006/relationships/slide" Target="/ppt/slides/slide33.xml" Id="R5d61666aa8954f7b" /><Relationship Type="http://schemas.openxmlformats.org/officeDocument/2006/relationships/slide" Target="/ppt/slides/slide34.xml" Id="R4a66e2e46ec04e42" /><Relationship Type="http://schemas.openxmlformats.org/officeDocument/2006/relationships/slide" Target="/ppt/slides/slide35.xml" Id="R302113d93b0d4263" /><Relationship Type="http://schemas.openxmlformats.org/officeDocument/2006/relationships/slide" Target="/ppt/slides/slide36.xml" Id="Rb6e3efd609584261" /><Relationship Type="http://schemas.openxmlformats.org/officeDocument/2006/relationships/slide" Target="/ppt/slides/slide37.xml" Id="Rcb50954d12c74939" /><Relationship Type="http://schemas.openxmlformats.org/officeDocument/2006/relationships/slide" Target="/ppt/slides/slide38.xml" Id="R2efebfff6f174bb8" /><Relationship Type="http://schemas.openxmlformats.org/officeDocument/2006/relationships/slide" Target="/ppt/slides/slide39.xml" Id="Raccf235f2fcd496b" /><Relationship Type="http://schemas.openxmlformats.org/officeDocument/2006/relationships/slide" Target="/ppt/slides/slide40.xml" Id="R0886e83568ee438e" /><Relationship Type="http://schemas.openxmlformats.org/officeDocument/2006/relationships/slide" Target="/ppt/slides/slide41.xml" Id="R528d08888e9c4bff" /><Relationship Type="http://schemas.openxmlformats.org/officeDocument/2006/relationships/slide" Target="/ppt/slides/slide42.xml" Id="Rbf6574eb5b9d498e" /><Relationship Type="http://schemas.openxmlformats.org/officeDocument/2006/relationships/slide" Target="/ppt/slides/slide43.xml" Id="Rf27f0524e0214b53" /><Relationship Type="http://schemas.openxmlformats.org/officeDocument/2006/relationships/slide" Target="/ppt/slides/slide44.xml" Id="Rbe4aa8121bee4ad1" /><Relationship Type="http://schemas.openxmlformats.org/officeDocument/2006/relationships/slide" Target="/ppt/slides/slide45.xml" Id="Rb4db9871883e4cca" /><Relationship Type="http://schemas.openxmlformats.org/officeDocument/2006/relationships/slide" Target="/ppt/slides/slide46.xml" Id="R0aa39e375dc546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517b772ece44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981c1aca384099" /><Relationship Type="http://schemas.openxmlformats.org/officeDocument/2006/relationships/notesMaster" Target="/ppt/notesMasters/notesMaster1.xml" Id="Rcc1b80754c694d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2108d8d5be4ae6" /><Relationship Type="http://schemas.openxmlformats.org/officeDocument/2006/relationships/notesMaster" Target="/ppt/notesMasters/notesMaster1.xml" Id="R49017ace51b040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4f4513dfad48d0" /><Relationship Type="http://schemas.openxmlformats.org/officeDocument/2006/relationships/notesMaster" Target="/ppt/notesMasters/notesMaster1.xml" Id="R939afd38f0d946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cf21b703724b77" /><Relationship Type="http://schemas.openxmlformats.org/officeDocument/2006/relationships/notesMaster" Target="/ppt/notesMasters/notesMaster1.xml" Id="Ra96026302cd04e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31e90ccc5e4ce8" /><Relationship Type="http://schemas.openxmlformats.org/officeDocument/2006/relationships/notesMaster" Target="/ppt/notesMasters/notesMaster1.xml" Id="R6d333724c82845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73d52928ee4e88" /><Relationship Type="http://schemas.openxmlformats.org/officeDocument/2006/relationships/notesMaster" Target="/ppt/notesMasters/notesMaster1.xml" Id="R361a1db792ba4d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67ec9b1481459f" /><Relationship Type="http://schemas.openxmlformats.org/officeDocument/2006/relationships/notesMaster" Target="/ppt/notesMasters/notesMaster1.xml" Id="R91ed9081575340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86156a28b94ac5" /><Relationship Type="http://schemas.openxmlformats.org/officeDocument/2006/relationships/notesMaster" Target="/ppt/notesMasters/notesMaster1.xml" Id="Ra6b988662a5b49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30c8e651064d5f" /><Relationship Type="http://schemas.openxmlformats.org/officeDocument/2006/relationships/notesMaster" Target="/ppt/notesMasters/notesMaster1.xml" Id="Rfaa923e1b30d4f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462e5ff01847e7" /><Relationship Type="http://schemas.openxmlformats.org/officeDocument/2006/relationships/notesMaster" Target="/ppt/notesMasters/notesMaster1.xml" Id="R9eb3260445864b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c32ddf4cce4d5f" /><Relationship Type="http://schemas.openxmlformats.org/officeDocument/2006/relationships/notesMaster" Target="/ppt/notesMasters/notesMaster1.xml" Id="R94dddc84fc7245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b07337617b4069" /><Relationship Type="http://schemas.openxmlformats.org/officeDocument/2006/relationships/notesMaster" Target="/ppt/notesMasters/notesMaster1.xml" Id="Rfd6ae9c6092440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27cc3ccc804a06" /><Relationship Type="http://schemas.openxmlformats.org/officeDocument/2006/relationships/notesMaster" Target="/ppt/notesMasters/notesMaster1.xml" Id="Re74b7bfcf77b4f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59dcdba3f44343" /><Relationship Type="http://schemas.openxmlformats.org/officeDocument/2006/relationships/notesMaster" Target="/ppt/notesMasters/notesMaster1.xml" Id="Rb6a0e7d74aca49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6bb929c4374e5a" /><Relationship Type="http://schemas.openxmlformats.org/officeDocument/2006/relationships/notesMaster" Target="/ppt/notesMasters/notesMaster1.xml" Id="R5e87cccf589b4b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f6a953b9084f5b" /><Relationship Type="http://schemas.openxmlformats.org/officeDocument/2006/relationships/notesMaster" Target="/ppt/notesMasters/notesMaster1.xml" Id="Rb81cdaf8d322403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99b5f14a3ae44c4" /><Relationship Type="http://schemas.openxmlformats.org/officeDocument/2006/relationships/notesMaster" Target="/ppt/notesMasters/notesMaster1.xml" Id="R1017406183bc4c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79cc678278a4329" /><Relationship Type="http://schemas.openxmlformats.org/officeDocument/2006/relationships/notesMaster" Target="/ppt/notesMasters/notesMaster1.xml" Id="Ra8988c11d5884e2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68953d062df4069" /><Relationship Type="http://schemas.openxmlformats.org/officeDocument/2006/relationships/notesMaster" Target="/ppt/notesMasters/notesMaster1.xml" Id="Rfe6ea6aa66894a8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a5cd9020cd4344" /><Relationship Type="http://schemas.openxmlformats.org/officeDocument/2006/relationships/notesMaster" Target="/ppt/notesMasters/notesMaster1.xml" Id="R7acfc049c0534db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ebb30169cb40c7" /><Relationship Type="http://schemas.openxmlformats.org/officeDocument/2006/relationships/notesMaster" Target="/ppt/notesMasters/notesMaster1.xml" Id="Rea5193befd5d485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16ec4123c5544f5" /><Relationship Type="http://schemas.openxmlformats.org/officeDocument/2006/relationships/notesMaster" Target="/ppt/notesMasters/notesMaster1.xml" Id="R486084e0fea343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cae8b16ca214bae" /><Relationship Type="http://schemas.openxmlformats.org/officeDocument/2006/relationships/notesMaster" Target="/ppt/notesMasters/notesMaster1.xml" Id="R35b172f28bd4477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1277b857f6e45b4" /><Relationship Type="http://schemas.openxmlformats.org/officeDocument/2006/relationships/notesMaster" Target="/ppt/notesMasters/notesMaster1.xml" Id="R17c80f2f97594af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9892319479045d7" /><Relationship Type="http://schemas.openxmlformats.org/officeDocument/2006/relationships/notesMaster" Target="/ppt/notesMasters/notesMaster1.xml" Id="R46bad425d455440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41fb079862744b3" /><Relationship Type="http://schemas.openxmlformats.org/officeDocument/2006/relationships/notesMaster" Target="/ppt/notesMasters/notesMaster1.xml" Id="Rbaa494c880b84ea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ed07f4134fc4a9c" /><Relationship Type="http://schemas.openxmlformats.org/officeDocument/2006/relationships/notesMaster" Target="/ppt/notesMasters/notesMaster1.xml" Id="R443d8adc6d304dc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0c54fee9b7743d8" /><Relationship Type="http://schemas.openxmlformats.org/officeDocument/2006/relationships/notesMaster" Target="/ppt/notesMasters/notesMaster1.xml" Id="Re301723a5aba43e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60a4023457445b2" /><Relationship Type="http://schemas.openxmlformats.org/officeDocument/2006/relationships/notesMaster" Target="/ppt/notesMasters/notesMaster1.xml" Id="R77b2c60d8b9b4a3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f4172bc9b364689" /><Relationship Type="http://schemas.openxmlformats.org/officeDocument/2006/relationships/notesMaster" Target="/ppt/notesMasters/notesMaster1.xml" Id="Ra76fea8f67454dd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d52cd7bd1964f5c" /><Relationship Type="http://schemas.openxmlformats.org/officeDocument/2006/relationships/notesMaster" Target="/ppt/notesMasters/notesMaster1.xml" Id="Rcef3bddefcd44fe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4f0f7da184f46d9" /><Relationship Type="http://schemas.openxmlformats.org/officeDocument/2006/relationships/notesMaster" Target="/ppt/notesMasters/notesMaster1.xml" Id="R2d45ce852b2d44b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9b5d646108c4792" /><Relationship Type="http://schemas.openxmlformats.org/officeDocument/2006/relationships/notesMaster" Target="/ppt/notesMasters/notesMaster1.xml" Id="Rc0a971620f53428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17120be60b240e3" /><Relationship Type="http://schemas.openxmlformats.org/officeDocument/2006/relationships/notesMaster" Target="/ppt/notesMasters/notesMaster1.xml" Id="R61844d880d3244b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b51db63a84346f1" /><Relationship Type="http://schemas.openxmlformats.org/officeDocument/2006/relationships/notesMaster" Target="/ppt/notesMasters/notesMaster1.xml" Id="R78a3cd8530804a3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a00a75ddae04e01" /><Relationship Type="http://schemas.openxmlformats.org/officeDocument/2006/relationships/notesMaster" Target="/ppt/notesMasters/notesMaster1.xml" Id="Re3bf9d0fb72f4ac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5be5f6a86df43d0" /><Relationship Type="http://schemas.openxmlformats.org/officeDocument/2006/relationships/notesMaster" Target="/ppt/notesMasters/notesMaster1.xml" Id="R85dacee4bc7743d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ae0b5755cfb4114" /><Relationship Type="http://schemas.openxmlformats.org/officeDocument/2006/relationships/notesMaster" Target="/ppt/notesMasters/notesMaster1.xml" Id="R5389fdd9cf6d474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21126693a0c46c5" /><Relationship Type="http://schemas.openxmlformats.org/officeDocument/2006/relationships/notesMaster" Target="/ppt/notesMasters/notesMaster1.xml" Id="Rdec6013a42cd49b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31797b847434d73" /><Relationship Type="http://schemas.openxmlformats.org/officeDocument/2006/relationships/notesMaster" Target="/ppt/notesMasters/notesMaster1.xml" Id="Ra98d2e3eb01249c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ae702c75a6d4ad9" /><Relationship Type="http://schemas.openxmlformats.org/officeDocument/2006/relationships/notesMaster" Target="/ppt/notesMasters/notesMaster1.xml" Id="Raf61b749fdbd425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93b950b97444086" /><Relationship Type="http://schemas.openxmlformats.org/officeDocument/2006/relationships/notesMaster" Target="/ppt/notesMasters/notesMaster1.xml" Id="R5635f42fdb514ff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9698a2aa5d54391" /><Relationship Type="http://schemas.openxmlformats.org/officeDocument/2006/relationships/notesMaster" Target="/ppt/notesMasters/notesMaster1.xml" Id="Rabc3f6f30fdb484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27e92a7d4824f3d" /><Relationship Type="http://schemas.openxmlformats.org/officeDocument/2006/relationships/notesMaster" Target="/ppt/notesMasters/notesMaster1.xml" Id="Rdb64e27db83249a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d6d93022e5f41e6" /><Relationship Type="http://schemas.openxmlformats.org/officeDocument/2006/relationships/notesMaster" Target="/ppt/notesMasters/notesMaster1.xml" Id="R5c7c6f161860468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23a3f3a80bf445b" /><Relationship Type="http://schemas.openxmlformats.org/officeDocument/2006/relationships/notesMaster" Target="/ppt/notesMasters/notesMaster1.xml" Id="R7057b02768f644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Viernes 30 de octubre de 2026. Tema y alcance aprobados. La ilustración de portada procede de la presentación institucional anterior y cumple una función decorativa.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Presentar estos objetivos como capacidades observables. Pedir un ejemplo de un problema encontrado en los notebooks previos. El viernes es explicación y demostración sin entrega ni calificación. El sábado se aplica E12 dentro del alcance aprobado.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Ilustración explicativa generada con la herramienta integrada image_gen. Sin datos cuantitativos observados. Las etiquetas son texto editable. Prompts y archivos originales: Recursos_09_v7.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Antes de definir términos, plantear un reporte mensual preparado manualmente por dos personas. Una excluye territorios vacíos y otra los conserva. Ambas sumas pueden ser correctas para reglas distintas. El problema es que esas reglas no quedaron acordadas ni registradas. Pedir que propongan qué habría que conservar. Recuperar sus respuestas al definir entradas, tareas y controles. El beneficio no depende del volumen: al crecer este, repetir manualmente las decisiones aumenta la dificultad de revisión.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https://airflow.apache.org/docs/apache-airflow/stable/core-concepts/dags.html</a:t>
            </a:r>
          </a:p>
          <a:p xmlns:a="http://schemas.openxmlformats.org/drawingml/2006/main">
            <a:r>
              <a:t>Definición de trabajo para el curso. Distinguir el diseño del proceso y una ejecución concreta. La automatización puede empezar con una secuencia local; no depende de instalar un orquestador. Ejemplo verbal: elaborar cada mes el mismo reporte con un corte diferente.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Ilustración conceptual generada con image_gen. Los títulos de las cinco etapas son texto editable. Izquierda: originales y procedencia. Validación: separar aceptados y rechazados con motivos. Transformación: organizar y normalizar filas. Publicación: detalle y agregado comprobados. Consulta: consumo de los resultados. La línea inferior representa registros de control vinculados a las etapas. Las cantidades dibujadas no son datos observados. Los procesos detallados y sus controles se desarrollan posteriormente. Prompt y archivo: Recursos_09_v7/LEEME.md y pipeline_completo.png.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https://airflow.apache.org/docs/apache-airflow/stable/core-concepts/dags.html</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https://airflow.apache.org/docs/apache-airflow/stable/core-concepts/dags.html</a:t>
            </a:r>
          </a:p>
          <a:p xmlns:a="http://schemas.openxmlformats.org/drawingml/2006/main">
            <a:r>
              <a:t>Arriba: qué datos entrega cada etapa. Abajo: qué condiciones habilitan el avance. Las flechas superiores representan derivación de datos; las inferiores, dependencia de control. En una implementación ambas relaciones deben estar explícitas.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https://airflow.apache.org/docs/apache-airflow/stable/core-concepts/dags.html</a:t>
            </a:r>
          </a:p>
          <a:p xmlns:a="http://schemas.openxmlformats.org/drawingml/2006/main">
            <a:r>
              <a:t>Grafo: conjunto de tareas conectadas. Dirigido: cada conexión tiene sentido. Acíclico: no se vuelve a una tarea anterior dentro de este modelo de ejecución. La concurrencia es posible, no obligatoria; un notebook puede ejecutar C y D secuencialmente. No presentar un ciclo de mejora DataOps como una dependencia cíclica del DAG.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https://airflow.apache.org/docs/apache-airflow/stable/core-concepts/dags.html</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https://airflow.apache.org/docs/apache-airflow/stable/core-concepts/dags.html</a:t>
            </a:r>
          </a:p>
          <a:p xmlns:a="http://schemas.openxmlformats.org/drawingml/2006/main">
            <a:r>
              <a:t>No instalar Airflow en el ejercicio. Mostrar el DAG anterior como modelo. Un cuaderno ejecutado desde el inicio permite comprobar dependencias locales, pero no acredita programación automática, ejecución distribuida o recuperación administrada.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Conectar con el notebook NASA. En esta sesión el caso es batch local; no se exige integrar streaming al proyecto. No equiparar una carpeta de archivos finita con un servicio permanente de eventos.</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https://dataopsmanifesto.org/en/</a:t>
            </a:r>
          </a:p>
          <a:p xmlns:a="http://schemas.openxmlformats.org/drawingml/2006/main">
            <a:r>
              <a:t>Explicación aplicada de colaboración, reproducibilidad, calidad y monitoreo. Separar tres problemas: código que falla, dato que incumple una regla y cambio legítimo de la fuente. DataOps organiza el trabajo necesario para distinguirlos y responder. Pedir un ejemplo de cada problema. Evitar presentar la compra de una plataforma como solución suficiente.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https://dataopsmanifesto.org/en/</a:t>
            </a:r>
          </a:p>
          <a:p xmlns:a="http://schemas.openxmlformats.org/drawingml/2006/main">
            <a:r>
              <a:t>Síntesis didáctica basada en colaboración, reproducibilidad, calidad y monitoreo del manifiesto; no es una norma de certificación. Presentar DataOps como prácticas y responsabilidades. Una plataforma puede apoyarlas, pero instalarla no demuestra que se apliquen.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https://dataopsmanifesto.org/en/</a:t>
            </a:r>
          </a:p>
          <a:p xmlns:a="http://schemas.openxmlformats.org/drawingml/2006/main">
            <a:r>
              <a:t>Recorrer el ciclo con una pregunta de negocio antes de mencionar herramientas. El equipo vuelve a revisar la necesidad tras la corrección. Este diagrama es un ciclo de mejora, no el DAG de una ejecución. La publicación requiere controles aprobados.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https://dataopsmanifesto.org/en/</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https://dataopsmanifesto.org/en/</a:t>
            </a:r>
          </a:p>
          <a:p xmlns:a="http://schemas.openxmlformats.org/drawingml/2006/main">
            <a:r>
              <a:t>Diferenciar versión del archivo, versión del código y número de ejecución. Una huella permite identificar el contenido, pero no conserva el archivo: se necesita ubicación o copia accesible.</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https://docs.greatexpectations.io/docs/reference/learn/gx_in_your_data_pipeline/gx_in_your_data_pipeline_lp/</a:t>
            </a:r>
          </a:p>
          <a:p xmlns:a="http://schemas.openxmlformats.org/drawingml/2006/main">
            <a:r>
              <a:t>Distinguir prueba de una transformación con caso conocido y validación de los datos de cada ejecución. En clase pueden implementarse como comprobaciones sencillas en Python o SQL. No requiere instalar Great Expectations.</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https://dataopsmanifesto.org/en/</a:t>
            </a:r>
          </a:p>
          <a:p xmlns:a="http://schemas.openxmlformats.org/drawingml/2006/main">
            <a:r>
              <a:t>Introducir observabilidad como capacidad de entender lo ocurrido mediante evidencias relacionadas. Un aumento de rechazos merece investigación; no prueba por sí solo una falla. Los umbrales dependen del contrato y del contexto. El ejercicio conserva registros locales, no un servicio de alertas continuo.</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https://airflow.apache.org/docs/apache-airflow/stable/core-concepts/dags.html</a:t>
            </a:r>
          </a:p>
          <a:p xmlns:a="http://schemas.openxmlformats.org/drawingml/2006/main">
            <a:r>
              <a:t>Definir reintento: repetir una tarea tras un fallo. La política debe incluir límite y condiciones. Antes de repetir una escritura hay que entender si dejó efectos parciales. No prometer recuperación automática del notebook.</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Definición operacional para el ejercicio: el resultado publicado del mismo corte no cambia al repetir el proceso con insumos y reglas iguales. Crear una carpeta candidata por ejecución y comparar contenido antes de identificar una versión válida. No usar igualdad binaria de Parquet como sustituto de igualdad de datos.</a:t>
            </a:r>
          </a:p>
          <a:p xmlns:a="http://schemas.openxmlformats.org/drawingml/2006/main">
            <a:r>
              <a:t>Explicar la palabra antes del diagrama: una operación es idempotente si repetirla conserva su efecto esperado. En este ejercicio se reconstruye el mismo corte en una salida candidata identificada. La comparación del contenido detecta cambios accidentales. Reproducibilidad también exige entradas, reglas y configuración identificadas; no confundir ambos conceptos.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El propósito no añade instalaciones obligatorias ni nuevos entregables ponderados. Spark puede mantenerse si el entorno ya funciona. El notebook de referencia aún debe prepararse y ejecutarse; esta presentación no acredita su existencia.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Esta es la transición explícita entre por qué y cómo. Explicar que las reglas pertenecen al ejemplo didáctico, no constituyen una afirmación universal sobre los archivos PQRS. El territorio ausente se conserva para no ocultar observaciones por falta de información. El período inválido impide asignar la fila al corte del ejemplo. Conservar la fila rechazada permite revisar esa exclusión. Los seis registros posteriores son hipotéticos. Antes del ejemplo, presentar la comparación industrial para situar esta solución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Consulta de fuentes: 30 de octubre de 2026. Panorama de patrones documentados actualmente, sin ranking ni porcentajes de adopción. ETL: extraer, transformar y cargar. Ejemplo de implementación: AWS Glue con motor Spark. Útil cuando se requiere preparar o filtrar datos antes del destino de consumo. ELT: extraer, cargar y transformar dentro del destino. Ejemplo: ingesta seguida de modelos SQL con dbt en un almacén de datos. El conector de ingesta es una pieza adicional. Medallion: Bronze conserva datos recibidos, Silver valida y organiza, Gold sirve productos de consumo. Puede combinarse con lotes, eventos, ETL o ELT. Ejemplo: Spark con tablas gestionadas en un lakehouse. Nombrar las capas no garantiza calidad: las reglas y pruebas la sostienen. CDC significa captura de cambios en datos. Debezium puede capturar inserciones, modificaciones y eliminaciones; Kafka es una opción de transporte, no un requisito universal de Debezium. El destino debe aplicar los cambios y tratar duplicados y orden según el diseño. CDC no equivale a todo streaming. Orquestación, pruebas, permisos y observabilidad atraviesan los cuatro esquemas. Airflow ejemplifica coordinación, no una quinta arquitectura de almacenamiento. En el ejercicio local distinguimos originales, detalle validado y agregado, lo que ilustra separación por capas sin acreditar un lakehouse de producción.</a:t>
            </a:r>
          </a:p>
          <a:p xmlns:a="http://schemas.openxmlformats.org/drawingml/2006/main">
            <a:r>
              <a:t>Fuentes primarias:</a:t>
            </a:r>
          </a:p>
          <a:p xmlns:a="http://schemas.openxmlformats.org/drawingml/2006/main">
            <a:r>
              <a:t>https://docs.aws.amazon.com/glue/latest/dg/what-is-glue.html</a:t>
            </a:r>
          </a:p>
          <a:p xmlns:a="http://schemas.openxmlformats.org/drawingml/2006/main">
            <a:r>
              <a:t>https://www.getdbt.com/blog/elt-pipeline</a:t>
            </a:r>
          </a:p>
          <a:p xmlns:a="http://schemas.openxmlformats.org/drawingml/2006/main">
            <a:r>
              <a:t>https://learn.microsoft.com/en-us/azure/databricks/lakehouse/medallion</a:t>
            </a:r>
          </a:p>
          <a:p xmlns:a="http://schemas.openxmlformats.org/drawingml/2006/main">
            <a:r>
              <a:t>https://debezium.io/documentation/reference/stable/architecture.html</a:t>
            </a:r>
          </a:p>
          <a:p xmlns:a="http://schemas.openxmlformats.org/drawingml/2006/main">
            <a:r>
              <a:t>https://airflow.apache.org/docs/apache-airflow/stable/core-concepts/dags.html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No afirmar que cada corte contiene identificadores únicos de reporte. Revisar el campo territorial real y su significado antes de la transformación. Las muestras de primeras filas no representan estadísticamente todo el corte.</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La copia de trabajo puede ser una lectura del original, no exige duplicar físicamente archivos voluminosos. La huella identifica contenido. Conservar licencia y fecha de obtención cuando corresponda. Los conectores expresan relaciones de procedencia.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Pedir que los estudiantes decidan cuántas filas deberían llegar al detalle. Las filas 1 y 2 son reportes diferentes en el ejemplo y no se eliminan por compartir dimensiones. No atribuir estos seis registros a la fuente real.</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Si una fila tiene dos problemas, se cuenta una vez como rechazada y conserva ambos motivos. El territorio no informado permanece entre los aceptados según la regla de este ejemplo.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Las filas del detalle y las del agregado tienen granularidades distintas. Las líneas muestran pertenencia a cada grupo. I y II identifican los semestres de 2024 del ejemplo hipotético.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Cifras hipotéticas del ejemplo de seis filas. Gráfica nativa editable con datos integrados. No corresponde a una ejecución ni a estadísticas observadas de Supersalud.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Las dos salidas son alternativas del control. Pedir que expliquen en cuál quedaría una conciliación fallida, aun si existe el archivo. No es una prueba de atomicidad ni un orquestador de producción.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https://duckdb.org/docs/stable/data/parquet/overview</a:t>
            </a:r>
          </a:p>
          <a:p xmlns:a="http://schemas.openxmlformats.org/drawingml/2006/main">
            <a:r>
              <a:t>Rutas y nombres de columnas didácticos. En el notebook utilizar las rutas detectadas y campos normalizados. No se afirma que este archivo ya exista.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Para el detalle sin clave única se comparan filas y multiplicidades. La organización binaria de Parquet puede cambiar sin modificar el resultado. Una muestra de filas y el total no son prueba de igualdad completa.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Los valores derivan del ejemplo didáctico de seis filas y no de una ejecución del kit. Mostrar que intercambiar los valores de dos grupos conserva el total pero cambia la respuesta.</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Esta tabla es una ficha didáctica y no un registro real de ejecución. La comparación completa incluye multiplicidades del detalle, claves del agregado y medidas. La aceptación es un procedimiento local, no una transacción distribuida.</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Ejemplo hipotético. Una fila de Boyacá pasa a Bogotá. Los otros grupos no cambian. El cero se muestra para comparar; el agregado no necesita guardar una fila vacía. Primero distinguir cambio legítimo de datos y fallo de reejecución. Si cambiara la regla, se identificaría también su nueva versión.</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https://iceberg.apache.org/docs/latest/spark-queries/ y https://iceberg.apache.org/docs/latest/spark-writes/</a:t>
            </a:r>
          </a:p>
          <a:p xmlns:a="http://schemas.openxmlformats.org/drawingml/2006/main">
            <a:r>
              <a:t>Esquema simplificado de responsabilidades. El catálogo localiza metadatos y coordina operaciones según su implementación. No se atribuye a un catálogo local una garantía genérica de concurrencia o control de acceso.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https://iceberg.apache.org/docs/latest/spark-queries/ y https://iceberg.apache.org/docs/latest/spark-writes/</a:t>
            </a:r>
          </a:p>
          <a:p xmlns:a="http://schemas.openxmlformats.org/drawingml/2006/main">
            <a:r>
              <a:t>Una fila cambia de Boyacá a Bogotá para ilustrar una corrección. El valor cero se presenta como resumen explicativo, no exige que el agregado publique un grupo sin filas. El estado anterior está disponible mientras el snapshot siga retenido.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https://iceberg.apache.org/docs/latest/spark-queries/ y https://iceberg.apache.org/docs/latest/spark-writes/</a:t>
            </a:r>
          </a:p>
          <a:p xmlns:a="http://schemas.openxmlformats.org/drawingml/2006/main">
            <a:r>
              <a:t>https://hudi.apache.org/docs/quick-start-guide/</a:t>
            </a:r>
          </a:p>
          <a:p xmlns:a="http://schemas.openxmlformats.org/drawingml/2006/main">
            <a:r>
              <a:t>La gestión de estado de una tabla no reemplaza un orquestador ni comprueba por sí sola reglas de negocio. Mostrar una demostración breve solo si el entorno ya está preparado. No exigir instalación al estudiante.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Solución orientadora: recibir → validar → guardar detalle → agregar → conciliar → identificar publicación; validar también produce rechazados. Si falta el archivo no se puede validar. El consumidor necesita alcance, versión utilizable y resultado de controles. Aceptar diagramas alternativos si explicitan condiciones y productos. Realizar al finalizar la explicación del ejemplo.</a:t>
            </a:r>
          </a:p>
          <a:p xmlns:a="http://schemas.openxmlformats.org/drawingml/2006/main">
            <a:r>
              <a:t>Pedir que cada tarea incluya su razón: conservar evidencia, comprobar reglas, resumir o verificar. Un esquema con nombres de herramientas y sin propósito requiere explicación adicional.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Respuestas: 1 reintento limitado, validar descarga, formato y corte; 2 detener publicación, comparar claves y medidas; 3 posible anexado duplicado, reconstruir candidato y contrastar contenido; 4 investigar cambio de corte, esquema o reglas antes de concluir que hay error. Pedir que distingan observación y causa demostrada.</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Respuesta: 6 = 5 + 1; período inválido en fila 6; 2024-I Bogotá 2, Boyacá 1, SIN_INFORMAR 1; 2024-II Bogotá 1. Intercambiar conteos de Bogotá y Boyacá conserva el total y debe fallar por grupo. Anexar el mismo corte duplica contenido. No eliminar filas 1 y 2 por compartir dimensiones: representan observaciones distintas.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E12: integración y verificación del pipeline local. E13: proyecto integrador. La reconstrucción de un período es una ampliación y no condiciona los cuatro criterios mínimos.</a:t>
            </a:r>
          </a:p>
          <a:p xmlns:a="http://schemas.openxmlformats.org/drawingml/2006/main">
            <a:r>
              <a:t/>
            </a:r>
          </a:p>
          <a:p xmlns:a="http://schemas.openxmlformats.org/drawingml/2006/main">
            <a:r>
              <a:t>Tabla nativa editable. Las cifras marcadas como hipotéticas corresponden a ejemplos didácticos.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Mantener los cuatro criterios mínimos de E12, una sola ruta de datos y las ponderaciones existentes. Python + Parquet + DuckDB; Spark solo si ya funciona. No añadir instalación de Airflow, GX o Iceberg. Reconstruir un período es ampliación opcional. El docente debe preparar el notebook y ejecutar la referencia antes de clase.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Programa y temario vigente: big-data-postgraduate/docs/temario-30-31-octubre.md. Ejercicio: big-data-postgraduate/talleres/E12.md. Proyecto: big-data-postgraduate/talleres/E13.md.</a:t>
            </a:r>
          </a:p>
          <a:p xmlns:a="http://schemas.openxmlformats.org/drawingml/2006/main">
            <a:r>
              <a:t/>
            </a:r>
          </a:p>
          <a:p xmlns:a="http://schemas.openxmlformats.org/drawingml/2006/main">
            <a:r>
              <a:t>Evaluación formativa oral: identificar cortes y huellas; versión de reglas y configuración; ejecución y estado de tareas; comparación por grupo y total; segunda ejecución y revisión. Una respuesta basada solo en que el notebook terminó es insuficiente. Recuperar los tres objetivos de la sesión sin introducir nuevos requisitos.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d285269e3741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1a6d50f9b54821" /><Relationship Type="http://schemas.openxmlformats.org/officeDocument/2006/relationships/slideLayout" Target="/ppt/slideLayouts/slideLayout1.xml" Id="R1f9befbc94e940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9befbc94e940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dcad7696284dd7" /><Relationship Type="http://schemas.openxmlformats.org/officeDocument/2006/relationships/image" Target="/ppt/media/image.png" Id="R11752cd73d5d4ffc" /><Relationship Type="http://schemas.openxmlformats.org/officeDocument/2006/relationships/image" Target="/ppt/media/image2.png" Id="R358b37e1fc9d4378" /><Relationship Type="http://schemas.openxmlformats.org/officeDocument/2006/relationships/notesSlide" Target="/ppt/notesSlides/notesSlide1.xml" Id="Rbff1d098c2c44c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27152b4e7f4049" /><Relationship Type="http://schemas.openxmlformats.org/officeDocument/2006/relationships/image" Target="/ppt/media/image3.png" Id="R8072982daf074d25" /><Relationship Type="http://schemas.openxmlformats.org/officeDocument/2006/relationships/notesSlide" Target="/ppt/notesSlides/notesSlide2.xml" Id="R9ff8db97e2954b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1b80d28dd745f4" /><Relationship Type="http://schemas.openxmlformats.org/officeDocument/2006/relationships/image" Target="/ppt/media/image4.png" Id="R62af28891e0e4dee" /><Relationship Type="http://schemas.openxmlformats.org/officeDocument/2006/relationships/image" Target="/ppt/media/image5.png" Id="Rc24161b041f14b39" /><Relationship Type="http://schemas.openxmlformats.org/officeDocument/2006/relationships/notesSlide" Target="/ppt/notesSlides/notesSlide3.xml" Id="R99c1a620a0d442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50fb056ee545c6" /><Relationship Type="http://schemas.openxmlformats.org/officeDocument/2006/relationships/image" Target="/ppt/media/image6.png" Id="R19b462d8290d452c" /><Relationship Type="http://schemas.openxmlformats.org/officeDocument/2006/relationships/notesSlide" Target="/ppt/notesSlides/notesSlide4.xml" Id="R56469946c8a74f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3fd4555255c4ca8" /><Relationship Type="http://schemas.openxmlformats.org/officeDocument/2006/relationships/image" Target="/ppt/media/image7.png" Id="R2759ec48fb2e47e6" /><Relationship Type="http://schemas.openxmlformats.org/officeDocument/2006/relationships/notesSlide" Target="/ppt/notesSlides/notesSlide5.xml" Id="R6ed39acbc3574d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f91b624fde146f6" /><Relationship Type="http://schemas.openxmlformats.org/officeDocument/2006/relationships/image" Target="/ppt/media/image8.png" Id="R466eea8855dd42c4" /><Relationship Type="http://schemas.openxmlformats.org/officeDocument/2006/relationships/image" Target="/ppt/media/image9.png" Id="R633244eb03cb4ef3" /><Relationship Type="http://schemas.openxmlformats.org/officeDocument/2006/relationships/notesSlide" Target="/ppt/notesSlides/notesSlide6.xml" Id="Rf58f3b21b9b844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07582146b2419e" /><Relationship Type="http://schemas.openxmlformats.org/officeDocument/2006/relationships/image" Target="/ppt/media/image10.png" Id="Ra4ab73b999a54ba7" /><Relationship Type="http://schemas.openxmlformats.org/officeDocument/2006/relationships/notesSlide" Target="/ppt/notesSlides/notesSlide7.xml" Id="Rf457dff242204d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4b9003512c4e06" /><Relationship Type="http://schemas.openxmlformats.org/officeDocument/2006/relationships/image" Target="/ppt/media/image11.png" Id="Rd35aae2ec5fc4da1" /><Relationship Type="http://schemas.openxmlformats.org/officeDocument/2006/relationships/notesSlide" Target="/ppt/notesSlides/notesSlide8.xml" Id="R959878ef948544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eaafd7f4b6449ba" /><Relationship Type="http://schemas.openxmlformats.org/officeDocument/2006/relationships/image" Target="/ppt/media/image12.png" Id="Recfaad96f3aa4f45" /><Relationship Type="http://schemas.openxmlformats.org/officeDocument/2006/relationships/notesSlide" Target="/ppt/notesSlides/notesSlide9.xml" Id="Rfe10585756e24e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ecff09fb08431f" /><Relationship Type="http://schemas.openxmlformats.org/officeDocument/2006/relationships/image" Target="/ppt/media/image13.png" Id="R4d95561ee0194906" /><Relationship Type="http://schemas.openxmlformats.org/officeDocument/2006/relationships/notesSlide" Target="/ppt/notesSlides/notesSlide10.xml" Id="R7af9d9f747f640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3acac95fc348a7" /><Relationship Type="http://schemas.openxmlformats.org/officeDocument/2006/relationships/image" Target="/ppt/media/image14.png" Id="R5d2495e839864d8f" /><Relationship Type="http://schemas.openxmlformats.org/officeDocument/2006/relationships/notesSlide" Target="/ppt/notesSlides/notesSlide11.xml" Id="R824feb69679448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7c34cbcadd64ae8" /><Relationship Type="http://schemas.openxmlformats.org/officeDocument/2006/relationships/image" Target="/ppt/media/image15.png" Id="Rca31997c665e4db9" /><Relationship Type="http://schemas.openxmlformats.org/officeDocument/2006/relationships/notesSlide" Target="/ppt/notesSlides/notesSlide12.xml" Id="R75e382571bcd45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4f54c045f8540b2" /><Relationship Type="http://schemas.openxmlformats.org/officeDocument/2006/relationships/image" Target="/ppt/media/image16.png" Id="R0ed5b0ad0d4f44b8" /><Relationship Type="http://schemas.openxmlformats.org/officeDocument/2006/relationships/notesSlide" Target="/ppt/notesSlides/notesSlide13.xml" Id="Rbfbcf2300fe247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a96c34a07404e70" /><Relationship Type="http://schemas.openxmlformats.org/officeDocument/2006/relationships/image" Target="/ppt/media/image17.png" Id="R5c55505b1c17443d" /><Relationship Type="http://schemas.openxmlformats.org/officeDocument/2006/relationships/notesSlide" Target="/ppt/notesSlides/notesSlide14.xml" Id="Rfbcf7725dd7542e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5a0742a5f2e4cf7" /><Relationship Type="http://schemas.openxmlformats.org/officeDocument/2006/relationships/image" Target="/ppt/media/image18.png" Id="Rdac7e05545a5452d" /><Relationship Type="http://schemas.openxmlformats.org/officeDocument/2006/relationships/notesSlide" Target="/ppt/notesSlides/notesSlide15.xml" Id="R3b961020c44443c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5a89464cff7405b" /><Relationship Type="http://schemas.openxmlformats.org/officeDocument/2006/relationships/image" Target="/ppt/media/image19.png" Id="R1bb67ed098cb4db5" /><Relationship Type="http://schemas.openxmlformats.org/officeDocument/2006/relationships/notesSlide" Target="/ppt/notesSlides/notesSlide16.xml" Id="R0acb347402a6492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034e5df3ead4ccd" /><Relationship Type="http://schemas.openxmlformats.org/officeDocument/2006/relationships/image" Target="/ppt/media/image20.png" Id="R0064476a36c6448e" /><Relationship Type="http://schemas.openxmlformats.org/officeDocument/2006/relationships/notesSlide" Target="/ppt/notesSlides/notesSlide17.xml" Id="Rbb4a111039fd46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abac66efc294c63" /><Relationship Type="http://schemas.openxmlformats.org/officeDocument/2006/relationships/image" Target="/ppt/media/image21.png" Id="R199a44b037234131" /><Relationship Type="http://schemas.openxmlformats.org/officeDocument/2006/relationships/notesSlide" Target="/ppt/notesSlides/notesSlide18.xml" Id="R6a60362cd4724ab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ecadce559454dae" /><Relationship Type="http://schemas.openxmlformats.org/officeDocument/2006/relationships/image" Target="/ppt/media/image22.png" Id="R56c134d1a7604537" /><Relationship Type="http://schemas.openxmlformats.org/officeDocument/2006/relationships/notesSlide" Target="/ppt/notesSlides/notesSlide19.xml" Id="Rc8a89ec367c943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b4d58f924554e8b" /><Relationship Type="http://schemas.openxmlformats.org/officeDocument/2006/relationships/image" Target="/ppt/media/image23.png" Id="Rcf98bae992dc4333" /><Relationship Type="http://schemas.openxmlformats.org/officeDocument/2006/relationships/notesSlide" Target="/ppt/notesSlides/notesSlide20.xml" Id="R63ac806f3b09486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76a1209ccac49bf" /><Relationship Type="http://schemas.openxmlformats.org/officeDocument/2006/relationships/image" Target="/ppt/media/image24.png" Id="R5011a09bb0284ee4" /><Relationship Type="http://schemas.openxmlformats.org/officeDocument/2006/relationships/notesSlide" Target="/ppt/notesSlides/notesSlide21.xml" Id="R190b8763744b40c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cc02643808544a1" /><Relationship Type="http://schemas.openxmlformats.org/officeDocument/2006/relationships/image" Target="/ppt/media/image25.png" Id="Rb05a3fd8a2b04f32" /><Relationship Type="http://schemas.openxmlformats.org/officeDocument/2006/relationships/notesSlide" Target="/ppt/notesSlides/notesSlide22.xml" Id="Rb4e095d666684e8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2505b762fd34b79" /><Relationship Type="http://schemas.openxmlformats.org/officeDocument/2006/relationships/image" Target="/ppt/media/image26.png" Id="Re1c58137e17b41b7" /><Relationship Type="http://schemas.openxmlformats.org/officeDocument/2006/relationships/notesSlide" Target="/ppt/notesSlides/notesSlide23.xml" Id="R1f0e5e14b54a405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9bc5046ea15433e" /><Relationship Type="http://schemas.openxmlformats.org/officeDocument/2006/relationships/image" Target="/ppt/media/image27.png" Id="R87b31c7804f647c8" /><Relationship Type="http://schemas.openxmlformats.org/officeDocument/2006/relationships/notesSlide" Target="/ppt/notesSlides/notesSlide24.xml" Id="R1b5539e1bf3b465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641bcb06b35443c" /><Relationship Type="http://schemas.openxmlformats.org/officeDocument/2006/relationships/image" Target="/ppt/media/image28.png" Id="Re992835167724fe8" /><Relationship Type="http://schemas.openxmlformats.org/officeDocument/2006/relationships/notesSlide" Target="/ppt/notesSlides/notesSlide25.xml" Id="Rce1a026c72cb4af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f5717521bbb4e40" /><Relationship Type="http://schemas.openxmlformats.org/officeDocument/2006/relationships/image" Target="/ppt/media/image29.png" Id="Rf966dd7a08c1480f" /><Relationship Type="http://schemas.openxmlformats.org/officeDocument/2006/relationships/notesSlide" Target="/ppt/notesSlides/notesSlide26.xml" Id="R31599fa069a54f8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db3a50e53f24f6a" /><Relationship Type="http://schemas.openxmlformats.org/officeDocument/2006/relationships/image" Target="/ppt/media/image30.png" Id="R337695f1140c4661" /><Relationship Type="http://schemas.openxmlformats.org/officeDocument/2006/relationships/notesSlide" Target="/ppt/notesSlides/notesSlide27.xml" Id="Rf92393289e3142e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085affe838e4c51" /><Relationship Type="http://schemas.openxmlformats.org/officeDocument/2006/relationships/image" Target="/ppt/media/image31.png" Id="Raa79ac73181b495f" /><Relationship Type="http://schemas.openxmlformats.org/officeDocument/2006/relationships/notesSlide" Target="/ppt/notesSlides/notesSlide28.xml" Id="Rcb76653c195e483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315175aa5914814" /><Relationship Type="http://schemas.openxmlformats.org/officeDocument/2006/relationships/image" Target="/ppt/media/image32.png" Id="R2cf360a4c77d437d" /><Relationship Type="http://schemas.openxmlformats.org/officeDocument/2006/relationships/notesSlide" Target="/ppt/notesSlides/notesSlide29.xml" Id="R7d0191810cc649f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e8b20e5f9e043b4" /><Relationship Type="http://schemas.openxmlformats.org/officeDocument/2006/relationships/image" Target="/ppt/media/image33.png" Id="R808cee21ada44c9d" /><Relationship Type="http://schemas.openxmlformats.org/officeDocument/2006/relationships/chart" Target="/ppt/slides/charts/chart1.xml" Id="Rdf02e59cb38b4eef" /><Relationship Type="http://schemas.openxmlformats.org/officeDocument/2006/relationships/notesSlide" Target="/ppt/notesSlides/notesSlide30.xml" Id="R25743ec280af499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ba9a81916bb43fa" /><Relationship Type="http://schemas.openxmlformats.org/officeDocument/2006/relationships/image" Target="/ppt/media/image34.png" Id="R5c8a2c5266fc4ce5" /><Relationship Type="http://schemas.openxmlformats.org/officeDocument/2006/relationships/notesSlide" Target="/ppt/notesSlides/notesSlide31.xml" Id="R2e81e3d73eb3480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bf05932850244c8" /><Relationship Type="http://schemas.openxmlformats.org/officeDocument/2006/relationships/image" Target="/ppt/media/image35.png" Id="Raaf0468bfbf8462a" /><Relationship Type="http://schemas.openxmlformats.org/officeDocument/2006/relationships/notesSlide" Target="/ppt/notesSlides/notesSlide32.xml" Id="R9a9d45b4fbb0436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fdf263511e74e40" /><Relationship Type="http://schemas.openxmlformats.org/officeDocument/2006/relationships/image" Target="/ppt/media/image36.png" Id="R69e6e463849f4596" /><Relationship Type="http://schemas.openxmlformats.org/officeDocument/2006/relationships/notesSlide" Target="/ppt/notesSlides/notesSlide33.xml" Id="R17c62ca39ecf46d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d896bf262044e08" /><Relationship Type="http://schemas.openxmlformats.org/officeDocument/2006/relationships/image" Target="/ppt/media/image37.png" Id="R3ef4820c325f472e" /><Relationship Type="http://schemas.openxmlformats.org/officeDocument/2006/relationships/notesSlide" Target="/ppt/notesSlides/notesSlide34.xml" Id="Rff85d7d787f04e4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42980b5118246aa" /><Relationship Type="http://schemas.openxmlformats.org/officeDocument/2006/relationships/image" Target="/ppt/media/image38.png" Id="Re30ad35b145046f5" /><Relationship Type="http://schemas.openxmlformats.org/officeDocument/2006/relationships/notesSlide" Target="/ppt/notesSlides/notesSlide35.xml" Id="R3a9c23a6a05d48b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f16fb06ba3340ac" /><Relationship Type="http://schemas.openxmlformats.org/officeDocument/2006/relationships/image" Target="/ppt/media/image39.png" Id="R8a6cf82d0a944446" /><Relationship Type="http://schemas.openxmlformats.org/officeDocument/2006/relationships/notesSlide" Target="/ppt/notesSlides/notesSlide36.xml" Id="R3c93252ccc61496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d311046fe124f83" /><Relationship Type="http://schemas.openxmlformats.org/officeDocument/2006/relationships/image" Target="/ppt/media/image40.png" Id="Rd0feadd5c789496d" /><Relationship Type="http://schemas.openxmlformats.org/officeDocument/2006/relationships/notesSlide" Target="/ppt/notesSlides/notesSlide37.xml" Id="R0ae30daa7e314d1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295a785d35c46a1" /><Relationship Type="http://schemas.openxmlformats.org/officeDocument/2006/relationships/image" Target="/ppt/media/image41.png" Id="R9b34488328a647f5" /><Relationship Type="http://schemas.openxmlformats.org/officeDocument/2006/relationships/notesSlide" Target="/ppt/notesSlides/notesSlide38.xml" Id="R63884c6351274f6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89c94b60dac4642" /><Relationship Type="http://schemas.openxmlformats.org/officeDocument/2006/relationships/image" Target="/ppt/media/image42.png" Id="R60b0022cd7eb4f38" /><Relationship Type="http://schemas.openxmlformats.org/officeDocument/2006/relationships/notesSlide" Target="/ppt/notesSlides/notesSlide39.xml" Id="Re33eada40b80422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c03cdd2ecf14b94" /><Relationship Type="http://schemas.openxmlformats.org/officeDocument/2006/relationships/image" Target="/ppt/media/image43.png" Id="Rce2ad95943d04b9d" /><Relationship Type="http://schemas.openxmlformats.org/officeDocument/2006/relationships/notesSlide" Target="/ppt/notesSlides/notesSlide40.xml" Id="Rdc38adb38247440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ea70cc05b764743" /><Relationship Type="http://schemas.openxmlformats.org/officeDocument/2006/relationships/image" Target="/ppt/media/image44.png" Id="R061eb6cbde3f49a9" /><Relationship Type="http://schemas.openxmlformats.org/officeDocument/2006/relationships/notesSlide" Target="/ppt/notesSlides/notesSlide41.xml" Id="Rd13df5a4a4c3420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b3156330e3a485c" /><Relationship Type="http://schemas.openxmlformats.org/officeDocument/2006/relationships/image" Target="/ppt/media/image45.png" Id="R4ff75fb2eccd44bd" /><Relationship Type="http://schemas.openxmlformats.org/officeDocument/2006/relationships/notesSlide" Target="/ppt/notesSlides/notesSlide42.xml" Id="R125bf81d0ca9409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514f76cce654613" /><Relationship Type="http://schemas.openxmlformats.org/officeDocument/2006/relationships/image" Target="/ppt/media/image46.png" Id="R364f23c54ffe4730" /><Relationship Type="http://schemas.openxmlformats.org/officeDocument/2006/relationships/notesSlide" Target="/ppt/notesSlides/notesSlide43.xml" Id="Ra560563a46644b1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b13768f7d954e7d" /><Relationship Type="http://schemas.openxmlformats.org/officeDocument/2006/relationships/image" Target="/ppt/media/image47.png" Id="Rc87a658cce804415" /><Relationship Type="http://schemas.openxmlformats.org/officeDocument/2006/relationships/notesSlide" Target="/ppt/notesSlides/notesSlide44.xml" Id="R5925ae4db71f418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e1cb60d1e9745a6" /><Relationship Type="http://schemas.openxmlformats.org/officeDocument/2006/relationships/image" Target="/ppt/media/image48.png" Id="R5e527f8464494d53" /><Relationship Type="http://schemas.openxmlformats.org/officeDocument/2006/relationships/notesSlide" Target="/ppt/notesSlides/notesSlide45.xml" Id="R1c6e1cc4b5174a8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c2cfd79e819428d" /><Relationship Type="http://schemas.openxmlformats.org/officeDocument/2006/relationships/image" Target="/ppt/media/image49.png" Id="Rf94a62bb8e6a4d60" /><Relationship Type="http://schemas.openxmlformats.org/officeDocument/2006/relationships/notesSlide" Target="/ppt/notesSlides/notesSlide46.xml" Id="R747fbd85da914d6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a:solidFill>
                  <a:srgbClr val="203B68"/>
                </a:solidFill>
                <a:latin typeface="Calibri"/>
                <a:ea typeface="Calibri"/>
                <a:cs typeface="Calibri"/>
              </a:rPr>
              <a:t>Ejemplo didáctico de reportes</a:t>
            </a:r>
          </a:p>
        </c:rich>
      </c:tx>
      <c:overlay val="0"/>
      <c:txPr>
        <a:bodyPr xmlns:a="http://schemas.openxmlformats.org/drawingml/2006/main" anchorCtr="1"/>
        <a:lstStyle xmlns:a="http://schemas.openxmlformats.org/drawingml/2006/main"/>
        <a:p xmlns:a="http://schemas.openxmlformats.org/drawingml/2006/main">
          <a:pPr>
            <a:defRPr sz="1575">
              <a:solidFill>
                <a:srgbClr val="203B68"/>
              </a:solidFill>
              <a:latin typeface="Calibri"/>
              <a:ea typeface="Calibri"/>
              <a:cs typeface="Calibri"/>
            </a:defRPr>
          </a:pPr>
        </a:p>
      </c:txPr>
    </c:title>
    <c:plotArea>
      <c:barChart>
        <c:barDir val="col"/>
        <c:grouping val="clustered"/>
        <c:varyColors val="0"/>
        <c:ser>
          <c:idx val="0"/>
          <c:order val="0"/>
          <c:tx>
            <c:v>Detalle</c:v>
          </c:tx>
          <c:spPr>
            <a:solidFill xmlns:a="http://schemas.openxmlformats.org/drawingml/2006/main">
              <a:srgbClr val="098F89"/>
            </a:solidFill>
          </c:spPr>
          <c:invertIfNegative val="0"/>
          <c:cat>
            <c:strRef>
              <c:f>'Chart Data'!$A$2:$A$5</c:f>
              <c:strCache>
                <c:ptCount val="4"/>
                <c:pt idx="0">
                  <c:v>I / Bogotá</c:v>
                </c:pt>
                <c:pt idx="1">
                  <c:v>I / Boyacá</c:v>
                </c:pt>
                <c:pt idx="2">
                  <c:v>I / Sin informar</c:v>
                </c:pt>
                <c:pt idx="3">
                  <c:v>II / Bogotá</c:v>
                </c:pt>
              </c:strCache>
            </c:strRef>
          </c:cat>
          <c:val>
            <c:numRef>
              <c:f>'Chart Data'!$B$2:$B$5</c:f>
              <c:numCache>
                <c:formatCode>0</c:formatCode>
                <c:ptCount val="4"/>
                <c:pt idx="0">
                  <c:v>2</c:v>
                </c:pt>
                <c:pt idx="1">
                  <c:v>1</c:v>
                </c:pt>
                <c:pt idx="2">
                  <c:v>1</c:v>
                </c:pt>
                <c:pt idx="3">
                  <c:v>1</c:v>
                </c:pt>
              </c:numCache>
            </c:numRef>
          </c:val>
        </c:ser>
        <c:ser>
          <c:idx val="1"/>
          <c:order val="1"/>
          <c:tx>
            <c:v>Agregado con error</c:v>
          </c:tx>
          <c:spPr>
            <a:solidFill xmlns:a="http://schemas.openxmlformats.org/drawingml/2006/main">
              <a:srgbClr val="D1665D"/>
            </a:solidFill>
          </c:spPr>
          <c:invertIfNegative val="0"/>
          <c:cat>
            <c:strRef>
              <c:f>'Chart Data'!$C$2:$C$5</c:f>
              <c:strCache>
                <c:ptCount val="4"/>
                <c:pt idx="0">
                  <c:v>I / Bogotá</c:v>
                </c:pt>
                <c:pt idx="1">
                  <c:v>I / Boyacá</c:v>
                </c:pt>
                <c:pt idx="2">
                  <c:v>I / Sin informar</c:v>
                </c:pt>
                <c:pt idx="3">
                  <c:v>II / Bogotá</c:v>
                </c:pt>
              </c:strCache>
            </c:strRef>
          </c:cat>
          <c:val>
            <c:numRef>
              <c:f>'Chart Data'!$D$2:$D$5</c:f>
              <c:numCache>
                <c:formatCode>0</c:formatCode>
                <c:ptCount val="4"/>
                <c:pt idx="0">
                  <c:v>1</c:v>
                </c:pt>
                <c:pt idx="1">
                  <c:v>2</c:v>
                </c:pt>
                <c:pt idx="2">
                  <c:v>1</c:v>
                </c:pt>
                <c:pt idx="3">
                  <c:v>1</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03B68"/>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crossAx val="48672768"/>
      </c:catAx>
      <c:valAx>
        <c:axId val="48672768"/>
        <c:scaling>
          <c:orientation val="minMax"/>
          <c:max val="3"/>
          <c:min val="0"/>
        </c:scaling>
        <c:delete val="0"/>
        <c:axPos val="l"/>
        <c:majorGridlines>
          <c:spPr>
            <a:ln xmlns:a="http://schemas.openxmlformats.org/drawingml/2006/main" w="9525">
              <a:solidFill>
                <a:srgbClr val="DEE4EA"/>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Reportes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03B68"/>
                </a:solidFill>
                <a:latin typeface="Calibri"/>
                <a:ea typeface="Calibri"/>
                <a:cs typeface="Calibri"/>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7BB810FA-9621-4349-A40B-5B2778246A22}"/>
              </a:ext>
            </a:extLst>
          </p:cNvPr>
          <p:cNvPicPr>
            <a:picLocks xmlns:a="http://schemas.openxmlformats.org/drawingml/2006/main" noChangeAspect="1"/>
          </p:cNvPicPr>
          <p:nvPr/>
        </p:nvPicPr>
        <p:blipFill>
          <a:blip xmlns:r="http://schemas.openxmlformats.org/officeDocument/2006/relationships" xmlns:a="http://schemas.openxmlformats.org/drawingml/2006/main" r:embed="R11752cd73d5d4ffc"/>
          <a:stretch xmlns:a="http://schemas.openxmlformats.org/drawingml/2006/main"/>
        </p:blipFill>
        <p:spPr>
          <a:xfrm xmlns:a="http://schemas.openxmlformats.org/drawingml/2006/main">
            <a:off x="6667500" y="1619250"/>
            <a:ext cx="5143500" cy="38576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1496A7-6C2C-40B3-A4E6-9214977A53C8}"/>
              </a:ext>
            </a:extLst>
          </p:cNvPr>
          <p:cNvSpPr>
            <a:spLocks xmlns:a="http://schemas.openxmlformats.org/drawingml/2006/main" noGrp="1"/>
          </p:cNvSpPr>
          <p:nvPr/>
        </p:nvSpPr>
        <p:spPr>
          <a:xfrm xmlns:a="http://schemas.openxmlformats.org/drawingml/2006/main">
            <a:off x="609600" y="1476375"/>
            <a:ext cx="590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Curso de Postgrado:</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BigData</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Especialización en</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Bases de datos</a:t>
            </a:r>
          </a:p>
        </p:txBody>
      </p:sp>
      <p:sp>
        <p:nvSpPr>
          <p:cNvPr id="3" name="">
            <a:extLst xmlns:a="http://schemas.openxmlformats.org/drawingml/2006/main">
              <a:ext uri="{FF2B5EF4-FFF2-40B4-BE49-F238E27FC236}">
                <a16:creationId xmlns:a16="http://schemas.microsoft.com/office/drawing/2014/main" id="{42BF7A9B-564A-42A8-8A7A-BFA56A7E8F59}"/>
              </a:ext>
            </a:extLst>
          </p:cNvPr>
          <p:cNvSpPr>
            <a:spLocks xmlns:a="http://schemas.openxmlformats.org/drawingml/2006/main" noGrp="1"/>
          </p:cNvSpPr>
          <p:nvPr/>
        </p:nvSpPr>
        <p:spPr>
          <a:xfrm xmlns:a="http://schemas.openxmlformats.org/drawingml/2006/main">
            <a:off x="609600" y="3857625"/>
            <a:ext cx="5905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5546ED"/>
                </a:solidFill>
                <a:latin typeface="Calibri"/>
                <a:ea typeface="Calibri"/>
                <a:cs typeface="Calibri"/>
              </a:defRPr>
            </a:defPPr>
            <a:lvl1pPr>
              <a:buNone/>
              <a:defRPr sz="2550" b="1">
                <a:solidFill>
                  <a:srgbClr val="5546ED"/>
                </a:solidFill>
                <a:latin typeface="Calibri"/>
                <a:ea typeface="Calibri"/>
                <a:cs typeface="Calibri"/>
              </a:defRPr>
            </a:lvl1pPr>
            <a:lvl2pPr>
              <a:buNone/>
              <a:defRPr sz="2550" b="1">
                <a:solidFill>
                  <a:srgbClr val="5546ED"/>
                </a:solidFill>
                <a:latin typeface="Calibri"/>
                <a:ea typeface="Calibri"/>
                <a:cs typeface="Calibri"/>
              </a:defRPr>
            </a:lvl2pPr>
            <a:lvl3pPr>
              <a:buNone/>
              <a:defRPr sz="2550" b="1">
                <a:solidFill>
                  <a:srgbClr val="5546ED"/>
                </a:solidFill>
                <a:latin typeface="Calibri"/>
                <a:ea typeface="Calibri"/>
                <a:cs typeface="Calibri"/>
              </a:defRPr>
            </a:lvl3pPr>
            <a:lvl4pPr>
              <a:buNone/>
              <a:defRPr sz="2550" b="1">
                <a:solidFill>
                  <a:srgbClr val="5546ED"/>
                </a:solidFill>
                <a:latin typeface="Calibri"/>
                <a:ea typeface="Calibri"/>
                <a:cs typeface="Calibri"/>
              </a:defRPr>
            </a:lvl4pPr>
            <a:lvl5pPr>
              <a:buNone/>
              <a:defRPr sz="2550" b="1">
                <a:solidFill>
                  <a:srgbClr val="5546ED"/>
                </a:solidFill>
                <a:latin typeface="Calibri"/>
                <a:ea typeface="Calibri"/>
                <a:cs typeface="Calibri"/>
              </a:defRPr>
            </a:lvl5pPr>
            <a:lvl6pPr>
              <a:buNone/>
              <a:defRPr sz="2550" b="1">
                <a:solidFill>
                  <a:srgbClr val="5546ED"/>
                </a:solidFill>
                <a:latin typeface="Calibri"/>
                <a:ea typeface="Calibri"/>
                <a:cs typeface="Calibri"/>
              </a:defRPr>
            </a:lvl6pPr>
            <a:lvl7pPr>
              <a:buNone/>
              <a:defRPr sz="2550" b="1">
                <a:solidFill>
                  <a:srgbClr val="5546ED"/>
                </a:solidFill>
                <a:latin typeface="Calibri"/>
                <a:ea typeface="Calibri"/>
                <a:cs typeface="Calibri"/>
              </a:defRPr>
            </a:lvl7pPr>
            <a:lvl8pPr>
              <a:buNone/>
              <a:defRPr sz="2550" b="1">
                <a:solidFill>
                  <a:srgbClr val="5546ED"/>
                </a:solidFill>
                <a:latin typeface="Calibri"/>
                <a:ea typeface="Calibri"/>
                <a:cs typeface="Calibri"/>
              </a:defRPr>
            </a:lvl8pPr>
            <a:lvl9pPr>
              <a:buNone/>
              <a:defRPr sz="2550" b="1">
                <a:solidFill>
                  <a:srgbClr val="5546ED"/>
                </a:solidFill>
                <a:latin typeface="Calibri"/>
                <a:ea typeface="Calibri"/>
                <a:cs typeface="Calibri"/>
              </a:defRPr>
            </a:lvl9pPr>
          </a:lstStyle>
          <a:p xmlns:a="http://schemas.openxmlformats.org/drawingml/2006/main">
            <a:pPr>
              <a:buNone/>
              <a:defRPr sz="2550" b="1">
                <a:solidFill>
                  <a:srgbClr val="5546ED"/>
                </a:solidFill>
                <a:latin typeface="Calibri"/>
                <a:ea typeface="Calibri"/>
                <a:cs typeface="Calibri"/>
              </a:defRPr>
            </a:pPr>
            <a:r>
              <a:rPr sz="2550" b="1">
                <a:solidFill>
                  <a:srgbClr val="5546ED"/>
                </a:solidFill>
                <a:latin typeface="Calibri"/>
                <a:ea typeface="Calibri"/>
                <a:cs typeface="Calibri"/>
              </a:rPr>
              <a:t>Data pipelines y DataOps</a:t>
            </a:r>
          </a:p>
          <a:p xmlns:a="http://schemas.openxmlformats.org/drawingml/2006/main">
            <a:pPr>
              <a:buNone/>
              <a:defRPr sz="2550" b="1">
                <a:solidFill>
                  <a:srgbClr val="5546ED"/>
                </a:solidFill>
                <a:latin typeface="Calibri"/>
                <a:ea typeface="Calibri"/>
                <a:cs typeface="Calibri"/>
              </a:defRPr>
            </a:pPr>
            <a:r>
              <a:rPr sz="2550" b="1">
                <a:solidFill>
                  <a:srgbClr val="5546ED"/>
                </a:solidFill>
                <a:latin typeface="Calibri"/>
                <a:ea typeface="Calibri"/>
                <a:cs typeface="Calibri"/>
              </a:rPr>
              <a:t>Conceptos y aplicación</a:t>
            </a:r>
          </a:p>
        </p:txBody>
      </p:sp>
      <p:sp>
        <p:nvSpPr>
          <p:cNvPr id="5" name="">
            <a:extLst xmlns:a="http://schemas.openxmlformats.org/drawingml/2006/main">
              <a:ext uri="{FF2B5EF4-FFF2-40B4-BE49-F238E27FC236}">
                <a16:creationId xmlns:a16="http://schemas.microsoft.com/office/drawing/2014/main" id="{704058E5-2AC4-4943-98B7-07C3DE00DCEF}"/>
              </a:ext>
            </a:extLst>
          </p:cNvPr>
          <p:cNvSpPr>
            <a:spLocks xmlns:a="http://schemas.openxmlformats.org/drawingml/2006/main" noGrp="1"/>
          </p:cNvSpPr>
          <p:nvPr/>
        </p:nvSpPr>
        <p:spPr>
          <a:xfrm xmlns:a="http://schemas.openxmlformats.org/drawingml/2006/main">
            <a:off x="609600" y="52482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Sesión 9 · Viernes 30 de octubre de 2026</a:t>
            </a:r>
          </a:p>
        </p:txBody>
      </p:sp>
      <p:sp>
        <p:nvSpPr>
          <p:cNvPr id="6" name="">
            <a:extLst xmlns:a="http://schemas.openxmlformats.org/drawingml/2006/main">
              <a:ext uri="{FF2B5EF4-FFF2-40B4-BE49-F238E27FC236}">
                <a16:creationId xmlns:a16="http://schemas.microsoft.com/office/drawing/2014/main" id="{0CB64F80-F4BF-46E8-8EA3-CAC72891B40E}"/>
              </a:ext>
            </a:extLst>
          </p:cNvPr>
          <p:cNvSpPr>
            <a:spLocks xmlns:a="http://schemas.openxmlformats.org/drawingml/2006/main" noGrp="1"/>
          </p:cNvSpPr>
          <p:nvPr/>
        </p:nvSpPr>
        <p:spPr>
          <a:xfrm xmlns:a="http://schemas.openxmlformats.org/drawingml/2006/main">
            <a:off x="609600" y="57340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Preparado por el PhD Esteban Hernández, CyberColombia</a:t>
            </a:r>
          </a:p>
        </p:txBody>
      </p:sp>
      <p:sp>
        <p:nvSpPr>
          <p:cNvPr id="9" name="">
            <a:extLst xmlns:a="http://schemas.openxmlformats.org/drawingml/2006/main">
              <a:ext uri="{FF2B5EF4-FFF2-40B4-BE49-F238E27FC236}">
                <a16:creationId xmlns:a16="http://schemas.microsoft.com/office/drawing/2014/main" id="{026E2CFA-F14A-423F-8123-A861F708D6C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7" name="cover-footer">
            <a:extLst xmlns:a="http://schemas.openxmlformats.org/drawingml/2006/main">
              <a:ext uri="{FF2B5EF4-FFF2-40B4-BE49-F238E27FC236}">
                <a16:creationId xmlns:a16="http://schemas.microsoft.com/office/drawing/2014/main" id="{F0B85939-E82F-438E-BA4B-F30B9B1D917A}"/>
              </a:ext>
            </a:extLst>
          </p:cNvPr>
          <p:cNvSpPr>
            <a:spLocks xmlns:a="http://schemas.openxmlformats.org/drawingml/2006/main" noGrp="1"/>
          </p:cNvSpPr>
          <p:nvPr/>
        </p:nvSpPr>
        <p:spPr>
          <a:xfrm xmlns:a="http://schemas.openxmlformats.org/drawingml/2006/main">
            <a:off x="609600" y="64770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18" name="cover-page">
            <a:extLst xmlns:a="http://schemas.openxmlformats.org/drawingml/2006/main">
              <a:ext uri="{FF2B5EF4-FFF2-40B4-BE49-F238E27FC236}">
                <a16:creationId xmlns:a16="http://schemas.microsoft.com/office/drawing/2014/main" id="{2A5C50EA-39C6-4EBC-8318-79013751B7E1}"/>
              </a:ext>
            </a:extLst>
          </p:cNvPr>
          <p:cNvSpPr>
            <a:spLocks xmlns:a="http://schemas.openxmlformats.org/drawingml/2006/main" noGrp="1"/>
          </p:cNvSpPr>
          <p:nvPr/>
        </p:nvSpPr>
        <p:spPr>
          <a:xfrm xmlns:a="http://schemas.openxmlformats.org/drawingml/2006/main">
            <a:off x="11001375" y="647700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01</a:t>
            </a:r>
          </a:p>
        </p:txBody>
      </p:sp>
      <p:pic>
        <p:nvPicPr>
          <p:cNvPr id="19" name="">
            <a:extLst xmlns:a="http://schemas.openxmlformats.org/drawingml/2006/main">
              <a:ext uri="{FF2B5EF4-FFF2-40B4-BE49-F238E27FC236}">
                <a16:creationId xmlns:a16="http://schemas.microsoft.com/office/drawing/2014/main" id="{33C87F23-1D73-4C09-AB8A-6B4D3A66D5DF}"/>
              </a:ext>
            </a:extLst>
          </p:cNvPr>
          <p:cNvPicPr>
            <a:picLocks xmlns:a="http://schemas.openxmlformats.org/drawingml/2006/main" noChangeAspect="1"/>
          </p:cNvPicPr>
          <p:nvPr/>
        </p:nvPicPr>
        <p:blipFill>
          <a:blip xmlns:r="http://schemas.openxmlformats.org/officeDocument/2006/relationships" xmlns:a="http://schemas.openxmlformats.org/drawingml/2006/main" r:embed="R358b37e1fc9d4378"/>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Tree>
    <p:extLst>
      <p:ext uri="{BB962C8B-B14F-4D97-AF65-F5344CB8AC3E}">
        <p14:creationId xmlns:p14="http://schemas.microsoft.com/office/powerpoint/2010/main" val="3059895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E2BD8030-9C3A-4545-84E4-58A151599CF5}"/>
              </a:ext>
            </a:extLst>
          </p:cNvPr>
          <p:cNvPicPr>
            <a:picLocks xmlns:a="http://schemas.openxmlformats.org/drawingml/2006/main" noChangeAspect="1"/>
          </p:cNvPicPr>
          <p:nvPr/>
        </p:nvPicPr>
        <p:blipFill>
          <a:blip xmlns:r="http://schemas.openxmlformats.org/officeDocument/2006/relationships" xmlns:a="http://schemas.openxmlformats.org/drawingml/2006/main" r:embed="R8072982daf074d2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75F95FFF-1993-4297-BE6A-7B942E5D6483}"/>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Propósito de la sesión</a:t>
            </a:r>
          </a:p>
        </p:txBody>
      </p:sp>
      <p:sp>
        <p:nvSpPr>
          <p:cNvPr id="16" name="lead">
            <a:extLst xmlns:a="http://schemas.openxmlformats.org/drawingml/2006/main">
              <a:ext uri="{FF2B5EF4-FFF2-40B4-BE49-F238E27FC236}">
                <a16:creationId xmlns:a16="http://schemas.microsoft.com/office/drawing/2014/main" id="{129AE2F4-3542-4AFB-8A8E-0180C68D897E}"/>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Comprender, explicar y verificar un pipeline antes de automatizarlo.</a:t>
            </a:r>
          </a:p>
        </p:txBody>
      </p:sp>
      <p:sp>
        <p:nvSpPr>
          <p:cNvPr id="17" name="paragraph-1">
            <a:extLst xmlns:a="http://schemas.openxmlformats.org/drawingml/2006/main">
              <a:ext uri="{FF2B5EF4-FFF2-40B4-BE49-F238E27FC236}">
                <a16:creationId xmlns:a16="http://schemas.microsoft.com/office/drawing/2014/main" id="{DE2D0DB2-E840-4C59-8A74-A01078E74386}"/>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Reconocer entradas, tareas, dependencias y productos de una ejecución.</a:t>
            </a:r>
          </a:p>
        </p:txBody>
      </p:sp>
      <p:sp>
        <p:nvSpPr>
          <p:cNvPr id="18" name="paragraph-2">
            <a:extLst xmlns:a="http://schemas.openxmlformats.org/drawingml/2006/main">
              <a:ext uri="{FF2B5EF4-FFF2-40B4-BE49-F238E27FC236}">
                <a16:creationId xmlns:a16="http://schemas.microsoft.com/office/drawing/2014/main" id="{FA91A32A-11DA-4526-9832-EEA0E97BD023}"/>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Explicar cómo DataOps organiza cambios, pruebas y atención de fallos.</a:t>
            </a:r>
          </a:p>
        </p:txBody>
      </p:sp>
      <p:sp>
        <p:nvSpPr>
          <p:cNvPr id="19" name="paragraph-3">
            <a:extLst xmlns:a="http://schemas.openxmlformats.org/drawingml/2006/main">
              <a:ext uri="{FF2B5EF4-FFF2-40B4-BE49-F238E27FC236}">
                <a16:creationId xmlns:a16="http://schemas.microsoft.com/office/drawing/2014/main" id="{A32A3952-7E57-4DFB-9EBE-81759E2D65E8}"/>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Aplicar los conceptos a un caso PQRS y justificar si su publicación puede utilizarse.</a:t>
            </a:r>
          </a:p>
        </p:txBody>
      </p:sp>
      <p:sp>
        <p:nvSpPr>
          <p:cNvPr id="20" name="check">
            <a:extLst xmlns:a="http://schemas.openxmlformats.org/drawingml/2006/main">
              <a:ext uri="{FF2B5EF4-FFF2-40B4-BE49-F238E27FC236}">
                <a16:creationId xmlns:a16="http://schemas.microsoft.com/office/drawing/2014/main" id="{A8561C2E-1D69-452F-8E40-57F8700AA9DE}"/>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La evidencia final será un proceso repetible con resultados comprobados.</a:t>
            </a:r>
          </a:p>
        </p:txBody>
      </p:sp>
      <p:sp>
        <p:nvSpPr>
          <p:cNvPr id="21" name="footer">
            <a:extLst xmlns:a="http://schemas.openxmlformats.org/drawingml/2006/main">
              <a:ext uri="{FF2B5EF4-FFF2-40B4-BE49-F238E27FC236}">
                <a16:creationId xmlns:a16="http://schemas.microsoft.com/office/drawing/2014/main" id="{AD24B76B-B727-4DD1-88F6-9F8D57EBC99A}"/>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F3E7F059-B052-4686-A8AF-309746C6D424}"/>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02</a:t>
            </a:r>
          </a:p>
        </p:txBody>
      </p:sp>
    </p:spTree>
    <p:extLst>
      <p:ext uri="{BB962C8B-B14F-4D97-AF65-F5344CB8AC3E}">
        <p14:creationId xmlns:p14="http://schemas.microsoft.com/office/powerpoint/2010/main" val="11689989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BCCC6219-EC36-4FD1-B50A-4AA7E5A6AE00}"/>
              </a:ext>
            </a:extLst>
          </p:cNvPr>
          <p:cNvPicPr>
            <a:picLocks xmlns:a="http://schemas.openxmlformats.org/drawingml/2006/main" noChangeAspect="1"/>
          </p:cNvPicPr>
          <p:nvPr/>
        </p:nvPicPr>
        <p:blipFill>
          <a:blip xmlns:r="http://schemas.openxmlformats.org/officeDocument/2006/relationships" xmlns:a="http://schemas.openxmlformats.org/drawingml/2006/main" r:embed="R62af28891e0e4de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E02E22C0-6F9C-41F5-B9D1-104DAB4C22CD}"/>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El problema de la publicación</a:t>
            </a:r>
          </a:p>
        </p:txBody>
      </p:sp>
      <p:sp>
        <p:nvSpPr>
          <p:cNvPr id="16" name="lead">
            <a:extLst xmlns:a="http://schemas.openxmlformats.org/drawingml/2006/main">
              <a:ext uri="{FF2B5EF4-FFF2-40B4-BE49-F238E27FC236}">
                <a16:creationId xmlns:a16="http://schemas.microsoft.com/office/drawing/2014/main" id="{FF894BBF-35C0-455B-A06D-84F5CBF505F4}"/>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Una cifra publicada necesita una relación verificable con sus entradas.</a:t>
            </a:r>
          </a:p>
        </p:txBody>
      </p:sp>
      <p:pic>
        <p:nvPicPr>
          <p:cNvPr id="17" name="">
            <a:extLst xmlns:a="http://schemas.openxmlformats.org/drawingml/2006/main">
              <a:ext uri="{FF2B5EF4-FFF2-40B4-BE49-F238E27FC236}">
                <a16:creationId xmlns:a16="http://schemas.microsoft.com/office/drawing/2014/main" id="{CCE13228-53AC-4114-BCA5-5EBF46327CD2}"/>
              </a:ext>
            </a:extLst>
          </p:cNvPr>
          <p:cNvPicPr>
            <a:picLocks xmlns:a="http://schemas.openxmlformats.org/drawingml/2006/main" noChangeAspect="1"/>
          </p:cNvPicPr>
          <p:nvPr/>
        </p:nvPicPr>
        <p:blipFill>
          <a:blip xmlns:r="http://schemas.openxmlformats.org/officeDocument/2006/relationships" xmlns:a="http://schemas.openxmlformats.org/drawingml/2006/main" r:embed="Rc24161b041f14b39"/>
          <a:stretch xmlns:a="http://schemas.openxmlformats.org/drawingml/2006/main"/>
        </p:blipFill>
        <p:spPr>
          <a:xfrm xmlns:a="http://schemas.openxmlformats.org/drawingml/2006/main">
            <a:off x="1108645" y="2209800"/>
            <a:ext cx="6126610" cy="3448050"/>
          </a:xfrm>
          <a:prstGeom xmlns:a="http://schemas.openxmlformats.org/drawingml/2006/main" prst="rect">
            <a:avLst/>
          </a:prstGeom>
        </p:spPr>
      </p:pic>
      <p:sp>
        <p:nvSpPr>
          <p:cNvPr id="18" name="image-label-0">
            <a:extLst xmlns:a="http://schemas.openxmlformats.org/drawingml/2006/main">
              <a:ext uri="{FF2B5EF4-FFF2-40B4-BE49-F238E27FC236}">
                <a16:creationId xmlns:a16="http://schemas.microsoft.com/office/drawing/2014/main" id="{0975F172-D5EA-433C-8D1B-AC121BECE228}"/>
              </a:ext>
            </a:extLst>
          </p:cNvPr>
          <p:cNvSpPr>
            <a:spLocks xmlns:a="http://schemas.openxmlformats.org/drawingml/2006/main" noGrp="1"/>
          </p:cNvSpPr>
          <p:nvPr/>
        </p:nvSpPr>
        <p:spPr>
          <a:xfrm xmlns:a="http://schemas.openxmlformats.org/drawingml/2006/main">
            <a:off x="8096250" y="2305050"/>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203B68"/>
                </a:solidFill>
                <a:latin typeface="Calibri"/>
                <a:ea typeface="Calibri"/>
                <a:cs typeface="Calibri"/>
              </a:defRPr>
            </a:defPPr>
            <a:lvl1pPr>
              <a:defRPr sz="2025" b="1">
                <a:solidFill>
                  <a:srgbClr val="203B68"/>
                </a:solidFill>
                <a:latin typeface="Calibri"/>
                <a:ea typeface="Calibri"/>
                <a:cs typeface="Calibri"/>
              </a:defRPr>
            </a:lvl1pPr>
            <a:lvl2pPr>
              <a:defRPr sz="2025" b="1">
                <a:solidFill>
                  <a:srgbClr val="203B68"/>
                </a:solidFill>
                <a:latin typeface="Calibri"/>
                <a:ea typeface="Calibri"/>
                <a:cs typeface="Calibri"/>
              </a:defRPr>
            </a:lvl2pPr>
            <a:lvl3pPr>
              <a:defRPr sz="2025" b="1">
                <a:solidFill>
                  <a:srgbClr val="203B68"/>
                </a:solidFill>
                <a:latin typeface="Calibri"/>
                <a:ea typeface="Calibri"/>
                <a:cs typeface="Calibri"/>
              </a:defRPr>
            </a:lvl3pPr>
            <a:lvl4pPr>
              <a:defRPr sz="2025" b="1">
                <a:solidFill>
                  <a:srgbClr val="203B68"/>
                </a:solidFill>
                <a:latin typeface="Calibri"/>
                <a:ea typeface="Calibri"/>
                <a:cs typeface="Calibri"/>
              </a:defRPr>
            </a:lvl4pPr>
            <a:lvl5pPr>
              <a:defRPr sz="2025" b="1">
                <a:solidFill>
                  <a:srgbClr val="203B68"/>
                </a:solidFill>
                <a:latin typeface="Calibri"/>
                <a:ea typeface="Calibri"/>
                <a:cs typeface="Calibri"/>
              </a:defRPr>
            </a:lvl5pPr>
            <a:lvl6pPr>
              <a:defRPr sz="2025" b="1">
                <a:solidFill>
                  <a:srgbClr val="203B68"/>
                </a:solidFill>
                <a:latin typeface="Calibri"/>
                <a:ea typeface="Calibri"/>
                <a:cs typeface="Calibri"/>
              </a:defRPr>
            </a:lvl6pPr>
            <a:lvl7pPr>
              <a:defRPr sz="2025" b="1">
                <a:solidFill>
                  <a:srgbClr val="203B68"/>
                </a:solidFill>
                <a:latin typeface="Calibri"/>
                <a:ea typeface="Calibri"/>
                <a:cs typeface="Calibri"/>
              </a:defRPr>
            </a:lvl7pPr>
            <a:lvl8pPr>
              <a:defRPr sz="2025" b="1">
                <a:solidFill>
                  <a:srgbClr val="203B68"/>
                </a:solidFill>
                <a:latin typeface="Calibri"/>
                <a:ea typeface="Calibri"/>
                <a:cs typeface="Calibri"/>
              </a:defRPr>
            </a:lvl8pPr>
            <a:lvl9pPr>
              <a:defRPr sz="2025" b="1">
                <a:solidFill>
                  <a:srgbClr val="203B68"/>
                </a:solidFill>
                <a:latin typeface="Calibri"/>
                <a:ea typeface="Calibri"/>
                <a:cs typeface="Calibri"/>
              </a:defRPr>
            </a:lvl9pPr>
          </a:lstStyle>
          <a:p xmlns:a="http://schemas.openxmlformats.org/drawingml/2006/main">
            <a:pPr>
              <a:defRPr sz="2025" b="1">
                <a:solidFill>
                  <a:srgbClr val="203B68"/>
                </a:solidFill>
                <a:latin typeface="Calibri"/>
                <a:ea typeface="Calibri"/>
                <a:cs typeface="Calibri"/>
              </a:defRPr>
            </a:pPr>
            <a:r>
              <a:rPr sz="2025" b="1">
                <a:solidFill>
                  <a:srgbClr val="203B68"/>
                </a:solidFill>
                <a:latin typeface="Calibri"/>
                <a:ea typeface="Calibri"/>
                <a:cs typeface="Calibri"/>
              </a:rPr>
              <a:t>Los archivos representan cortes recibidos.</a:t>
            </a:r>
          </a:p>
        </p:txBody>
      </p:sp>
      <p:sp>
        <p:nvSpPr>
          <p:cNvPr id="19" name="image-label-1">
            <a:extLst xmlns:a="http://schemas.openxmlformats.org/drawingml/2006/main">
              <a:ext uri="{FF2B5EF4-FFF2-40B4-BE49-F238E27FC236}">
                <a16:creationId xmlns:a16="http://schemas.microsoft.com/office/drawing/2014/main" id="{CF1C2990-94E3-4957-AF1F-A1268930171B}"/>
              </a:ext>
            </a:extLst>
          </p:cNvPr>
          <p:cNvSpPr>
            <a:spLocks xmlns:a="http://schemas.openxmlformats.org/drawingml/2006/main" noGrp="1"/>
          </p:cNvSpPr>
          <p:nvPr/>
        </p:nvSpPr>
        <p:spPr>
          <a:xfrm xmlns:a="http://schemas.openxmlformats.org/drawingml/2006/main">
            <a:off x="8096250" y="3390900"/>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03B68"/>
                </a:solidFill>
                <a:latin typeface="Calibri"/>
                <a:ea typeface="Calibri"/>
                <a:cs typeface="Calibri"/>
              </a:defRPr>
            </a:defPPr>
            <a:lvl1pPr>
              <a:defRPr sz="2025" b="0">
                <a:solidFill>
                  <a:srgbClr val="203B68"/>
                </a:solidFill>
                <a:latin typeface="Calibri"/>
                <a:ea typeface="Calibri"/>
                <a:cs typeface="Calibri"/>
              </a:defRPr>
            </a:lvl1pPr>
            <a:lvl2pPr>
              <a:defRPr sz="2025" b="0">
                <a:solidFill>
                  <a:srgbClr val="203B68"/>
                </a:solidFill>
                <a:latin typeface="Calibri"/>
                <a:ea typeface="Calibri"/>
                <a:cs typeface="Calibri"/>
              </a:defRPr>
            </a:lvl2pPr>
            <a:lvl3pPr>
              <a:defRPr sz="2025" b="0">
                <a:solidFill>
                  <a:srgbClr val="203B68"/>
                </a:solidFill>
                <a:latin typeface="Calibri"/>
                <a:ea typeface="Calibri"/>
                <a:cs typeface="Calibri"/>
              </a:defRPr>
            </a:lvl3pPr>
            <a:lvl4pPr>
              <a:defRPr sz="2025" b="0">
                <a:solidFill>
                  <a:srgbClr val="203B68"/>
                </a:solidFill>
                <a:latin typeface="Calibri"/>
                <a:ea typeface="Calibri"/>
                <a:cs typeface="Calibri"/>
              </a:defRPr>
            </a:lvl4pPr>
            <a:lvl5pPr>
              <a:defRPr sz="2025" b="0">
                <a:solidFill>
                  <a:srgbClr val="203B68"/>
                </a:solidFill>
                <a:latin typeface="Calibri"/>
                <a:ea typeface="Calibri"/>
                <a:cs typeface="Calibri"/>
              </a:defRPr>
            </a:lvl5pPr>
            <a:lvl6pPr>
              <a:defRPr sz="2025" b="0">
                <a:solidFill>
                  <a:srgbClr val="203B68"/>
                </a:solidFill>
                <a:latin typeface="Calibri"/>
                <a:ea typeface="Calibri"/>
                <a:cs typeface="Calibri"/>
              </a:defRPr>
            </a:lvl6pPr>
            <a:lvl7pPr>
              <a:defRPr sz="2025" b="0">
                <a:solidFill>
                  <a:srgbClr val="203B68"/>
                </a:solidFill>
                <a:latin typeface="Calibri"/>
                <a:ea typeface="Calibri"/>
                <a:cs typeface="Calibri"/>
              </a:defRPr>
            </a:lvl7pPr>
            <a:lvl8pPr>
              <a:defRPr sz="2025" b="0">
                <a:solidFill>
                  <a:srgbClr val="203B68"/>
                </a:solidFill>
                <a:latin typeface="Calibri"/>
                <a:ea typeface="Calibri"/>
                <a:cs typeface="Calibri"/>
              </a:defRPr>
            </a:lvl8pPr>
            <a:lvl9pPr>
              <a:defRPr sz="2025" b="0">
                <a:solidFill>
                  <a:srgbClr val="203B68"/>
                </a:solidFill>
                <a:latin typeface="Calibri"/>
                <a:ea typeface="Calibri"/>
                <a:cs typeface="Calibri"/>
              </a:defRPr>
            </a:lvl9pPr>
          </a:lstStyle>
          <a:p xmlns:a="http://schemas.openxmlformats.org/drawingml/2006/main">
            <a:pPr>
              <a:defRPr sz="2025" b="0">
                <a:solidFill>
                  <a:srgbClr val="203B68"/>
                </a:solidFill>
                <a:latin typeface="Calibri"/>
                <a:ea typeface="Calibri"/>
                <a:cs typeface="Calibri"/>
              </a:defRPr>
            </a:pPr>
            <a:r>
              <a:rPr sz="2025" b="0">
                <a:solidFill>
                  <a:srgbClr val="203B68"/>
                </a:solidFill>
                <a:latin typeface="Calibri"/>
                <a:ea typeface="Calibri"/>
                <a:cs typeface="Calibri"/>
              </a:rPr>
              <a:t>Las reglas determinan qué filas participan.</a:t>
            </a:r>
          </a:p>
        </p:txBody>
      </p:sp>
      <p:sp>
        <p:nvSpPr>
          <p:cNvPr id="20" name="image-label-2">
            <a:extLst xmlns:a="http://schemas.openxmlformats.org/drawingml/2006/main">
              <a:ext uri="{FF2B5EF4-FFF2-40B4-BE49-F238E27FC236}">
                <a16:creationId xmlns:a16="http://schemas.microsoft.com/office/drawing/2014/main" id="{AA6DC7C5-3CD8-4B90-800C-0CEBE5C5F3F2}"/>
              </a:ext>
            </a:extLst>
          </p:cNvPr>
          <p:cNvSpPr>
            <a:spLocks xmlns:a="http://schemas.openxmlformats.org/drawingml/2006/main" noGrp="1"/>
          </p:cNvSpPr>
          <p:nvPr/>
        </p:nvSpPr>
        <p:spPr>
          <a:xfrm xmlns:a="http://schemas.openxmlformats.org/drawingml/2006/main">
            <a:off x="8096250" y="4476750"/>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03B68"/>
                </a:solidFill>
                <a:latin typeface="Calibri"/>
                <a:ea typeface="Calibri"/>
                <a:cs typeface="Calibri"/>
              </a:defRPr>
            </a:defPPr>
            <a:lvl1pPr>
              <a:defRPr sz="2025" b="0">
                <a:solidFill>
                  <a:srgbClr val="203B68"/>
                </a:solidFill>
                <a:latin typeface="Calibri"/>
                <a:ea typeface="Calibri"/>
                <a:cs typeface="Calibri"/>
              </a:defRPr>
            </a:lvl1pPr>
            <a:lvl2pPr>
              <a:defRPr sz="2025" b="0">
                <a:solidFill>
                  <a:srgbClr val="203B68"/>
                </a:solidFill>
                <a:latin typeface="Calibri"/>
                <a:ea typeface="Calibri"/>
                <a:cs typeface="Calibri"/>
              </a:defRPr>
            </a:lvl2pPr>
            <a:lvl3pPr>
              <a:defRPr sz="2025" b="0">
                <a:solidFill>
                  <a:srgbClr val="203B68"/>
                </a:solidFill>
                <a:latin typeface="Calibri"/>
                <a:ea typeface="Calibri"/>
                <a:cs typeface="Calibri"/>
              </a:defRPr>
            </a:lvl3pPr>
            <a:lvl4pPr>
              <a:defRPr sz="2025" b="0">
                <a:solidFill>
                  <a:srgbClr val="203B68"/>
                </a:solidFill>
                <a:latin typeface="Calibri"/>
                <a:ea typeface="Calibri"/>
                <a:cs typeface="Calibri"/>
              </a:defRPr>
            </a:lvl4pPr>
            <a:lvl5pPr>
              <a:defRPr sz="2025" b="0">
                <a:solidFill>
                  <a:srgbClr val="203B68"/>
                </a:solidFill>
                <a:latin typeface="Calibri"/>
                <a:ea typeface="Calibri"/>
                <a:cs typeface="Calibri"/>
              </a:defRPr>
            </a:lvl5pPr>
            <a:lvl6pPr>
              <a:defRPr sz="2025" b="0">
                <a:solidFill>
                  <a:srgbClr val="203B68"/>
                </a:solidFill>
                <a:latin typeface="Calibri"/>
                <a:ea typeface="Calibri"/>
                <a:cs typeface="Calibri"/>
              </a:defRPr>
            </a:lvl6pPr>
            <a:lvl7pPr>
              <a:defRPr sz="2025" b="0">
                <a:solidFill>
                  <a:srgbClr val="203B68"/>
                </a:solidFill>
                <a:latin typeface="Calibri"/>
                <a:ea typeface="Calibri"/>
                <a:cs typeface="Calibri"/>
              </a:defRPr>
            </a:lvl7pPr>
            <a:lvl8pPr>
              <a:defRPr sz="2025" b="0">
                <a:solidFill>
                  <a:srgbClr val="203B68"/>
                </a:solidFill>
                <a:latin typeface="Calibri"/>
                <a:ea typeface="Calibri"/>
                <a:cs typeface="Calibri"/>
              </a:defRPr>
            </a:lvl8pPr>
            <a:lvl9pPr>
              <a:defRPr sz="2025" b="0">
                <a:solidFill>
                  <a:srgbClr val="203B68"/>
                </a:solidFill>
                <a:latin typeface="Calibri"/>
                <a:ea typeface="Calibri"/>
                <a:cs typeface="Calibri"/>
              </a:defRPr>
            </a:lvl9pPr>
          </a:lstStyle>
          <a:p xmlns:a="http://schemas.openxmlformats.org/drawingml/2006/main">
            <a:pPr>
              <a:defRPr sz="2025" b="0">
                <a:solidFill>
                  <a:srgbClr val="203B68"/>
                </a:solidFill>
                <a:latin typeface="Calibri"/>
                <a:ea typeface="Calibri"/>
                <a:cs typeface="Calibri"/>
              </a:defRPr>
            </a:pPr>
            <a:r>
              <a:rPr sz="2025" b="0">
                <a:solidFill>
                  <a:srgbClr val="203B68"/>
                </a:solidFill>
                <a:latin typeface="Calibri"/>
                <a:ea typeface="Calibri"/>
                <a:cs typeface="Calibri"/>
              </a:rPr>
              <a:t>El consumidor necesita conocer el alcance del resultado.</a:t>
            </a:r>
          </a:p>
        </p:txBody>
      </p:sp>
      <p:sp>
        <p:nvSpPr>
          <p:cNvPr id="21" name="check">
            <a:extLst xmlns:a="http://schemas.openxmlformats.org/drawingml/2006/main">
              <a:ext uri="{FF2B5EF4-FFF2-40B4-BE49-F238E27FC236}">
                <a16:creationId xmlns:a16="http://schemas.microsoft.com/office/drawing/2014/main" id="{D36230C9-99F3-4B41-A0C4-AA9A2275C812}"/>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Discusión: ¿cómo explicaríamos una cifra distinta al volver a ejecutar?</a:t>
            </a:r>
          </a:p>
        </p:txBody>
      </p:sp>
      <p:sp>
        <p:nvSpPr>
          <p:cNvPr id="22" name="footer">
            <a:extLst xmlns:a="http://schemas.openxmlformats.org/drawingml/2006/main">
              <a:ext uri="{FF2B5EF4-FFF2-40B4-BE49-F238E27FC236}">
                <a16:creationId xmlns:a16="http://schemas.microsoft.com/office/drawing/2014/main" id="{C87504F5-9C38-494F-B3DC-03FEEEAE1E2C}"/>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3" name="page">
            <a:extLst xmlns:a="http://schemas.openxmlformats.org/drawingml/2006/main">
              <a:ext uri="{FF2B5EF4-FFF2-40B4-BE49-F238E27FC236}">
                <a16:creationId xmlns:a16="http://schemas.microsoft.com/office/drawing/2014/main" id="{71DBD769-BE24-4783-92F7-E1ED67CD52A3}"/>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03</a:t>
            </a:r>
          </a:p>
        </p:txBody>
      </p:sp>
    </p:spTree>
    <p:extLst>
      <p:ext uri="{BB962C8B-B14F-4D97-AF65-F5344CB8AC3E}">
        <p14:creationId xmlns:p14="http://schemas.microsoft.com/office/powerpoint/2010/main" val="11689989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58FDF361-DE22-4908-932D-703CAECFAAA7}"/>
              </a:ext>
            </a:extLst>
          </p:cNvPr>
          <p:cNvPicPr>
            <a:picLocks xmlns:a="http://schemas.openxmlformats.org/drawingml/2006/main" noChangeAspect="1"/>
          </p:cNvPicPr>
          <p:nvPr/>
        </p:nvPicPr>
        <p:blipFill>
          <a:blip xmlns:r="http://schemas.openxmlformats.org/officeDocument/2006/relationships" xmlns:a="http://schemas.openxmlformats.org/drawingml/2006/main" r:embed="R19b462d8290d452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9664ECCD-A817-429B-BD7D-48370E5D9C0D}"/>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Por qué necesitamos un pipeline</a:t>
            </a:r>
          </a:p>
        </p:txBody>
      </p:sp>
      <p:sp>
        <p:nvSpPr>
          <p:cNvPr id="16" name="lead">
            <a:extLst xmlns:a="http://schemas.openxmlformats.org/drawingml/2006/main">
              <a:ext uri="{FF2B5EF4-FFF2-40B4-BE49-F238E27FC236}">
                <a16:creationId xmlns:a16="http://schemas.microsoft.com/office/drawing/2014/main" id="{35E74DEB-F2B4-47B0-9948-0272FD97387F}"/>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Un reporte periódico exige repetir decisiones y operaciones sobre nuevos archivos.</a:t>
            </a:r>
          </a:p>
        </p:txBody>
      </p:sp>
      <p:sp>
        <p:nvSpPr>
          <p:cNvPr id="17" name="paragraph-1">
            <a:extLst xmlns:a="http://schemas.openxmlformats.org/drawingml/2006/main">
              <a:ext uri="{FF2B5EF4-FFF2-40B4-BE49-F238E27FC236}">
                <a16:creationId xmlns:a16="http://schemas.microsoft.com/office/drawing/2014/main" id="{DFBBF8AC-40FA-4482-A23A-127BAA9C81CC}"/>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Si cada persona filtra y corrige por su cuenta, dos reportes pueden responder distinto a la misma pregunta.</a:t>
            </a:r>
          </a:p>
        </p:txBody>
      </p:sp>
      <p:sp>
        <p:nvSpPr>
          <p:cNvPr id="18" name="paragraph-2">
            <a:extLst xmlns:a="http://schemas.openxmlformats.org/drawingml/2006/main">
              <a:ext uri="{FF2B5EF4-FFF2-40B4-BE49-F238E27FC236}">
                <a16:creationId xmlns:a16="http://schemas.microsoft.com/office/drawing/2014/main" id="{0E0B285D-AD1F-4FAC-91B7-9A5F519A9FD2}"/>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Un proceso explícito conserva el orden, las reglas y las comprobaciones que explican el resultado.</a:t>
            </a:r>
          </a:p>
        </p:txBody>
      </p:sp>
      <p:sp>
        <p:nvSpPr>
          <p:cNvPr id="19" name="paragraph-3">
            <a:extLst xmlns:a="http://schemas.openxmlformats.org/drawingml/2006/main">
              <a:ext uri="{FF2B5EF4-FFF2-40B4-BE49-F238E27FC236}">
                <a16:creationId xmlns:a16="http://schemas.microsoft.com/office/drawing/2014/main" id="{4EF664B3-05B6-4521-8109-D8A52AF12E18}"/>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Esto permite repetir el trabajo, localizar una falla y revisar qué cambió entre dos publicaciones.</a:t>
            </a:r>
          </a:p>
        </p:txBody>
      </p:sp>
      <p:sp>
        <p:nvSpPr>
          <p:cNvPr id="20" name="check">
            <a:extLst xmlns:a="http://schemas.openxmlformats.org/drawingml/2006/main">
              <a:ext uri="{FF2B5EF4-FFF2-40B4-BE49-F238E27FC236}">
                <a16:creationId xmlns:a16="http://schemas.microsoft.com/office/drawing/2014/main" id="{CEDE62DE-043E-493D-8950-9C4093CFB496}"/>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Pregunta inicial: si una cifra cambia, ¿cómo averiguaríamos la causa?</a:t>
            </a:r>
          </a:p>
        </p:txBody>
      </p:sp>
      <p:sp>
        <p:nvSpPr>
          <p:cNvPr id="21" name="footer">
            <a:extLst xmlns:a="http://schemas.openxmlformats.org/drawingml/2006/main">
              <a:ext uri="{FF2B5EF4-FFF2-40B4-BE49-F238E27FC236}">
                <a16:creationId xmlns:a16="http://schemas.microsoft.com/office/drawing/2014/main" id="{A5CB3285-BD80-42BA-944D-7B68A51A20BD}"/>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5D5F0C88-7F51-413D-871F-214A6D495C8B}"/>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04</a:t>
            </a:r>
          </a:p>
        </p:txBody>
      </p:sp>
    </p:spTree>
    <p:extLst>
      <p:ext uri="{BB962C8B-B14F-4D97-AF65-F5344CB8AC3E}">
        <p14:creationId xmlns:p14="http://schemas.microsoft.com/office/powerpoint/2010/main" val="11689989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A48D09FC-ACC5-4C44-8173-1433D6E201D0}"/>
              </a:ext>
            </a:extLst>
          </p:cNvPr>
          <p:cNvPicPr>
            <a:picLocks xmlns:a="http://schemas.openxmlformats.org/drawingml/2006/main" noChangeAspect="1"/>
          </p:cNvPicPr>
          <p:nvPr/>
        </p:nvPicPr>
        <p:blipFill>
          <a:blip xmlns:r="http://schemas.openxmlformats.org/officeDocument/2006/relationships" xmlns:a="http://schemas.openxmlformats.org/drawingml/2006/main" r:embed="R2759ec48fb2e47e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E6FAA6FF-E9F1-4293-A023-4AB2A8C805BB}"/>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Qué es un data pipeline</a:t>
            </a:r>
          </a:p>
        </p:txBody>
      </p:sp>
      <p:sp>
        <p:nvSpPr>
          <p:cNvPr id="16" name="lead">
            <a:extLst xmlns:a="http://schemas.openxmlformats.org/drawingml/2006/main">
              <a:ext uri="{FF2B5EF4-FFF2-40B4-BE49-F238E27FC236}">
                <a16:creationId xmlns:a16="http://schemas.microsoft.com/office/drawing/2014/main" id="{A5690D12-8B53-4592-ADA3-0D771BDCA189}"/>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Es un proceso organizado que recibe datos y produce una salida utilizable.</a:t>
            </a:r>
          </a:p>
        </p:txBody>
      </p:sp>
      <p:sp>
        <p:nvSpPr>
          <p:cNvPr id="17" name="paragraph-1">
            <a:extLst xmlns:a="http://schemas.openxmlformats.org/drawingml/2006/main">
              <a:ext uri="{FF2B5EF4-FFF2-40B4-BE49-F238E27FC236}">
                <a16:creationId xmlns:a16="http://schemas.microsoft.com/office/drawing/2014/main" id="{7583BEEE-4F4B-43D5-9F04-1505AE53886F}"/>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Una tarea realiza una operación concreta, como leer un archivo o validar sus períodos.</a:t>
            </a:r>
          </a:p>
        </p:txBody>
      </p:sp>
      <p:sp>
        <p:nvSpPr>
          <p:cNvPr id="18" name="paragraph-2">
            <a:extLst xmlns:a="http://schemas.openxmlformats.org/drawingml/2006/main">
              <a:ext uri="{FF2B5EF4-FFF2-40B4-BE49-F238E27FC236}">
                <a16:creationId xmlns:a16="http://schemas.microsoft.com/office/drawing/2014/main" id="{77CEE82C-2AEB-4CBF-83F8-C217889B64EC}"/>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Una dependencia indica qué debe existir antes de empezar. El agregado necesita primero un detalle válido.</a:t>
            </a:r>
          </a:p>
        </p:txBody>
      </p:sp>
      <p:sp>
        <p:nvSpPr>
          <p:cNvPr id="19" name="paragraph-3">
            <a:extLst xmlns:a="http://schemas.openxmlformats.org/drawingml/2006/main">
              <a:ext uri="{FF2B5EF4-FFF2-40B4-BE49-F238E27FC236}">
                <a16:creationId xmlns:a16="http://schemas.microsoft.com/office/drawing/2014/main" id="{612EA944-7E58-4ED3-876D-A1088EFB79DE}"/>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Una ejecución aplica esas tareas a un corte identificado. Sus controles permiten decidir si el resultado se puede utilizar.</a:t>
            </a:r>
          </a:p>
        </p:txBody>
      </p:sp>
      <p:sp>
        <p:nvSpPr>
          <p:cNvPr id="20" name="check">
            <a:extLst xmlns:a="http://schemas.openxmlformats.org/drawingml/2006/main">
              <a:ext uri="{FF2B5EF4-FFF2-40B4-BE49-F238E27FC236}">
                <a16:creationId xmlns:a16="http://schemas.microsoft.com/office/drawing/2014/main" id="{F8260C7B-FFD0-4D2D-B534-D252A3BE9544}"/>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Una lista de celdas solo describe el proceso si sus entradas y dependencias son claras.</a:t>
            </a:r>
          </a:p>
        </p:txBody>
      </p:sp>
      <p:sp>
        <p:nvSpPr>
          <p:cNvPr id="21" name="footer">
            <a:extLst xmlns:a="http://schemas.openxmlformats.org/drawingml/2006/main">
              <a:ext uri="{FF2B5EF4-FFF2-40B4-BE49-F238E27FC236}">
                <a16:creationId xmlns:a16="http://schemas.microsoft.com/office/drawing/2014/main" id="{D6A48B7D-8371-4344-BE8B-1794B1C7CD90}"/>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F40CBF89-A295-4C06-9C94-8468A0DF128A}"/>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05</a:t>
            </a:r>
          </a:p>
        </p:txBody>
      </p:sp>
    </p:spTree>
    <p:extLst>
      <p:ext uri="{BB962C8B-B14F-4D97-AF65-F5344CB8AC3E}">
        <p14:creationId xmlns:p14="http://schemas.microsoft.com/office/powerpoint/2010/main" val="11689989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30409FA5-E1DF-4E70-82FE-5EE9B05ADEDE}"/>
              </a:ext>
            </a:extLst>
          </p:cNvPr>
          <p:cNvPicPr>
            <a:picLocks xmlns:a="http://schemas.openxmlformats.org/drawingml/2006/main" noChangeAspect="1"/>
          </p:cNvPicPr>
          <p:nvPr/>
        </p:nvPicPr>
        <p:blipFill>
          <a:blip xmlns:r="http://schemas.openxmlformats.org/officeDocument/2006/relationships" xmlns:a="http://schemas.openxmlformats.org/drawingml/2006/main" r:embed="R466eea8855dd42c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B2D3A4EE-1D92-4530-8E83-4AA020D8A9E3}"/>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Pipeline completo de datos</a:t>
            </a:r>
          </a:p>
        </p:txBody>
      </p:sp>
      <p:sp>
        <p:nvSpPr>
          <p:cNvPr id="16" name="lead">
            <a:extLst xmlns:a="http://schemas.openxmlformats.org/drawingml/2006/main">
              <a:ext uri="{FF2B5EF4-FFF2-40B4-BE49-F238E27FC236}">
                <a16:creationId xmlns:a16="http://schemas.microsoft.com/office/drawing/2014/main" id="{8DFD9080-986F-4152-BC6C-CE6C35A5F886}"/>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Las etapas conectan los archivos recibidos con una publicación consultable.</a:t>
            </a:r>
          </a:p>
        </p:txBody>
      </p:sp>
      <p:sp>
        <p:nvSpPr>
          <p:cNvPr id="17" name="overview-stage-0">
            <a:extLst xmlns:a="http://schemas.openxmlformats.org/drawingml/2006/main">
              <a:ext uri="{FF2B5EF4-FFF2-40B4-BE49-F238E27FC236}">
                <a16:creationId xmlns:a16="http://schemas.microsoft.com/office/drawing/2014/main" id="{72BA039E-6C8C-4E6F-BE2C-E6996C152B1B}"/>
              </a:ext>
            </a:extLst>
          </p:cNvPr>
          <p:cNvSpPr>
            <a:spLocks xmlns:a="http://schemas.openxmlformats.org/drawingml/2006/main" noGrp="1"/>
          </p:cNvSpPr>
          <p:nvPr/>
        </p:nvSpPr>
        <p:spPr>
          <a:xfrm xmlns:a="http://schemas.openxmlformats.org/drawingml/2006/main">
            <a:off x="609600" y="2009775"/>
            <a:ext cx="198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546ED"/>
                </a:solidFill>
                <a:latin typeface="Calibri"/>
                <a:ea typeface="Calibri"/>
                <a:cs typeface="Calibri"/>
              </a:defRPr>
            </a:defPPr>
            <a:lvl1pPr>
              <a:defRPr sz="1875" b="1">
                <a:solidFill>
                  <a:srgbClr val="5546ED"/>
                </a:solidFill>
                <a:latin typeface="Calibri"/>
                <a:ea typeface="Calibri"/>
                <a:cs typeface="Calibri"/>
              </a:defRPr>
            </a:lvl1pPr>
            <a:lvl2pPr>
              <a:defRPr sz="1875" b="1">
                <a:solidFill>
                  <a:srgbClr val="5546ED"/>
                </a:solidFill>
                <a:latin typeface="Calibri"/>
                <a:ea typeface="Calibri"/>
                <a:cs typeface="Calibri"/>
              </a:defRPr>
            </a:lvl2pPr>
            <a:lvl3pPr>
              <a:defRPr sz="1875" b="1">
                <a:solidFill>
                  <a:srgbClr val="5546ED"/>
                </a:solidFill>
                <a:latin typeface="Calibri"/>
                <a:ea typeface="Calibri"/>
                <a:cs typeface="Calibri"/>
              </a:defRPr>
            </a:lvl3pPr>
            <a:lvl4pPr>
              <a:defRPr sz="1875" b="1">
                <a:solidFill>
                  <a:srgbClr val="5546ED"/>
                </a:solidFill>
                <a:latin typeface="Calibri"/>
                <a:ea typeface="Calibri"/>
                <a:cs typeface="Calibri"/>
              </a:defRPr>
            </a:lvl4pPr>
            <a:lvl5pPr>
              <a:defRPr sz="1875" b="1">
                <a:solidFill>
                  <a:srgbClr val="5546ED"/>
                </a:solidFill>
                <a:latin typeface="Calibri"/>
                <a:ea typeface="Calibri"/>
                <a:cs typeface="Calibri"/>
              </a:defRPr>
            </a:lvl5pPr>
            <a:lvl6pPr>
              <a:defRPr sz="1875" b="1">
                <a:solidFill>
                  <a:srgbClr val="5546ED"/>
                </a:solidFill>
                <a:latin typeface="Calibri"/>
                <a:ea typeface="Calibri"/>
                <a:cs typeface="Calibri"/>
              </a:defRPr>
            </a:lvl6pPr>
            <a:lvl7pPr>
              <a:defRPr sz="1875" b="1">
                <a:solidFill>
                  <a:srgbClr val="5546ED"/>
                </a:solidFill>
                <a:latin typeface="Calibri"/>
                <a:ea typeface="Calibri"/>
                <a:cs typeface="Calibri"/>
              </a:defRPr>
            </a:lvl7pPr>
            <a:lvl8pPr>
              <a:defRPr sz="1875" b="1">
                <a:solidFill>
                  <a:srgbClr val="5546ED"/>
                </a:solidFill>
                <a:latin typeface="Calibri"/>
                <a:ea typeface="Calibri"/>
                <a:cs typeface="Calibri"/>
              </a:defRPr>
            </a:lvl8pPr>
            <a:lvl9pPr>
              <a:defRPr sz="1875" b="1">
                <a:solidFill>
                  <a:srgbClr val="5546ED"/>
                </a:solidFill>
                <a:latin typeface="Calibri"/>
                <a:ea typeface="Calibri"/>
                <a:cs typeface="Calibri"/>
              </a:defRPr>
            </a:lvl9pPr>
          </a:lstStyle>
          <a:p xmlns:a="http://schemas.openxmlformats.org/drawingml/2006/main">
            <a:pPr>
              <a:defRPr sz="1875" b="1">
                <a:solidFill>
                  <a:srgbClr val="5546ED"/>
                </a:solidFill>
                <a:latin typeface="Calibri"/>
                <a:ea typeface="Calibri"/>
                <a:cs typeface="Calibri"/>
              </a:defRPr>
            </a:pPr>
            <a:r>
              <a:rPr sz="1875" b="1">
                <a:solidFill>
                  <a:srgbClr val="5546ED"/>
                </a:solidFill>
                <a:latin typeface="Calibri"/>
                <a:ea typeface="Calibri"/>
                <a:cs typeface="Calibri"/>
              </a:rPr>
              <a:t>Recepción</a:t>
            </a:r>
          </a:p>
        </p:txBody>
      </p:sp>
      <p:sp>
        <p:nvSpPr>
          <p:cNvPr id="18" name="overview-stage-1">
            <a:extLst xmlns:a="http://schemas.openxmlformats.org/drawingml/2006/main">
              <a:ext uri="{FF2B5EF4-FFF2-40B4-BE49-F238E27FC236}">
                <a16:creationId xmlns:a16="http://schemas.microsoft.com/office/drawing/2014/main" id="{CB4E6327-F6C6-4EBE-ADDC-F769D0B8CA52}"/>
              </a:ext>
            </a:extLst>
          </p:cNvPr>
          <p:cNvSpPr>
            <a:spLocks xmlns:a="http://schemas.openxmlformats.org/drawingml/2006/main" noGrp="1"/>
          </p:cNvSpPr>
          <p:nvPr/>
        </p:nvSpPr>
        <p:spPr>
          <a:xfrm xmlns:a="http://schemas.openxmlformats.org/drawingml/2006/main">
            <a:off x="2857500" y="2009775"/>
            <a:ext cx="198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546ED"/>
                </a:solidFill>
                <a:latin typeface="Calibri"/>
                <a:ea typeface="Calibri"/>
                <a:cs typeface="Calibri"/>
              </a:defRPr>
            </a:defPPr>
            <a:lvl1pPr>
              <a:defRPr sz="1875" b="1">
                <a:solidFill>
                  <a:srgbClr val="5546ED"/>
                </a:solidFill>
                <a:latin typeface="Calibri"/>
                <a:ea typeface="Calibri"/>
                <a:cs typeface="Calibri"/>
              </a:defRPr>
            </a:lvl1pPr>
            <a:lvl2pPr>
              <a:defRPr sz="1875" b="1">
                <a:solidFill>
                  <a:srgbClr val="5546ED"/>
                </a:solidFill>
                <a:latin typeface="Calibri"/>
                <a:ea typeface="Calibri"/>
                <a:cs typeface="Calibri"/>
              </a:defRPr>
            </a:lvl2pPr>
            <a:lvl3pPr>
              <a:defRPr sz="1875" b="1">
                <a:solidFill>
                  <a:srgbClr val="5546ED"/>
                </a:solidFill>
                <a:latin typeface="Calibri"/>
                <a:ea typeface="Calibri"/>
                <a:cs typeface="Calibri"/>
              </a:defRPr>
            </a:lvl3pPr>
            <a:lvl4pPr>
              <a:defRPr sz="1875" b="1">
                <a:solidFill>
                  <a:srgbClr val="5546ED"/>
                </a:solidFill>
                <a:latin typeface="Calibri"/>
                <a:ea typeface="Calibri"/>
                <a:cs typeface="Calibri"/>
              </a:defRPr>
            </a:lvl4pPr>
            <a:lvl5pPr>
              <a:defRPr sz="1875" b="1">
                <a:solidFill>
                  <a:srgbClr val="5546ED"/>
                </a:solidFill>
                <a:latin typeface="Calibri"/>
                <a:ea typeface="Calibri"/>
                <a:cs typeface="Calibri"/>
              </a:defRPr>
            </a:lvl5pPr>
            <a:lvl6pPr>
              <a:defRPr sz="1875" b="1">
                <a:solidFill>
                  <a:srgbClr val="5546ED"/>
                </a:solidFill>
                <a:latin typeface="Calibri"/>
                <a:ea typeface="Calibri"/>
                <a:cs typeface="Calibri"/>
              </a:defRPr>
            </a:lvl6pPr>
            <a:lvl7pPr>
              <a:defRPr sz="1875" b="1">
                <a:solidFill>
                  <a:srgbClr val="5546ED"/>
                </a:solidFill>
                <a:latin typeface="Calibri"/>
                <a:ea typeface="Calibri"/>
                <a:cs typeface="Calibri"/>
              </a:defRPr>
            </a:lvl7pPr>
            <a:lvl8pPr>
              <a:defRPr sz="1875" b="1">
                <a:solidFill>
                  <a:srgbClr val="5546ED"/>
                </a:solidFill>
                <a:latin typeface="Calibri"/>
                <a:ea typeface="Calibri"/>
                <a:cs typeface="Calibri"/>
              </a:defRPr>
            </a:lvl8pPr>
            <a:lvl9pPr>
              <a:defRPr sz="1875" b="1">
                <a:solidFill>
                  <a:srgbClr val="5546ED"/>
                </a:solidFill>
                <a:latin typeface="Calibri"/>
                <a:ea typeface="Calibri"/>
                <a:cs typeface="Calibri"/>
              </a:defRPr>
            </a:lvl9pPr>
          </a:lstStyle>
          <a:p xmlns:a="http://schemas.openxmlformats.org/drawingml/2006/main">
            <a:pPr>
              <a:defRPr sz="1875" b="1">
                <a:solidFill>
                  <a:srgbClr val="5546ED"/>
                </a:solidFill>
                <a:latin typeface="Calibri"/>
                <a:ea typeface="Calibri"/>
                <a:cs typeface="Calibri"/>
              </a:defRPr>
            </a:pPr>
            <a:r>
              <a:rPr sz="1875" b="1">
                <a:solidFill>
                  <a:srgbClr val="5546ED"/>
                </a:solidFill>
                <a:latin typeface="Calibri"/>
                <a:ea typeface="Calibri"/>
                <a:cs typeface="Calibri"/>
              </a:rPr>
              <a:t>Validación</a:t>
            </a:r>
          </a:p>
        </p:txBody>
      </p:sp>
      <p:sp>
        <p:nvSpPr>
          <p:cNvPr id="19" name="overview-stage-2">
            <a:extLst xmlns:a="http://schemas.openxmlformats.org/drawingml/2006/main">
              <a:ext uri="{FF2B5EF4-FFF2-40B4-BE49-F238E27FC236}">
                <a16:creationId xmlns:a16="http://schemas.microsoft.com/office/drawing/2014/main" id="{AF91DF18-0CCF-46BA-B210-692918FE82F8}"/>
              </a:ext>
            </a:extLst>
          </p:cNvPr>
          <p:cNvSpPr>
            <a:spLocks xmlns:a="http://schemas.openxmlformats.org/drawingml/2006/main" noGrp="1"/>
          </p:cNvSpPr>
          <p:nvPr/>
        </p:nvSpPr>
        <p:spPr>
          <a:xfrm xmlns:a="http://schemas.openxmlformats.org/drawingml/2006/main">
            <a:off x="5105400" y="2009775"/>
            <a:ext cx="198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546ED"/>
                </a:solidFill>
                <a:latin typeface="Calibri"/>
                <a:ea typeface="Calibri"/>
                <a:cs typeface="Calibri"/>
              </a:defRPr>
            </a:defPPr>
            <a:lvl1pPr>
              <a:defRPr sz="1875" b="1">
                <a:solidFill>
                  <a:srgbClr val="5546ED"/>
                </a:solidFill>
                <a:latin typeface="Calibri"/>
                <a:ea typeface="Calibri"/>
                <a:cs typeface="Calibri"/>
              </a:defRPr>
            </a:lvl1pPr>
            <a:lvl2pPr>
              <a:defRPr sz="1875" b="1">
                <a:solidFill>
                  <a:srgbClr val="5546ED"/>
                </a:solidFill>
                <a:latin typeface="Calibri"/>
                <a:ea typeface="Calibri"/>
                <a:cs typeface="Calibri"/>
              </a:defRPr>
            </a:lvl2pPr>
            <a:lvl3pPr>
              <a:defRPr sz="1875" b="1">
                <a:solidFill>
                  <a:srgbClr val="5546ED"/>
                </a:solidFill>
                <a:latin typeface="Calibri"/>
                <a:ea typeface="Calibri"/>
                <a:cs typeface="Calibri"/>
              </a:defRPr>
            </a:lvl3pPr>
            <a:lvl4pPr>
              <a:defRPr sz="1875" b="1">
                <a:solidFill>
                  <a:srgbClr val="5546ED"/>
                </a:solidFill>
                <a:latin typeface="Calibri"/>
                <a:ea typeface="Calibri"/>
                <a:cs typeface="Calibri"/>
              </a:defRPr>
            </a:lvl4pPr>
            <a:lvl5pPr>
              <a:defRPr sz="1875" b="1">
                <a:solidFill>
                  <a:srgbClr val="5546ED"/>
                </a:solidFill>
                <a:latin typeface="Calibri"/>
                <a:ea typeface="Calibri"/>
                <a:cs typeface="Calibri"/>
              </a:defRPr>
            </a:lvl5pPr>
            <a:lvl6pPr>
              <a:defRPr sz="1875" b="1">
                <a:solidFill>
                  <a:srgbClr val="5546ED"/>
                </a:solidFill>
                <a:latin typeface="Calibri"/>
                <a:ea typeface="Calibri"/>
                <a:cs typeface="Calibri"/>
              </a:defRPr>
            </a:lvl6pPr>
            <a:lvl7pPr>
              <a:defRPr sz="1875" b="1">
                <a:solidFill>
                  <a:srgbClr val="5546ED"/>
                </a:solidFill>
                <a:latin typeface="Calibri"/>
                <a:ea typeface="Calibri"/>
                <a:cs typeface="Calibri"/>
              </a:defRPr>
            </a:lvl7pPr>
            <a:lvl8pPr>
              <a:defRPr sz="1875" b="1">
                <a:solidFill>
                  <a:srgbClr val="5546ED"/>
                </a:solidFill>
                <a:latin typeface="Calibri"/>
                <a:ea typeface="Calibri"/>
                <a:cs typeface="Calibri"/>
              </a:defRPr>
            </a:lvl8pPr>
            <a:lvl9pPr>
              <a:defRPr sz="1875" b="1">
                <a:solidFill>
                  <a:srgbClr val="5546ED"/>
                </a:solidFill>
                <a:latin typeface="Calibri"/>
                <a:ea typeface="Calibri"/>
                <a:cs typeface="Calibri"/>
              </a:defRPr>
            </a:lvl9pPr>
          </a:lstStyle>
          <a:p xmlns:a="http://schemas.openxmlformats.org/drawingml/2006/main">
            <a:pPr>
              <a:defRPr sz="1875" b="1">
                <a:solidFill>
                  <a:srgbClr val="5546ED"/>
                </a:solidFill>
                <a:latin typeface="Calibri"/>
                <a:ea typeface="Calibri"/>
                <a:cs typeface="Calibri"/>
              </a:defRPr>
            </a:pPr>
            <a:r>
              <a:rPr sz="1875" b="1">
                <a:solidFill>
                  <a:srgbClr val="5546ED"/>
                </a:solidFill>
                <a:latin typeface="Calibri"/>
                <a:ea typeface="Calibri"/>
                <a:cs typeface="Calibri"/>
              </a:rPr>
              <a:t>Transformación</a:t>
            </a:r>
          </a:p>
        </p:txBody>
      </p:sp>
      <p:sp>
        <p:nvSpPr>
          <p:cNvPr id="20" name="overview-stage-3">
            <a:extLst xmlns:a="http://schemas.openxmlformats.org/drawingml/2006/main">
              <a:ext uri="{FF2B5EF4-FFF2-40B4-BE49-F238E27FC236}">
                <a16:creationId xmlns:a16="http://schemas.microsoft.com/office/drawing/2014/main" id="{341E0C00-07CE-41E2-A60D-94848932DC8A}"/>
              </a:ext>
            </a:extLst>
          </p:cNvPr>
          <p:cNvSpPr>
            <a:spLocks xmlns:a="http://schemas.openxmlformats.org/drawingml/2006/main" noGrp="1"/>
          </p:cNvSpPr>
          <p:nvPr/>
        </p:nvSpPr>
        <p:spPr>
          <a:xfrm xmlns:a="http://schemas.openxmlformats.org/drawingml/2006/main">
            <a:off x="7353300" y="2009775"/>
            <a:ext cx="198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546ED"/>
                </a:solidFill>
                <a:latin typeface="Calibri"/>
                <a:ea typeface="Calibri"/>
                <a:cs typeface="Calibri"/>
              </a:defRPr>
            </a:defPPr>
            <a:lvl1pPr>
              <a:defRPr sz="1875" b="1">
                <a:solidFill>
                  <a:srgbClr val="5546ED"/>
                </a:solidFill>
                <a:latin typeface="Calibri"/>
                <a:ea typeface="Calibri"/>
                <a:cs typeface="Calibri"/>
              </a:defRPr>
            </a:lvl1pPr>
            <a:lvl2pPr>
              <a:defRPr sz="1875" b="1">
                <a:solidFill>
                  <a:srgbClr val="5546ED"/>
                </a:solidFill>
                <a:latin typeface="Calibri"/>
                <a:ea typeface="Calibri"/>
                <a:cs typeface="Calibri"/>
              </a:defRPr>
            </a:lvl2pPr>
            <a:lvl3pPr>
              <a:defRPr sz="1875" b="1">
                <a:solidFill>
                  <a:srgbClr val="5546ED"/>
                </a:solidFill>
                <a:latin typeface="Calibri"/>
                <a:ea typeface="Calibri"/>
                <a:cs typeface="Calibri"/>
              </a:defRPr>
            </a:lvl3pPr>
            <a:lvl4pPr>
              <a:defRPr sz="1875" b="1">
                <a:solidFill>
                  <a:srgbClr val="5546ED"/>
                </a:solidFill>
                <a:latin typeface="Calibri"/>
                <a:ea typeface="Calibri"/>
                <a:cs typeface="Calibri"/>
              </a:defRPr>
            </a:lvl4pPr>
            <a:lvl5pPr>
              <a:defRPr sz="1875" b="1">
                <a:solidFill>
                  <a:srgbClr val="5546ED"/>
                </a:solidFill>
                <a:latin typeface="Calibri"/>
                <a:ea typeface="Calibri"/>
                <a:cs typeface="Calibri"/>
              </a:defRPr>
            </a:lvl5pPr>
            <a:lvl6pPr>
              <a:defRPr sz="1875" b="1">
                <a:solidFill>
                  <a:srgbClr val="5546ED"/>
                </a:solidFill>
                <a:latin typeface="Calibri"/>
                <a:ea typeface="Calibri"/>
                <a:cs typeface="Calibri"/>
              </a:defRPr>
            </a:lvl6pPr>
            <a:lvl7pPr>
              <a:defRPr sz="1875" b="1">
                <a:solidFill>
                  <a:srgbClr val="5546ED"/>
                </a:solidFill>
                <a:latin typeface="Calibri"/>
                <a:ea typeface="Calibri"/>
                <a:cs typeface="Calibri"/>
              </a:defRPr>
            </a:lvl7pPr>
            <a:lvl8pPr>
              <a:defRPr sz="1875" b="1">
                <a:solidFill>
                  <a:srgbClr val="5546ED"/>
                </a:solidFill>
                <a:latin typeface="Calibri"/>
                <a:ea typeface="Calibri"/>
                <a:cs typeface="Calibri"/>
              </a:defRPr>
            </a:lvl8pPr>
            <a:lvl9pPr>
              <a:defRPr sz="1875" b="1">
                <a:solidFill>
                  <a:srgbClr val="5546ED"/>
                </a:solidFill>
                <a:latin typeface="Calibri"/>
                <a:ea typeface="Calibri"/>
                <a:cs typeface="Calibri"/>
              </a:defRPr>
            </a:lvl9pPr>
          </a:lstStyle>
          <a:p xmlns:a="http://schemas.openxmlformats.org/drawingml/2006/main">
            <a:pPr>
              <a:defRPr sz="1875" b="1">
                <a:solidFill>
                  <a:srgbClr val="5546ED"/>
                </a:solidFill>
                <a:latin typeface="Calibri"/>
                <a:ea typeface="Calibri"/>
                <a:cs typeface="Calibri"/>
              </a:defRPr>
            </a:pPr>
            <a:r>
              <a:rPr sz="1875" b="1">
                <a:solidFill>
                  <a:srgbClr val="5546ED"/>
                </a:solidFill>
                <a:latin typeface="Calibri"/>
                <a:ea typeface="Calibri"/>
                <a:cs typeface="Calibri"/>
              </a:rPr>
              <a:t>Publicación</a:t>
            </a:r>
          </a:p>
        </p:txBody>
      </p:sp>
      <p:sp>
        <p:nvSpPr>
          <p:cNvPr id="21" name="overview-stage-4">
            <a:extLst xmlns:a="http://schemas.openxmlformats.org/drawingml/2006/main">
              <a:ext uri="{FF2B5EF4-FFF2-40B4-BE49-F238E27FC236}">
                <a16:creationId xmlns:a16="http://schemas.microsoft.com/office/drawing/2014/main" id="{A6CA0188-1AA9-40A1-B5C3-1B2237F7A819}"/>
              </a:ext>
            </a:extLst>
          </p:cNvPr>
          <p:cNvSpPr>
            <a:spLocks xmlns:a="http://schemas.openxmlformats.org/drawingml/2006/main" noGrp="1"/>
          </p:cNvSpPr>
          <p:nvPr/>
        </p:nvSpPr>
        <p:spPr>
          <a:xfrm xmlns:a="http://schemas.openxmlformats.org/drawingml/2006/main">
            <a:off x="9601200" y="2009775"/>
            <a:ext cx="198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546ED"/>
                </a:solidFill>
                <a:latin typeface="Calibri"/>
                <a:ea typeface="Calibri"/>
                <a:cs typeface="Calibri"/>
              </a:defRPr>
            </a:defPPr>
            <a:lvl1pPr>
              <a:defRPr sz="1875" b="1">
                <a:solidFill>
                  <a:srgbClr val="5546ED"/>
                </a:solidFill>
                <a:latin typeface="Calibri"/>
                <a:ea typeface="Calibri"/>
                <a:cs typeface="Calibri"/>
              </a:defRPr>
            </a:lvl1pPr>
            <a:lvl2pPr>
              <a:defRPr sz="1875" b="1">
                <a:solidFill>
                  <a:srgbClr val="5546ED"/>
                </a:solidFill>
                <a:latin typeface="Calibri"/>
                <a:ea typeface="Calibri"/>
                <a:cs typeface="Calibri"/>
              </a:defRPr>
            </a:lvl2pPr>
            <a:lvl3pPr>
              <a:defRPr sz="1875" b="1">
                <a:solidFill>
                  <a:srgbClr val="5546ED"/>
                </a:solidFill>
                <a:latin typeface="Calibri"/>
                <a:ea typeface="Calibri"/>
                <a:cs typeface="Calibri"/>
              </a:defRPr>
            </a:lvl3pPr>
            <a:lvl4pPr>
              <a:defRPr sz="1875" b="1">
                <a:solidFill>
                  <a:srgbClr val="5546ED"/>
                </a:solidFill>
                <a:latin typeface="Calibri"/>
                <a:ea typeface="Calibri"/>
                <a:cs typeface="Calibri"/>
              </a:defRPr>
            </a:lvl4pPr>
            <a:lvl5pPr>
              <a:defRPr sz="1875" b="1">
                <a:solidFill>
                  <a:srgbClr val="5546ED"/>
                </a:solidFill>
                <a:latin typeface="Calibri"/>
                <a:ea typeface="Calibri"/>
                <a:cs typeface="Calibri"/>
              </a:defRPr>
            </a:lvl5pPr>
            <a:lvl6pPr>
              <a:defRPr sz="1875" b="1">
                <a:solidFill>
                  <a:srgbClr val="5546ED"/>
                </a:solidFill>
                <a:latin typeface="Calibri"/>
                <a:ea typeface="Calibri"/>
                <a:cs typeface="Calibri"/>
              </a:defRPr>
            </a:lvl6pPr>
            <a:lvl7pPr>
              <a:defRPr sz="1875" b="1">
                <a:solidFill>
                  <a:srgbClr val="5546ED"/>
                </a:solidFill>
                <a:latin typeface="Calibri"/>
                <a:ea typeface="Calibri"/>
                <a:cs typeface="Calibri"/>
              </a:defRPr>
            </a:lvl7pPr>
            <a:lvl8pPr>
              <a:defRPr sz="1875" b="1">
                <a:solidFill>
                  <a:srgbClr val="5546ED"/>
                </a:solidFill>
                <a:latin typeface="Calibri"/>
                <a:ea typeface="Calibri"/>
                <a:cs typeface="Calibri"/>
              </a:defRPr>
            </a:lvl8pPr>
            <a:lvl9pPr>
              <a:defRPr sz="1875" b="1">
                <a:solidFill>
                  <a:srgbClr val="5546ED"/>
                </a:solidFill>
                <a:latin typeface="Calibri"/>
                <a:ea typeface="Calibri"/>
                <a:cs typeface="Calibri"/>
              </a:defRPr>
            </a:lvl9pPr>
          </a:lstStyle>
          <a:p xmlns:a="http://schemas.openxmlformats.org/drawingml/2006/main">
            <a:pPr>
              <a:defRPr sz="1875" b="1">
                <a:solidFill>
                  <a:srgbClr val="5546ED"/>
                </a:solidFill>
                <a:latin typeface="Calibri"/>
                <a:ea typeface="Calibri"/>
                <a:cs typeface="Calibri"/>
              </a:defRPr>
            </a:pPr>
            <a:r>
              <a:rPr sz="1875" b="1">
                <a:solidFill>
                  <a:srgbClr val="5546ED"/>
                </a:solidFill>
                <a:latin typeface="Calibri"/>
                <a:ea typeface="Calibri"/>
                <a:cs typeface="Calibri"/>
              </a:rPr>
              <a:t>Consulta</a:t>
            </a:r>
          </a:p>
        </p:txBody>
      </p:sp>
      <p:pic>
        <p:nvPicPr>
          <p:cNvPr id="22" name="">
            <a:extLst xmlns:a="http://schemas.openxmlformats.org/drawingml/2006/main">
              <a:ext uri="{FF2B5EF4-FFF2-40B4-BE49-F238E27FC236}">
                <a16:creationId xmlns:a16="http://schemas.microsoft.com/office/drawing/2014/main" id="{68707DA1-7F21-42FD-924D-6FC6BA700B27}"/>
              </a:ext>
            </a:extLst>
          </p:cNvPr>
          <p:cNvPicPr>
            <a:picLocks xmlns:a="http://schemas.openxmlformats.org/drawingml/2006/main" noChangeAspect="1"/>
          </p:cNvPicPr>
          <p:nvPr/>
        </p:nvPicPr>
        <p:blipFill>
          <a:blip xmlns:r="http://schemas.openxmlformats.org/officeDocument/2006/relationships" xmlns:a="http://schemas.openxmlformats.org/drawingml/2006/main" r:embed="R633244eb03cb4ef3"/>
          <a:stretch xmlns:a="http://schemas.openxmlformats.org/drawingml/2006/main"/>
        </p:blipFill>
        <p:spPr>
          <a:xfrm xmlns:a="http://schemas.openxmlformats.org/drawingml/2006/main">
            <a:off x="1166813" y="2457450"/>
            <a:ext cx="9858375" cy="3286125"/>
          </a:xfrm>
          <a:prstGeom xmlns:a="http://schemas.openxmlformats.org/drawingml/2006/main" prst="rect">
            <a:avLst/>
          </a:prstGeom>
        </p:spPr>
      </p:pic>
      <p:sp>
        <p:nvSpPr>
          <p:cNvPr id="23" name="check">
            <a:extLst xmlns:a="http://schemas.openxmlformats.org/drawingml/2006/main">
              <a:ext uri="{FF2B5EF4-FFF2-40B4-BE49-F238E27FC236}">
                <a16:creationId xmlns:a16="http://schemas.microsoft.com/office/drawing/2014/main" id="{545526F0-8B9C-4A16-99D7-5A5386B4D009}"/>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La rama de validación conserva rechazos. La línea inferior representa los controles de la ejecución.</a:t>
            </a:r>
          </a:p>
        </p:txBody>
      </p:sp>
      <p:sp>
        <p:nvSpPr>
          <p:cNvPr id="24" name="footer">
            <a:extLst xmlns:a="http://schemas.openxmlformats.org/drawingml/2006/main">
              <a:ext uri="{FF2B5EF4-FFF2-40B4-BE49-F238E27FC236}">
                <a16:creationId xmlns:a16="http://schemas.microsoft.com/office/drawing/2014/main" id="{805A1F38-C220-44CF-AB23-7037FF1B8A09}"/>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5" name="page">
            <a:extLst xmlns:a="http://schemas.openxmlformats.org/drawingml/2006/main">
              <a:ext uri="{FF2B5EF4-FFF2-40B4-BE49-F238E27FC236}">
                <a16:creationId xmlns:a16="http://schemas.microsoft.com/office/drawing/2014/main" id="{2AFF1AE4-9DA6-4F0A-B7D5-F8F957C58513}"/>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06</a:t>
            </a:r>
          </a:p>
        </p:txBody>
      </p:sp>
    </p:spTree>
    <p:extLst>
      <p:ext uri="{BB962C8B-B14F-4D97-AF65-F5344CB8AC3E}">
        <p14:creationId xmlns:p14="http://schemas.microsoft.com/office/powerpoint/2010/main" val="11689989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81C910F3-A02D-4AAD-8C76-7AC3532CC20D}"/>
              </a:ext>
            </a:extLst>
          </p:cNvPr>
          <p:cNvPicPr>
            <a:picLocks xmlns:a="http://schemas.openxmlformats.org/drawingml/2006/main" noChangeAspect="1"/>
          </p:cNvPicPr>
          <p:nvPr/>
        </p:nvPicPr>
        <p:blipFill>
          <a:blip xmlns:r="http://schemas.openxmlformats.org/officeDocument/2006/relationships" xmlns:a="http://schemas.openxmlformats.org/drawingml/2006/main" r:embed="Ra4ab73b999a54ba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27BA6D71-5406-4556-9CE7-F81B26CEBA17}"/>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Los componentes del pipeline</a:t>
            </a:r>
          </a:p>
        </p:txBody>
      </p:sp>
      <p:sp>
        <p:nvSpPr>
          <p:cNvPr id="16" name="lead">
            <a:extLst xmlns:a="http://schemas.openxmlformats.org/drawingml/2006/main">
              <a:ext uri="{FF2B5EF4-FFF2-40B4-BE49-F238E27FC236}">
                <a16:creationId xmlns:a16="http://schemas.microsoft.com/office/drawing/2014/main" id="{F2A39760-B29E-4B94-8D47-946108282C9E}"/>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Cada componente responde una pregunta diferente.</a:t>
            </a:r>
          </a:p>
        </p:txBody>
      </p:sp>
      <p:graphicFrame>
        <p:nvGraphicFramePr>
          <p:cNvPr id="17" name="">
            <a:extLst xmlns:a="http://schemas.openxmlformats.org/drawingml/2006/main">
              <a:ext uri="{FF2B5EF4-FFF2-40B4-BE49-F238E27FC236}">
                <a16:creationId xmlns:a16="http://schemas.microsoft.com/office/drawing/2014/main" id="{4B44C8F9-FD10-4148-8CEF-C38ECC8AC13C}"/>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2194560"/>
                <a:gridCol w="3950208"/>
                <a:gridCol w="4828032"/>
              </a:tblGrid>
              <a:tr h="555625">
                <a:tc>
                  <a:txBody>
                    <a:bodyPr/>
                    <a:lstStyle/>
                    <a:p>
                      <a:r>
                        <a:rPr sz="1950" b="1">
                          <a:solidFill>
                            <a:srgbClr val="FFFFFF"/>
                          </a:solidFill>
                          <a:latin typeface="Calibri"/>
                          <a:ea typeface="Calibri"/>
                          <a:cs typeface="Calibri"/>
                        </a:rPr>
                        <a:t>Componente</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Pregunta</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Ejemplo sencillo</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555625">
                <a:tc>
                  <a:txBody>
                    <a:bodyPr/>
                    <a:lstStyle/>
                    <a:p>
                      <a:r>
                        <a:rPr sz="1950" b="0">
                          <a:solidFill>
                            <a:srgbClr val="203B68"/>
                          </a:solidFill>
                          <a:latin typeface="Calibri"/>
                          <a:ea typeface="Calibri"/>
                          <a:cs typeface="Calibri"/>
                        </a:rPr>
                        <a:t>Entrada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¿Qué recibimos?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Archivo de un corte declarado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Tarea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¿Qué operación realizamos?</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Validar el período de cada fila</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Dependencia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¿Qué debe estar disponible?</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Validación antes del agregado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Producto</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¿Qué puede consumir otra persona?</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Detalle y agregado comprobados</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Control</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¿Cómo sabemos si cumple?</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Comparación por grupo y total</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bl>
          </a:graphicData>
        </a:graphic>
      </p:graphicFrame>
      <p:sp>
        <p:nvSpPr>
          <p:cNvPr id="18" name="check">
            <a:extLst xmlns:a="http://schemas.openxmlformats.org/drawingml/2006/main">
              <a:ext uri="{FF2B5EF4-FFF2-40B4-BE49-F238E27FC236}">
                <a16:creationId xmlns:a16="http://schemas.microsoft.com/office/drawing/2014/main" id="{368B1ED1-8BA2-40D3-BD70-1E2539392586}"/>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Identificar estos componentes permite diseñar antes de escribir código.</a:t>
            </a:r>
          </a:p>
        </p:txBody>
      </p:sp>
      <p:sp>
        <p:nvSpPr>
          <p:cNvPr id="19" name="footer">
            <a:extLst xmlns:a="http://schemas.openxmlformats.org/drawingml/2006/main">
              <a:ext uri="{FF2B5EF4-FFF2-40B4-BE49-F238E27FC236}">
                <a16:creationId xmlns:a16="http://schemas.microsoft.com/office/drawing/2014/main" id="{4AE67A06-C936-4CEF-8173-71B886D3198A}"/>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F5FAC806-BDC4-4F25-81D5-7BAC12662E0E}"/>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07</a:t>
            </a:r>
          </a:p>
        </p:txBody>
      </p:sp>
    </p:spTree>
    <p:extLst>
      <p:ext uri="{BB962C8B-B14F-4D97-AF65-F5344CB8AC3E}">
        <p14:creationId xmlns:p14="http://schemas.microsoft.com/office/powerpoint/2010/main" val="11689989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2328C3DE-6D2E-484D-925F-8D7A0BBE75C6}"/>
              </a:ext>
            </a:extLst>
          </p:cNvPr>
          <p:cNvCxnSpPr>
            <a:stCxn xmlns:a="http://schemas.openxmlformats.org/drawingml/2006/main" id="21" idx="3"/>
            <a:endCxn xmlns:a="http://schemas.openxmlformats.org/drawingml/2006/main" id="22" idx="1"/>
          </p:cNvCxnSpPr>
          <p:nvPr/>
        </p:nvCxnSpPr>
        <p:spPr>
          <a:xfrm xmlns:a="http://schemas.openxmlformats.org/drawingml/2006/main">
            <a:off x="7429500" y="4976813"/>
            <a:ext cx="1333500"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5" name="">
            <a:extLst xmlns:a="http://schemas.openxmlformats.org/drawingml/2006/main">
              <a:ext uri="{FF2B5EF4-FFF2-40B4-BE49-F238E27FC236}">
                <a16:creationId xmlns:a16="http://schemas.microsoft.com/office/drawing/2014/main" id="{DB7C2644-5A4C-4A4C-92A1-6B9937A3729A}"/>
              </a:ext>
            </a:extLst>
          </p:cNvPr>
          <p:cNvCxnSpPr>
            <a:stCxn xmlns:a="http://schemas.openxmlformats.org/drawingml/2006/main" id="20" idx="3"/>
            <a:endCxn xmlns:a="http://schemas.openxmlformats.org/drawingml/2006/main" id="21" idx="1"/>
          </p:cNvCxnSpPr>
          <p:nvPr/>
        </p:nvCxnSpPr>
        <p:spPr>
          <a:xfrm xmlns:a="http://schemas.openxmlformats.org/drawingml/2006/main">
            <a:off x="3371850" y="4976813"/>
            <a:ext cx="1295400"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4" name="">
            <a:extLst xmlns:a="http://schemas.openxmlformats.org/drawingml/2006/main">
              <a:ext uri="{FF2B5EF4-FFF2-40B4-BE49-F238E27FC236}">
                <a16:creationId xmlns:a16="http://schemas.microsoft.com/office/drawing/2014/main" id="{B3AA46CB-3990-4B8D-9D87-E2B740C77557}"/>
              </a:ext>
            </a:extLst>
          </p:cNvPr>
          <p:cNvCxnSpPr>
            <a:stCxn xmlns:a="http://schemas.openxmlformats.org/drawingml/2006/main" id="18" idx="3"/>
            <a:endCxn xmlns:a="http://schemas.openxmlformats.org/drawingml/2006/main" id="19" idx="1"/>
          </p:cNvCxnSpPr>
          <p:nvPr/>
        </p:nvCxnSpPr>
        <p:spPr>
          <a:xfrm xmlns:a="http://schemas.openxmlformats.org/drawingml/2006/main">
            <a:off x="7429500" y="3024188"/>
            <a:ext cx="1333500"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3" name="">
            <a:extLst xmlns:a="http://schemas.openxmlformats.org/drawingml/2006/main">
              <a:ext uri="{FF2B5EF4-FFF2-40B4-BE49-F238E27FC236}">
                <a16:creationId xmlns:a16="http://schemas.microsoft.com/office/drawing/2014/main" id="{660B30D0-44E0-4BEF-80EA-1C969DE148D6}"/>
              </a:ext>
            </a:extLst>
          </p:cNvPr>
          <p:cNvCxnSpPr>
            <a:stCxn xmlns:a="http://schemas.openxmlformats.org/drawingml/2006/main" id="17" idx="3"/>
            <a:endCxn xmlns:a="http://schemas.openxmlformats.org/drawingml/2006/main" id="18" idx="1"/>
          </p:cNvCxnSpPr>
          <p:nvPr/>
        </p:nvCxnSpPr>
        <p:spPr>
          <a:xfrm xmlns:a="http://schemas.openxmlformats.org/drawingml/2006/main">
            <a:off x="3371850" y="3024188"/>
            <a:ext cx="1295400" cy="0"/>
          </a:xfrm>
          <a:prstGeom xmlns:a="http://schemas.openxmlformats.org/drawingml/2006/main" prst="straightConnector1">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5E8DE70E-C748-4D49-9BAF-881739EFD09E}"/>
              </a:ext>
            </a:extLst>
          </p:cNvPr>
          <p:cNvPicPr>
            <a:picLocks xmlns:a="http://schemas.openxmlformats.org/drawingml/2006/main" noChangeAspect="1"/>
          </p:cNvPicPr>
          <p:nvPr/>
        </p:nvPicPr>
        <p:blipFill>
          <a:blip xmlns:r="http://schemas.openxmlformats.org/officeDocument/2006/relationships" xmlns:a="http://schemas.openxmlformats.org/drawingml/2006/main" r:embed="Rd35aae2ec5fc4da1"/>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92E1CBCC-4990-4ED2-9BDC-AE8237CF2FDF}"/>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Flujo de datos y flujo de control</a:t>
            </a:r>
          </a:p>
        </p:txBody>
      </p:sp>
      <p:sp>
        <p:nvSpPr>
          <p:cNvPr id="16" name="lead">
            <a:extLst xmlns:a="http://schemas.openxmlformats.org/drawingml/2006/main">
              <a:ext uri="{FF2B5EF4-FFF2-40B4-BE49-F238E27FC236}">
                <a16:creationId xmlns:a16="http://schemas.microsoft.com/office/drawing/2014/main" id="{0D7C29A9-C298-4742-82A9-38C4E7AE3353}"/>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Un archivo producido y una condición para continuar son relaciones distintas.</a:t>
            </a:r>
          </a:p>
        </p:txBody>
      </p:sp>
      <p:sp>
        <p:nvSpPr>
          <p:cNvPr id="17" name="diagram-node-0">
            <a:extLst xmlns:a="http://schemas.openxmlformats.org/drawingml/2006/main">
              <a:ext uri="{FF2B5EF4-FFF2-40B4-BE49-F238E27FC236}">
                <a16:creationId xmlns:a16="http://schemas.microsoft.com/office/drawing/2014/main" id="{1586FE7E-2758-49C2-A7EE-4A7A78BF5567}"/>
              </a:ext>
            </a:extLst>
          </p:cNvPr>
          <p:cNvSpPr>
            <a:spLocks xmlns:a="http://schemas.openxmlformats.org/drawingml/2006/main" noGrp="1"/>
          </p:cNvSpPr>
          <p:nvPr/>
        </p:nvSpPr>
        <p:spPr>
          <a:xfrm xmlns:a="http://schemas.openxmlformats.org/drawingml/2006/main">
            <a:off x="609600" y="2571750"/>
            <a:ext cx="2762250" cy="904875"/>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Archivo recibido</a:t>
            </a:r>
          </a:p>
        </p:txBody>
      </p:sp>
      <p:sp>
        <p:nvSpPr>
          <p:cNvPr id="18" name="diagram-node-1">
            <a:extLst xmlns:a="http://schemas.openxmlformats.org/drawingml/2006/main">
              <a:ext uri="{FF2B5EF4-FFF2-40B4-BE49-F238E27FC236}">
                <a16:creationId xmlns:a16="http://schemas.microsoft.com/office/drawing/2014/main" id="{5FE4FD15-09D9-4540-8CC5-C18B8EB0FAA2}"/>
              </a:ext>
            </a:extLst>
          </p:cNvPr>
          <p:cNvSpPr>
            <a:spLocks xmlns:a="http://schemas.openxmlformats.org/drawingml/2006/main" noGrp="1"/>
          </p:cNvSpPr>
          <p:nvPr/>
        </p:nvSpPr>
        <p:spPr>
          <a:xfrm xmlns:a="http://schemas.openxmlformats.org/drawingml/2006/main">
            <a:off x="4667250" y="2571750"/>
            <a:ext cx="2762250" cy="904875"/>
          </a:xfrm>
          <a:prstGeom xmlns:a="http://schemas.openxmlformats.org/drawingml/2006/main" prst="rect">
            <a:avLst/>
          </a:prstGeom>
          <a:solidFill xmlns:a="http://schemas.openxmlformats.org/drawingml/2006/main">
            <a:srgbClr val="E4F3EF"/>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Filas aceptadas</a:t>
            </a:r>
          </a:p>
        </p:txBody>
      </p:sp>
      <p:sp>
        <p:nvSpPr>
          <p:cNvPr id="19" name="diagram-node-2">
            <a:extLst xmlns:a="http://schemas.openxmlformats.org/drawingml/2006/main">
              <a:ext uri="{FF2B5EF4-FFF2-40B4-BE49-F238E27FC236}">
                <a16:creationId xmlns:a16="http://schemas.microsoft.com/office/drawing/2014/main" id="{E927A292-45A8-4158-8E08-B5AE273BADE9}"/>
              </a:ext>
            </a:extLst>
          </p:cNvPr>
          <p:cNvSpPr>
            <a:spLocks xmlns:a="http://schemas.openxmlformats.org/drawingml/2006/main" noGrp="1"/>
          </p:cNvSpPr>
          <p:nvPr/>
        </p:nvSpPr>
        <p:spPr>
          <a:xfrm xmlns:a="http://schemas.openxmlformats.org/drawingml/2006/main">
            <a:off x="8763000" y="2571750"/>
            <a:ext cx="2762250" cy="904875"/>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Tabla agregada</a:t>
            </a:r>
          </a:p>
        </p:txBody>
      </p:sp>
      <p:sp>
        <p:nvSpPr>
          <p:cNvPr id="20" name="diagram-node-3">
            <a:extLst xmlns:a="http://schemas.openxmlformats.org/drawingml/2006/main">
              <a:ext uri="{FF2B5EF4-FFF2-40B4-BE49-F238E27FC236}">
                <a16:creationId xmlns:a16="http://schemas.microsoft.com/office/drawing/2014/main" id="{6B5CD840-5229-4C78-9BFB-78F17F90DF36}"/>
              </a:ext>
            </a:extLst>
          </p:cNvPr>
          <p:cNvSpPr>
            <a:spLocks xmlns:a="http://schemas.openxmlformats.org/drawingml/2006/main" noGrp="1"/>
          </p:cNvSpPr>
          <p:nvPr/>
        </p:nvSpPr>
        <p:spPr>
          <a:xfrm xmlns:a="http://schemas.openxmlformats.org/drawingml/2006/main">
            <a:off x="609600" y="4524375"/>
            <a:ext cx="2762250" cy="904875"/>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Lectura completa</a:t>
            </a:r>
          </a:p>
        </p:txBody>
      </p:sp>
      <p:sp>
        <p:nvSpPr>
          <p:cNvPr id="21" name="diagram-node-4">
            <a:extLst xmlns:a="http://schemas.openxmlformats.org/drawingml/2006/main">
              <a:ext uri="{FF2B5EF4-FFF2-40B4-BE49-F238E27FC236}">
                <a16:creationId xmlns:a16="http://schemas.microsoft.com/office/drawing/2014/main" id="{688454A6-88C1-4635-8D72-3B386B2458EE}"/>
              </a:ext>
            </a:extLst>
          </p:cNvPr>
          <p:cNvSpPr>
            <a:spLocks xmlns:a="http://schemas.openxmlformats.org/drawingml/2006/main" noGrp="1"/>
          </p:cNvSpPr>
          <p:nvPr/>
        </p:nvSpPr>
        <p:spPr>
          <a:xfrm xmlns:a="http://schemas.openxmlformats.org/drawingml/2006/main">
            <a:off x="4667250" y="4524375"/>
            <a:ext cx="2762250" cy="904875"/>
          </a:xfrm>
          <a:prstGeom xmlns:a="http://schemas.openxmlformats.org/drawingml/2006/main" prst="rect">
            <a:avLst/>
          </a:prstGeom>
          <a:solidFill xmlns:a="http://schemas.openxmlformats.org/drawingml/2006/main">
            <a:srgbClr val="E9E6FF"/>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Reglas verificadas</a:t>
            </a:r>
          </a:p>
        </p:txBody>
      </p:sp>
      <p:sp>
        <p:nvSpPr>
          <p:cNvPr id="22" name="diagram-node-5">
            <a:extLst xmlns:a="http://schemas.openxmlformats.org/drawingml/2006/main">
              <a:ext uri="{FF2B5EF4-FFF2-40B4-BE49-F238E27FC236}">
                <a16:creationId xmlns:a16="http://schemas.microsoft.com/office/drawing/2014/main" id="{03B7702A-485F-4AAF-AD6E-89F986074227}"/>
              </a:ext>
            </a:extLst>
          </p:cNvPr>
          <p:cNvSpPr>
            <a:spLocks xmlns:a="http://schemas.openxmlformats.org/drawingml/2006/main" noGrp="1"/>
          </p:cNvSpPr>
          <p:nvPr/>
        </p:nvSpPr>
        <p:spPr>
          <a:xfrm xmlns:a="http://schemas.openxmlformats.org/drawingml/2006/main">
            <a:off x="8763000" y="4524375"/>
            <a:ext cx="2762250" cy="904875"/>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Autorizar publicación</a:t>
            </a:r>
          </a:p>
        </p:txBody>
      </p:sp>
      <p:sp>
        <p:nvSpPr>
          <p:cNvPr id="27" name="diagram-label-0">
            <a:extLst xmlns:a="http://schemas.openxmlformats.org/drawingml/2006/main">
              <a:ext uri="{FF2B5EF4-FFF2-40B4-BE49-F238E27FC236}">
                <a16:creationId xmlns:a16="http://schemas.microsoft.com/office/drawing/2014/main" id="{6B97CD65-DC47-4804-B911-B593311C412A}"/>
              </a:ext>
            </a:extLst>
          </p:cNvPr>
          <p:cNvSpPr>
            <a:spLocks xmlns:a="http://schemas.openxmlformats.org/drawingml/2006/main" noGrp="1"/>
          </p:cNvSpPr>
          <p:nvPr/>
        </p:nvSpPr>
        <p:spPr>
          <a:xfrm xmlns:a="http://schemas.openxmlformats.org/drawingml/2006/main">
            <a:off x="609600" y="217170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98F89"/>
                </a:solidFill>
                <a:latin typeface="Calibri"/>
                <a:ea typeface="Calibri"/>
                <a:cs typeface="Calibri"/>
              </a:defRPr>
            </a:defPPr>
            <a:lvl1pPr>
              <a:defRPr sz="1800" b="1">
                <a:solidFill>
                  <a:srgbClr val="098F89"/>
                </a:solidFill>
                <a:latin typeface="Calibri"/>
                <a:ea typeface="Calibri"/>
                <a:cs typeface="Calibri"/>
              </a:defRPr>
            </a:lvl1pPr>
            <a:lvl2pPr>
              <a:defRPr sz="1800" b="1">
                <a:solidFill>
                  <a:srgbClr val="098F89"/>
                </a:solidFill>
                <a:latin typeface="Calibri"/>
                <a:ea typeface="Calibri"/>
                <a:cs typeface="Calibri"/>
              </a:defRPr>
            </a:lvl2pPr>
            <a:lvl3pPr>
              <a:defRPr sz="1800" b="1">
                <a:solidFill>
                  <a:srgbClr val="098F89"/>
                </a:solidFill>
                <a:latin typeface="Calibri"/>
                <a:ea typeface="Calibri"/>
                <a:cs typeface="Calibri"/>
              </a:defRPr>
            </a:lvl3pPr>
            <a:lvl4pPr>
              <a:defRPr sz="1800" b="1">
                <a:solidFill>
                  <a:srgbClr val="098F89"/>
                </a:solidFill>
                <a:latin typeface="Calibri"/>
                <a:ea typeface="Calibri"/>
                <a:cs typeface="Calibri"/>
              </a:defRPr>
            </a:lvl4pPr>
            <a:lvl5pPr>
              <a:defRPr sz="1800" b="1">
                <a:solidFill>
                  <a:srgbClr val="098F89"/>
                </a:solidFill>
                <a:latin typeface="Calibri"/>
                <a:ea typeface="Calibri"/>
                <a:cs typeface="Calibri"/>
              </a:defRPr>
            </a:lvl5pPr>
            <a:lvl6pPr>
              <a:defRPr sz="1800" b="1">
                <a:solidFill>
                  <a:srgbClr val="098F89"/>
                </a:solidFill>
                <a:latin typeface="Calibri"/>
                <a:ea typeface="Calibri"/>
                <a:cs typeface="Calibri"/>
              </a:defRPr>
            </a:lvl6pPr>
            <a:lvl7pPr>
              <a:defRPr sz="1800" b="1">
                <a:solidFill>
                  <a:srgbClr val="098F89"/>
                </a:solidFill>
                <a:latin typeface="Calibri"/>
                <a:ea typeface="Calibri"/>
                <a:cs typeface="Calibri"/>
              </a:defRPr>
            </a:lvl7pPr>
            <a:lvl8pPr>
              <a:defRPr sz="1800" b="1">
                <a:solidFill>
                  <a:srgbClr val="098F89"/>
                </a:solidFill>
                <a:latin typeface="Calibri"/>
                <a:ea typeface="Calibri"/>
                <a:cs typeface="Calibri"/>
              </a:defRPr>
            </a:lvl8pPr>
            <a:lvl9pPr>
              <a:defRPr sz="1800" b="1">
                <a:solidFill>
                  <a:srgbClr val="098F89"/>
                </a:solidFill>
                <a:latin typeface="Calibri"/>
                <a:ea typeface="Calibri"/>
                <a:cs typeface="Calibri"/>
              </a:defRPr>
            </a:lvl9pPr>
          </a:lstStyle>
          <a:p xmlns:a="http://schemas.openxmlformats.org/drawingml/2006/main">
            <a:pPr>
              <a:defRPr sz="1800" b="1">
                <a:solidFill>
                  <a:srgbClr val="098F89"/>
                </a:solidFill>
                <a:latin typeface="Calibri"/>
                <a:ea typeface="Calibri"/>
                <a:cs typeface="Calibri"/>
              </a:defRPr>
            </a:pPr>
            <a:r>
              <a:rPr sz="1800" b="1">
                <a:solidFill>
                  <a:srgbClr val="098F89"/>
                </a:solidFill>
                <a:latin typeface="Calibri"/>
                <a:ea typeface="Calibri"/>
                <a:cs typeface="Calibri"/>
              </a:rPr>
              <a:t>DATOS: qué se entrega</a:t>
            </a:r>
          </a:p>
        </p:txBody>
      </p:sp>
      <p:sp>
        <p:nvSpPr>
          <p:cNvPr id="28" name="diagram-label-1">
            <a:extLst xmlns:a="http://schemas.openxmlformats.org/drawingml/2006/main">
              <a:ext uri="{FF2B5EF4-FFF2-40B4-BE49-F238E27FC236}">
                <a16:creationId xmlns:a16="http://schemas.microsoft.com/office/drawing/2014/main" id="{31FE9C94-4A9A-4B8C-853E-C14530761C4B}"/>
              </a:ext>
            </a:extLst>
          </p:cNvPr>
          <p:cNvSpPr>
            <a:spLocks xmlns:a="http://schemas.openxmlformats.org/drawingml/2006/main" noGrp="1"/>
          </p:cNvSpPr>
          <p:nvPr/>
        </p:nvSpPr>
        <p:spPr>
          <a:xfrm xmlns:a="http://schemas.openxmlformats.org/drawingml/2006/main">
            <a:off x="609600" y="40481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98F89"/>
                </a:solidFill>
                <a:latin typeface="Calibri"/>
                <a:ea typeface="Calibri"/>
                <a:cs typeface="Calibri"/>
              </a:defRPr>
            </a:defPPr>
            <a:lvl1pPr>
              <a:defRPr sz="1800" b="1">
                <a:solidFill>
                  <a:srgbClr val="098F89"/>
                </a:solidFill>
                <a:latin typeface="Calibri"/>
                <a:ea typeface="Calibri"/>
                <a:cs typeface="Calibri"/>
              </a:defRPr>
            </a:lvl1pPr>
            <a:lvl2pPr>
              <a:defRPr sz="1800" b="1">
                <a:solidFill>
                  <a:srgbClr val="098F89"/>
                </a:solidFill>
                <a:latin typeface="Calibri"/>
                <a:ea typeface="Calibri"/>
                <a:cs typeface="Calibri"/>
              </a:defRPr>
            </a:lvl2pPr>
            <a:lvl3pPr>
              <a:defRPr sz="1800" b="1">
                <a:solidFill>
                  <a:srgbClr val="098F89"/>
                </a:solidFill>
                <a:latin typeface="Calibri"/>
                <a:ea typeface="Calibri"/>
                <a:cs typeface="Calibri"/>
              </a:defRPr>
            </a:lvl3pPr>
            <a:lvl4pPr>
              <a:defRPr sz="1800" b="1">
                <a:solidFill>
                  <a:srgbClr val="098F89"/>
                </a:solidFill>
                <a:latin typeface="Calibri"/>
                <a:ea typeface="Calibri"/>
                <a:cs typeface="Calibri"/>
              </a:defRPr>
            </a:lvl4pPr>
            <a:lvl5pPr>
              <a:defRPr sz="1800" b="1">
                <a:solidFill>
                  <a:srgbClr val="098F89"/>
                </a:solidFill>
                <a:latin typeface="Calibri"/>
                <a:ea typeface="Calibri"/>
                <a:cs typeface="Calibri"/>
              </a:defRPr>
            </a:lvl5pPr>
            <a:lvl6pPr>
              <a:defRPr sz="1800" b="1">
                <a:solidFill>
                  <a:srgbClr val="098F89"/>
                </a:solidFill>
                <a:latin typeface="Calibri"/>
                <a:ea typeface="Calibri"/>
                <a:cs typeface="Calibri"/>
              </a:defRPr>
            </a:lvl6pPr>
            <a:lvl7pPr>
              <a:defRPr sz="1800" b="1">
                <a:solidFill>
                  <a:srgbClr val="098F89"/>
                </a:solidFill>
                <a:latin typeface="Calibri"/>
                <a:ea typeface="Calibri"/>
                <a:cs typeface="Calibri"/>
              </a:defRPr>
            </a:lvl7pPr>
            <a:lvl8pPr>
              <a:defRPr sz="1800" b="1">
                <a:solidFill>
                  <a:srgbClr val="098F89"/>
                </a:solidFill>
                <a:latin typeface="Calibri"/>
                <a:ea typeface="Calibri"/>
                <a:cs typeface="Calibri"/>
              </a:defRPr>
            </a:lvl8pPr>
            <a:lvl9pPr>
              <a:defRPr sz="1800" b="1">
                <a:solidFill>
                  <a:srgbClr val="098F89"/>
                </a:solidFill>
                <a:latin typeface="Calibri"/>
                <a:ea typeface="Calibri"/>
                <a:cs typeface="Calibri"/>
              </a:defRPr>
            </a:lvl9pPr>
          </a:lstStyle>
          <a:p xmlns:a="http://schemas.openxmlformats.org/drawingml/2006/main">
            <a:pPr>
              <a:defRPr sz="1800" b="1">
                <a:solidFill>
                  <a:srgbClr val="098F89"/>
                </a:solidFill>
                <a:latin typeface="Calibri"/>
                <a:ea typeface="Calibri"/>
                <a:cs typeface="Calibri"/>
              </a:defRPr>
            </a:pPr>
            <a:r>
              <a:rPr sz="1800" b="1">
                <a:solidFill>
                  <a:srgbClr val="098F89"/>
                </a:solidFill>
                <a:latin typeface="Calibri"/>
                <a:ea typeface="Calibri"/>
                <a:cs typeface="Calibri"/>
              </a:rPr>
              <a:t>CONTROL: qué permite avanzar</a:t>
            </a:r>
          </a:p>
        </p:txBody>
      </p:sp>
      <p:sp>
        <p:nvSpPr>
          <p:cNvPr id="29" name="check">
            <a:extLst xmlns:a="http://schemas.openxmlformats.org/drawingml/2006/main">
              <a:ext uri="{FF2B5EF4-FFF2-40B4-BE49-F238E27FC236}">
                <a16:creationId xmlns:a16="http://schemas.microsoft.com/office/drawing/2014/main" id="{D1DDA0A2-FA95-4566-A6BC-C21299971C84}"/>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Guardar un archivo no demuestra que sus controles hayan sido aprobados.</a:t>
            </a:r>
          </a:p>
        </p:txBody>
      </p:sp>
      <p:sp>
        <p:nvSpPr>
          <p:cNvPr id="30" name="footer">
            <a:extLst xmlns:a="http://schemas.openxmlformats.org/drawingml/2006/main">
              <a:ext uri="{FF2B5EF4-FFF2-40B4-BE49-F238E27FC236}">
                <a16:creationId xmlns:a16="http://schemas.microsoft.com/office/drawing/2014/main" id="{BB13157A-30F8-4571-8806-2AA084E3EB2F}"/>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31" name="page">
            <a:extLst xmlns:a="http://schemas.openxmlformats.org/drawingml/2006/main">
              <a:ext uri="{FF2B5EF4-FFF2-40B4-BE49-F238E27FC236}">
                <a16:creationId xmlns:a16="http://schemas.microsoft.com/office/drawing/2014/main" id="{4C5775C0-CE92-428C-BF1D-F0805BD2310D}"/>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08</a:t>
            </a:r>
          </a:p>
        </p:txBody>
      </p:sp>
    </p:spTree>
    <p:extLst>
      <p:ext uri="{BB962C8B-B14F-4D97-AF65-F5344CB8AC3E}">
        <p14:creationId xmlns:p14="http://schemas.microsoft.com/office/powerpoint/2010/main" val="11689989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DB9EA249-8939-4AAD-9D74-BFC61D2C53AE}"/>
              </a:ext>
            </a:extLst>
          </p:cNvPr>
          <p:cNvCxnSpPr>
            <a:stCxn xmlns:a="http://schemas.openxmlformats.org/drawingml/2006/main" id="19" idx="3"/>
            <a:endCxn xmlns:a="http://schemas.openxmlformats.org/drawingml/2006/main" id="21" idx="1"/>
          </p:cNvCxnSpPr>
          <p:nvPr/>
        </p:nvCxnSpPr>
        <p:spPr>
          <a:xfrm xmlns:a="http://schemas.openxmlformats.org/drawingml/2006/main">
            <a:off x="8858250" y="2762250"/>
            <a:ext cx="857250"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4" name="">
            <a:extLst xmlns:a="http://schemas.openxmlformats.org/drawingml/2006/main">
              <a:ext uri="{FF2B5EF4-FFF2-40B4-BE49-F238E27FC236}">
                <a16:creationId xmlns:a16="http://schemas.microsoft.com/office/drawing/2014/main" id="{8B79A5F1-CF41-4038-B1E3-1C51A2587F32}"/>
              </a:ext>
            </a:extLst>
          </p:cNvPr>
          <p:cNvCxnSpPr>
            <a:stCxn xmlns:a="http://schemas.openxmlformats.org/drawingml/2006/main" id="18" idx="3"/>
            <a:endCxn xmlns:a="http://schemas.openxmlformats.org/drawingml/2006/main" id="20" idx="1"/>
          </p:cNvCxnSpPr>
          <p:nvPr/>
        </p:nvCxnSpPr>
        <p:spPr>
          <a:xfrm xmlns:a="http://schemas.openxmlformats.org/drawingml/2006/main">
            <a:off x="5524500" y="3714750"/>
            <a:ext cx="952500" cy="1428750"/>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3" name="">
            <a:extLst xmlns:a="http://schemas.openxmlformats.org/drawingml/2006/main">
              <a:ext uri="{FF2B5EF4-FFF2-40B4-BE49-F238E27FC236}">
                <a16:creationId xmlns:a16="http://schemas.microsoft.com/office/drawing/2014/main" id="{B06E6C1A-F8E0-46A6-AF9B-571DA99EA0FE}"/>
              </a:ext>
            </a:extLst>
          </p:cNvPr>
          <p:cNvCxnSpPr>
            <a:stCxn xmlns:a="http://schemas.openxmlformats.org/drawingml/2006/main" id="18" idx="3"/>
            <a:endCxn xmlns:a="http://schemas.openxmlformats.org/drawingml/2006/main" id="19" idx="1"/>
          </p:cNvCxnSpPr>
          <p:nvPr/>
        </p:nvCxnSpPr>
        <p:spPr>
          <a:xfrm xmlns:a="http://schemas.openxmlformats.org/drawingml/2006/main" flipV="1">
            <a:off x="5524500" y="2762250"/>
            <a:ext cx="952500" cy="952500"/>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2" name="">
            <a:extLst xmlns:a="http://schemas.openxmlformats.org/drawingml/2006/main">
              <a:ext uri="{FF2B5EF4-FFF2-40B4-BE49-F238E27FC236}">
                <a16:creationId xmlns:a16="http://schemas.microsoft.com/office/drawing/2014/main" id="{FA833CB3-91AC-4426-A652-449EB7C39613}"/>
              </a:ext>
            </a:extLst>
          </p:cNvPr>
          <p:cNvCxnSpPr>
            <a:stCxn xmlns:a="http://schemas.openxmlformats.org/drawingml/2006/main" id="17" idx="3"/>
            <a:endCxn xmlns:a="http://schemas.openxmlformats.org/drawingml/2006/main" id="18" idx="1"/>
          </p:cNvCxnSpPr>
          <p:nvPr/>
        </p:nvCxnSpPr>
        <p:spPr>
          <a:xfrm xmlns:a="http://schemas.openxmlformats.org/drawingml/2006/main">
            <a:off x="2609850" y="3714750"/>
            <a:ext cx="819150" cy="0"/>
          </a:xfrm>
          <a:prstGeom xmlns:a="http://schemas.openxmlformats.org/drawingml/2006/main" prst="straightConnector1">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2FE35C6C-8090-4540-8AD3-EB4FAA464495}"/>
              </a:ext>
            </a:extLst>
          </p:cNvPr>
          <p:cNvPicPr>
            <a:picLocks xmlns:a="http://schemas.openxmlformats.org/drawingml/2006/main" noChangeAspect="1"/>
          </p:cNvPicPr>
          <p:nvPr/>
        </p:nvPicPr>
        <p:blipFill>
          <a:blip xmlns:r="http://schemas.openxmlformats.org/officeDocument/2006/relationships" xmlns:a="http://schemas.openxmlformats.org/drawingml/2006/main" r:embed="Recfaad96f3aa4f4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D24AA0FC-66B8-4B85-96A3-1EF22E124310}"/>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Tareas y dependencias: un DAG</a:t>
            </a:r>
          </a:p>
        </p:txBody>
      </p:sp>
      <p:sp>
        <p:nvSpPr>
          <p:cNvPr id="16" name="lead">
            <a:extLst xmlns:a="http://schemas.openxmlformats.org/drawingml/2006/main">
              <a:ext uri="{FF2B5EF4-FFF2-40B4-BE49-F238E27FC236}">
                <a16:creationId xmlns:a16="http://schemas.microsoft.com/office/drawing/2014/main" id="{727630AD-DDD6-4EED-9754-2DFDD730F713}"/>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Las flechas indican qué tarea debe terminar antes de iniciar otra.</a:t>
            </a:r>
          </a:p>
        </p:txBody>
      </p:sp>
      <p:sp>
        <p:nvSpPr>
          <p:cNvPr id="17" name="diagram-node-0">
            <a:extLst xmlns:a="http://schemas.openxmlformats.org/drawingml/2006/main">
              <a:ext uri="{FF2B5EF4-FFF2-40B4-BE49-F238E27FC236}">
                <a16:creationId xmlns:a16="http://schemas.microsoft.com/office/drawing/2014/main" id="{A8243B1D-33A9-44EF-94CE-941E03E199EC}"/>
              </a:ext>
            </a:extLst>
          </p:cNvPr>
          <p:cNvSpPr>
            <a:spLocks xmlns:a="http://schemas.openxmlformats.org/drawingml/2006/main" noGrp="1"/>
          </p:cNvSpPr>
          <p:nvPr/>
        </p:nvSpPr>
        <p:spPr>
          <a:xfrm xmlns:a="http://schemas.openxmlformats.org/drawingml/2006/main">
            <a:off x="609600" y="3238500"/>
            <a:ext cx="2000250" cy="95250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A · Recibir</a:t>
            </a:r>
          </a:p>
        </p:txBody>
      </p:sp>
      <p:sp>
        <p:nvSpPr>
          <p:cNvPr id="18" name="diagram-node-1">
            <a:extLst xmlns:a="http://schemas.openxmlformats.org/drawingml/2006/main">
              <a:ext uri="{FF2B5EF4-FFF2-40B4-BE49-F238E27FC236}">
                <a16:creationId xmlns:a16="http://schemas.microsoft.com/office/drawing/2014/main" id="{4BE1575B-F7AD-46DC-8772-0FAB2F5A12F6}"/>
              </a:ext>
            </a:extLst>
          </p:cNvPr>
          <p:cNvSpPr>
            <a:spLocks xmlns:a="http://schemas.openxmlformats.org/drawingml/2006/main" noGrp="1"/>
          </p:cNvSpPr>
          <p:nvPr/>
        </p:nvSpPr>
        <p:spPr>
          <a:xfrm xmlns:a="http://schemas.openxmlformats.org/drawingml/2006/main">
            <a:off x="3429000" y="3238500"/>
            <a:ext cx="2095500" cy="95250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B · Validar</a:t>
            </a:r>
          </a:p>
        </p:txBody>
      </p:sp>
      <p:sp>
        <p:nvSpPr>
          <p:cNvPr id="19" name="diagram-node-2">
            <a:extLst xmlns:a="http://schemas.openxmlformats.org/drawingml/2006/main">
              <a:ext uri="{FF2B5EF4-FFF2-40B4-BE49-F238E27FC236}">
                <a16:creationId xmlns:a16="http://schemas.microsoft.com/office/drawing/2014/main" id="{B36FC76D-3207-4DC3-A51B-D4CC7904F802}"/>
              </a:ext>
            </a:extLst>
          </p:cNvPr>
          <p:cNvSpPr>
            <a:spLocks xmlns:a="http://schemas.openxmlformats.org/drawingml/2006/main" noGrp="1"/>
          </p:cNvSpPr>
          <p:nvPr/>
        </p:nvSpPr>
        <p:spPr>
          <a:xfrm xmlns:a="http://schemas.openxmlformats.org/drawingml/2006/main">
            <a:off x="6477000" y="2286000"/>
            <a:ext cx="2381250" cy="952500"/>
          </a:xfrm>
          <a:prstGeom xmlns:a="http://schemas.openxmlformats.org/drawingml/2006/main" prst="rect">
            <a:avLst/>
          </a:prstGeom>
          <a:solidFill xmlns:a="http://schemas.openxmlformats.org/drawingml/2006/main">
            <a:srgbClr val="E4F3EF"/>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 · Guardar detalle</a:t>
            </a:r>
          </a:p>
        </p:txBody>
      </p:sp>
      <p:sp>
        <p:nvSpPr>
          <p:cNvPr id="20" name="diagram-node-3">
            <a:extLst xmlns:a="http://schemas.openxmlformats.org/drawingml/2006/main">
              <a:ext uri="{FF2B5EF4-FFF2-40B4-BE49-F238E27FC236}">
                <a16:creationId xmlns:a16="http://schemas.microsoft.com/office/drawing/2014/main" id="{522C4DEC-2D8D-4BD6-B2D4-A362B540B5BC}"/>
              </a:ext>
            </a:extLst>
          </p:cNvPr>
          <p:cNvSpPr>
            <a:spLocks xmlns:a="http://schemas.openxmlformats.org/drawingml/2006/main" noGrp="1"/>
          </p:cNvSpPr>
          <p:nvPr/>
        </p:nvSpPr>
        <p:spPr>
          <a:xfrm xmlns:a="http://schemas.openxmlformats.org/drawingml/2006/main">
            <a:off x="6477000" y="4667250"/>
            <a:ext cx="2381250" cy="952500"/>
          </a:xfrm>
          <a:prstGeom xmlns:a="http://schemas.openxmlformats.org/drawingml/2006/main" prst="rect">
            <a:avLst/>
          </a:prstGeom>
          <a:solidFill xmlns:a="http://schemas.openxmlformats.org/drawingml/2006/main">
            <a:srgbClr val="FFF1EE"/>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D · Guardar rechazos</a:t>
            </a:r>
          </a:p>
        </p:txBody>
      </p:sp>
      <p:sp>
        <p:nvSpPr>
          <p:cNvPr id="21" name="diagram-node-4">
            <a:extLst xmlns:a="http://schemas.openxmlformats.org/drawingml/2006/main">
              <a:ext uri="{FF2B5EF4-FFF2-40B4-BE49-F238E27FC236}">
                <a16:creationId xmlns:a16="http://schemas.microsoft.com/office/drawing/2014/main" id="{E3765D9E-38A0-48BB-8B9F-61804C75E35D}"/>
              </a:ext>
            </a:extLst>
          </p:cNvPr>
          <p:cNvSpPr>
            <a:spLocks xmlns:a="http://schemas.openxmlformats.org/drawingml/2006/main" noGrp="1"/>
          </p:cNvSpPr>
          <p:nvPr/>
        </p:nvSpPr>
        <p:spPr>
          <a:xfrm xmlns:a="http://schemas.openxmlformats.org/drawingml/2006/main">
            <a:off x="9715500" y="2286000"/>
            <a:ext cx="1857375" cy="952500"/>
          </a:xfrm>
          <a:prstGeom xmlns:a="http://schemas.openxmlformats.org/drawingml/2006/main" prst="rect">
            <a:avLst/>
          </a:prstGeom>
          <a:solidFill xmlns:a="http://schemas.openxmlformats.org/drawingml/2006/main">
            <a:srgbClr val="E9E6FF"/>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E · Agregar</a:t>
            </a:r>
          </a:p>
        </p:txBody>
      </p:sp>
      <p:sp>
        <p:nvSpPr>
          <p:cNvPr id="26" name="check">
            <a:extLst xmlns:a="http://schemas.openxmlformats.org/drawingml/2006/main">
              <a:ext uri="{FF2B5EF4-FFF2-40B4-BE49-F238E27FC236}">
                <a16:creationId xmlns:a16="http://schemas.microsoft.com/office/drawing/2014/main" id="{6FF91A9E-3FE4-49FB-9EC9-86FFE32B984A}"/>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DAG: grafo dirigido sin ciclos. C y D pueden avanzar tras B; E depende de C.</a:t>
            </a:r>
          </a:p>
        </p:txBody>
      </p:sp>
      <p:sp>
        <p:nvSpPr>
          <p:cNvPr id="27" name="footer">
            <a:extLst xmlns:a="http://schemas.openxmlformats.org/drawingml/2006/main">
              <a:ext uri="{FF2B5EF4-FFF2-40B4-BE49-F238E27FC236}">
                <a16:creationId xmlns:a16="http://schemas.microsoft.com/office/drawing/2014/main" id="{08CDC1A6-3B75-402B-A3A1-FCDD72FB40C3}"/>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8" name="page">
            <a:extLst xmlns:a="http://schemas.openxmlformats.org/drawingml/2006/main">
              <a:ext uri="{FF2B5EF4-FFF2-40B4-BE49-F238E27FC236}">
                <a16:creationId xmlns:a16="http://schemas.microsoft.com/office/drawing/2014/main" id="{33D143B8-F4F6-43B9-8199-FBD694627A2D}"/>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09</a:t>
            </a:r>
          </a:p>
        </p:txBody>
      </p:sp>
    </p:spTree>
    <p:extLst>
      <p:ext uri="{BB962C8B-B14F-4D97-AF65-F5344CB8AC3E}">
        <p14:creationId xmlns:p14="http://schemas.microsoft.com/office/powerpoint/2010/main" val="116899893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4EF6B449-82DE-4029-A84F-609E65950F05}"/>
              </a:ext>
            </a:extLst>
          </p:cNvPr>
          <p:cNvPicPr>
            <a:picLocks xmlns:a="http://schemas.openxmlformats.org/drawingml/2006/main" noChangeAspect="1"/>
          </p:cNvPicPr>
          <p:nvPr/>
        </p:nvPicPr>
        <p:blipFill>
          <a:blip xmlns:r="http://schemas.openxmlformats.org/officeDocument/2006/relationships" xmlns:a="http://schemas.openxmlformats.org/drawingml/2006/main" r:embed="R4d95561ee019490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8CC7445E-8BBF-4B73-8B2E-49FF3AA11ED2}"/>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Diseño y ejecución</a:t>
            </a:r>
          </a:p>
        </p:txBody>
      </p:sp>
      <p:sp>
        <p:nvSpPr>
          <p:cNvPr id="16" name="lead">
            <a:extLst xmlns:a="http://schemas.openxmlformats.org/drawingml/2006/main">
              <a:ext uri="{FF2B5EF4-FFF2-40B4-BE49-F238E27FC236}">
                <a16:creationId xmlns:a16="http://schemas.microsoft.com/office/drawing/2014/main" id="{6B2B956A-A7FB-4481-A960-B05900031601}"/>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El mismo diseño puede ejecutarse con diferentes cortes.</a:t>
            </a:r>
          </a:p>
        </p:txBody>
      </p:sp>
      <p:graphicFrame>
        <p:nvGraphicFramePr>
          <p:cNvPr id="17" name="">
            <a:extLst xmlns:a="http://schemas.openxmlformats.org/drawingml/2006/main">
              <a:ext uri="{FF2B5EF4-FFF2-40B4-BE49-F238E27FC236}">
                <a16:creationId xmlns:a16="http://schemas.microsoft.com/office/drawing/2014/main" id="{09BD4CDD-B088-48C8-9916-0D10C1BEC7CD}"/>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2414016"/>
                <a:gridCol w="4389120"/>
                <a:gridCol w="4169664"/>
              </a:tblGrid>
              <a:tr h="555625">
                <a:tc>
                  <a:txBody>
                    <a:bodyPr/>
                    <a:lstStyle/>
                    <a:p>
                      <a:r>
                        <a:rPr sz="1950" b="1">
                          <a:solidFill>
                            <a:srgbClr val="FFFFFF"/>
                          </a:solidFill>
                          <a:latin typeface="Calibri"/>
                          <a:ea typeface="Calibri"/>
                          <a:cs typeface="Calibri"/>
                        </a:rPr>
                        <a:t>Elemento</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Diseño del proceso</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Una ejecución</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555625">
                <a:tc>
                  <a:txBody>
                    <a:bodyPr/>
                    <a:lstStyle/>
                    <a:p>
                      <a:r>
                        <a:rPr sz="1950" b="0">
                          <a:solidFill>
                            <a:srgbClr val="203B68"/>
                          </a:solidFill>
                          <a:latin typeface="Calibri"/>
                          <a:ea typeface="Calibri"/>
                          <a:cs typeface="Calibri"/>
                        </a:rPr>
                        <a:t>Entrada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Parámetro de período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2024-I</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Reglas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Versión declarada</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reglas_v1</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Identidad</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Se asigna al comenzar</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ejecucion_A</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Estado</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Pendiente / en curso / final</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Correcto o fallido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Resultado</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Rutas y formato definidos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Archivos y controles concretos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bl>
          </a:graphicData>
        </a:graphic>
      </p:graphicFrame>
      <p:sp>
        <p:nvSpPr>
          <p:cNvPr id="18" name="check">
            <a:extLst xmlns:a="http://schemas.openxmlformats.org/drawingml/2006/main">
              <a:ext uri="{FF2B5EF4-FFF2-40B4-BE49-F238E27FC236}">
                <a16:creationId xmlns:a16="http://schemas.microsoft.com/office/drawing/2014/main" id="{25FC8D7A-CD3A-4538-A9A0-478AE61C01CC}"/>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La fecha de ejecución puede ser distinta del período de los datos.</a:t>
            </a:r>
          </a:p>
        </p:txBody>
      </p:sp>
      <p:sp>
        <p:nvSpPr>
          <p:cNvPr id="19" name="footer">
            <a:extLst xmlns:a="http://schemas.openxmlformats.org/drawingml/2006/main">
              <a:ext uri="{FF2B5EF4-FFF2-40B4-BE49-F238E27FC236}">
                <a16:creationId xmlns:a16="http://schemas.microsoft.com/office/drawing/2014/main" id="{3ED0CBEB-2C5D-477F-BF5A-D50DD33D112E}"/>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684400B5-48DA-400A-AC29-C42D622E9B91}"/>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10</a:t>
            </a:r>
          </a:p>
        </p:txBody>
      </p:sp>
    </p:spTree>
    <p:extLst>
      <p:ext uri="{BB962C8B-B14F-4D97-AF65-F5344CB8AC3E}">
        <p14:creationId xmlns:p14="http://schemas.microsoft.com/office/powerpoint/2010/main" val="11689989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54B9AC8E-6387-43C2-8EF2-7B0C3E8FB62F}"/>
              </a:ext>
            </a:extLst>
          </p:cNvPr>
          <p:cNvPicPr>
            <a:picLocks xmlns:a="http://schemas.openxmlformats.org/drawingml/2006/main" noChangeAspect="1"/>
          </p:cNvPicPr>
          <p:nvPr/>
        </p:nvPicPr>
        <p:blipFill>
          <a:blip xmlns:r="http://schemas.openxmlformats.org/officeDocument/2006/relationships" xmlns:a="http://schemas.openxmlformats.org/drawingml/2006/main" r:embed="R5d2495e839864d8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C492D684-3A5B-424F-911A-AE584A41154B}"/>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Qué hace la orquestación</a:t>
            </a:r>
          </a:p>
        </p:txBody>
      </p:sp>
      <p:sp>
        <p:nvSpPr>
          <p:cNvPr id="16" name="lead">
            <a:extLst xmlns:a="http://schemas.openxmlformats.org/drawingml/2006/main">
              <a:ext uri="{FF2B5EF4-FFF2-40B4-BE49-F238E27FC236}">
                <a16:creationId xmlns:a16="http://schemas.microsoft.com/office/drawing/2014/main" id="{319326FE-8F7D-45D8-98D4-268A6141F853}"/>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El orden evita que una tarea utilice datos incompletos o una salida anterior.</a:t>
            </a:r>
          </a:p>
        </p:txBody>
      </p:sp>
      <p:sp>
        <p:nvSpPr>
          <p:cNvPr id="17" name="paragraph-1">
            <a:extLst xmlns:a="http://schemas.openxmlformats.org/drawingml/2006/main">
              <a:ext uri="{FF2B5EF4-FFF2-40B4-BE49-F238E27FC236}">
                <a16:creationId xmlns:a16="http://schemas.microsoft.com/office/drawing/2014/main" id="{8BBD436F-6B70-4E54-8F39-76791BF4549A}"/>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Si la validación falla y el agregado continúa, podría utilizar una tabla antigua y producir un reporte engañoso.</a:t>
            </a:r>
          </a:p>
        </p:txBody>
      </p:sp>
      <p:sp>
        <p:nvSpPr>
          <p:cNvPr id="18" name="paragraph-2">
            <a:extLst xmlns:a="http://schemas.openxmlformats.org/drawingml/2006/main">
              <a:ext uri="{FF2B5EF4-FFF2-40B4-BE49-F238E27FC236}">
                <a16:creationId xmlns:a16="http://schemas.microsoft.com/office/drawing/2014/main" id="{A1BE7A79-C206-4792-948D-A3778AE06113}"/>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La orquestación comprueba qué tareas pueden iniciar, registra sus estados y decide cuándo detener o reintentar.</a:t>
            </a:r>
          </a:p>
        </p:txBody>
      </p:sp>
      <p:sp>
        <p:nvSpPr>
          <p:cNvPr id="19" name="paragraph-3">
            <a:extLst xmlns:a="http://schemas.openxmlformats.org/drawingml/2006/main">
              <a:ext uri="{FF2B5EF4-FFF2-40B4-BE49-F238E27FC236}">
                <a16:creationId xmlns:a16="http://schemas.microsoft.com/office/drawing/2014/main" id="{A32C9860-B179-4338-8604-28D0267F8AE1}"/>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En el ejercicio expresamos esas condiciones en una secuencia local. Airflow permite coordinar flujos y observar sus ejecuciones.</a:t>
            </a:r>
          </a:p>
        </p:txBody>
      </p:sp>
      <p:sp>
        <p:nvSpPr>
          <p:cNvPr id="20" name="check">
            <a:extLst xmlns:a="http://schemas.openxmlformats.org/drawingml/2006/main">
              <a:ext uri="{FF2B5EF4-FFF2-40B4-BE49-F238E27FC236}">
                <a16:creationId xmlns:a16="http://schemas.microsoft.com/office/drawing/2014/main" id="{7DD52655-85C0-4460-917C-239A8E77D2F5}"/>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La herramienta coordina tareas; las reglas del dato deben definirse igualmente.</a:t>
            </a:r>
          </a:p>
        </p:txBody>
      </p:sp>
      <p:sp>
        <p:nvSpPr>
          <p:cNvPr id="21" name="footer">
            <a:extLst xmlns:a="http://schemas.openxmlformats.org/drawingml/2006/main">
              <a:ext uri="{FF2B5EF4-FFF2-40B4-BE49-F238E27FC236}">
                <a16:creationId xmlns:a16="http://schemas.microsoft.com/office/drawing/2014/main" id="{21C3CA66-DA1C-415E-9D25-192B05F72463}"/>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8804B38A-272E-4D58-89D2-9C3E09E560BC}"/>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11</a:t>
            </a:r>
          </a:p>
        </p:txBody>
      </p:sp>
    </p:spTree>
    <p:extLst>
      <p:ext uri="{BB962C8B-B14F-4D97-AF65-F5344CB8AC3E}">
        <p14:creationId xmlns:p14="http://schemas.microsoft.com/office/powerpoint/2010/main" val="11689989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EC81B049-57F5-4B02-98E4-AA41D4D5D43A}"/>
              </a:ext>
            </a:extLst>
          </p:cNvPr>
          <p:cNvPicPr>
            <a:picLocks xmlns:a="http://schemas.openxmlformats.org/drawingml/2006/main" noChangeAspect="1"/>
          </p:cNvPicPr>
          <p:nvPr/>
        </p:nvPicPr>
        <p:blipFill>
          <a:blip xmlns:r="http://schemas.openxmlformats.org/officeDocument/2006/relationships" xmlns:a="http://schemas.openxmlformats.org/drawingml/2006/main" r:embed="Rca31997c665e4db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9FDFF042-3852-49C7-9049-7F7D49EBBEC8}"/>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Procesamiento por lotes y por eventos</a:t>
            </a:r>
          </a:p>
        </p:txBody>
      </p:sp>
      <p:sp>
        <p:nvSpPr>
          <p:cNvPr id="16" name="lead">
            <a:extLst xmlns:a="http://schemas.openxmlformats.org/drawingml/2006/main">
              <a:ext uri="{FF2B5EF4-FFF2-40B4-BE49-F238E27FC236}">
                <a16:creationId xmlns:a16="http://schemas.microsoft.com/office/drawing/2014/main" id="{C572D103-C366-4FA0-9B3B-A349CABD0E5E}"/>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La forma de llegada cambia cómo delimitamos el trabajo.</a:t>
            </a:r>
          </a:p>
        </p:txBody>
      </p:sp>
      <p:graphicFrame>
        <p:nvGraphicFramePr>
          <p:cNvPr id="17" name="">
            <a:extLst xmlns:a="http://schemas.openxmlformats.org/drawingml/2006/main">
              <a:ext uri="{FF2B5EF4-FFF2-40B4-BE49-F238E27FC236}">
                <a16:creationId xmlns:a16="http://schemas.microsoft.com/office/drawing/2014/main" id="{7164FFC5-F061-4E78-999F-0A56D361F0C8}"/>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2194560"/>
                <a:gridCol w="4389120"/>
                <a:gridCol w="4389120"/>
              </a:tblGrid>
              <a:tr h="666750">
                <a:tc>
                  <a:txBody>
                    <a:bodyPr/>
                    <a:lstStyle/>
                    <a:p>
                      <a:r>
                        <a:rPr sz="1950" b="1">
                          <a:solidFill>
                            <a:srgbClr val="FFFFFF"/>
                          </a:solidFill>
                          <a:latin typeface="Calibri"/>
                          <a:ea typeface="Calibri"/>
                          <a:cs typeface="Calibri"/>
                        </a:rPr>
                        <a:t>Aspecto</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Lotes del ejercicio</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Eventos ya estudiados</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666750">
                <a:tc>
                  <a:txBody>
                    <a:bodyPr/>
                    <a:lstStyle/>
                    <a:p>
                      <a:r>
                        <a:rPr sz="1950" b="0">
                          <a:solidFill>
                            <a:srgbClr val="203B68"/>
                          </a:solidFill>
                          <a:latin typeface="Calibri"/>
                          <a:ea typeface="Calibri"/>
                          <a:cs typeface="Calibri"/>
                        </a:rPr>
                        <a:t>Entrada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Conjunto de archivos delimitado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Llegada progresiva de eventos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Límite</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Corte declarado en manifiesto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Ventana o condición de salida</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666750">
                <a:tc>
                  <a:txBody>
                    <a:bodyPr/>
                    <a:lstStyle/>
                    <a:p>
                      <a:r>
                        <a:rPr sz="1950" b="0">
                          <a:solidFill>
                            <a:srgbClr val="203B68"/>
                          </a:solidFill>
                          <a:latin typeface="Calibri"/>
                          <a:ea typeface="Calibri"/>
                          <a:cs typeface="Calibri"/>
                        </a:rPr>
                        <a:t>Control</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Integridad del corte y filas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Retrasos, duplicados y estado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Reejecución</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Reconstruir el corte</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Recuperar estado según el diseño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bl>
          </a:graphicData>
        </a:graphic>
      </p:graphicFrame>
      <p:sp>
        <p:nvSpPr>
          <p:cNvPr id="18" name="check">
            <a:extLst xmlns:a="http://schemas.openxmlformats.org/drawingml/2006/main">
              <a:ext uri="{FF2B5EF4-FFF2-40B4-BE49-F238E27FC236}">
                <a16:creationId xmlns:a16="http://schemas.microsoft.com/office/drawing/2014/main" id="{FD48EC54-A0DD-472E-AA67-04D57F58BE7A}"/>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Ambos necesitan entradas identificables, reglas y resultados verificables.</a:t>
            </a:r>
          </a:p>
        </p:txBody>
      </p:sp>
      <p:sp>
        <p:nvSpPr>
          <p:cNvPr id="19" name="footer">
            <a:extLst xmlns:a="http://schemas.openxmlformats.org/drawingml/2006/main">
              <a:ext uri="{FF2B5EF4-FFF2-40B4-BE49-F238E27FC236}">
                <a16:creationId xmlns:a16="http://schemas.microsoft.com/office/drawing/2014/main" id="{899BAD80-379D-4704-8A6A-995BCDC6CADF}"/>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0B15A44D-8D40-47C2-8A78-427BEBA1A659}"/>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12</a:t>
            </a:r>
          </a:p>
        </p:txBody>
      </p:sp>
    </p:spTree>
    <p:extLst>
      <p:ext uri="{BB962C8B-B14F-4D97-AF65-F5344CB8AC3E}">
        <p14:creationId xmlns:p14="http://schemas.microsoft.com/office/powerpoint/2010/main" val="116899893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310EA4CD-54A1-412D-934E-2E2C882FBB9F}"/>
              </a:ext>
            </a:extLst>
          </p:cNvPr>
          <p:cNvPicPr>
            <a:picLocks xmlns:a="http://schemas.openxmlformats.org/drawingml/2006/main" noChangeAspect="1"/>
          </p:cNvPicPr>
          <p:nvPr/>
        </p:nvPicPr>
        <p:blipFill>
          <a:blip xmlns:r="http://schemas.openxmlformats.org/officeDocument/2006/relationships" xmlns:a="http://schemas.openxmlformats.org/drawingml/2006/main" r:embed="R0ed5b0ad0d4f44b8"/>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60DF7EAA-8F8D-4C54-8AB4-05A6495887D3}"/>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Por qué necesitamos DataOps</a:t>
            </a:r>
          </a:p>
        </p:txBody>
      </p:sp>
      <p:sp>
        <p:nvSpPr>
          <p:cNvPr id="16" name="lead">
            <a:extLst xmlns:a="http://schemas.openxmlformats.org/drawingml/2006/main">
              <a:ext uri="{FF2B5EF4-FFF2-40B4-BE49-F238E27FC236}">
                <a16:creationId xmlns:a16="http://schemas.microsoft.com/office/drawing/2014/main" id="{3D160F2D-CD77-44B5-AE19-132AF9BA8E8D}"/>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El pipeline debe seguir siendo confiable cuando cambian los archivos, las reglas o las personas.</a:t>
            </a:r>
          </a:p>
        </p:txBody>
      </p:sp>
      <p:sp>
        <p:nvSpPr>
          <p:cNvPr id="17" name="paragraph-1">
            <a:extLst xmlns:a="http://schemas.openxmlformats.org/drawingml/2006/main">
              <a:ext uri="{FF2B5EF4-FFF2-40B4-BE49-F238E27FC236}">
                <a16:creationId xmlns:a16="http://schemas.microsoft.com/office/drawing/2014/main" id="{E92B31BB-343C-4FA8-9747-0920EC245D9E}"/>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Un archivo puede llegar incompleto aunque el programa termine sin errores. Por eso comprobamos también los datos.</a:t>
            </a:r>
          </a:p>
        </p:txBody>
      </p:sp>
      <p:sp>
        <p:nvSpPr>
          <p:cNvPr id="18" name="paragraph-2">
            <a:extLst xmlns:a="http://schemas.openxmlformats.org/drawingml/2006/main">
              <a:ext uri="{FF2B5EF4-FFF2-40B4-BE49-F238E27FC236}">
                <a16:creationId xmlns:a16="http://schemas.microsoft.com/office/drawing/2014/main" id="{CC549B9B-343D-4399-A59F-11DB6C4F7822}"/>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Una corrección puede cambiar una cifra legítimamente. Por eso identificamos entradas, reglas y versiones.</a:t>
            </a:r>
          </a:p>
        </p:txBody>
      </p:sp>
      <p:sp>
        <p:nvSpPr>
          <p:cNvPr id="19" name="paragraph-3">
            <a:extLst xmlns:a="http://schemas.openxmlformats.org/drawingml/2006/main">
              <a:ext uri="{FF2B5EF4-FFF2-40B4-BE49-F238E27FC236}">
                <a16:creationId xmlns:a16="http://schemas.microsoft.com/office/drawing/2014/main" id="{3F760180-F030-40EA-A8EB-A9CE0FA01321}"/>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Un consumidor necesita saber qué resultado puede usar y quién revisará un incidente. Por eso acordamos responsabilidades.</a:t>
            </a:r>
          </a:p>
        </p:txBody>
      </p:sp>
      <p:sp>
        <p:nvSpPr>
          <p:cNvPr id="20" name="check">
            <a:extLst xmlns:a="http://schemas.openxmlformats.org/drawingml/2006/main">
              <a:ext uri="{FF2B5EF4-FFF2-40B4-BE49-F238E27FC236}">
                <a16:creationId xmlns:a16="http://schemas.microsoft.com/office/drawing/2014/main" id="{F4234253-38B5-4639-839E-8B7BA6420AF7}"/>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La pregunta es cómo sostener la confianza en cada nueva publicación.</a:t>
            </a:r>
          </a:p>
        </p:txBody>
      </p:sp>
      <p:sp>
        <p:nvSpPr>
          <p:cNvPr id="21" name="footer">
            <a:extLst xmlns:a="http://schemas.openxmlformats.org/drawingml/2006/main">
              <a:ext uri="{FF2B5EF4-FFF2-40B4-BE49-F238E27FC236}">
                <a16:creationId xmlns:a16="http://schemas.microsoft.com/office/drawing/2014/main" id="{02410A24-10F0-4161-9297-BAA0FED95E34}"/>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2E5E951F-E168-4FFA-A139-1812D8497493}"/>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13</a:t>
            </a:r>
          </a:p>
        </p:txBody>
      </p:sp>
    </p:spTree>
    <p:extLst>
      <p:ext uri="{BB962C8B-B14F-4D97-AF65-F5344CB8AC3E}">
        <p14:creationId xmlns:p14="http://schemas.microsoft.com/office/powerpoint/2010/main" val="116899893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BE3D20B1-3E9F-4A04-ADE1-E8BE895F5AE1}"/>
              </a:ext>
            </a:extLst>
          </p:cNvPr>
          <p:cNvPicPr>
            <a:picLocks xmlns:a="http://schemas.openxmlformats.org/drawingml/2006/main" noChangeAspect="1"/>
          </p:cNvPicPr>
          <p:nvPr/>
        </p:nvPicPr>
        <p:blipFill>
          <a:blip xmlns:r="http://schemas.openxmlformats.org/officeDocument/2006/relationships" xmlns:a="http://schemas.openxmlformats.org/drawingml/2006/main" r:embed="R5c55505b1c17443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D1EE8C1F-0E0D-489F-A185-1B7D99C35E78}"/>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Qué entendemos por DataOps</a:t>
            </a:r>
          </a:p>
        </p:txBody>
      </p:sp>
      <p:sp>
        <p:nvSpPr>
          <p:cNvPr id="16" name="lead">
            <a:extLst xmlns:a="http://schemas.openxmlformats.org/drawingml/2006/main">
              <a:ext uri="{FF2B5EF4-FFF2-40B4-BE49-F238E27FC236}">
                <a16:creationId xmlns:a16="http://schemas.microsoft.com/office/drawing/2014/main" id="{0B64B45E-8792-49B9-8AEB-A627F291E11C}"/>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Es una forma de organizar el trabajo para entregar datos confiables y atender sus cambios.</a:t>
            </a:r>
          </a:p>
        </p:txBody>
      </p:sp>
      <p:sp>
        <p:nvSpPr>
          <p:cNvPr id="17" name="paragraph-1">
            <a:extLst xmlns:a="http://schemas.openxmlformats.org/drawingml/2006/main">
              <a:ext uri="{FF2B5EF4-FFF2-40B4-BE49-F238E27FC236}">
                <a16:creationId xmlns:a16="http://schemas.microsoft.com/office/drawing/2014/main" id="{2639C996-CCD1-4518-8CB4-5EADF12EA23D}"/>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Primero acordamos la pregunta, el significado de cada dato y la persona responsable de revisarlo.</a:t>
            </a:r>
          </a:p>
        </p:txBody>
      </p:sp>
      <p:sp>
        <p:nvSpPr>
          <p:cNvPr id="18" name="paragraph-2">
            <a:extLst xmlns:a="http://schemas.openxmlformats.org/drawingml/2006/main">
              <a:ext uri="{FF2B5EF4-FFF2-40B4-BE49-F238E27FC236}">
                <a16:creationId xmlns:a16="http://schemas.microsoft.com/office/drawing/2014/main" id="{07A621E8-1CED-408A-B5E4-BA6B06272531}"/>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Después identificamos cada cambio y lo probamos con resultados esperados antes de publicar.</a:t>
            </a:r>
          </a:p>
        </p:txBody>
      </p:sp>
      <p:sp>
        <p:nvSpPr>
          <p:cNvPr id="19" name="paragraph-3">
            <a:extLst xmlns:a="http://schemas.openxmlformats.org/drawingml/2006/main">
              <a:ext uri="{FF2B5EF4-FFF2-40B4-BE49-F238E27FC236}">
                <a16:creationId xmlns:a16="http://schemas.microsoft.com/office/drawing/2014/main" id="{3B514E84-4DD1-4CEC-9905-B75BF80DF295}"/>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Durante la operación conservamos señales y causas de fallo. Esa evidencia permite corregir el proceso y comprobar la corrección.</a:t>
            </a:r>
          </a:p>
        </p:txBody>
      </p:sp>
      <p:sp>
        <p:nvSpPr>
          <p:cNvPr id="20" name="check">
            <a:extLst xmlns:a="http://schemas.openxmlformats.org/drawingml/2006/main">
              <a:ext uri="{FF2B5EF4-FFF2-40B4-BE49-F238E27FC236}">
                <a16:creationId xmlns:a16="http://schemas.microsoft.com/office/drawing/2014/main" id="{A657E3B7-8AB3-41D4-9E2A-CDD2A25A2D7F}"/>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El pipeline ejecuta el procesamiento. DataOps organiza su desarrollo y operación.</a:t>
            </a:r>
          </a:p>
        </p:txBody>
      </p:sp>
      <p:sp>
        <p:nvSpPr>
          <p:cNvPr id="21" name="footer">
            <a:extLst xmlns:a="http://schemas.openxmlformats.org/drawingml/2006/main">
              <a:ext uri="{FF2B5EF4-FFF2-40B4-BE49-F238E27FC236}">
                <a16:creationId xmlns:a16="http://schemas.microsoft.com/office/drawing/2014/main" id="{51A43F67-6CAC-4E7D-BBE9-A8F423A4796C}"/>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A00866B1-728E-49B5-9AE1-AC2FE8CF66AA}"/>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14</a:t>
            </a:r>
          </a:p>
        </p:txBody>
      </p:sp>
    </p:spTree>
    <p:extLst>
      <p:ext uri="{BB962C8B-B14F-4D97-AF65-F5344CB8AC3E}">
        <p14:creationId xmlns:p14="http://schemas.microsoft.com/office/powerpoint/2010/main" val="116899893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0A43EE84-2181-467B-A795-181621F5D078}"/>
              </a:ext>
            </a:extLst>
          </p:cNvPr>
          <p:cNvCxnSpPr>
            <a:stCxn xmlns:a="http://schemas.openxmlformats.org/drawingml/2006/main" id="20" idx="0"/>
            <a:endCxn xmlns:a="http://schemas.openxmlformats.org/drawingml/2006/main" id="17" idx="2"/>
          </p:cNvCxnSpPr>
          <p:nvPr/>
        </p:nvCxnSpPr>
        <p:spPr>
          <a:xfrm xmlns:a="http://schemas.openxmlformats.org/drawingml/2006/main" flipV="1">
            <a:off x="1990725" y="3381375"/>
            <a:ext cx="0" cy="114300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7" name="">
            <a:extLst xmlns:a="http://schemas.openxmlformats.org/drawingml/2006/main">
              <a:ext uri="{FF2B5EF4-FFF2-40B4-BE49-F238E27FC236}">
                <a16:creationId xmlns:a16="http://schemas.microsoft.com/office/drawing/2014/main" id="{253579CF-8EE9-4831-941F-1B8DC93BA125}"/>
              </a:ext>
            </a:extLst>
          </p:cNvPr>
          <p:cNvCxnSpPr>
            <a:stCxn xmlns:a="http://schemas.openxmlformats.org/drawingml/2006/main" id="21" idx="1"/>
            <a:endCxn xmlns:a="http://schemas.openxmlformats.org/drawingml/2006/main" id="20" idx="3"/>
          </p:cNvCxnSpPr>
          <p:nvPr/>
        </p:nvCxnSpPr>
        <p:spPr>
          <a:xfrm xmlns:a="http://schemas.openxmlformats.org/drawingml/2006/main" flipH="1">
            <a:off x="3371850" y="5048250"/>
            <a:ext cx="1295400"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6" name="">
            <a:extLst xmlns:a="http://schemas.openxmlformats.org/drawingml/2006/main">
              <a:ext uri="{FF2B5EF4-FFF2-40B4-BE49-F238E27FC236}">
                <a16:creationId xmlns:a16="http://schemas.microsoft.com/office/drawing/2014/main" id="{98FA3B2F-0AE1-4C05-8AB2-B0FD85D9CC4B}"/>
              </a:ext>
            </a:extLst>
          </p:cNvPr>
          <p:cNvCxnSpPr>
            <a:stCxn xmlns:a="http://schemas.openxmlformats.org/drawingml/2006/main" id="22" idx="1"/>
            <a:endCxn xmlns:a="http://schemas.openxmlformats.org/drawingml/2006/main" id="21" idx="3"/>
          </p:cNvCxnSpPr>
          <p:nvPr/>
        </p:nvCxnSpPr>
        <p:spPr>
          <a:xfrm xmlns:a="http://schemas.openxmlformats.org/drawingml/2006/main" flipH="1">
            <a:off x="7524750" y="5048250"/>
            <a:ext cx="1238250"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5" name="">
            <a:extLst xmlns:a="http://schemas.openxmlformats.org/drawingml/2006/main">
              <a:ext uri="{FF2B5EF4-FFF2-40B4-BE49-F238E27FC236}">
                <a16:creationId xmlns:a16="http://schemas.microsoft.com/office/drawing/2014/main" id="{E109E926-176F-46ED-BA20-7D6582B21A6E}"/>
              </a:ext>
            </a:extLst>
          </p:cNvPr>
          <p:cNvCxnSpPr>
            <a:stCxn xmlns:a="http://schemas.openxmlformats.org/drawingml/2006/main" id="19" idx="2"/>
            <a:endCxn xmlns:a="http://schemas.openxmlformats.org/drawingml/2006/main" id="22" idx="0"/>
          </p:cNvCxnSpPr>
          <p:nvPr/>
        </p:nvCxnSpPr>
        <p:spPr>
          <a:xfrm xmlns:a="http://schemas.openxmlformats.org/drawingml/2006/main">
            <a:off x="10144125" y="3381375"/>
            <a:ext cx="0" cy="114300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4" name="">
            <a:extLst xmlns:a="http://schemas.openxmlformats.org/drawingml/2006/main">
              <a:ext uri="{FF2B5EF4-FFF2-40B4-BE49-F238E27FC236}">
                <a16:creationId xmlns:a16="http://schemas.microsoft.com/office/drawing/2014/main" id="{008F21A1-C0B7-481D-84EF-9FD38E9C9E78}"/>
              </a:ext>
            </a:extLst>
          </p:cNvPr>
          <p:cNvCxnSpPr>
            <a:stCxn xmlns:a="http://schemas.openxmlformats.org/drawingml/2006/main" id="18" idx="3"/>
            <a:endCxn xmlns:a="http://schemas.openxmlformats.org/drawingml/2006/main" id="19" idx="1"/>
          </p:cNvCxnSpPr>
          <p:nvPr/>
        </p:nvCxnSpPr>
        <p:spPr>
          <a:xfrm xmlns:a="http://schemas.openxmlformats.org/drawingml/2006/main">
            <a:off x="7524750" y="2857500"/>
            <a:ext cx="1238250"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3" name="">
            <a:extLst xmlns:a="http://schemas.openxmlformats.org/drawingml/2006/main">
              <a:ext uri="{FF2B5EF4-FFF2-40B4-BE49-F238E27FC236}">
                <a16:creationId xmlns:a16="http://schemas.microsoft.com/office/drawing/2014/main" id="{54045F87-1DF5-4A77-AF85-B7F79678776C}"/>
              </a:ext>
            </a:extLst>
          </p:cNvPr>
          <p:cNvCxnSpPr>
            <a:stCxn xmlns:a="http://schemas.openxmlformats.org/drawingml/2006/main" id="17" idx="3"/>
            <a:endCxn xmlns:a="http://schemas.openxmlformats.org/drawingml/2006/main" id="18" idx="1"/>
          </p:cNvCxnSpPr>
          <p:nvPr/>
        </p:nvCxnSpPr>
        <p:spPr>
          <a:xfrm xmlns:a="http://schemas.openxmlformats.org/drawingml/2006/main">
            <a:off x="3371850" y="2857500"/>
            <a:ext cx="1295400" cy="0"/>
          </a:xfrm>
          <a:prstGeom xmlns:a="http://schemas.openxmlformats.org/drawingml/2006/main" prst="straightConnector1">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0FDAF7A6-4531-4B23-B9F1-8E1F4A5D8EAD}"/>
              </a:ext>
            </a:extLst>
          </p:cNvPr>
          <p:cNvPicPr>
            <a:picLocks xmlns:a="http://schemas.openxmlformats.org/drawingml/2006/main" noChangeAspect="1"/>
          </p:cNvPicPr>
          <p:nvPr/>
        </p:nvPicPr>
        <p:blipFill>
          <a:blip xmlns:r="http://schemas.openxmlformats.org/officeDocument/2006/relationships" xmlns:a="http://schemas.openxmlformats.org/drawingml/2006/main" r:embed="Rdac7e05545a5452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163751C1-2A8C-463B-8B17-9D5D8031C01C}"/>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Ciclo de trabajo de DataOps</a:t>
            </a:r>
          </a:p>
        </p:txBody>
      </p:sp>
      <p:sp>
        <p:nvSpPr>
          <p:cNvPr id="16" name="lead">
            <a:extLst xmlns:a="http://schemas.openxmlformats.org/drawingml/2006/main">
              <a:ext uri="{FF2B5EF4-FFF2-40B4-BE49-F238E27FC236}">
                <a16:creationId xmlns:a16="http://schemas.microsoft.com/office/drawing/2014/main" id="{10F8A7A1-939D-4401-A3D2-5FB5BC2616CC}"/>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La información de la operación permite revisar las decisiones del equipo.</a:t>
            </a:r>
          </a:p>
        </p:txBody>
      </p:sp>
      <p:sp>
        <p:nvSpPr>
          <p:cNvPr id="17" name="diagram-node-0">
            <a:extLst xmlns:a="http://schemas.openxmlformats.org/drawingml/2006/main">
              <a:ext uri="{FF2B5EF4-FFF2-40B4-BE49-F238E27FC236}">
                <a16:creationId xmlns:a16="http://schemas.microsoft.com/office/drawing/2014/main" id="{4CDED599-FF1C-49CE-A17E-837276E27A3D}"/>
              </a:ext>
            </a:extLst>
          </p:cNvPr>
          <p:cNvSpPr>
            <a:spLocks xmlns:a="http://schemas.openxmlformats.org/drawingml/2006/main" noGrp="1"/>
          </p:cNvSpPr>
          <p:nvPr/>
        </p:nvSpPr>
        <p:spPr>
          <a:xfrm xmlns:a="http://schemas.openxmlformats.org/drawingml/2006/main">
            <a:off x="609600" y="2333625"/>
            <a:ext cx="2762250" cy="104775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1 · Acordar</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Necesidad y responsable</a:t>
            </a:r>
          </a:p>
        </p:txBody>
      </p:sp>
      <p:sp>
        <p:nvSpPr>
          <p:cNvPr id="18" name="diagram-node-1">
            <a:extLst xmlns:a="http://schemas.openxmlformats.org/drawingml/2006/main">
              <a:ext uri="{FF2B5EF4-FFF2-40B4-BE49-F238E27FC236}">
                <a16:creationId xmlns:a16="http://schemas.microsoft.com/office/drawing/2014/main" id="{9F219173-E2E8-4DB5-A740-D559B9749F70}"/>
              </a:ext>
            </a:extLst>
          </p:cNvPr>
          <p:cNvSpPr>
            <a:spLocks xmlns:a="http://schemas.openxmlformats.org/drawingml/2006/main" noGrp="1"/>
          </p:cNvSpPr>
          <p:nvPr/>
        </p:nvSpPr>
        <p:spPr>
          <a:xfrm xmlns:a="http://schemas.openxmlformats.org/drawingml/2006/main">
            <a:off x="4667250" y="2333625"/>
            <a:ext cx="2857500" cy="1047750"/>
          </a:xfrm>
          <a:prstGeom xmlns:a="http://schemas.openxmlformats.org/drawingml/2006/main" prst="rect">
            <a:avLst/>
          </a:prstGeom>
          <a:solidFill xmlns:a="http://schemas.openxmlformats.org/drawingml/2006/main">
            <a:srgbClr val="E9E6FF"/>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2 · Preparar</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Datos, reglas y versiones</a:t>
            </a:r>
          </a:p>
        </p:txBody>
      </p:sp>
      <p:sp>
        <p:nvSpPr>
          <p:cNvPr id="19" name="diagram-node-2">
            <a:extLst xmlns:a="http://schemas.openxmlformats.org/drawingml/2006/main">
              <a:ext uri="{FF2B5EF4-FFF2-40B4-BE49-F238E27FC236}">
                <a16:creationId xmlns:a16="http://schemas.microsoft.com/office/drawing/2014/main" id="{E3294E43-0C97-4213-A975-A853F9A6FD92}"/>
              </a:ext>
            </a:extLst>
          </p:cNvPr>
          <p:cNvSpPr>
            <a:spLocks xmlns:a="http://schemas.openxmlformats.org/drawingml/2006/main" noGrp="1"/>
          </p:cNvSpPr>
          <p:nvPr/>
        </p:nvSpPr>
        <p:spPr>
          <a:xfrm xmlns:a="http://schemas.openxmlformats.org/drawingml/2006/main">
            <a:off x="8763000" y="2333625"/>
            <a:ext cx="2762250" cy="104775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3 · Probar</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Resultados esperados</a:t>
            </a:r>
          </a:p>
        </p:txBody>
      </p:sp>
      <p:sp>
        <p:nvSpPr>
          <p:cNvPr id="20" name="diagram-node-3">
            <a:extLst xmlns:a="http://schemas.openxmlformats.org/drawingml/2006/main">
              <a:ext uri="{FF2B5EF4-FFF2-40B4-BE49-F238E27FC236}">
                <a16:creationId xmlns:a16="http://schemas.microsoft.com/office/drawing/2014/main" id="{CA7E2B18-60C3-49A7-8FFB-C1717E41240A}"/>
              </a:ext>
            </a:extLst>
          </p:cNvPr>
          <p:cNvSpPr>
            <a:spLocks xmlns:a="http://schemas.openxmlformats.org/drawingml/2006/main" noGrp="1"/>
          </p:cNvSpPr>
          <p:nvPr/>
        </p:nvSpPr>
        <p:spPr>
          <a:xfrm xmlns:a="http://schemas.openxmlformats.org/drawingml/2006/main">
            <a:off x="609600" y="4524375"/>
            <a:ext cx="2762250" cy="1047750"/>
          </a:xfrm>
          <a:prstGeom xmlns:a="http://schemas.openxmlformats.org/drawingml/2006/main" prst="rect">
            <a:avLst/>
          </a:prstGeom>
          <a:solidFill xmlns:a="http://schemas.openxmlformats.org/drawingml/2006/main">
            <a:srgbClr val="FFF1EE"/>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6 · Corregir</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Causa y nuevo cambio</a:t>
            </a:r>
          </a:p>
        </p:txBody>
      </p:sp>
      <p:sp>
        <p:nvSpPr>
          <p:cNvPr id="21" name="diagram-node-4">
            <a:extLst xmlns:a="http://schemas.openxmlformats.org/drawingml/2006/main">
              <a:ext uri="{FF2B5EF4-FFF2-40B4-BE49-F238E27FC236}">
                <a16:creationId xmlns:a16="http://schemas.microsoft.com/office/drawing/2014/main" id="{0C684009-8716-4C38-8A1A-130247A7B819}"/>
              </a:ext>
            </a:extLst>
          </p:cNvPr>
          <p:cNvSpPr>
            <a:spLocks xmlns:a="http://schemas.openxmlformats.org/drawingml/2006/main" noGrp="1"/>
          </p:cNvSpPr>
          <p:nvPr/>
        </p:nvSpPr>
        <p:spPr>
          <a:xfrm xmlns:a="http://schemas.openxmlformats.org/drawingml/2006/main">
            <a:off x="4667250" y="4524375"/>
            <a:ext cx="2857500" cy="104775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5 · Observar</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Calidad y ejecución</a:t>
            </a:r>
          </a:p>
        </p:txBody>
      </p:sp>
      <p:sp>
        <p:nvSpPr>
          <p:cNvPr id="22" name="diagram-node-5">
            <a:extLst xmlns:a="http://schemas.openxmlformats.org/drawingml/2006/main">
              <a:ext uri="{FF2B5EF4-FFF2-40B4-BE49-F238E27FC236}">
                <a16:creationId xmlns:a16="http://schemas.microsoft.com/office/drawing/2014/main" id="{46E7B0B8-D734-4A72-A70B-C38332B4C5AC}"/>
              </a:ext>
            </a:extLst>
          </p:cNvPr>
          <p:cNvSpPr>
            <a:spLocks xmlns:a="http://schemas.openxmlformats.org/drawingml/2006/main" noGrp="1"/>
          </p:cNvSpPr>
          <p:nvPr/>
        </p:nvSpPr>
        <p:spPr>
          <a:xfrm xmlns:a="http://schemas.openxmlformats.org/drawingml/2006/main">
            <a:off x="8763000" y="4524375"/>
            <a:ext cx="2762250" cy="1047750"/>
          </a:xfrm>
          <a:prstGeom xmlns:a="http://schemas.openxmlformats.org/drawingml/2006/main" prst="rect">
            <a:avLst/>
          </a:prstGeom>
          <a:solidFill xmlns:a="http://schemas.openxmlformats.org/drawingml/2006/main">
            <a:srgbClr val="E4F3EF"/>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4 · Publicar</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Versión aceptada</a:t>
            </a:r>
          </a:p>
        </p:txBody>
      </p:sp>
      <p:sp>
        <p:nvSpPr>
          <p:cNvPr id="29" name="check">
            <a:extLst xmlns:a="http://schemas.openxmlformats.org/drawingml/2006/main">
              <a:ext uri="{FF2B5EF4-FFF2-40B4-BE49-F238E27FC236}">
                <a16:creationId xmlns:a16="http://schemas.microsoft.com/office/drawing/2014/main" id="{CFC2CBCF-8CD5-4846-AE7E-1BC21326CDD9}"/>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Este ciclo describe el trabajo del equipo; cada ejecución conserva sus propias dependencias.</a:t>
            </a:r>
          </a:p>
        </p:txBody>
      </p:sp>
      <p:sp>
        <p:nvSpPr>
          <p:cNvPr id="30" name="footer">
            <a:extLst xmlns:a="http://schemas.openxmlformats.org/drawingml/2006/main">
              <a:ext uri="{FF2B5EF4-FFF2-40B4-BE49-F238E27FC236}">
                <a16:creationId xmlns:a16="http://schemas.microsoft.com/office/drawing/2014/main" id="{C2D71899-0997-4E6E-832B-D9437BBD0AF1}"/>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31" name="page">
            <a:extLst xmlns:a="http://schemas.openxmlformats.org/drawingml/2006/main">
              <a:ext uri="{FF2B5EF4-FFF2-40B4-BE49-F238E27FC236}">
                <a16:creationId xmlns:a16="http://schemas.microsoft.com/office/drawing/2014/main" id="{AF628897-4075-4180-820D-B56C2B90A4F8}"/>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15</a:t>
            </a:r>
          </a:p>
        </p:txBody>
      </p:sp>
    </p:spTree>
    <p:extLst>
      <p:ext uri="{BB962C8B-B14F-4D97-AF65-F5344CB8AC3E}">
        <p14:creationId xmlns:p14="http://schemas.microsoft.com/office/powerpoint/2010/main" val="11689989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2C0CCD17-DD2B-4F79-9179-8F62EC103C22}"/>
              </a:ext>
            </a:extLst>
          </p:cNvPr>
          <p:cNvPicPr>
            <a:picLocks xmlns:a="http://schemas.openxmlformats.org/drawingml/2006/main" noChangeAspect="1"/>
          </p:cNvPicPr>
          <p:nvPr/>
        </p:nvPicPr>
        <p:blipFill>
          <a:blip xmlns:r="http://schemas.openxmlformats.org/officeDocument/2006/relationships" xmlns:a="http://schemas.openxmlformats.org/drawingml/2006/main" r:embed="R1bb67ed098cb4db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BC4B003E-9034-4B89-AB56-0EFB9427A902}"/>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Responsabilidades compartidas</a:t>
            </a:r>
          </a:p>
        </p:txBody>
      </p:sp>
      <p:sp>
        <p:nvSpPr>
          <p:cNvPr id="16" name="lead">
            <a:extLst xmlns:a="http://schemas.openxmlformats.org/drawingml/2006/main">
              <a:ext uri="{FF2B5EF4-FFF2-40B4-BE49-F238E27FC236}">
                <a16:creationId xmlns:a16="http://schemas.microsoft.com/office/drawing/2014/main" id="{CF0C18D1-C1EE-4AC2-9DF0-A396F2EFA463}"/>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Los roles ayudan a decidir y resolver; una persona puede asumir varios.</a:t>
            </a:r>
          </a:p>
        </p:txBody>
      </p:sp>
      <p:graphicFrame>
        <p:nvGraphicFramePr>
          <p:cNvPr id="17" name="">
            <a:extLst xmlns:a="http://schemas.openxmlformats.org/drawingml/2006/main">
              <a:ext uri="{FF2B5EF4-FFF2-40B4-BE49-F238E27FC236}">
                <a16:creationId xmlns:a16="http://schemas.microsoft.com/office/drawing/2014/main" id="{71B64BDB-4FBE-44E9-8606-AE4A18077E6E}"/>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2962656"/>
                <a:gridCol w="4279392"/>
                <a:gridCol w="3730752"/>
              </a:tblGrid>
              <a:tr h="666750">
                <a:tc>
                  <a:txBody>
                    <a:bodyPr/>
                    <a:lstStyle/>
                    <a:p>
                      <a:r>
                        <a:rPr sz="1950" b="1">
                          <a:solidFill>
                            <a:srgbClr val="FFFFFF"/>
                          </a:solidFill>
                          <a:latin typeface="Calibri"/>
                          <a:ea typeface="Calibri"/>
                          <a:cs typeface="Calibri"/>
                        </a:rPr>
                        <a:t>Responsabilidad</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Decisión</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Evidencia</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666750">
                <a:tc>
                  <a:txBody>
                    <a:bodyPr/>
                    <a:lstStyle/>
                    <a:p>
                      <a:r>
                        <a:rPr sz="1950" b="0">
                          <a:solidFill>
                            <a:srgbClr val="203B68"/>
                          </a:solidFill>
                          <a:latin typeface="Calibri"/>
                          <a:ea typeface="Calibri"/>
                          <a:cs typeface="Calibri"/>
                        </a:rPr>
                        <a:t>Consumidor</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Pregunta y significado del resultado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Alcance y granularidad acordados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Responsable del dato</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Reglas y tratamiento de ausencias</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Contrato explícito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666750">
                <a:tc>
                  <a:txBody>
                    <a:bodyPr/>
                    <a:lstStyle/>
                    <a:p>
                      <a:r>
                        <a:rPr sz="1950" b="0">
                          <a:solidFill>
                            <a:srgbClr val="203B68"/>
                          </a:solidFill>
                          <a:latin typeface="Calibri"/>
                          <a:ea typeface="Calibri"/>
                          <a:cs typeface="Calibri"/>
                        </a:rPr>
                        <a:t>Responsable del proceso</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Ejecución y atención del fallo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Registro y causa documentada</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Revisor</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Aceptar o devolver un candidato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Controles y observaciones</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bl>
          </a:graphicData>
        </a:graphic>
      </p:graphicFrame>
      <p:sp>
        <p:nvSpPr>
          <p:cNvPr id="18" name="check">
            <a:extLst xmlns:a="http://schemas.openxmlformats.org/drawingml/2006/main">
              <a:ext uri="{FF2B5EF4-FFF2-40B4-BE49-F238E27FC236}">
                <a16:creationId xmlns:a16="http://schemas.microsoft.com/office/drawing/2014/main" id="{AB7313A7-9812-4D5D-B52E-97FF4FF486A5}"/>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En clase, otro equipo verifica el resultado con las instrucciones disponibles.</a:t>
            </a:r>
          </a:p>
        </p:txBody>
      </p:sp>
      <p:sp>
        <p:nvSpPr>
          <p:cNvPr id="19" name="footer">
            <a:extLst xmlns:a="http://schemas.openxmlformats.org/drawingml/2006/main">
              <a:ext uri="{FF2B5EF4-FFF2-40B4-BE49-F238E27FC236}">
                <a16:creationId xmlns:a16="http://schemas.microsoft.com/office/drawing/2014/main" id="{3F8CA15C-D6FB-484E-A582-1E471984ED26}"/>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F99D4C22-FE18-448C-A8B9-5FBF29B93A28}"/>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16</a:t>
            </a:r>
          </a:p>
        </p:txBody>
      </p:sp>
    </p:spTree>
    <p:extLst>
      <p:ext uri="{BB962C8B-B14F-4D97-AF65-F5344CB8AC3E}">
        <p14:creationId xmlns:p14="http://schemas.microsoft.com/office/powerpoint/2010/main" val="11689989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9DC686A3-FA7C-4B64-95D7-C681A56F8E47}"/>
              </a:ext>
            </a:extLst>
          </p:cNvPr>
          <p:cNvPicPr>
            <a:picLocks xmlns:a="http://schemas.openxmlformats.org/drawingml/2006/main" noChangeAspect="1"/>
          </p:cNvPicPr>
          <p:nvPr/>
        </p:nvPicPr>
        <p:blipFill>
          <a:blip xmlns:r="http://schemas.openxmlformats.org/officeDocument/2006/relationships" xmlns:a="http://schemas.openxmlformats.org/drawingml/2006/main" r:embed="R0064476a36c6448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4EF56A5E-8041-43E5-AA9F-F1B59D29FBAD}"/>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Qué debemos identificar por versión</a:t>
            </a:r>
          </a:p>
        </p:txBody>
      </p:sp>
      <p:sp>
        <p:nvSpPr>
          <p:cNvPr id="16" name="lead">
            <a:extLst xmlns:a="http://schemas.openxmlformats.org/drawingml/2006/main">
              <a:ext uri="{FF2B5EF4-FFF2-40B4-BE49-F238E27FC236}">
                <a16:creationId xmlns:a16="http://schemas.microsoft.com/office/drawing/2014/main" id="{53B935AA-BD9E-4D63-BC03-C09229627FDB}"/>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Si cambia una cifra, necesitamos reconocer qué insumo o decisión produjo el cambio.</a:t>
            </a:r>
          </a:p>
        </p:txBody>
      </p:sp>
      <p:graphicFrame>
        <p:nvGraphicFramePr>
          <p:cNvPr id="17" name="">
            <a:extLst xmlns:a="http://schemas.openxmlformats.org/drawingml/2006/main">
              <a:ext uri="{FF2B5EF4-FFF2-40B4-BE49-F238E27FC236}">
                <a16:creationId xmlns:a16="http://schemas.microsoft.com/office/drawing/2014/main" id="{9C4D7BD3-00FD-4A4A-B66E-4E18430AF7E0}"/>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2414016"/>
                <a:gridCol w="4608576"/>
                <a:gridCol w="3950208"/>
              </a:tblGrid>
              <a:tr h="666750">
                <a:tc>
                  <a:txBody>
                    <a:bodyPr/>
                    <a:lstStyle/>
                    <a:p>
                      <a:r>
                        <a:rPr sz="1950" b="1">
                          <a:solidFill>
                            <a:srgbClr val="FFFFFF"/>
                          </a:solidFill>
                          <a:latin typeface="Calibri"/>
                          <a:ea typeface="Calibri"/>
                          <a:cs typeface="Calibri"/>
                        </a:rPr>
                        <a:t>Elemento</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Identificación</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Para qué sirve</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666750">
                <a:tc>
                  <a:txBody>
                    <a:bodyPr/>
                    <a:lstStyle/>
                    <a:p>
                      <a:r>
                        <a:rPr sz="1950" b="0">
                          <a:solidFill>
                            <a:srgbClr val="203B68"/>
                          </a:solidFill>
                          <a:latin typeface="Calibri"/>
                          <a:ea typeface="Calibri"/>
                          <a:cs typeface="Calibri"/>
                        </a:rPr>
                        <a:t>Datos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Fuente, corte y huella del archivo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Reconstruir las entradas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Código y reglas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Commit o versión declarada</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Explicar la transformación</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666750">
                <a:tc>
                  <a:txBody>
                    <a:bodyPr/>
                    <a:lstStyle/>
                    <a:p>
                      <a:r>
                        <a:rPr sz="1950" b="0">
                          <a:solidFill>
                            <a:srgbClr val="203B68"/>
                          </a:solidFill>
                          <a:latin typeface="Calibri"/>
                          <a:ea typeface="Calibri"/>
                          <a:cs typeface="Calibri"/>
                        </a:rPr>
                        <a:t>Configuración</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Parámetros y versiones de librerías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Reconocer condiciones de ejecución</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Salida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Ejecución y ubicación publicada</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Saber qué consulta el consumidor</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bl>
          </a:graphicData>
        </a:graphic>
      </p:graphicFrame>
      <p:sp>
        <p:nvSpPr>
          <p:cNvPr id="18" name="check">
            <a:extLst xmlns:a="http://schemas.openxmlformats.org/drawingml/2006/main">
              <a:ext uri="{FF2B5EF4-FFF2-40B4-BE49-F238E27FC236}">
                <a16:creationId xmlns:a16="http://schemas.microsoft.com/office/drawing/2014/main" id="{89AC50F1-38F1-40E1-9183-45C319E49510}"/>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Los archivos voluminosos se referencian en el manifiesto; no es necesario guardarlos en Git.</a:t>
            </a:r>
          </a:p>
        </p:txBody>
      </p:sp>
      <p:sp>
        <p:nvSpPr>
          <p:cNvPr id="19" name="footer">
            <a:extLst xmlns:a="http://schemas.openxmlformats.org/drawingml/2006/main">
              <a:ext uri="{FF2B5EF4-FFF2-40B4-BE49-F238E27FC236}">
                <a16:creationId xmlns:a16="http://schemas.microsoft.com/office/drawing/2014/main" id="{005BC850-F13C-432C-96C5-8AF1A9B148D9}"/>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E07BE982-82E2-46A7-BC3A-D514F70E4A5E}"/>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17</a:t>
            </a:r>
          </a:p>
        </p:txBody>
      </p:sp>
    </p:spTree>
    <p:extLst>
      <p:ext uri="{BB962C8B-B14F-4D97-AF65-F5344CB8AC3E}">
        <p14:creationId xmlns:p14="http://schemas.microsoft.com/office/powerpoint/2010/main" val="11689989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720CA722-56AB-4702-B031-751F7823DB8C}"/>
              </a:ext>
            </a:extLst>
          </p:cNvPr>
          <p:cNvPicPr>
            <a:picLocks xmlns:a="http://schemas.openxmlformats.org/drawingml/2006/main" noChangeAspect="1"/>
          </p:cNvPicPr>
          <p:nvPr/>
        </p:nvPicPr>
        <p:blipFill>
          <a:blip xmlns:r="http://schemas.openxmlformats.org/officeDocument/2006/relationships" xmlns:a="http://schemas.openxmlformats.org/drawingml/2006/main" r:embed="R199a44b037234131"/>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52274706-1CF8-4180-B525-F7283B51C852}"/>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Pruebas y controles de calidad</a:t>
            </a:r>
          </a:p>
        </p:txBody>
      </p:sp>
      <p:sp>
        <p:nvSpPr>
          <p:cNvPr id="16" name="lead">
            <a:extLst xmlns:a="http://schemas.openxmlformats.org/drawingml/2006/main">
              <a:ext uri="{FF2B5EF4-FFF2-40B4-BE49-F238E27FC236}">
                <a16:creationId xmlns:a16="http://schemas.microsoft.com/office/drawing/2014/main" id="{5CE05AC4-BFE4-4211-9506-CDEE224C9DC8}"/>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Un programa sin errores puede calcular una cifra equivocada si aplica mal una regla.</a:t>
            </a:r>
          </a:p>
        </p:txBody>
      </p:sp>
      <p:graphicFrame>
        <p:nvGraphicFramePr>
          <p:cNvPr id="17" name="">
            <a:extLst xmlns:a="http://schemas.openxmlformats.org/drawingml/2006/main">
              <a:ext uri="{FF2B5EF4-FFF2-40B4-BE49-F238E27FC236}">
                <a16:creationId xmlns:a16="http://schemas.microsoft.com/office/drawing/2014/main" id="{3EAB3270-F3B9-4A0D-9C79-20C88818F516}"/>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2962656"/>
                <a:gridCol w="4718304"/>
                <a:gridCol w="3291840"/>
              </a:tblGrid>
              <a:tr h="666750">
                <a:tc>
                  <a:txBody>
                    <a:bodyPr/>
                    <a:lstStyle/>
                    <a:p>
                      <a:r>
                        <a:rPr sz="1950" b="1">
                          <a:solidFill>
                            <a:srgbClr val="FFFFFF"/>
                          </a:solidFill>
                          <a:latin typeface="Calibri"/>
                          <a:ea typeface="Calibri"/>
                          <a:cs typeface="Calibri"/>
                        </a:rPr>
                        <a:t>Pregunta</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Comprobación</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Si no cumple</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666750">
                <a:tc>
                  <a:txBody>
                    <a:bodyPr/>
                    <a:lstStyle/>
                    <a:p>
                      <a:r>
                        <a:rPr sz="1950" b="0">
                          <a:solidFill>
                            <a:srgbClr val="203B68"/>
                          </a:solidFill>
                          <a:latin typeface="Calibri"/>
                          <a:ea typeface="Calibri"/>
                          <a:cs typeface="Calibri"/>
                        </a:rPr>
                        <a:t>¿La regla funciona?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Caso pequeño con salida conocida</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Corregir antes de usarla</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¿El archivo es compatible?</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Campos y tipos necesarios</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Detener y registrar causa</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666750">
                <a:tc>
                  <a:txBody>
                    <a:bodyPr/>
                    <a:lstStyle/>
                    <a:p>
                      <a:r>
                        <a:rPr sz="1950" b="0">
                          <a:solidFill>
                            <a:srgbClr val="203B68"/>
                          </a:solidFill>
                          <a:latin typeface="Calibri"/>
                          <a:ea typeface="Calibri"/>
                          <a:cs typeface="Calibri"/>
                        </a:rPr>
                        <a:t>¿Se explican las filas?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Leídas = aceptadas + rechazadas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Investigar diferencias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¿El agregado es correcto?</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Comparar grupos y total</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Impedir publicación</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bl>
          </a:graphicData>
        </a:graphic>
      </p:graphicFrame>
      <p:sp>
        <p:nvSpPr>
          <p:cNvPr id="18" name="check">
            <a:extLst xmlns:a="http://schemas.openxmlformats.org/drawingml/2006/main">
              <a:ext uri="{FF2B5EF4-FFF2-40B4-BE49-F238E27FC236}">
                <a16:creationId xmlns:a16="http://schemas.microsoft.com/office/drawing/2014/main" id="{44F8C44A-4A9E-44E0-BC13-AE85D4062AD0}"/>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Primero se define qué debería ocurrir; después se ejecuta la comprobación.</a:t>
            </a:r>
          </a:p>
        </p:txBody>
      </p:sp>
      <p:sp>
        <p:nvSpPr>
          <p:cNvPr id="19" name="footer">
            <a:extLst xmlns:a="http://schemas.openxmlformats.org/drawingml/2006/main">
              <a:ext uri="{FF2B5EF4-FFF2-40B4-BE49-F238E27FC236}">
                <a16:creationId xmlns:a16="http://schemas.microsoft.com/office/drawing/2014/main" id="{5767CF7D-34BC-4F2A-84AD-F052A1603C4B}"/>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DEEF4EDB-127D-4632-BB99-09581245BCF3}"/>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18</a:t>
            </a:r>
          </a:p>
        </p:txBody>
      </p:sp>
    </p:spTree>
    <p:extLst>
      <p:ext uri="{BB962C8B-B14F-4D97-AF65-F5344CB8AC3E}">
        <p14:creationId xmlns:p14="http://schemas.microsoft.com/office/powerpoint/2010/main" val="11689989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751A6535-B544-4328-9105-C1A165C74154}"/>
              </a:ext>
            </a:extLst>
          </p:cNvPr>
          <p:cNvPicPr>
            <a:picLocks xmlns:a="http://schemas.openxmlformats.org/drawingml/2006/main" noChangeAspect="1"/>
          </p:cNvPicPr>
          <p:nvPr/>
        </p:nvPicPr>
        <p:blipFill>
          <a:blip xmlns:r="http://schemas.openxmlformats.org/officeDocument/2006/relationships" xmlns:a="http://schemas.openxmlformats.org/drawingml/2006/main" r:embed="R56c134d1a760453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A20DE983-C71E-464C-BC3E-5AD327EB7FA8}"/>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Monitoreo y diagnóstico</a:t>
            </a:r>
          </a:p>
        </p:txBody>
      </p:sp>
      <p:sp>
        <p:nvSpPr>
          <p:cNvPr id="16" name="lead">
            <a:extLst xmlns:a="http://schemas.openxmlformats.org/drawingml/2006/main">
              <a:ext uri="{FF2B5EF4-FFF2-40B4-BE49-F238E27FC236}">
                <a16:creationId xmlns:a16="http://schemas.microsoft.com/office/drawing/2014/main" id="{93914155-8859-41E8-B969-7EC77CF2380B}"/>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El estado “correcto” informa que terminó. Los conteos y registros ayudan a explicar qué produjo.</a:t>
            </a:r>
          </a:p>
        </p:txBody>
      </p:sp>
      <p:graphicFrame>
        <p:nvGraphicFramePr>
          <p:cNvPr id="17" name="">
            <a:extLst xmlns:a="http://schemas.openxmlformats.org/drawingml/2006/main">
              <a:ext uri="{FF2B5EF4-FFF2-40B4-BE49-F238E27FC236}">
                <a16:creationId xmlns:a16="http://schemas.microsoft.com/office/drawing/2014/main" id="{39D72E30-0CD8-4085-88C0-110697CBA9FB}"/>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2962656"/>
                <a:gridCol w="4059936"/>
                <a:gridCol w="3950208"/>
              </a:tblGrid>
              <a:tr h="666750">
                <a:tc>
                  <a:txBody>
                    <a:bodyPr/>
                    <a:lstStyle/>
                    <a:p>
                      <a:r>
                        <a:rPr sz="1950" b="1">
                          <a:solidFill>
                            <a:srgbClr val="FFFFFF"/>
                          </a:solidFill>
                          <a:latin typeface="Calibri"/>
                          <a:ea typeface="Calibri"/>
                          <a:cs typeface="Calibri"/>
                        </a:rPr>
                        <a:t>Señal</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Qué permite observar</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Pregunta para investigar</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666750">
                <a:tc>
                  <a:txBody>
                    <a:bodyPr/>
                    <a:lstStyle/>
                    <a:p>
                      <a:r>
                        <a:rPr sz="1950" b="0">
                          <a:solidFill>
                            <a:srgbClr val="203B68"/>
                          </a:solidFill>
                          <a:latin typeface="Calibri"/>
                          <a:ea typeface="Calibri"/>
                          <a:cs typeface="Calibri"/>
                        </a:rPr>
                        <a:t>Estado y duración</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Si la tarea terminó y cuánto tardó</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¿Cambió el tamaño de entrada?</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Leídas y rechazadas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Volumen y exclusiones</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¿Llegó un corte incompleto?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666750">
                <a:tc>
                  <a:txBody>
                    <a:bodyPr/>
                    <a:lstStyle/>
                    <a:p>
                      <a:r>
                        <a:rPr sz="1950" b="0">
                          <a:solidFill>
                            <a:srgbClr val="203B68"/>
                          </a:solidFill>
                          <a:latin typeface="Calibri"/>
                          <a:ea typeface="Calibri"/>
                          <a:cs typeface="Calibri"/>
                        </a:rPr>
                        <a:t>Período del último corte</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Actualidad de la publicación</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¿Se recibió lo esperado?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Diferencias por grupo</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Coherencia del resultado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¿Cambió una regla o categoría?</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bl>
          </a:graphicData>
        </a:graphic>
      </p:graphicFrame>
      <p:sp>
        <p:nvSpPr>
          <p:cNvPr id="18" name="check">
            <a:extLst xmlns:a="http://schemas.openxmlformats.org/drawingml/2006/main">
              <a:ext uri="{FF2B5EF4-FFF2-40B4-BE49-F238E27FC236}">
                <a16:creationId xmlns:a16="http://schemas.microsoft.com/office/drawing/2014/main" id="{029BDE17-F016-477D-9323-0331D3AF98E7}"/>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El registro reúne señales; diagnosticar exige relacionarlas con entradas y reglas.</a:t>
            </a:r>
          </a:p>
        </p:txBody>
      </p:sp>
      <p:sp>
        <p:nvSpPr>
          <p:cNvPr id="19" name="footer">
            <a:extLst xmlns:a="http://schemas.openxmlformats.org/drawingml/2006/main">
              <a:ext uri="{FF2B5EF4-FFF2-40B4-BE49-F238E27FC236}">
                <a16:creationId xmlns:a16="http://schemas.microsoft.com/office/drawing/2014/main" id="{6327796D-D345-4622-A4EB-5354B3C3C4D4}"/>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75A32BF2-110F-4567-85D8-B95F929B1DD8}"/>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19</a:t>
            </a:r>
          </a:p>
        </p:txBody>
      </p:sp>
    </p:spTree>
    <p:extLst>
      <p:ext uri="{BB962C8B-B14F-4D97-AF65-F5344CB8AC3E}">
        <p14:creationId xmlns:p14="http://schemas.microsoft.com/office/powerpoint/2010/main" val="116899893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E1A3D99D-A1A8-4393-8E90-B4E9BF3304EE}"/>
              </a:ext>
            </a:extLst>
          </p:cNvPr>
          <p:cNvPicPr>
            <a:picLocks xmlns:a="http://schemas.openxmlformats.org/drawingml/2006/main" noChangeAspect="1"/>
          </p:cNvPicPr>
          <p:nvPr/>
        </p:nvPicPr>
        <p:blipFill>
          <a:blip xmlns:r="http://schemas.openxmlformats.org/officeDocument/2006/relationships" xmlns:a="http://schemas.openxmlformats.org/drawingml/2006/main" r:embed="Rcf98bae992dc433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3CD4A317-8007-4CF7-A7BD-7ABA4A2DDE3A}"/>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Reintentar o corregir</a:t>
            </a:r>
          </a:p>
        </p:txBody>
      </p:sp>
      <p:sp>
        <p:nvSpPr>
          <p:cNvPr id="16" name="lead">
            <a:extLst xmlns:a="http://schemas.openxmlformats.org/drawingml/2006/main">
              <a:ext uri="{FF2B5EF4-FFF2-40B4-BE49-F238E27FC236}">
                <a16:creationId xmlns:a16="http://schemas.microsoft.com/office/drawing/2014/main" id="{A0B87710-C79E-43D0-9178-D4B379A26BC8}"/>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La respuesta depende de la causa del fallo.</a:t>
            </a:r>
          </a:p>
        </p:txBody>
      </p:sp>
      <p:graphicFrame>
        <p:nvGraphicFramePr>
          <p:cNvPr id="17" name="">
            <a:extLst xmlns:a="http://schemas.openxmlformats.org/drawingml/2006/main">
              <a:ext uri="{FF2B5EF4-FFF2-40B4-BE49-F238E27FC236}">
                <a16:creationId xmlns:a16="http://schemas.microsoft.com/office/drawing/2014/main" id="{7E3A5DE1-F073-4818-90C2-7D36849DE153}"/>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3291840"/>
                <a:gridCol w="3511296"/>
                <a:gridCol w="4169664"/>
              </a:tblGrid>
              <a:tr h="666750">
                <a:tc>
                  <a:txBody>
                    <a:bodyPr/>
                    <a:lstStyle/>
                    <a:p>
                      <a:r>
                        <a:rPr sz="1950" b="1">
                          <a:solidFill>
                            <a:srgbClr val="FFFFFF"/>
                          </a:solidFill>
                          <a:latin typeface="Calibri"/>
                          <a:ea typeface="Calibri"/>
                          <a:cs typeface="Calibri"/>
                        </a:rPr>
                        <a:t>Situación</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Interpretación</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Acción razonada</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666750">
                <a:tc>
                  <a:txBody>
                    <a:bodyPr/>
                    <a:lstStyle/>
                    <a:p>
                      <a:r>
                        <a:rPr sz="1950" b="0">
                          <a:solidFill>
                            <a:srgbClr val="203B68"/>
                          </a:solidFill>
                          <a:latin typeface="Calibri"/>
                          <a:ea typeface="Calibri"/>
                          <a:cs typeface="Calibri"/>
                        </a:rPr>
                        <a:t>Descarga interrumpida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Posible fallo transitorio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Reintento limitado y verificación</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Falta una columna necesaria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Archivo incompatible</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Detener y revisar fuente o contrato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666750">
                <a:tc>
                  <a:txBody>
                    <a:bodyPr/>
                    <a:lstStyle/>
                    <a:p>
                      <a:r>
                        <a:rPr sz="1950" b="0">
                          <a:solidFill>
                            <a:srgbClr val="203B68"/>
                          </a:solidFill>
                          <a:latin typeface="Calibri"/>
                          <a:ea typeface="Calibri"/>
                          <a:cs typeface="Calibri"/>
                        </a:rPr>
                        <a:t>Una fila tiene período inválido</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Incumple regla por fila</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Conservar rechazo con motivo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Agregado distinto del detalle</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Resultado inconsistente</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Detener publicación y corregir</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bl>
          </a:graphicData>
        </a:graphic>
      </p:graphicFrame>
      <p:sp>
        <p:nvSpPr>
          <p:cNvPr id="18" name="check">
            <a:extLst xmlns:a="http://schemas.openxmlformats.org/drawingml/2006/main">
              <a:ext uri="{FF2B5EF4-FFF2-40B4-BE49-F238E27FC236}">
                <a16:creationId xmlns:a16="http://schemas.microsoft.com/office/drawing/2014/main" id="{A805E0BA-696E-415A-897D-CEF647A42A0E}"/>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Repetir la misma operación no corrige una regla equivocada.</a:t>
            </a:r>
          </a:p>
        </p:txBody>
      </p:sp>
      <p:sp>
        <p:nvSpPr>
          <p:cNvPr id="19" name="footer">
            <a:extLst xmlns:a="http://schemas.openxmlformats.org/drawingml/2006/main">
              <a:ext uri="{FF2B5EF4-FFF2-40B4-BE49-F238E27FC236}">
                <a16:creationId xmlns:a16="http://schemas.microsoft.com/office/drawing/2014/main" id="{8BE9A69F-51D8-4177-AB50-A24BF18D0BF1}"/>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F2516865-09B9-4A76-80F1-2120AE3EB7D0}"/>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20</a:t>
            </a:r>
          </a:p>
        </p:txBody>
      </p:sp>
    </p:spTree>
    <p:extLst>
      <p:ext uri="{BB962C8B-B14F-4D97-AF65-F5344CB8AC3E}">
        <p14:creationId xmlns:p14="http://schemas.microsoft.com/office/powerpoint/2010/main" val="116899893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534CFD44-B3BE-453D-9273-E929CDC43A03}"/>
              </a:ext>
            </a:extLst>
          </p:cNvPr>
          <p:cNvCxnSpPr>
            <a:stCxn xmlns:a="http://schemas.openxmlformats.org/drawingml/2006/main" id="19" idx="3"/>
            <a:endCxn xmlns:a="http://schemas.openxmlformats.org/drawingml/2006/main" id="20" idx="1"/>
          </p:cNvCxnSpPr>
          <p:nvPr/>
        </p:nvCxnSpPr>
        <p:spPr>
          <a:xfrm xmlns:a="http://schemas.openxmlformats.org/drawingml/2006/main" flipV="1">
            <a:off x="7524750" y="3881438"/>
            <a:ext cx="1428750" cy="1190625"/>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2" name="">
            <a:extLst xmlns:a="http://schemas.openxmlformats.org/drawingml/2006/main">
              <a:ext uri="{FF2B5EF4-FFF2-40B4-BE49-F238E27FC236}">
                <a16:creationId xmlns:a16="http://schemas.microsoft.com/office/drawing/2014/main" id="{4D85BB0B-5F2D-473F-9A54-25807745B2B4}"/>
              </a:ext>
            </a:extLst>
          </p:cNvPr>
          <p:cNvCxnSpPr>
            <a:stCxn xmlns:a="http://schemas.openxmlformats.org/drawingml/2006/main" id="17" idx="3"/>
            <a:endCxn xmlns:a="http://schemas.openxmlformats.org/drawingml/2006/main" id="19" idx="1"/>
          </p:cNvCxnSpPr>
          <p:nvPr/>
        </p:nvCxnSpPr>
        <p:spPr>
          <a:xfrm xmlns:a="http://schemas.openxmlformats.org/drawingml/2006/main">
            <a:off x="3086100" y="3786188"/>
            <a:ext cx="1581150" cy="1285875"/>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1" name="">
            <a:extLst xmlns:a="http://schemas.openxmlformats.org/drawingml/2006/main">
              <a:ext uri="{FF2B5EF4-FFF2-40B4-BE49-F238E27FC236}">
                <a16:creationId xmlns:a16="http://schemas.microsoft.com/office/drawing/2014/main" id="{BECAD00A-9F8B-4CB4-A62E-403E30637AF6}"/>
              </a:ext>
            </a:extLst>
          </p:cNvPr>
          <p:cNvCxnSpPr>
            <a:stCxn xmlns:a="http://schemas.openxmlformats.org/drawingml/2006/main" id="17" idx="3"/>
            <a:endCxn xmlns:a="http://schemas.openxmlformats.org/drawingml/2006/main" id="18" idx="1"/>
          </p:cNvCxnSpPr>
          <p:nvPr/>
        </p:nvCxnSpPr>
        <p:spPr>
          <a:xfrm xmlns:a="http://schemas.openxmlformats.org/drawingml/2006/main" flipV="1">
            <a:off x="3086100" y="2881313"/>
            <a:ext cx="1581150" cy="904875"/>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007760F4-5BEB-4438-B0F7-42B5E47D49C1}"/>
              </a:ext>
            </a:extLst>
          </p:cNvPr>
          <p:cNvPicPr>
            <a:picLocks xmlns:a="http://schemas.openxmlformats.org/drawingml/2006/main" noChangeAspect="1"/>
          </p:cNvPicPr>
          <p:nvPr/>
        </p:nvPicPr>
        <p:blipFill>
          <a:blip xmlns:r="http://schemas.openxmlformats.org/officeDocument/2006/relationships" xmlns:a="http://schemas.openxmlformats.org/drawingml/2006/main" r:embed="R5011a09bb0284ee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0773F4EA-7604-48FE-A0BD-58A30EF7BC2C}"/>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Idempotencia en la reejecución</a:t>
            </a:r>
          </a:p>
        </p:txBody>
      </p:sp>
      <p:sp>
        <p:nvSpPr>
          <p:cNvPr id="16" name="lead">
            <a:extLst xmlns:a="http://schemas.openxmlformats.org/drawingml/2006/main">
              <a:ext uri="{FF2B5EF4-FFF2-40B4-BE49-F238E27FC236}">
                <a16:creationId xmlns:a16="http://schemas.microsoft.com/office/drawing/2014/main" id="{E7D9834D-EB5D-44DF-ADA1-C1DB79421162}"/>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Reintentamos para recuperar trabajo. Debemos evitar que el reintento duplique su efecto.</a:t>
            </a:r>
          </a:p>
        </p:txBody>
      </p:sp>
      <p:sp>
        <p:nvSpPr>
          <p:cNvPr id="17" name="diagram-node-0">
            <a:extLst xmlns:a="http://schemas.openxmlformats.org/drawingml/2006/main">
              <a:ext uri="{FF2B5EF4-FFF2-40B4-BE49-F238E27FC236}">
                <a16:creationId xmlns:a16="http://schemas.microsoft.com/office/drawing/2014/main" id="{0AD64055-9CCF-43B6-A4E5-7404B49FFDD6}"/>
              </a:ext>
            </a:extLst>
          </p:cNvPr>
          <p:cNvSpPr>
            <a:spLocks xmlns:a="http://schemas.openxmlformats.org/drawingml/2006/main" noGrp="1"/>
          </p:cNvSpPr>
          <p:nvPr/>
        </p:nvSpPr>
        <p:spPr>
          <a:xfrm xmlns:a="http://schemas.openxmlformats.org/drawingml/2006/main">
            <a:off x="609600" y="3190875"/>
            <a:ext cx="2476500" cy="1190625"/>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Mismo corte</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Mismas reglas</a:t>
            </a:r>
          </a:p>
        </p:txBody>
      </p:sp>
      <p:sp>
        <p:nvSpPr>
          <p:cNvPr id="18" name="diagram-node-1">
            <a:extLst xmlns:a="http://schemas.openxmlformats.org/drawingml/2006/main">
              <a:ext uri="{FF2B5EF4-FFF2-40B4-BE49-F238E27FC236}">
                <a16:creationId xmlns:a16="http://schemas.microsoft.com/office/drawing/2014/main" id="{24DCC3E7-0EC2-4809-94EB-67D615F3D334}"/>
              </a:ext>
            </a:extLst>
          </p:cNvPr>
          <p:cNvSpPr>
            <a:spLocks xmlns:a="http://schemas.openxmlformats.org/drawingml/2006/main" noGrp="1"/>
          </p:cNvSpPr>
          <p:nvPr/>
        </p:nvSpPr>
        <p:spPr>
          <a:xfrm xmlns:a="http://schemas.openxmlformats.org/drawingml/2006/main">
            <a:off x="4667250" y="2333625"/>
            <a:ext cx="2857500" cy="1095375"/>
          </a:xfrm>
          <a:prstGeom xmlns:a="http://schemas.openxmlformats.org/drawingml/2006/main" prst="rect">
            <a:avLst/>
          </a:prstGeom>
          <a:solidFill xmlns:a="http://schemas.openxmlformats.org/drawingml/2006/main">
            <a:srgbClr val="FFF1EE"/>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Anexar otra vez</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5 + 5 = 10</a:t>
            </a:r>
          </a:p>
        </p:txBody>
      </p:sp>
      <p:sp>
        <p:nvSpPr>
          <p:cNvPr id="19" name="diagram-node-2">
            <a:extLst xmlns:a="http://schemas.openxmlformats.org/drawingml/2006/main">
              <a:ext uri="{FF2B5EF4-FFF2-40B4-BE49-F238E27FC236}">
                <a16:creationId xmlns:a16="http://schemas.microsoft.com/office/drawing/2014/main" id="{375B2EA4-0512-4720-B530-9B14DC67AD6C}"/>
              </a:ext>
            </a:extLst>
          </p:cNvPr>
          <p:cNvSpPr>
            <a:spLocks xmlns:a="http://schemas.openxmlformats.org/drawingml/2006/main" noGrp="1"/>
          </p:cNvSpPr>
          <p:nvPr/>
        </p:nvSpPr>
        <p:spPr>
          <a:xfrm xmlns:a="http://schemas.openxmlformats.org/drawingml/2006/main">
            <a:off x="4667250" y="4524375"/>
            <a:ext cx="2857500" cy="1095375"/>
          </a:xfrm>
          <a:prstGeom xmlns:a="http://schemas.openxmlformats.org/drawingml/2006/main" prst="rect">
            <a:avLst/>
          </a:prstGeom>
          <a:solidFill xmlns:a="http://schemas.openxmlformats.org/drawingml/2006/main">
            <a:srgbClr val="E4F3EF"/>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Reconstruir candidato</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Resultado: 5</a:t>
            </a:r>
          </a:p>
        </p:txBody>
      </p:sp>
      <p:sp>
        <p:nvSpPr>
          <p:cNvPr id="20" name="diagram-node-3">
            <a:extLst xmlns:a="http://schemas.openxmlformats.org/drawingml/2006/main">
              <a:ext uri="{FF2B5EF4-FFF2-40B4-BE49-F238E27FC236}">
                <a16:creationId xmlns:a16="http://schemas.microsoft.com/office/drawing/2014/main" id="{79CEAED0-2093-4EA8-8FF4-D4A94109AA79}"/>
              </a:ext>
            </a:extLst>
          </p:cNvPr>
          <p:cNvSpPr>
            <a:spLocks xmlns:a="http://schemas.openxmlformats.org/drawingml/2006/main" noGrp="1"/>
          </p:cNvSpPr>
          <p:nvPr/>
        </p:nvSpPr>
        <p:spPr>
          <a:xfrm xmlns:a="http://schemas.openxmlformats.org/drawingml/2006/main">
            <a:off x="8953500" y="3286125"/>
            <a:ext cx="2571750" cy="1190625"/>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Comprobar contenido</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y publicación elegida</a:t>
            </a:r>
          </a:p>
        </p:txBody>
      </p:sp>
      <p:sp>
        <p:nvSpPr>
          <p:cNvPr id="24" name="check">
            <a:extLst xmlns:a="http://schemas.openxmlformats.org/drawingml/2006/main">
              <a:ext uri="{FF2B5EF4-FFF2-40B4-BE49-F238E27FC236}">
                <a16:creationId xmlns:a16="http://schemas.microsoft.com/office/drawing/2014/main" id="{6767ED80-1137-49A1-BF3B-E4C5A1A4B79A}"/>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Ejemplo hipotético: anexar sin control duplica el efecto de la primera ejecución.</a:t>
            </a:r>
          </a:p>
        </p:txBody>
      </p:sp>
      <p:sp>
        <p:nvSpPr>
          <p:cNvPr id="25" name="footer">
            <a:extLst xmlns:a="http://schemas.openxmlformats.org/drawingml/2006/main">
              <a:ext uri="{FF2B5EF4-FFF2-40B4-BE49-F238E27FC236}">
                <a16:creationId xmlns:a16="http://schemas.microsoft.com/office/drawing/2014/main" id="{FAA1A186-9545-4092-BAEE-B093D2798D28}"/>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6" name="page">
            <a:extLst xmlns:a="http://schemas.openxmlformats.org/drawingml/2006/main">
              <a:ext uri="{FF2B5EF4-FFF2-40B4-BE49-F238E27FC236}">
                <a16:creationId xmlns:a16="http://schemas.microsoft.com/office/drawing/2014/main" id="{BD19CAD5-9344-4C6A-90F1-DAB11FF7FE82}"/>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21</a:t>
            </a:r>
          </a:p>
        </p:txBody>
      </p:sp>
    </p:spTree>
    <p:extLst>
      <p:ext uri="{BB962C8B-B14F-4D97-AF65-F5344CB8AC3E}">
        <p14:creationId xmlns:p14="http://schemas.microsoft.com/office/powerpoint/2010/main" val="116899893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1E98D3DD-B605-4F1C-A74A-0237A58CBEAC}"/>
              </a:ext>
            </a:extLst>
          </p:cNvPr>
          <p:cNvPicPr>
            <a:picLocks xmlns:a="http://schemas.openxmlformats.org/drawingml/2006/main" noChangeAspect="1"/>
          </p:cNvPicPr>
          <p:nvPr/>
        </p:nvPicPr>
        <p:blipFill>
          <a:blip xmlns:r="http://schemas.openxmlformats.org/officeDocument/2006/relationships" xmlns:a="http://schemas.openxmlformats.org/drawingml/2006/main" r:embed="Rb05a3fd8a2b04f32"/>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D28365FE-0ABB-40B2-9E9D-26373541EF01}"/>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Alcance realizable en este curso</a:t>
            </a:r>
          </a:p>
        </p:txBody>
      </p:sp>
      <p:sp>
        <p:nvSpPr>
          <p:cNvPr id="16" name="lead">
            <a:extLst xmlns:a="http://schemas.openxmlformats.org/drawingml/2006/main">
              <a:ext uri="{FF2B5EF4-FFF2-40B4-BE49-F238E27FC236}">
                <a16:creationId xmlns:a16="http://schemas.microsoft.com/office/drawing/2014/main" id="{89620698-FA92-42C9-9A2D-D6A5CB067F30}"/>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Aplicaremos prácticas de DataOps sobre herramientas ya conocidas.</a:t>
            </a:r>
          </a:p>
        </p:txBody>
      </p:sp>
      <p:sp>
        <p:nvSpPr>
          <p:cNvPr id="17" name="paragraph-1">
            <a:extLst xmlns:a="http://schemas.openxmlformats.org/drawingml/2006/main">
              <a:ext uri="{FF2B5EF4-FFF2-40B4-BE49-F238E27FC236}">
                <a16:creationId xmlns:a16="http://schemas.microsoft.com/office/drawing/2014/main" id="{21AD8904-7A31-43CB-8228-CD5CE52E879E}"/>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Python organiza la secuencia; Parquet conserva las tablas y DuckDB comprueba sus resultados.</a:t>
            </a:r>
          </a:p>
        </p:txBody>
      </p:sp>
      <p:sp>
        <p:nvSpPr>
          <p:cNvPr id="18" name="paragraph-2">
            <a:extLst xmlns:a="http://schemas.openxmlformats.org/drawingml/2006/main">
              <a:ext uri="{FF2B5EF4-FFF2-40B4-BE49-F238E27FC236}">
                <a16:creationId xmlns:a16="http://schemas.microsoft.com/office/drawing/2014/main" id="{CD5EBA12-BE4D-4F72-BB84-0A4A715BE349}"/>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El manifiesto, las reglas y el registro relacionan entradas, ejecución y publicación.</a:t>
            </a:r>
          </a:p>
        </p:txBody>
      </p:sp>
      <p:sp>
        <p:nvSpPr>
          <p:cNvPr id="19" name="paragraph-3">
            <a:extLst xmlns:a="http://schemas.openxmlformats.org/drawingml/2006/main">
              <a:ext uri="{FF2B5EF4-FFF2-40B4-BE49-F238E27FC236}">
                <a16:creationId xmlns:a16="http://schemas.microsoft.com/office/drawing/2014/main" id="{D659B814-D374-4566-BBC2-2D960926320C}"/>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La revisión entre equipos comprueba que el proceso puede entenderse y repetirse.</a:t>
            </a:r>
          </a:p>
        </p:txBody>
      </p:sp>
      <p:sp>
        <p:nvSpPr>
          <p:cNvPr id="20" name="check">
            <a:extLst xmlns:a="http://schemas.openxmlformats.org/drawingml/2006/main">
              <a:ext uri="{FF2B5EF4-FFF2-40B4-BE49-F238E27FC236}">
                <a16:creationId xmlns:a16="http://schemas.microsoft.com/office/drawing/2014/main" id="{87797187-B08A-4E6A-A63D-584A8E640D03}"/>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Airflow y Great Expectations ilustran responsabilidades que también podemos expresar localmente.</a:t>
            </a:r>
          </a:p>
        </p:txBody>
      </p:sp>
      <p:sp>
        <p:nvSpPr>
          <p:cNvPr id="21" name="footer">
            <a:extLst xmlns:a="http://schemas.openxmlformats.org/drawingml/2006/main">
              <a:ext uri="{FF2B5EF4-FFF2-40B4-BE49-F238E27FC236}">
                <a16:creationId xmlns:a16="http://schemas.microsoft.com/office/drawing/2014/main" id="{8761062A-D9BF-43DB-8196-FA87BBBC290B}"/>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945D2B84-5F9A-4619-81D8-1E65537D9D03}"/>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22</a:t>
            </a:r>
          </a:p>
        </p:txBody>
      </p:sp>
    </p:spTree>
    <p:extLst>
      <p:ext uri="{BB962C8B-B14F-4D97-AF65-F5344CB8AC3E}">
        <p14:creationId xmlns:p14="http://schemas.microsoft.com/office/powerpoint/2010/main" val="11689989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96CC67D2-AE8F-4E10-814F-D6F9ABCBB118}"/>
              </a:ext>
            </a:extLst>
          </p:cNvPr>
          <p:cNvPicPr>
            <a:picLocks xmlns:a="http://schemas.openxmlformats.org/drawingml/2006/main" noChangeAspect="1"/>
          </p:cNvPicPr>
          <p:nvPr/>
        </p:nvPicPr>
        <p:blipFill>
          <a:blip xmlns:r="http://schemas.openxmlformats.org/officeDocument/2006/relationships" xmlns:a="http://schemas.openxmlformats.org/drawingml/2006/main" r:embed="Re1c58137e17b41b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7D70B185-366F-4F61-8BFD-730043CD2D9E}"/>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Cómo organizamos el caso de clase</a:t>
            </a:r>
          </a:p>
        </p:txBody>
      </p:sp>
      <p:sp>
        <p:nvSpPr>
          <p:cNvPr id="16" name="lead">
            <a:extLst xmlns:a="http://schemas.openxmlformats.org/drawingml/2006/main">
              <a:ext uri="{FF2B5EF4-FFF2-40B4-BE49-F238E27FC236}">
                <a16:creationId xmlns:a16="http://schemas.microsoft.com/office/drawing/2014/main" id="{EAA18F40-33B5-4492-AA8F-DCA3F4883690}"/>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La pregunta y las reglas determinan las tareas que vamos a ejecutar.</a:t>
            </a:r>
          </a:p>
        </p:txBody>
      </p:sp>
      <p:sp>
        <p:nvSpPr>
          <p:cNvPr id="17" name="paragraph-1">
            <a:extLst xmlns:a="http://schemas.openxmlformats.org/drawingml/2006/main">
              <a:ext uri="{FF2B5EF4-FFF2-40B4-BE49-F238E27FC236}">
                <a16:creationId xmlns:a16="http://schemas.microsoft.com/office/drawing/2014/main" id="{BEFC06D8-BAC7-4399-A022-7555699E1C40}"/>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Pregunta: contar reportes por período y territorio. Cada fila aceptada representa una observación del detalle.</a:t>
            </a:r>
          </a:p>
        </p:txBody>
      </p:sp>
      <p:sp>
        <p:nvSpPr>
          <p:cNvPr id="18" name="paragraph-2">
            <a:extLst xmlns:a="http://schemas.openxmlformats.org/drawingml/2006/main">
              <a:ext uri="{FF2B5EF4-FFF2-40B4-BE49-F238E27FC236}">
                <a16:creationId xmlns:a16="http://schemas.microsoft.com/office/drawing/2014/main" id="{039C652C-86F7-48E7-BCCE-B1B8A4FA40C6}"/>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Reglas: aceptar períodos válidos y conservar el territorio ausente como SIN_INFORMAR. Guardar cada rechazo con su motivo.</a:t>
            </a:r>
          </a:p>
        </p:txBody>
      </p:sp>
      <p:sp>
        <p:nvSpPr>
          <p:cNvPr id="19" name="paragraph-3">
            <a:extLst xmlns:a="http://schemas.openxmlformats.org/drawingml/2006/main">
              <a:ext uri="{FF2B5EF4-FFF2-40B4-BE49-F238E27FC236}">
                <a16:creationId xmlns:a16="http://schemas.microsoft.com/office/drawing/2014/main" id="{064A93A2-1BEE-4CC3-B7BC-F5CFC21CBA40}"/>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Procedimiento: leer, validar, transformar y guardar candidatos. Releer, conciliar y repetir antes de aceptar la publicación.</a:t>
            </a:r>
          </a:p>
        </p:txBody>
      </p:sp>
      <p:sp>
        <p:nvSpPr>
          <p:cNvPr id="20" name="check">
            <a:extLst xmlns:a="http://schemas.openxmlformats.org/drawingml/2006/main">
              <a:ext uri="{FF2B5EF4-FFF2-40B4-BE49-F238E27FC236}">
                <a16:creationId xmlns:a16="http://schemas.microsoft.com/office/drawing/2014/main" id="{29176DB6-76A8-459C-BF8D-23FC820E952B}"/>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Cada operación debe responder a una necesidad y producir una evidencia revisable.</a:t>
            </a:r>
          </a:p>
        </p:txBody>
      </p:sp>
      <p:sp>
        <p:nvSpPr>
          <p:cNvPr id="21" name="footer">
            <a:extLst xmlns:a="http://schemas.openxmlformats.org/drawingml/2006/main">
              <a:ext uri="{FF2B5EF4-FFF2-40B4-BE49-F238E27FC236}">
                <a16:creationId xmlns:a16="http://schemas.microsoft.com/office/drawing/2014/main" id="{9E75FEE1-2F12-42D7-B9BC-461DA610C94A}"/>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827F43D0-02A2-4BF9-A0AA-6F78ED31DD27}"/>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23</a:t>
            </a:r>
          </a:p>
        </p:txBody>
      </p:sp>
    </p:spTree>
    <p:extLst>
      <p:ext uri="{BB962C8B-B14F-4D97-AF65-F5344CB8AC3E}">
        <p14:creationId xmlns:p14="http://schemas.microsoft.com/office/powerpoint/2010/main" val="116899893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6" name="">
            <a:extLst xmlns:a="http://schemas.openxmlformats.org/drawingml/2006/main">
              <a:ext uri="{FF2B5EF4-FFF2-40B4-BE49-F238E27FC236}">
                <a16:creationId xmlns:a16="http://schemas.microsoft.com/office/drawing/2014/main" id="{69CF7C58-6225-4A64-9075-58B9E4FF00BE}"/>
              </a:ext>
            </a:extLst>
          </p:cNvPr>
          <p:cNvCxnSpPr>
            <a:stCxn xmlns:a="http://schemas.openxmlformats.org/drawingml/2006/main" id="27" idx="3"/>
            <a:endCxn xmlns:a="http://schemas.openxmlformats.org/drawingml/2006/main" id="28" idx="1"/>
          </p:cNvCxnSpPr>
          <p:nvPr/>
        </p:nvCxnSpPr>
        <p:spPr>
          <a:xfrm xmlns:a="http://schemas.openxmlformats.org/drawingml/2006/main">
            <a:off x="8801100" y="5162550"/>
            <a:ext cx="180975"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35" name="">
            <a:extLst xmlns:a="http://schemas.openxmlformats.org/drawingml/2006/main">
              <a:ext uri="{FF2B5EF4-FFF2-40B4-BE49-F238E27FC236}">
                <a16:creationId xmlns:a16="http://schemas.microsoft.com/office/drawing/2014/main" id="{03E1ED0C-E3F1-4D4E-BE30-CB0195A420E7}"/>
              </a:ext>
            </a:extLst>
          </p:cNvPr>
          <p:cNvCxnSpPr>
            <a:stCxn xmlns:a="http://schemas.openxmlformats.org/drawingml/2006/main" id="26" idx="3"/>
            <a:endCxn xmlns:a="http://schemas.openxmlformats.org/drawingml/2006/main" id="27" idx="1"/>
          </p:cNvCxnSpPr>
          <p:nvPr/>
        </p:nvCxnSpPr>
        <p:spPr>
          <a:xfrm xmlns:a="http://schemas.openxmlformats.org/drawingml/2006/main">
            <a:off x="6048375" y="5162550"/>
            <a:ext cx="180975"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34" name="">
            <a:extLst xmlns:a="http://schemas.openxmlformats.org/drawingml/2006/main">
              <a:ext uri="{FF2B5EF4-FFF2-40B4-BE49-F238E27FC236}">
                <a16:creationId xmlns:a16="http://schemas.microsoft.com/office/drawing/2014/main" id="{8898785B-119D-4233-BEFF-219EE69372E3}"/>
              </a:ext>
            </a:extLst>
          </p:cNvPr>
          <p:cNvCxnSpPr>
            <a:stCxn xmlns:a="http://schemas.openxmlformats.org/drawingml/2006/main" id="24" idx="3"/>
            <a:endCxn xmlns:a="http://schemas.openxmlformats.org/drawingml/2006/main" id="25" idx="1"/>
          </p:cNvCxnSpPr>
          <p:nvPr/>
        </p:nvCxnSpPr>
        <p:spPr>
          <a:xfrm xmlns:a="http://schemas.openxmlformats.org/drawingml/2006/main">
            <a:off x="8801100" y="4324350"/>
            <a:ext cx="180975"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33" name="">
            <a:extLst xmlns:a="http://schemas.openxmlformats.org/drawingml/2006/main">
              <a:ext uri="{FF2B5EF4-FFF2-40B4-BE49-F238E27FC236}">
                <a16:creationId xmlns:a16="http://schemas.microsoft.com/office/drawing/2014/main" id="{9AD54291-F2CD-4BF3-AFDF-52FD95F16BBA}"/>
              </a:ext>
            </a:extLst>
          </p:cNvPr>
          <p:cNvCxnSpPr>
            <a:stCxn xmlns:a="http://schemas.openxmlformats.org/drawingml/2006/main" id="23" idx="3"/>
            <a:endCxn xmlns:a="http://schemas.openxmlformats.org/drawingml/2006/main" id="24" idx="1"/>
          </p:cNvCxnSpPr>
          <p:nvPr/>
        </p:nvCxnSpPr>
        <p:spPr>
          <a:xfrm xmlns:a="http://schemas.openxmlformats.org/drawingml/2006/main">
            <a:off x="6048375" y="4324350"/>
            <a:ext cx="180975"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32" name="">
            <a:extLst xmlns:a="http://schemas.openxmlformats.org/drawingml/2006/main">
              <a:ext uri="{FF2B5EF4-FFF2-40B4-BE49-F238E27FC236}">
                <a16:creationId xmlns:a16="http://schemas.microsoft.com/office/drawing/2014/main" id="{C9FC956C-C139-4023-80AC-B840001421CA}"/>
              </a:ext>
            </a:extLst>
          </p:cNvPr>
          <p:cNvCxnSpPr>
            <a:stCxn xmlns:a="http://schemas.openxmlformats.org/drawingml/2006/main" id="21" idx="3"/>
            <a:endCxn xmlns:a="http://schemas.openxmlformats.org/drawingml/2006/main" id="22" idx="1"/>
          </p:cNvCxnSpPr>
          <p:nvPr/>
        </p:nvCxnSpPr>
        <p:spPr>
          <a:xfrm xmlns:a="http://schemas.openxmlformats.org/drawingml/2006/main">
            <a:off x="8801100" y="3486150"/>
            <a:ext cx="180975"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31" name="">
            <a:extLst xmlns:a="http://schemas.openxmlformats.org/drawingml/2006/main">
              <a:ext uri="{FF2B5EF4-FFF2-40B4-BE49-F238E27FC236}">
                <a16:creationId xmlns:a16="http://schemas.microsoft.com/office/drawing/2014/main" id="{90F12553-6288-49C4-803F-37EEEAF34116}"/>
              </a:ext>
            </a:extLst>
          </p:cNvPr>
          <p:cNvCxnSpPr>
            <a:stCxn xmlns:a="http://schemas.openxmlformats.org/drawingml/2006/main" id="20" idx="3"/>
            <a:endCxn xmlns:a="http://schemas.openxmlformats.org/drawingml/2006/main" id="21" idx="1"/>
          </p:cNvCxnSpPr>
          <p:nvPr/>
        </p:nvCxnSpPr>
        <p:spPr>
          <a:xfrm xmlns:a="http://schemas.openxmlformats.org/drawingml/2006/main">
            <a:off x="6048375" y="3486150"/>
            <a:ext cx="180975"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30" name="">
            <a:extLst xmlns:a="http://schemas.openxmlformats.org/drawingml/2006/main">
              <a:ext uri="{FF2B5EF4-FFF2-40B4-BE49-F238E27FC236}">
                <a16:creationId xmlns:a16="http://schemas.microsoft.com/office/drawing/2014/main" id="{82F49231-1FF2-4AD6-981B-64C4E91EAC0B}"/>
              </a:ext>
            </a:extLst>
          </p:cNvPr>
          <p:cNvCxnSpPr>
            <a:stCxn xmlns:a="http://schemas.openxmlformats.org/drawingml/2006/main" id="18" idx="3"/>
            <a:endCxn xmlns:a="http://schemas.openxmlformats.org/drawingml/2006/main" id="19" idx="1"/>
          </p:cNvCxnSpPr>
          <p:nvPr/>
        </p:nvCxnSpPr>
        <p:spPr>
          <a:xfrm xmlns:a="http://schemas.openxmlformats.org/drawingml/2006/main">
            <a:off x="8801100" y="2647950"/>
            <a:ext cx="180975"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9" name="">
            <a:extLst xmlns:a="http://schemas.openxmlformats.org/drawingml/2006/main">
              <a:ext uri="{FF2B5EF4-FFF2-40B4-BE49-F238E27FC236}">
                <a16:creationId xmlns:a16="http://schemas.microsoft.com/office/drawing/2014/main" id="{438F97A1-0107-499F-8344-04150C26CA58}"/>
              </a:ext>
            </a:extLst>
          </p:cNvPr>
          <p:cNvCxnSpPr>
            <a:stCxn xmlns:a="http://schemas.openxmlformats.org/drawingml/2006/main" id="17" idx="3"/>
            <a:endCxn xmlns:a="http://schemas.openxmlformats.org/drawingml/2006/main" id="18" idx="1"/>
          </p:cNvCxnSpPr>
          <p:nvPr/>
        </p:nvCxnSpPr>
        <p:spPr>
          <a:xfrm xmlns:a="http://schemas.openxmlformats.org/drawingml/2006/main">
            <a:off x="6048375" y="2647950"/>
            <a:ext cx="180975" cy="0"/>
          </a:xfrm>
          <a:prstGeom xmlns:a="http://schemas.openxmlformats.org/drawingml/2006/main" prst="straightConnector1">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2DE17DAC-ED60-4623-801A-9359B0934766}"/>
              </a:ext>
            </a:extLst>
          </p:cNvPr>
          <p:cNvPicPr>
            <a:picLocks xmlns:a="http://schemas.openxmlformats.org/drawingml/2006/main" noChangeAspect="1"/>
          </p:cNvPicPr>
          <p:nvPr/>
        </p:nvPicPr>
        <p:blipFill>
          <a:blip xmlns:r="http://schemas.openxmlformats.org/officeDocument/2006/relationships" xmlns:a="http://schemas.openxmlformats.org/drawingml/2006/main" r:embed="R87b31c7804f647c8"/>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4D3940C6-4A47-49E2-8251-CD1913DB70CA}"/>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Esquemas usados en la industria</a:t>
            </a:r>
          </a:p>
        </p:txBody>
      </p:sp>
      <p:sp>
        <p:nvSpPr>
          <p:cNvPr id="16" name="lead">
            <a:extLst xmlns:a="http://schemas.openxmlformats.org/drawingml/2006/main">
              <a:ext uri="{FF2B5EF4-FFF2-40B4-BE49-F238E27FC236}">
                <a16:creationId xmlns:a16="http://schemas.microsoft.com/office/drawing/2014/main" id="{BD1DF405-4B11-422E-959E-CEF72DCBA932}"/>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Se eligen según dónde transformar, cómo organizar los datos y cuánto puede esperar el consumidor.</a:t>
            </a:r>
          </a:p>
        </p:txBody>
      </p:sp>
      <p:sp>
        <p:nvSpPr>
          <p:cNvPr id="17" name="diagram-node-0">
            <a:extLst xmlns:a="http://schemas.openxmlformats.org/drawingml/2006/main">
              <a:ext uri="{FF2B5EF4-FFF2-40B4-BE49-F238E27FC236}">
                <a16:creationId xmlns:a16="http://schemas.microsoft.com/office/drawing/2014/main" id="{6FC525D5-7EEB-4982-8D98-14F36E0345BE}"/>
              </a:ext>
            </a:extLst>
          </p:cNvPr>
          <p:cNvSpPr>
            <a:spLocks xmlns:a="http://schemas.openxmlformats.org/drawingml/2006/main" noGrp="1"/>
          </p:cNvSpPr>
          <p:nvPr/>
        </p:nvSpPr>
        <p:spPr>
          <a:xfrm xmlns:a="http://schemas.openxmlformats.org/drawingml/2006/main">
            <a:off x="3476625" y="2305050"/>
            <a:ext cx="2571750" cy="68580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Extraer</a:t>
            </a:r>
          </a:p>
        </p:txBody>
      </p:sp>
      <p:sp>
        <p:nvSpPr>
          <p:cNvPr id="18" name="diagram-node-1">
            <a:extLst xmlns:a="http://schemas.openxmlformats.org/drawingml/2006/main">
              <a:ext uri="{FF2B5EF4-FFF2-40B4-BE49-F238E27FC236}">
                <a16:creationId xmlns:a16="http://schemas.microsoft.com/office/drawing/2014/main" id="{E42608D5-33FD-4AE2-86A6-2A2A5D60C6C0}"/>
              </a:ext>
            </a:extLst>
          </p:cNvPr>
          <p:cNvSpPr>
            <a:spLocks xmlns:a="http://schemas.openxmlformats.org/drawingml/2006/main" noGrp="1"/>
          </p:cNvSpPr>
          <p:nvPr/>
        </p:nvSpPr>
        <p:spPr>
          <a:xfrm xmlns:a="http://schemas.openxmlformats.org/drawingml/2006/main">
            <a:off x="6229350" y="2305050"/>
            <a:ext cx="2571750" cy="68580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Transformar</a:t>
            </a:r>
          </a:p>
        </p:txBody>
      </p:sp>
      <p:sp>
        <p:nvSpPr>
          <p:cNvPr id="19" name="diagram-node-2">
            <a:extLst xmlns:a="http://schemas.openxmlformats.org/drawingml/2006/main">
              <a:ext uri="{FF2B5EF4-FFF2-40B4-BE49-F238E27FC236}">
                <a16:creationId xmlns:a16="http://schemas.microsoft.com/office/drawing/2014/main" id="{D1E4E74D-9E07-445F-BE17-8975DB413551}"/>
              </a:ext>
            </a:extLst>
          </p:cNvPr>
          <p:cNvSpPr>
            <a:spLocks xmlns:a="http://schemas.openxmlformats.org/drawingml/2006/main" noGrp="1"/>
          </p:cNvSpPr>
          <p:nvPr/>
        </p:nvSpPr>
        <p:spPr>
          <a:xfrm xmlns:a="http://schemas.openxmlformats.org/drawingml/2006/main">
            <a:off x="8982075" y="2305050"/>
            <a:ext cx="2571750" cy="685800"/>
          </a:xfrm>
          <a:prstGeom xmlns:a="http://schemas.openxmlformats.org/drawingml/2006/main" prst="rect">
            <a:avLst/>
          </a:prstGeom>
          <a:solidFill xmlns:a="http://schemas.openxmlformats.org/drawingml/2006/main">
            <a:srgbClr val="E4F3EF"/>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Cargar destino</a:t>
            </a:r>
          </a:p>
        </p:txBody>
      </p:sp>
      <p:sp>
        <p:nvSpPr>
          <p:cNvPr id="20" name="diagram-node-3">
            <a:extLst xmlns:a="http://schemas.openxmlformats.org/drawingml/2006/main">
              <a:ext uri="{FF2B5EF4-FFF2-40B4-BE49-F238E27FC236}">
                <a16:creationId xmlns:a16="http://schemas.microsoft.com/office/drawing/2014/main" id="{791A6B06-A694-4BAA-AF61-C5D4256566C9}"/>
              </a:ext>
            </a:extLst>
          </p:cNvPr>
          <p:cNvSpPr>
            <a:spLocks xmlns:a="http://schemas.openxmlformats.org/drawingml/2006/main" noGrp="1"/>
          </p:cNvSpPr>
          <p:nvPr/>
        </p:nvSpPr>
        <p:spPr>
          <a:xfrm xmlns:a="http://schemas.openxmlformats.org/drawingml/2006/main">
            <a:off x="3476625" y="3143250"/>
            <a:ext cx="2571750" cy="68580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Extraer</a:t>
            </a:r>
          </a:p>
        </p:txBody>
      </p:sp>
      <p:sp>
        <p:nvSpPr>
          <p:cNvPr id="21" name="diagram-node-4">
            <a:extLst xmlns:a="http://schemas.openxmlformats.org/drawingml/2006/main">
              <a:ext uri="{FF2B5EF4-FFF2-40B4-BE49-F238E27FC236}">
                <a16:creationId xmlns:a16="http://schemas.microsoft.com/office/drawing/2014/main" id="{4242AE4E-CA0F-4DC9-ABD0-D8612648E03D}"/>
              </a:ext>
            </a:extLst>
          </p:cNvPr>
          <p:cNvSpPr>
            <a:spLocks xmlns:a="http://schemas.openxmlformats.org/drawingml/2006/main" noGrp="1"/>
          </p:cNvSpPr>
          <p:nvPr/>
        </p:nvSpPr>
        <p:spPr>
          <a:xfrm xmlns:a="http://schemas.openxmlformats.org/drawingml/2006/main">
            <a:off x="6229350" y="3143250"/>
            <a:ext cx="2571750" cy="68580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Cargar destino</a:t>
            </a:r>
          </a:p>
        </p:txBody>
      </p:sp>
      <p:sp>
        <p:nvSpPr>
          <p:cNvPr id="22" name="diagram-node-5">
            <a:extLst xmlns:a="http://schemas.openxmlformats.org/drawingml/2006/main">
              <a:ext uri="{FF2B5EF4-FFF2-40B4-BE49-F238E27FC236}">
                <a16:creationId xmlns:a16="http://schemas.microsoft.com/office/drawing/2014/main" id="{B8A02370-8354-48EF-AA3F-79C5144BB4D9}"/>
              </a:ext>
            </a:extLst>
          </p:cNvPr>
          <p:cNvSpPr>
            <a:spLocks xmlns:a="http://schemas.openxmlformats.org/drawingml/2006/main" noGrp="1"/>
          </p:cNvSpPr>
          <p:nvPr/>
        </p:nvSpPr>
        <p:spPr>
          <a:xfrm xmlns:a="http://schemas.openxmlformats.org/drawingml/2006/main">
            <a:off x="8982075" y="3143250"/>
            <a:ext cx="2571750" cy="685800"/>
          </a:xfrm>
          <a:prstGeom xmlns:a="http://schemas.openxmlformats.org/drawingml/2006/main" prst="rect">
            <a:avLst/>
          </a:prstGeom>
          <a:solidFill xmlns:a="http://schemas.openxmlformats.org/drawingml/2006/main">
            <a:srgbClr val="E4F3EF"/>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Transformar allí</a:t>
            </a:r>
          </a:p>
        </p:txBody>
      </p:sp>
      <p:sp>
        <p:nvSpPr>
          <p:cNvPr id="23" name="diagram-node-6">
            <a:extLst xmlns:a="http://schemas.openxmlformats.org/drawingml/2006/main">
              <a:ext uri="{FF2B5EF4-FFF2-40B4-BE49-F238E27FC236}">
                <a16:creationId xmlns:a16="http://schemas.microsoft.com/office/drawing/2014/main" id="{5C67B6FA-7336-4382-B32F-EB3766290B2F}"/>
              </a:ext>
            </a:extLst>
          </p:cNvPr>
          <p:cNvSpPr>
            <a:spLocks xmlns:a="http://schemas.openxmlformats.org/drawingml/2006/main" noGrp="1"/>
          </p:cNvSpPr>
          <p:nvPr/>
        </p:nvSpPr>
        <p:spPr>
          <a:xfrm xmlns:a="http://schemas.openxmlformats.org/drawingml/2006/main">
            <a:off x="3476625" y="3981450"/>
            <a:ext cx="2571750" cy="68580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Bronze</a:t>
            </a:r>
          </a:p>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Originales</a:t>
            </a:r>
          </a:p>
        </p:txBody>
      </p:sp>
      <p:sp>
        <p:nvSpPr>
          <p:cNvPr id="24" name="diagram-node-7">
            <a:extLst xmlns:a="http://schemas.openxmlformats.org/drawingml/2006/main">
              <a:ext uri="{FF2B5EF4-FFF2-40B4-BE49-F238E27FC236}">
                <a16:creationId xmlns:a16="http://schemas.microsoft.com/office/drawing/2014/main" id="{E47B875B-8205-4B2D-A31A-5A583D89C45C}"/>
              </a:ext>
            </a:extLst>
          </p:cNvPr>
          <p:cNvSpPr>
            <a:spLocks xmlns:a="http://schemas.openxmlformats.org/drawingml/2006/main" noGrp="1"/>
          </p:cNvSpPr>
          <p:nvPr/>
        </p:nvSpPr>
        <p:spPr>
          <a:xfrm xmlns:a="http://schemas.openxmlformats.org/drawingml/2006/main">
            <a:off x="6229350" y="3981450"/>
            <a:ext cx="2571750" cy="68580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Silver</a:t>
            </a:r>
          </a:p>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Validados</a:t>
            </a:r>
          </a:p>
        </p:txBody>
      </p:sp>
      <p:sp>
        <p:nvSpPr>
          <p:cNvPr id="25" name="diagram-node-8">
            <a:extLst xmlns:a="http://schemas.openxmlformats.org/drawingml/2006/main">
              <a:ext uri="{FF2B5EF4-FFF2-40B4-BE49-F238E27FC236}">
                <a16:creationId xmlns:a16="http://schemas.microsoft.com/office/drawing/2014/main" id="{F85D54C6-6221-4763-A537-28809F3E518F}"/>
              </a:ext>
            </a:extLst>
          </p:cNvPr>
          <p:cNvSpPr>
            <a:spLocks xmlns:a="http://schemas.openxmlformats.org/drawingml/2006/main" noGrp="1"/>
          </p:cNvSpPr>
          <p:nvPr/>
        </p:nvSpPr>
        <p:spPr>
          <a:xfrm xmlns:a="http://schemas.openxmlformats.org/drawingml/2006/main">
            <a:off x="8982075" y="3981450"/>
            <a:ext cx="2571750" cy="685800"/>
          </a:xfrm>
          <a:prstGeom xmlns:a="http://schemas.openxmlformats.org/drawingml/2006/main" prst="rect">
            <a:avLst/>
          </a:prstGeom>
          <a:solidFill xmlns:a="http://schemas.openxmlformats.org/drawingml/2006/main">
            <a:srgbClr val="E4F3EF"/>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Gold</a:t>
            </a:r>
          </a:p>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Para consumo</a:t>
            </a:r>
          </a:p>
        </p:txBody>
      </p:sp>
      <p:sp>
        <p:nvSpPr>
          <p:cNvPr id="26" name="diagram-node-9">
            <a:extLst xmlns:a="http://schemas.openxmlformats.org/drawingml/2006/main">
              <a:ext uri="{FF2B5EF4-FFF2-40B4-BE49-F238E27FC236}">
                <a16:creationId xmlns:a16="http://schemas.microsoft.com/office/drawing/2014/main" id="{23718351-E8FD-48E4-8508-AD65D9B958E7}"/>
              </a:ext>
            </a:extLst>
          </p:cNvPr>
          <p:cNvSpPr>
            <a:spLocks xmlns:a="http://schemas.openxmlformats.org/drawingml/2006/main" noGrp="1"/>
          </p:cNvSpPr>
          <p:nvPr/>
        </p:nvSpPr>
        <p:spPr>
          <a:xfrm xmlns:a="http://schemas.openxmlformats.org/drawingml/2006/main">
            <a:off x="3476625" y="4819650"/>
            <a:ext cx="2571750" cy="68580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Base de datos</a:t>
            </a:r>
          </a:p>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Cambios</a:t>
            </a:r>
          </a:p>
        </p:txBody>
      </p:sp>
      <p:sp>
        <p:nvSpPr>
          <p:cNvPr id="27" name="diagram-node-10">
            <a:extLst xmlns:a="http://schemas.openxmlformats.org/drawingml/2006/main">
              <a:ext uri="{FF2B5EF4-FFF2-40B4-BE49-F238E27FC236}">
                <a16:creationId xmlns:a16="http://schemas.microsoft.com/office/drawing/2014/main" id="{C8135CB2-D77C-46E2-9BCC-F1B1F8B778F8}"/>
              </a:ext>
            </a:extLst>
          </p:cNvPr>
          <p:cNvSpPr>
            <a:spLocks xmlns:a="http://schemas.openxmlformats.org/drawingml/2006/main" noGrp="1"/>
          </p:cNvSpPr>
          <p:nvPr/>
        </p:nvSpPr>
        <p:spPr>
          <a:xfrm xmlns:a="http://schemas.openxmlformats.org/drawingml/2006/main">
            <a:off x="6229350" y="4819650"/>
            <a:ext cx="2571750" cy="685800"/>
          </a:xfrm>
          <a:prstGeom xmlns:a="http://schemas.openxmlformats.org/drawingml/2006/main" prst="rect">
            <a:avLst/>
          </a:prstGeom>
          <a:solidFill xmlns:a="http://schemas.openxmlformats.org/drawingml/2006/main">
            <a:srgbClr val="F4F6FB"/>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Eventos</a:t>
            </a:r>
          </a:p>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CDC</a:t>
            </a:r>
          </a:p>
        </p:txBody>
      </p:sp>
      <p:sp>
        <p:nvSpPr>
          <p:cNvPr id="28" name="diagram-node-11">
            <a:extLst xmlns:a="http://schemas.openxmlformats.org/drawingml/2006/main">
              <a:ext uri="{FF2B5EF4-FFF2-40B4-BE49-F238E27FC236}">
                <a16:creationId xmlns:a16="http://schemas.microsoft.com/office/drawing/2014/main" id="{1A889205-BD0E-44A2-84C4-3422F9BA5BB5}"/>
              </a:ext>
            </a:extLst>
          </p:cNvPr>
          <p:cNvSpPr>
            <a:spLocks xmlns:a="http://schemas.openxmlformats.org/drawingml/2006/main" noGrp="1"/>
          </p:cNvSpPr>
          <p:nvPr/>
        </p:nvSpPr>
        <p:spPr>
          <a:xfrm xmlns:a="http://schemas.openxmlformats.org/drawingml/2006/main">
            <a:off x="8982075" y="4819650"/>
            <a:ext cx="2571750" cy="685800"/>
          </a:xfrm>
          <a:prstGeom xmlns:a="http://schemas.openxmlformats.org/drawingml/2006/main" prst="rect">
            <a:avLst/>
          </a:prstGeom>
          <a:solidFill xmlns:a="http://schemas.openxmlformats.org/drawingml/2006/main">
            <a:srgbClr val="E4F3EF"/>
          </a:solidFill>
          <a:ln xmlns:a="http://schemas.openxmlformats.org/drawingml/2006/main" w="14288">
            <a:solidFill>
              <a:srgbClr val="5546ED"/>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Aplicar cambios</a:t>
            </a:r>
          </a:p>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Destino</a:t>
            </a:r>
          </a:p>
        </p:txBody>
      </p:sp>
      <p:sp>
        <p:nvSpPr>
          <p:cNvPr id="37" name="diagram-label-0">
            <a:extLst xmlns:a="http://schemas.openxmlformats.org/drawingml/2006/main">
              <a:ext uri="{FF2B5EF4-FFF2-40B4-BE49-F238E27FC236}">
                <a16:creationId xmlns:a16="http://schemas.microsoft.com/office/drawing/2014/main" id="{61AEAF17-CD64-4C6F-BC7C-991474D7CBD5}"/>
              </a:ext>
            </a:extLst>
          </p:cNvPr>
          <p:cNvSpPr>
            <a:spLocks xmlns:a="http://schemas.openxmlformats.org/drawingml/2006/main" noGrp="1"/>
          </p:cNvSpPr>
          <p:nvPr/>
        </p:nvSpPr>
        <p:spPr>
          <a:xfrm xmlns:a="http://schemas.openxmlformats.org/drawingml/2006/main">
            <a:off x="609600" y="231457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546ED"/>
                </a:solidFill>
                <a:latin typeface="Calibri"/>
                <a:ea typeface="Calibri"/>
                <a:cs typeface="Calibri"/>
              </a:defRPr>
            </a:defPPr>
            <a:lvl1pPr>
              <a:defRPr sz="1875" b="1">
                <a:solidFill>
                  <a:srgbClr val="5546ED"/>
                </a:solidFill>
                <a:latin typeface="Calibri"/>
                <a:ea typeface="Calibri"/>
                <a:cs typeface="Calibri"/>
              </a:defRPr>
            </a:lvl1pPr>
            <a:lvl2pPr>
              <a:defRPr sz="1875" b="1">
                <a:solidFill>
                  <a:srgbClr val="5546ED"/>
                </a:solidFill>
                <a:latin typeface="Calibri"/>
                <a:ea typeface="Calibri"/>
                <a:cs typeface="Calibri"/>
              </a:defRPr>
            </a:lvl2pPr>
            <a:lvl3pPr>
              <a:defRPr sz="1875" b="1">
                <a:solidFill>
                  <a:srgbClr val="5546ED"/>
                </a:solidFill>
                <a:latin typeface="Calibri"/>
                <a:ea typeface="Calibri"/>
                <a:cs typeface="Calibri"/>
              </a:defRPr>
            </a:lvl3pPr>
            <a:lvl4pPr>
              <a:defRPr sz="1875" b="1">
                <a:solidFill>
                  <a:srgbClr val="5546ED"/>
                </a:solidFill>
                <a:latin typeface="Calibri"/>
                <a:ea typeface="Calibri"/>
                <a:cs typeface="Calibri"/>
              </a:defRPr>
            </a:lvl4pPr>
            <a:lvl5pPr>
              <a:defRPr sz="1875" b="1">
                <a:solidFill>
                  <a:srgbClr val="5546ED"/>
                </a:solidFill>
                <a:latin typeface="Calibri"/>
                <a:ea typeface="Calibri"/>
                <a:cs typeface="Calibri"/>
              </a:defRPr>
            </a:lvl5pPr>
            <a:lvl6pPr>
              <a:defRPr sz="1875" b="1">
                <a:solidFill>
                  <a:srgbClr val="5546ED"/>
                </a:solidFill>
                <a:latin typeface="Calibri"/>
                <a:ea typeface="Calibri"/>
                <a:cs typeface="Calibri"/>
              </a:defRPr>
            </a:lvl6pPr>
            <a:lvl7pPr>
              <a:defRPr sz="1875" b="1">
                <a:solidFill>
                  <a:srgbClr val="5546ED"/>
                </a:solidFill>
                <a:latin typeface="Calibri"/>
                <a:ea typeface="Calibri"/>
                <a:cs typeface="Calibri"/>
              </a:defRPr>
            </a:lvl7pPr>
            <a:lvl8pPr>
              <a:defRPr sz="1875" b="1">
                <a:solidFill>
                  <a:srgbClr val="5546ED"/>
                </a:solidFill>
                <a:latin typeface="Calibri"/>
                <a:ea typeface="Calibri"/>
                <a:cs typeface="Calibri"/>
              </a:defRPr>
            </a:lvl8pPr>
            <a:lvl9pPr>
              <a:defRPr sz="1875" b="1">
                <a:solidFill>
                  <a:srgbClr val="5546ED"/>
                </a:solidFill>
                <a:latin typeface="Calibri"/>
                <a:ea typeface="Calibri"/>
                <a:cs typeface="Calibri"/>
              </a:defRPr>
            </a:lvl9pPr>
          </a:lstStyle>
          <a:p xmlns:a="http://schemas.openxmlformats.org/drawingml/2006/main">
            <a:pPr>
              <a:defRPr sz="1875" b="1">
                <a:solidFill>
                  <a:srgbClr val="5546ED"/>
                </a:solidFill>
                <a:latin typeface="Calibri"/>
                <a:ea typeface="Calibri"/>
                <a:cs typeface="Calibri"/>
              </a:defRPr>
            </a:pPr>
            <a:r>
              <a:rPr sz="1875" b="1">
                <a:solidFill>
                  <a:srgbClr val="5546ED"/>
                </a:solidFill>
                <a:latin typeface="Calibri"/>
                <a:ea typeface="Calibri"/>
                <a:cs typeface="Calibri"/>
              </a:rPr>
              <a:t>ETL</a:t>
            </a:r>
          </a:p>
        </p:txBody>
      </p:sp>
      <p:sp>
        <p:nvSpPr>
          <p:cNvPr id="38" name="diagram-label-1">
            <a:extLst xmlns:a="http://schemas.openxmlformats.org/drawingml/2006/main">
              <a:ext uri="{FF2B5EF4-FFF2-40B4-BE49-F238E27FC236}">
                <a16:creationId xmlns:a16="http://schemas.microsoft.com/office/drawing/2014/main" id="{B2A97935-BABD-42F4-8F7D-02DE0C54929E}"/>
              </a:ext>
            </a:extLst>
          </p:cNvPr>
          <p:cNvSpPr>
            <a:spLocks xmlns:a="http://schemas.openxmlformats.org/drawingml/2006/main" noGrp="1"/>
          </p:cNvSpPr>
          <p:nvPr/>
        </p:nvSpPr>
        <p:spPr>
          <a:xfrm xmlns:a="http://schemas.openxmlformats.org/drawingml/2006/main">
            <a:off x="609600" y="26479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203B68"/>
                </a:solidFill>
                <a:latin typeface="Calibri"/>
                <a:ea typeface="Calibri"/>
                <a:cs typeface="Calibri"/>
              </a:defRPr>
            </a:defPPr>
            <a:lvl1pPr>
              <a:defRPr sz="1650" b="0">
                <a:solidFill>
                  <a:srgbClr val="203B68"/>
                </a:solidFill>
                <a:latin typeface="Calibri"/>
                <a:ea typeface="Calibri"/>
                <a:cs typeface="Calibri"/>
              </a:defRPr>
            </a:lvl1pPr>
            <a:lvl2pPr>
              <a:defRPr sz="1650" b="0">
                <a:solidFill>
                  <a:srgbClr val="203B68"/>
                </a:solidFill>
                <a:latin typeface="Calibri"/>
                <a:ea typeface="Calibri"/>
                <a:cs typeface="Calibri"/>
              </a:defRPr>
            </a:lvl2pPr>
            <a:lvl3pPr>
              <a:defRPr sz="1650" b="0">
                <a:solidFill>
                  <a:srgbClr val="203B68"/>
                </a:solidFill>
                <a:latin typeface="Calibri"/>
                <a:ea typeface="Calibri"/>
                <a:cs typeface="Calibri"/>
              </a:defRPr>
            </a:lvl3pPr>
            <a:lvl4pPr>
              <a:defRPr sz="1650" b="0">
                <a:solidFill>
                  <a:srgbClr val="203B68"/>
                </a:solidFill>
                <a:latin typeface="Calibri"/>
                <a:ea typeface="Calibri"/>
                <a:cs typeface="Calibri"/>
              </a:defRPr>
            </a:lvl4pPr>
            <a:lvl5pPr>
              <a:defRPr sz="1650" b="0">
                <a:solidFill>
                  <a:srgbClr val="203B68"/>
                </a:solidFill>
                <a:latin typeface="Calibri"/>
                <a:ea typeface="Calibri"/>
                <a:cs typeface="Calibri"/>
              </a:defRPr>
            </a:lvl5pPr>
            <a:lvl6pPr>
              <a:defRPr sz="1650" b="0">
                <a:solidFill>
                  <a:srgbClr val="203B68"/>
                </a:solidFill>
                <a:latin typeface="Calibri"/>
                <a:ea typeface="Calibri"/>
                <a:cs typeface="Calibri"/>
              </a:defRPr>
            </a:lvl6pPr>
            <a:lvl7pPr>
              <a:defRPr sz="1650" b="0">
                <a:solidFill>
                  <a:srgbClr val="203B68"/>
                </a:solidFill>
                <a:latin typeface="Calibri"/>
                <a:ea typeface="Calibri"/>
                <a:cs typeface="Calibri"/>
              </a:defRPr>
            </a:lvl7pPr>
            <a:lvl8pPr>
              <a:defRPr sz="1650" b="0">
                <a:solidFill>
                  <a:srgbClr val="203B68"/>
                </a:solidFill>
                <a:latin typeface="Calibri"/>
                <a:ea typeface="Calibri"/>
                <a:cs typeface="Calibri"/>
              </a:defRPr>
            </a:lvl8pPr>
            <a:lvl9pPr>
              <a:defRPr sz="1650" b="0">
                <a:solidFill>
                  <a:srgbClr val="203B68"/>
                </a:solidFill>
                <a:latin typeface="Calibri"/>
                <a:ea typeface="Calibri"/>
                <a:cs typeface="Calibri"/>
              </a:defRPr>
            </a:lvl9pPr>
          </a:lstStyle>
          <a:p xmlns:a="http://schemas.openxmlformats.org/drawingml/2006/main">
            <a:pPr>
              <a:defRPr sz="1650" b="0">
                <a:solidFill>
                  <a:srgbClr val="203B68"/>
                </a:solidFill>
                <a:latin typeface="Calibri"/>
                <a:ea typeface="Calibri"/>
                <a:cs typeface="Calibri"/>
              </a:defRPr>
            </a:pPr>
            <a:r>
              <a:rPr sz="1650" b="0">
                <a:solidFill>
                  <a:srgbClr val="203B68"/>
                </a:solidFill>
                <a:latin typeface="Calibri"/>
                <a:ea typeface="Calibri"/>
                <a:cs typeface="Calibri"/>
              </a:rPr>
              <a:t>Preparar antes de cargar</a:t>
            </a:r>
          </a:p>
        </p:txBody>
      </p:sp>
      <p:sp>
        <p:nvSpPr>
          <p:cNvPr id="39" name="diagram-label-2">
            <a:extLst xmlns:a="http://schemas.openxmlformats.org/drawingml/2006/main">
              <a:ext uri="{FF2B5EF4-FFF2-40B4-BE49-F238E27FC236}">
                <a16:creationId xmlns:a16="http://schemas.microsoft.com/office/drawing/2014/main" id="{C9CE9A5E-6F2B-466D-8A3C-34C4EDE8ED7A}"/>
              </a:ext>
            </a:extLst>
          </p:cNvPr>
          <p:cNvSpPr>
            <a:spLocks xmlns:a="http://schemas.openxmlformats.org/drawingml/2006/main" noGrp="1"/>
          </p:cNvSpPr>
          <p:nvPr/>
        </p:nvSpPr>
        <p:spPr>
          <a:xfrm xmlns:a="http://schemas.openxmlformats.org/drawingml/2006/main">
            <a:off x="609600" y="315277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546ED"/>
                </a:solidFill>
                <a:latin typeface="Calibri"/>
                <a:ea typeface="Calibri"/>
                <a:cs typeface="Calibri"/>
              </a:defRPr>
            </a:defPPr>
            <a:lvl1pPr>
              <a:defRPr sz="1875" b="1">
                <a:solidFill>
                  <a:srgbClr val="5546ED"/>
                </a:solidFill>
                <a:latin typeface="Calibri"/>
                <a:ea typeface="Calibri"/>
                <a:cs typeface="Calibri"/>
              </a:defRPr>
            </a:lvl1pPr>
            <a:lvl2pPr>
              <a:defRPr sz="1875" b="1">
                <a:solidFill>
                  <a:srgbClr val="5546ED"/>
                </a:solidFill>
                <a:latin typeface="Calibri"/>
                <a:ea typeface="Calibri"/>
                <a:cs typeface="Calibri"/>
              </a:defRPr>
            </a:lvl2pPr>
            <a:lvl3pPr>
              <a:defRPr sz="1875" b="1">
                <a:solidFill>
                  <a:srgbClr val="5546ED"/>
                </a:solidFill>
                <a:latin typeface="Calibri"/>
                <a:ea typeface="Calibri"/>
                <a:cs typeface="Calibri"/>
              </a:defRPr>
            </a:lvl3pPr>
            <a:lvl4pPr>
              <a:defRPr sz="1875" b="1">
                <a:solidFill>
                  <a:srgbClr val="5546ED"/>
                </a:solidFill>
                <a:latin typeface="Calibri"/>
                <a:ea typeface="Calibri"/>
                <a:cs typeface="Calibri"/>
              </a:defRPr>
            </a:lvl4pPr>
            <a:lvl5pPr>
              <a:defRPr sz="1875" b="1">
                <a:solidFill>
                  <a:srgbClr val="5546ED"/>
                </a:solidFill>
                <a:latin typeface="Calibri"/>
                <a:ea typeface="Calibri"/>
                <a:cs typeface="Calibri"/>
              </a:defRPr>
            </a:lvl5pPr>
            <a:lvl6pPr>
              <a:defRPr sz="1875" b="1">
                <a:solidFill>
                  <a:srgbClr val="5546ED"/>
                </a:solidFill>
                <a:latin typeface="Calibri"/>
                <a:ea typeface="Calibri"/>
                <a:cs typeface="Calibri"/>
              </a:defRPr>
            </a:lvl6pPr>
            <a:lvl7pPr>
              <a:defRPr sz="1875" b="1">
                <a:solidFill>
                  <a:srgbClr val="5546ED"/>
                </a:solidFill>
                <a:latin typeface="Calibri"/>
                <a:ea typeface="Calibri"/>
                <a:cs typeface="Calibri"/>
              </a:defRPr>
            </a:lvl7pPr>
            <a:lvl8pPr>
              <a:defRPr sz="1875" b="1">
                <a:solidFill>
                  <a:srgbClr val="5546ED"/>
                </a:solidFill>
                <a:latin typeface="Calibri"/>
                <a:ea typeface="Calibri"/>
                <a:cs typeface="Calibri"/>
              </a:defRPr>
            </a:lvl8pPr>
            <a:lvl9pPr>
              <a:defRPr sz="1875" b="1">
                <a:solidFill>
                  <a:srgbClr val="5546ED"/>
                </a:solidFill>
                <a:latin typeface="Calibri"/>
                <a:ea typeface="Calibri"/>
                <a:cs typeface="Calibri"/>
              </a:defRPr>
            </a:lvl9pPr>
          </a:lstStyle>
          <a:p xmlns:a="http://schemas.openxmlformats.org/drawingml/2006/main">
            <a:pPr>
              <a:defRPr sz="1875" b="1">
                <a:solidFill>
                  <a:srgbClr val="5546ED"/>
                </a:solidFill>
                <a:latin typeface="Calibri"/>
                <a:ea typeface="Calibri"/>
                <a:cs typeface="Calibri"/>
              </a:defRPr>
            </a:pPr>
            <a:r>
              <a:rPr sz="1875" b="1">
                <a:solidFill>
                  <a:srgbClr val="5546ED"/>
                </a:solidFill>
                <a:latin typeface="Calibri"/>
                <a:ea typeface="Calibri"/>
                <a:cs typeface="Calibri"/>
              </a:rPr>
              <a:t>ELT</a:t>
            </a:r>
          </a:p>
        </p:txBody>
      </p:sp>
      <p:sp>
        <p:nvSpPr>
          <p:cNvPr id="40" name="diagram-label-3">
            <a:extLst xmlns:a="http://schemas.openxmlformats.org/drawingml/2006/main">
              <a:ext uri="{FF2B5EF4-FFF2-40B4-BE49-F238E27FC236}">
                <a16:creationId xmlns:a16="http://schemas.microsoft.com/office/drawing/2014/main" id="{A1FA1BEC-1336-49BC-84FD-3DC8EF366057}"/>
              </a:ext>
            </a:extLst>
          </p:cNvPr>
          <p:cNvSpPr>
            <a:spLocks xmlns:a="http://schemas.openxmlformats.org/drawingml/2006/main" noGrp="1"/>
          </p:cNvSpPr>
          <p:nvPr/>
        </p:nvSpPr>
        <p:spPr>
          <a:xfrm xmlns:a="http://schemas.openxmlformats.org/drawingml/2006/main">
            <a:off x="609600" y="34861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203B68"/>
                </a:solidFill>
                <a:latin typeface="Calibri"/>
                <a:ea typeface="Calibri"/>
                <a:cs typeface="Calibri"/>
              </a:defRPr>
            </a:defPPr>
            <a:lvl1pPr>
              <a:defRPr sz="1650" b="0">
                <a:solidFill>
                  <a:srgbClr val="203B68"/>
                </a:solidFill>
                <a:latin typeface="Calibri"/>
                <a:ea typeface="Calibri"/>
                <a:cs typeface="Calibri"/>
              </a:defRPr>
            </a:lvl1pPr>
            <a:lvl2pPr>
              <a:defRPr sz="1650" b="0">
                <a:solidFill>
                  <a:srgbClr val="203B68"/>
                </a:solidFill>
                <a:latin typeface="Calibri"/>
                <a:ea typeface="Calibri"/>
                <a:cs typeface="Calibri"/>
              </a:defRPr>
            </a:lvl2pPr>
            <a:lvl3pPr>
              <a:defRPr sz="1650" b="0">
                <a:solidFill>
                  <a:srgbClr val="203B68"/>
                </a:solidFill>
                <a:latin typeface="Calibri"/>
                <a:ea typeface="Calibri"/>
                <a:cs typeface="Calibri"/>
              </a:defRPr>
            </a:lvl3pPr>
            <a:lvl4pPr>
              <a:defRPr sz="1650" b="0">
                <a:solidFill>
                  <a:srgbClr val="203B68"/>
                </a:solidFill>
                <a:latin typeface="Calibri"/>
                <a:ea typeface="Calibri"/>
                <a:cs typeface="Calibri"/>
              </a:defRPr>
            </a:lvl4pPr>
            <a:lvl5pPr>
              <a:defRPr sz="1650" b="0">
                <a:solidFill>
                  <a:srgbClr val="203B68"/>
                </a:solidFill>
                <a:latin typeface="Calibri"/>
                <a:ea typeface="Calibri"/>
                <a:cs typeface="Calibri"/>
              </a:defRPr>
            </a:lvl5pPr>
            <a:lvl6pPr>
              <a:defRPr sz="1650" b="0">
                <a:solidFill>
                  <a:srgbClr val="203B68"/>
                </a:solidFill>
                <a:latin typeface="Calibri"/>
                <a:ea typeface="Calibri"/>
                <a:cs typeface="Calibri"/>
              </a:defRPr>
            </a:lvl6pPr>
            <a:lvl7pPr>
              <a:defRPr sz="1650" b="0">
                <a:solidFill>
                  <a:srgbClr val="203B68"/>
                </a:solidFill>
                <a:latin typeface="Calibri"/>
                <a:ea typeface="Calibri"/>
                <a:cs typeface="Calibri"/>
              </a:defRPr>
            </a:lvl7pPr>
            <a:lvl8pPr>
              <a:defRPr sz="1650" b="0">
                <a:solidFill>
                  <a:srgbClr val="203B68"/>
                </a:solidFill>
                <a:latin typeface="Calibri"/>
                <a:ea typeface="Calibri"/>
                <a:cs typeface="Calibri"/>
              </a:defRPr>
            </a:lvl8pPr>
            <a:lvl9pPr>
              <a:defRPr sz="1650" b="0">
                <a:solidFill>
                  <a:srgbClr val="203B68"/>
                </a:solidFill>
                <a:latin typeface="Calibri"/>
                <a:ea typeface="Calibri"/>
                <a:cs typeface="Calibri"/>
              </a:defRPr>
            </a:lvl9pPr>
          </a:lstStyle>
          <a:p xmlns:a="http://schemas.openxmlformats.org/drawingml/2006/main">
            <a:pPr>
              <a:defRPr sz="1650" b="0">
                <a:solidFill>
                  <a:srgbClr val="203B68"/>
                </a:solidFill>
                <a:latin typeface="Calibri"/>
                <a:ea typeface="Calibri"/>
                <a:cs typeface="Calibri"/>
              </a:defRPr>
            </a:pPr>
            <a:r>
              <a:rPr sz="1650" b="0">
                <a:solidFill>
                  <a:srgbClr val="203B68"/>
                </a:solidFill>
                <a:latin typeface="Calibri"/>
                <a:ea typeface="Calibri"/>
                <a:cs typeface="Calibri"/>
              </a:rPr>
              <a:t>Transformar en el destino</a:t>
            </a:r>
          </a:p>
        </p:txBody>
      </p:sp>
      <p:sp>
        <p:nvSpPr>
          <p:cNvPr id="41" name="diagram-label-4">
            <a:extLst xmlns:a="http://schemas.openxmlformats.org/drawingml/2006/main">
              <a:ext uri="{FF2B5EF4-FFF2-40B4-BE49-F238E27FC236}">
                <a16:creationId xmlns:a16="http://schemas.microsoft.com/office/drawing/2014/main" id="{BA8DF2B8-D61B-4353-B79F-741D940898FD}"/>
              </a:ext>
            </a:extLst>
          </p:cNvPr>
          <p:cNvSpPr>
            <a:spLocks xmlns:a="http://schemas.openxmlformats.org/drawingml/2006/main" noGrp="1"/>
          </p:cNvSpPr>
          <p:nvPr/>
        </p:nvSpPr>
        <p:spPr>
          <a:xfrm xmlns:a="http://schemas.openxmlformats.org/drawingml/2006/main">
            <a:off x="609600" y="399097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546ED"/>
                </a:solidFill>
                <a:latin typeface="Calibri"/>
                <a:ea typeface="Calibri"/>
                <a:cs typeface="Calibri"/>
              </a:defRPr>
            </a:defPPr>
            <a:lvl1pPr>
              <a:defRPr sz="1875" b="1">
                <a:solidFill>
                  <a:srgbClr val="5546ED"/>
                </a:solidFill>
                <a:latin typeface="Calibri"/>
                <a:ea typeface="Calibri"/>
                <a:cs typeface="Calibri"/>
              </a:defRPr>
            </a:lvl1pPr>
            <a:lvl2pPr>
              <a:defRPr sz="1875" b="1">
                <a:solidFill>
                  <a:srgbClr val="5546ED"/>
                </a:solidFill>
                <a:latin typeface="Calibri"/>
                <a:ea typeface="Calibri"/>
                <a:cs typeface="Calibri"/>
              </a:defRPr>
            </a:lvl2pPr>
            <a:lvl3pPr>
              <a:defRPr sz="1875" b="1">
                <a:solidFill>
                  <a:srgbClr val="5546ED"/>
                </a:solidFill>
                <a:latin typeface="Calibri"/>
                <a:ea typeface="Calibri"/>
                <a:cs typeface="Calibri"/>
              </a:defRPr>
            </a:lvl3pPr>
            <a:lvl4pPr>
              <a:defRPr sz="1875" b="1">
                <a:solidFill>
                  <a:srgbClr val="5546ED"/>
                </a:solidFill>
                <a:latin typeface="Calibri"/>
                <a:ea typeface="Calibri"/>
                <a:cs typeface="Calibri"/>
              </a:defRPr>
            </a:lvl4pPr>
            <a:lvl5pPr>
              <a:defRPr sz="1875" b="1">
                <a:solidFill>
                  <a:srgbClr val="5546ED"/>
                </a:solidFill>
                <a:latin typeface="Calibri"/>
                <a:ea typeface="Calibri"/>
                <a:cs typeface="Calibri"/>
              </a:defRPr>
            </a:lvl5pPr>
            <a:lvl6pPr>
              <a:defRPr sz="1875" b="1">
                <a:solidFill>
                  <a:srgbClr val="5546ED"/>
                </a:solidFill>
                <a:latin typeface="Calibri"/>
                <a:ea typeface="Calibri"/>
                <a:cs typeface="Calibri"/>
              </a:defRPr>
            </a:lvl6pPr>
            <a:lvl7pPr>
              <a:defRPr sz="1875" b="1">
                <a:solidFill>
                  <a:srgbClr val="5546ED"/>
                </a:solidFill>
                <a:latin typeface="Calibri"/>
                <a:ea typeface="Calibri"/>
                <a:cs typeface="Calibri"/>
              </a:defRPr>
            </a:lvl7pPr>
            <a:lvl8pPr>
              <a:defRPr sz="1875" b="1">
                <a:solidFill>
                  <a:srgbClr val="5546ED"/>
                </a:solidFill>
                <a:latin typeface="Calibri"/>
                <a:ea typeface="Calibri"/>
                <a:cs typeface="Calibri"/>
              </a:defRPr>
            </a:lvl8pPr>
            <a:lvl9pPr>
              <a:defRPr sz="1875" b="1">
                <a:solidFill>
                  <a:srgbClr val="5546ED"/>
                </a:solidFill>
                <a:latin typeface="Calibri"/>
                <a:ea typeface="Calibri"/>
                <a:cs typeface="Calibri"/>
              </a:defRPr>
            </a:lvl9pPr>
          </a:lstStyle>
          <a:p xmlns:a="http://schemas.openxmlformats.org/drawingml/2006/main">
            <a:pPr>
              <a:defRPr sz="1875" b="1">
                <a:solidFill>
                  <a:srgbClr val="5546ED"/>
                </a:solidFill>
                <a:latin typeface="Calibri"/>
                <a:ea typeface="Calibri"/>
                <a:cs typeface="Calibri"/>
              </a:defRPr>
            </a:pPr>
            <a:r>
              <a:rPr sz="1875" b="1">
                <a:solidFill>
                  <a:srgbClr val="5546ED"/>
                </a:solidFill>
                <a:latin typeface="Calibri"/>
                <a:ea typeface="Calibri"/>
                <a:cs typeface="Calibri"/>
              </a:rPr>
              <a:t>Capas Medallion</a:t>
            </a:r>
          </a:p>
        </p:txBody>
      </p:sp>
      <p:sp>
        <p:nvSpPr>
          <p:cNvPr id="42" name="diagram-label-5">
            <a:extLst xmlns:a="http://schemas.openxmlformats.org/drawingml/2006/main">
              <a:ext uri="{FF2B5EF4-FFF2-40B4-BE49-F238E27FC236}">
                <a16:creationId xmlns:a16="http://schemas.microsoft.com/office/drawing/2014/main" id="{9A19D3F7-E4BA-416A-988C-F1E9E8E2C5DB}"/>
              </a:ext>
            </a:extLst>
          </p:cNvPr>
          <p:cNvSpPr>
            <a:spLocks xmlns:a="http://schemas.openxmlformats.org/drawingml/2006/main" noGrp="1"/>
          </p:cNvSpPr>
          <p:nvPr/>
        </p:nvSpPr>
        <p:spPr>
          <a:xfrm xmlns:a="http://schemas.openxmlformats.org/drawingml/2006/main">
            <a:off x="609600" y="4324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203B68"/>
                </a:solidFill>
                <a:latin typeface="Calibri"/>
                <a:ea typeface="Calibri"/>
                <a:cs typeface="Calibri"/>
              </a:defRPr>
            </a:defPPr>
            <a:lvl1pPr>
              <a:defRPr sz="1650" b="0">
                <a:solidFill>
                  <a:srgbClr val="203B68"/>
                </a:solidFill>
                <a:latin typeface="Calibri"/>
                <a:ea typeface="Calibri"/>
                <a:cs typeface="Calibri"/>
              </a:defRPr>
            </a:lvl1pPr>
            <a:lvl2pPr>
              <a:defRPr sz="1650" b="0">
                <a:solidFill>
                  <a:srgbClr val="203B68"/>
                </a:solidFill>
                <a:latin typeface="Calibri"/>
                <a:ea typeface="Calibri"/>
                <a:cs typeface="Calibri"/>
              </a:defRPr>
            </a:lvl2pPr>
            <a:lvl3pPr>
              <a:defRPr sz="1650" b="0">
                <a:solidFill>
                  <a:srgbClr val="203B68"/>
                </a:solidFill>
                <a:latin typeface="Calibri"/>
                <a:ea typeface="Calibri"/>
                <a:cs typeface="Calibri"/>
              </a:defRPr>
            </a:lvl3pPr>
            <a:lvl4pPr>
              <a:defRPr sz="1650" b="0">
                <a:solidFill>
                  <a:srgbClr val="203B68"/>
                </a:solidFill>
                <a:latin typeface="Calibri"/>
                <a:ea typeface="Calibri"/>
                <a:cs typeface="Calibri"/>
              </a:defRPr>
            </a:lvl4pPr>
            <a:lvl5pPr>
              <a:defRPr sz="1650" b="0">
                <a:solidFill>
                  <a:srgbClr val="203B68"/>
                </a:solidFill>
                <a:latin typeface="Calibri"/>
                <a:ea typeface="Calibri"/>
                <a:cs typeface="Calibri"/>
              </a:defRPr>
            </a:lvl5pPr>
            <a:lvl6pPr>
              <a:defRPr sz="1650" b="0">
                <a:solidFill>
                  <a:srgbClr val="203B68"/>
                </a:solidFill>
                <a:latin typeface="Calibri"/>
                <a:ea typeface="Calibri"/>
                <a:cs typeface="Calibri"/>
              </a:defRPr>
            </a:lvl6pPr>
            <a:lvl7pPr>
              <a:defRPr sz="1650" b="0">
                <a:solidFill>
                  <a:srgbClr val="203B68"/>
                </a:solidFill>
                <a:latin typeface="Calibri"/>
                <a:ea typeface="Calibri"/>
                <a:cs typeface="Calibri"/>
              </a:defRPr>
            </a:lvl7pPr>
            <a:lvl8pPr>
              <a:defRPr sz="1650" b="0">
                <a:solidFill>
                  <a:srgbClr val="203B68"/>
                </a:solidFill>
                <a:latin typeface="Calibri"/>
                <a:ea typeface="Calibri"/>
                <a:cs typeface="Calibri"/>
              </a:defRPr>
            </a:lvl8pPr>
            <a:lvl9pPr>
              <a:defRPr sz="1650" b="0">
                <a:solidFill>
                  <a:srgbClr val="203B68"/>
                </a:solidFill>
                <a:latin typeface="Calibri"/>
                <a:ea typeface="Calibri"/>
                <a:cs typeface="Calibri"/>
              </a:defRPr>
            </a:lvl9pPr>
          </a:lstStyle>
          <a:p xmlns:a="http://schemas.openxmlformats.org/drawingml/2006/main">
            <a:pPr>
              <a:defRPr sz="1650" b="0">
                <a:solidFill>
                  <a:srgbClr val="203B68"/>
                </a:solidFill>
                <a:latin typeface="Calibri"/>
                <a:ea typeface="Calibri"/>
                <a:cs typeface="Calibri"/>
              </a:defRPr>
            </a:pPr>
            <a:r>
              <a:rPr sz="1650" b="0">
                <a:solidFill>
                  <a:srgbClr val="203B68"/>
                </a:solidFill>
                <a:latin typeface="Calibri"/>
                <a:ea typeface="Calibri"/>
                <a:cs typeface="Calibri"/>
              </a:rPr>
              <a:t>Conservar y refinar</a:t>
            </a:r>
          </a:p>
        </p:txBody>
      </p:sp>
      <p:sp>
        <p:nvSpPr>
          <p:cNvPr id="43" name="diagram-label-6">
            <a:extLst xmlns:a="http://schemas.openxmlformats.org/drawingml/2006/main">
              <a:ext uri="{FF2B5EF4-FFF2-40B4-BE49-F238E27FC236}">
                <a16:creationId xmlns:a16="http://schemas.microsoft.com/office/drawing/2014/main" id="{C4F774B6-EB6D-4F0B-89E0-FEAAFCB1942D}"/>
              </a:ext>
            </a:extLst>
          </p:cNvPr>
          <p:cNvSpPr>
            <a:spLocks xmlns:a="http://schemas.openxmlformats.org/drawingml/2006/main" noGrp="1"/>
          </p:cNvSpPr>
          <p:nvPr/>
        </p:nvSpPr>
        <p:spPr>
          <a:xfrm xmlns:a="http://schemas.openxmlformats.org/drawingml/2006/main">
            <a:off x="609600" y="482917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546ED"/>
                </a:solidFill>
                <a:latin typeface="Calibri"/>
                <a:ea typeface="Calibri"/>
                <a:cs typeface="Calibri"/>
              </a:defRPr>
            </a:defPPr>
            <a:lvl1pPr>
              <a:defRPr sz="1875" b="1">
                <a:solidFill>
                  <a:srgbClr val="5546ED"/>
                </a:solidFill>
                <a:latin typeface="Calibri"/>
                <a:ea typeface="Calibri"/>
                <a:cs typeface="Calibri"/>
              </a:defRPr>
            </a:lvl1pPr>
            <a:lvl2pPr>
              <a:defRPr sz="1875" b="1">
                <a:solidFill>
                  <a:srgbClr val="5546ED"/>
                </a:solidFill>
                <a:latin typeface="Calibri"/>
                <a:ea typeface="Calibri"/>
                <a:cs typeface="Calibri"/>
              </a:defRPr>
            </a:lvl2pPr>
            <a:lvl3pPr>
              <a:defRPr sz="1875" b="1">
                <a:solidFill>
                  <a:srgbClr val="5546ED"/>
                </a:solidFill>
                <a:latin typeface="Calibri"/>
                <a:ea typeface="Calibri"/>
                <a:cs typeface="Calibri"/>
              </a:defRPr>
            </a:lvl3pPr>
            <a:lvl4pPr>
              <a:defRPr sz="1875" b="1">
                <a:solidFill>
                  <a:srgbClr val="5546ED"/>
                </a:solidFill>
                <a:latin typeface="Calibri"/>
                <a:ea typeface="Calibri"/>
                <a:cs typeface="Calibri"/>
              </a:defRPr>
            </a:lvl4pPr>
            <a:lvl5pPr>
              <a:defRPr sz="1875" b="1">
                <a:solidFill>
                  <a:srgbClr val="5546ED"/>
                </a:solidFill>
                <a:latin typeface="Calibri"/>
                <a:ea typeface="Calibri"/>
                <a:cs typeface="Calibri"/>
              </a:defRPr>
            </a:lvl5pPr>
            <a:lvl6pPr>
              <a:defRPr sz="1875" b="1">
                <a:solidFill>
                  <a:srgbClr val="5546ED"/>
                </a:solidFill>
                <a:latin typeface="Calibri"/>
                <a:ea typeface="Calibri"/>
                <a:cs typeface="Calibri"/>
              </a:defRPr>
            </a:lvl6pPr>
            <a:lvl7pPr>
              <a:defRPr sz="1875" b="1">
                <a:solidFill>
                  <a:srgbClr val="5546ED"/>
                </a:solidFill>
                <a:latin typeface="Calibri"/>
                <a:ea typeface="Calibri"/>
                <a:cs typeface="Calibri"/>
              </a:defRPr>
            </a:lvl7pPr>
            <a:lvl8pPr>
              <a:defRPr sz="1875" b="1">
                <a:solidFill>
                  <a:srgbClr val="5546ED"/>
                </a:solidFill>
                <a:latin typeface="Calibri"/>
                <a:ea typeface="Calibri"/>
                <a:cs typeface="Calibri"/>
              </a:defRPr>
            </a:lvl8pPr>
            <a:lvl9pPr>
              <a:defRPr sz="1875" b="1">
                <a:solidFill>
                  <a:srgbClr val="5546ED"/>
                </a:solidFill>
                <a:latin typeface="Calibri"/>
                <a:ea typeface="Calibri"/>
                <a:cs typeface="Calibri"/>
              </a:defRPr>
            </a:lvl9pPr>
          </a:lstStyle>
          <a:p xmlns:a="http://schemas.openxmlformats.org/drawingml/2006/main">
            <a:pPr>
              <a:defRPr sz="1875" b="1">
                <a:solidFill>
                  <a:srgbClr val="5546ED"/>
                </a:solidFill>
                <a:latin typeface="Calibri"/>
                <a:ea typeface="Calibri"/>
                <a:cs typeface="Calibri"/>
              </a:defRPr>
            </a:pPr>
            <a:r>
              <a:rPr sz="1875" b="1">
                <a:solidFill>
                  <a:srgbClr val="5546ED"/>
                </a:solidFill>
                <a:latin typeface="Calibri"/>
                <a:ea typeface="Calibri"/>
                <a:cs typeface="Calibri"/>
              </a:rPr>
              <a:t>Captura de cambios</a:t>
            </a:r>
          </a:p>
        </p:txBody>
      </p:sp>
      <p:sp>
        <p:nvSpPr>
          <p:cNvPr id="44" name="diagram-label-7">
            <a:extLst xmlns:a="http://schemas.openxmlformats.org/drawingml/2006/main">
              <a:ext uri="{FF2B5EF4-FFF2-40B4-BE49-F238E27FC236}">
                <a16:creationId xmlns:a16="http://schemas.microsoft.com/office/drawing/2014/main" id="{7641E285-D3A2-41C9-A91D-A8B99CCE4479}"/>
              </a:ext>
            </a:extLst>
          </p:cNvPr>
          <p:cNvSpPr>
            <a:spLocks xmlns:a="http://schemas.openxmlformats.org/drawingml/2006/main" noGrp="1"/>
          </p:cNvSpPr>
          <p:nvPr/>
        </p:nvSpPr>
        <p:spPr>
          <a:xfrm xmlns:a="http://schemas.openxmlformats.org/drawingml/2006/main">
            <a:off x="609600" y="51625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203B68"/>
                </a:solidFill>
                <a:latin typeface="Calibri"/>
                <a:ea typeface="Calibri"/>
                <a:cs typeface="Calibri"/>
              </a:defRPr>
            </a:defPPr>
            <a:lvl1pPr>
              <a:defRPr sz="1650" b="0">
                <a:solidFill>
                  <a:srgbClr val="203B68"/>
                </a:solidFill>
                <a:latin typeface="Calibri"/>
                <a:ea typeface="Calibri"/>
                <a:cs typeface="Calibri"/>
              </a:defRPr>
            </a:lvl1pPr>
            <a:lvl2pPr>
              <a:defRPr sz="1650" b="0">
                <a:solidFill>
                  <a:srgbClr val="203B68"/>
                </a:solidFill>
                <a:latin typeface="Calibri"/>
                <a:ea typeface="Calibri"/>
                <a:cs typeface="Calibri"/>
              </a:defRPr>
            </a:lvl2pPr>
            <a:lvl3pPr>
              <a:defRPr sz="1650" b="0">
                <a:solidFill>
                  <a:srgbClr val="203B68"/>
                </a:solidFill>
                <a:latin typeface="Calibri"/>
                <a:ea typeface="Calibri"/>
                <a:cs typeface="Calibri"/>
              </a:defRPr>
            </a:lvl3pPr>
            <a:lvl4pPr>
              <a:defRPr sz="1650" b="0">
                <a:solidFill>
                  <a:srgbClr val="203B68"/>
                </a:solidFill>
                <a:latin typeface="Calibri"/>
                <a:ea typeface="Calibri"/>
                <a:cs typeface="Calibri"/>
              </a:defRPr>
            </a:lvl4pPr>
            <a:lvl5pPr>
              <a:defRPr sz="1650" b="0">
                <a:solidFill>
                  <a:srgbClr val="203B68"/>
                </a:solidFill>
                <a:latin typeface="Calibri"/>
                <a:ea typeface="Calibri"/>
                <a:cs typeface="Calibri"/>
              </a:defRPr>
            </a:lvl5pPr>
            <a:lvl6pPr>
              <a:defRPr sz="1650" b="0">
                <a:solidFill>
                  <a:srgbClr val="203B68"/>
                </a:solidFill>
                <a:latin typeface="Calibri"/>
                <a:ea typeface="Calibri"/>
                <a:cs typeface="Calibri"/>
              </a:defRPr>
            </a:lvl6pPr>
            <a:lvl7pPr>
              <a:defRPr sz="1650" b="0">
                <a:solidFill>
                  <a:srgbClr val="203B68"/>
                </a:solidFill>
                <a:latin typeface="Calibri"/>
                <a:ea typeface="Calibri"/>
                <a:cs typeface="Calibri"/>
              </a:defRPr>
            </a:lvl7pPr>
            <a:lvl8pPr>
              <a:defRPr sz="1650" b="0">
                <a:solidFill>
                  <a:srgbClr val="203B68"/>
                </a:solidFill>
                <a:latin typeface="Calibri"/>
                <a:ea typeface="Calibri"/>
                <a:cs typeface="Calibri"/>
              </a:defRPr>
            </a:lvl8pPr>
            <a:lvl9pPr>
              <a:defRPr sz="1650" b="0">
                <a:solidFill>
                  <a:srgbClr val="203B68"/>
                </a:solidFill>
                <a:latin typeface="Calibri"/>
                <a:ea typeface="Calibri"/>
                <a:cs typeface="Calibri"/>
              </a:defRPr>
            </a:lvl9pPr>
          </a:lstStyle>
          <a:p xmlns:a="http://schemas.openxmlformats.org/drawingml/2006/main">
            <a:pPr>
              <a:defRPr sz="1650" b="0">
                <a:solidFill>
                  <a:srgbClr val="203B68"/>
                </a:solidFill>
                <a:latin typeface="Calibri"/>
                <a:ea typeface="Calibri"/>
                <a:cs typeface="Calibri"/>
              </a:defRPr>
            </a:pPr>
            <a:r>
              <a:rPr sz="1650" b="0">
                <a:solidFill>
                  <a:srgbClr val="203B68"/>
                </a:solidFill>
                <a:latin typeface="Calibri"/>
                <a:ea typeface="Calibri"/>
                <a:cs typeface="Calibri"/>
              </a:rPr>
              <a:t>Actualizar con menor demora</a:t>
            </a:r>
          </a:p>
        </p:txBody>
      </p:sp>
      <p:sp>
        <p:nvSpPr>
          <p:cNvPr id="45" name="check">
            <a:extLst xmlns:a="http://schemas.openxmlformats.org/drawingml/2006/main">
              <a:ext uri="{FF2B5EF4-FFF2-40B4-BE49-F238E27FC236}">
                <a16:creationId xmlns:a16="http://schemas.microsoft.com/office/drawing/2014/main" id="{7D82C01E-7B89-427B-9B13-F27BA0C5101F}"/>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Pueden combinarse. ETL/ELT ordenan operaciones, Medallion organiza capas y CDC captura cambios.</a:t>
            </a:r>
          </a:p>
        </p:txBody>
      </p:sp>
      <p:sp>
        <p:nvSpPr>
          <p:cNvPr id="46" name="footer">
            <a:extLst xmlns:a="http://schemas.openxmlformats.org/drawingml/2006/main">
              <a:ext uri="{FF2B5EF4-FFF2-40B4-BE49-F238E27FC236}">
                <a16:creationId xmlns:a16="http://schemas.microsoft.com/office/drawing/2014/main" id="{5F848E56-0441-4CA5-825B-1431F3255238}"/>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47" name="page">
            <a:extLst xmlns:a="http://schemas.openxmlformats.org/drawingml/2006/main">
              <a:ext uri="{FF2B5EF4-FFF2-40B4-BE49-F238E27FC236}">
                <a16:creationId xmlns:a16="http://schemas.microsoft.com/office/drawing/2014/main" id="{D622F372-8D11-4751-A423-FB0B8B7EF7FE}"/>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24</a:t>
            </a:r>
          </a:p>
        </p:txBody>
      </p:sp>
    </p:spTree>
    <p:extLst>
      <p:ext uri="{BB962C8B-B14F-4D97-AF65-F5344CB8AC3E}">
        <p14:creationId xmlns:p14="http://schemas.microsoft.com/office/powerpoint/2010/main" val="116899893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70A1142D-D1BA-4462-BD05-700E38A44B31}"/>
              </a:ext>
            </a:extLst>
          </p:cNvPr>
          <p:cNvPicPr>
            <a:picLocks xmlns:a="http://schemas.openxmlformats.org/drawingml/2006/main" noChangeAspect="1"/>
          </p:cNvPicPr>
          <p:nvPr/>
        </p:nvPicPr>
        <p:blipFill>
          <a:blip xmlns:r="http://schemas.openxmlformats.org/officeDocument/2006/relationships" xmlns:a="http://schemas.openxmlformats.org/drawingml/2006/main" r:embed="Re992835167724fe8"/>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4A6A7332-7C8F-4987-A520-0AC659F3CE37}"/>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Caso de trabajo PQRS</a:t>
            </a:r>
          </a:p>
        </p:txBody>
      </p:sp>
      <p:sp>
        <p:nvSpPr>
          <p:cNvPr id="16" name="lead">
            <a:extLst xmlns:a="http://schemas.openxmlformats.org/drawingml/2006/main">
              <a:ext uri="{FF2B5EF4-FFF2-40B4-BE49-F238E27FC236}">
                <a16:creationId xmlns:a16="http://schemas.microsoft.com/office/drawing/2014/main" id="{2C7193D3-34DB-4C4A-BBD9-7A6A796593EB}"/>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Pregunta: ¿cuántos reportes contiene el corte por período y territorio?</a:t>
            </a:r>
          </a:p>
        </p:txBody>
      </p:sp>
      <p:graphicFrame>
        <p:nvGraphicFramePr>
          <p:cNvPr id="17" name="">
            <a:extLst xmlns:a="http://schemas.openxmlformats.org/drawingml/2006/main">
              <a:ext uri="{FF2B5EF4-FFF2-40B4-BE49-F238E27FC236}">
                <a16:creationId xmlns:a16="http://schemas.microsoft.com/office/drawing/2014/main" id="{F0936EB8-B0F7-4C82-8218-28D9F04D0D39}"/>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2523744"/>
                <a:gridCol w="8449056"/>
              </a:tblGrid>
              <a:tr h="555625">
                <a:tc>
                  <a:txBody>
                    <a:bodyPr/>
                    <a:lstStyle/>
                    <a:p>
                      <a:r>
                        <a:rPr sz="1950" b="1">
                          <a:solidFill>
                            <a:srgbClr val="FFFFFF"/>
                          </a:solidFill>
                          <a:latin typeface="Calibri"/>
                          <a:ea typeface="Calibri"/>
                          <a:cs typeface="Calibri"/>
                        </a:rPr>
                        <a:t>Decisión</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Definición del ejercicio</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555625">
                <a:tc>
                  <a:txBody>
                    <a:bodyPr/>
                    <a:lstStyle/>
                    <a:p>
                      <a:r>
                        <a:rPr sz="1950" b="0">
                          <a:solidFill>
                            <a:srgbClr val="203B68"/>
                          </a:solidFill>
                          <a:latin typeface="Calibri"/>
                          <a:ea typeface="Calibri"/>
                          <a:cs typeface="Calibri"/>
                        </a:rPr>
                        <a:t>Unidad</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Una fila de reporte del archivo seleccionado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Cobertura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Los cortes y archivos declarados en el manifiesto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Dimensiones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Período del corte y territorio documentado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Medida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Conteo de reportes aceptados</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Límite</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El conteo no identifica personas únicas ni prevalencia</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bl>
          </a:graphicData>
        </a:graphic>
      </p:graphicFrame>
      <p:sp>
        <p:nvSpPr>
          <p:cNvPr id="18" name="check">
            <a:extLst xmlns:a="http://schemas.openxmlformats.org/drawingml/2006/main">
              <a:ext uri="{FF2B5EF4-FFF2-40B4-BE49-F238E27FC236}">
                <a16:creationId xmlns:a16="http://schemas.microsoft.com/office/drawing/2014/main" id="{368A3B30-35EA-44FD-B509-8652CE256D6B}"/>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Los nombres periodo y territorio serán columnas normalizadas del ejemplo.</a:t>
            </a:r>
          </a:p>
        </p:txBody>
      </p:sp>
      <p:sp>
        <p:nvSpPr>
          <p:cNvPr id="19" name="footer">
            <a:extLst xmlns:a="http://schemas.openxmlformats.org/drawingml/2006/main">
              <a:ext uri="{FF2B5EF4-FFF2-40B4-BE49-F238E27FC236}">
                <a16:creationId xmlns:a16="http://schemas.microsoft.com/office/drawing/2014/main" id="{6DE45E1B-08B4-4750-A62A-8AC845CFB52E}"/>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99F1418D-CB79-4123-A27D-5A8B95FDDBB8}"/>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25</a:t>
            </a:r>
          </a:p>
        </p:txBody>
      </p:sp>
    </p:spTree>
    <p:extLst>
      <p:ext uri="{BB962C8B-B14F-4D97-AF65-F5344CB8AC3E}">
        <p14:creationId xmlns:p14="http://schemas.microsoft.com/office/powerpoint/2010/main" val="116899893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361438AD-D22A-4F73-8D50-E75E7EF8A036}"/>
              </a:ext>
            </a:extLst>
          </p:cNvPr>
          <p:cNvCxnSpPr>
            <a:stCxn xmlns:a="http://schemas.openxmlformats.org/drawingml/2006/main" id="19" idx="3"/>
            <a:endCxn xmlns:a="http://schemas.openxmlformats.org/drawingml/2006/main" id="20" idx="1"/>
          </p:cNvCxnSpPr>
          <p:nvPr/>
        </p:nvCxnSpPr>
        <p:spPr>
          <a:xfrm xmlns:a="http://schemas.openxmlformats.org/drawingml/2006/main" flipV="1">
            <a:off x="8286750" y="3643313"/>
            <a:ext cx="1143000" cy="1333500"/>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3" name="">
            <a:extLst xmlns:a="http://schemas.openxmlformats.org/drawingml/2006/main">
              <a:ext uri="{FF2B5EF4-FFF2-40B4-BE49-F238E27FC236}">
                <a16:creationId xmlns:a16="http://schemas.microsoft.com/office/drawing/2014/main" id="{D70D1B65-168C-4288-BE2C-AE36677CAD9D}"/>
              </a:ext>
            </a:extLst>
          </p:cNvPr>
          <p:cNvCxnSpPr>
            <a:stCxn xmlns:a="http://schemas.openxmlformats.org/drawingml/2006/main" id="18" idx="3"/>
            <a:endCxn xmlns:a="http://schemas.openxmlformats.org/drawingml/2006/main" id="20" idx="1"/>
          </p:cNvCxnSpPr>
          <p:nvPr/>
        </p:nvCxnSpPr>
        <p:spPr>
          <a:xfrm xmlns:a="http://schemas.openxmlformats.org/drawingml/2006/main">
            <a:off x="8286750" y="2786063"/>
            <a:ext cx="1143000" cy="857250"/>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2" name="">
            <a:extLst xmlns:a="http://schemas.openxmlformats.org/drawingml/2006/main">
              <a:ext uri="{FF2B5EF4-FFF2-40B4-BE49-F238E27FC236}">
                <a16:creationId xmlns:a16="http://schemas.microsoft.com/office/drawing/2014/main" id="{91C902C5-CF10-498F-9785-011A4CC745EB}"/>
              </a:ext>
            </a:extLst>
          </p:cNvPr>
          <p:cNvCxnSpPr>
            <a:stCxn xmlns:a="http://schemas.openxmlformats.org/drawingml/2006/main" id="17" idx="3"/>
            <a:endCxn xmlns:a="http://schemas.openxmlformats.org/drawingml/2006/main" id="19" idx="1"/>
          </p:cNvCxnSpPr>
          <p:nvPr/>
        </p:nvCxnSpPr>
        <p:spPr>
          <a:xfrm xmlns:a="http://schemas.openxmlformats.org/drawingml/2006/main">
            <a:off x="3810000" y="3571875"/>
            <a:ext cx="1143000" cy="1404938"/>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1" name="">
            <a:extLst xmlns:a="http://schemas.openxmlformats.org/drawingml/2006/main">
              <a:ext uri="{FF2B5EF4-FFF2-40B4-BE49-F238E27FC236}">
                <a16:creationId xmlns:a16="http://schemas.microsoft.com/office/drawing/2014/main" id="{E2996F0A-0AA1-470C-A9C1-6FA84B7DFE5B}"/>
              </a:ext>
            </a:extLst>
          </p:cNvPr>
          <p:cNvCxnSpPr>
            <a:stCxn xmlns:a="http://schemas.openxmlformats.org/drawingml/2006/main" id="17" idx="3"/>
            <a:endCxn xmlns:a="http://schemas.openxmlformats.org/drawingml/2006/main" id="18" idx="1"/>
          </p:cNvCxnSpPr>
          <p:nvPr/>
        </p:nvCxnSpPr>
        <p:spPr>
          <a:xfrm xmlns:a="http://schemas.openxmlformats.org/drawingml/2006/main" flipV="1">
            <a:off x="3810000" y="2786063"/>
            <a:ext cx="1143000" cy="785813"/>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396D6515-D7E5-4146-99CF-B75AF452181E}"/>
              </a:ext>
            </a:extLst>
          </p:cNvPr>
          <p:cNvPicPr>
            <a:picLocks xmlns:a="http://schemas.openxmlformats.org/drawingml/2006/main" noChangeAspect="1"/>
          </p:cNvPicPr>
          <p:nvPr/>
        </p:nvPicPr>
        <p:blipFill>
          <a:blip xmlns:r="http://schemas.openxmlformats.org/officeDocument/2006/relationships" xmlns:a="http://schemas.openxmlformats.org/drawingml/2006/main" r:embed="Rf966dd7a08c1480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D2C3B404-1847-4ED8-9FA2-C1D90B9E1D34}"/>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Original y evidencia de procedencia</a:t>
            </a:r>
          </a:p>
        </p:txBody>
      </p:sp>
      <p:sp>
        <p:nvSpPr>
          <p:cNvPr id="16" name="lead">
            <a:extLst xmlns:a="http://schemas.openxmlformats.org/drawingml/2006/main">
              <a:ext uri="{FF2B5EF4-FFF2-40B4-BE49-F238E27FC236}">
                <a16:creationId xmlns:a16="http://schemas.microsoft.com/office/drawing/2014/main" id="{068F19B6-CCE1-4775-9915-754A188E1009}"/>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Conservar el original permite revisar una corrección sin perder la evidencia recibida.</a:t>
            </a:r>
          </a:p>
        </p:txBody>
      </p:sp>
      <p:sp>
        <p:nvSpPr>
          <p:cNvPr id="17" name="diagram-node-0">
            <a:extLst xmlns:a="http://schemas.openxmlformats.org/drawingml/2006/main">
              <a:ext uri="{FF2B5EF4-FFF2-40B4-BE49-F238E27FC236}">
                <a16:creationId xmlns:a16="http://schemas.microsoft.com/office/drawing/2014/main" id="{F21378B5-A3DE-4245-BBE3-280FF955FC1F}"/>
              </a:ext>
            </a:extLst>
          </p:cNvPr>
          <p:cNvSpPr>
            <a:spLocks xmlns:a="http://schemas.openxmlformats.org/drawingml/2006/main" noGrp="1"/>
          </p:cNvSpPr>
          <p:nvPr/>
        </p:nvSpPr>
        <p:spPr>
          <a:xfrm xmlns:a="http://schemas.openxmlformats.org/drawingml/2006/main">
            <a:off x="762000" y="3000375"/>
            <a:ext cx="3048000" cy="1143000"/>
          </a:xfrm>
          <a:prstGeom xmlns:a="http://schemas.openxmlformats.org/drawingml/2006/main" prst="rect">
            <a:avLst/>
          </a:prstGeom>
          <a:solidFill xmlns:a="http://schemas.openxmlformats.org/drawingml/2006/main">
            <a:srgbClr val="F4F6FB"/>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Archivo original</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Contenido conservado</a:t>
            </a:r>
          </a:p>
        </p:txBody>
      </p:sp>
      <p:sp>
        <p:nvSpPr>
          <p:cNvPr id="18" name="diagram-node-1">
            <a:extLst xmlns:a="http://schemas.openxmlformats.org/drawingml/2006/main">
              <a:ext uri="{FF2B5EF4-FFF2-40B4-BE49-F238E27FC236}">
                <a16:creationId xmlns:a16="http://schemas.microsoft.com/office/drawing/2014/main" id="{B5E092E3-38C5-42CA-BE2D-093BEA3A11CB}"/>
              </a:ext>
            </a:extLst>
          </p:cNvPr>
          <p:cNvSpPr>
            <a:spLocks xmlns:a="http://schemas.openxmlformats.org/drawingml/2006/main" noGrp="1"/>
          </p:cNvSpPr>
          <p:nvPr/>
        </p:nvSpPr>
        <p:spPr>
          <a:xfrm xmlns:a="http://schemas.openxmlformats.org/drawingml/2006/main">
            <a:off x="4953000" y="2286000"/>
            <a:ext cx="3333750" cy="1000125"/>
          </a:xfrm>
          <a:prstGeom xmlns:a="http://schemas.openxmlformats.org/drawingml/2006/main" prst="rect">
            <a:avLst/>
          </a:prstGeom>
          <a:solidFill xmlns:a="http://schemas.openxmlformats.org/drawingml/2006/main">
            <a:srgbClr val="E9E6F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Manifiesto</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Fuente, corte y huella</a:t>
            </a:r>
          </a:p>
        </p:txBody>
      </p:sp>
      <p:sp>
        <p:nvSpPr>
          <p:cNvPr id="19" name="diagram-node-2">
            <a:extLst xmlns:a="http://schemas.openxmlformats.org/drawingml/2006/main">
              <a:ext uri="{FF2B5EF4-FFF2-40B4-BE49-F238E27FC236}">
                <a16:creationId xmlns:a16="http://schemas.microsoft.com/office/drawing/2014/main" id="{A86C7F47-1BB0-4685-862D-88B989231018}"/>
              </a:ext>
            </a:extLst>
          </p:cNvPr>
          <p:cNvSpPr>
            <a:spLocks xmlns:a="http://schemas.openxmlformats.org/drawingml/2006/main" noGrp="1"/>
          </p:cNvSpPr>
          <p:nvPr/>
        </p:nvSpPr>
        <p:spPr>
          <a:xfrm xmlns:a="http://schemas.openxmlformats.org/drawingml/2006/main">
            <a:off x="4953000" y="4476750"/>
            <a:ext cx="3333750" cy="1000125"/>
          </a:xfrm>
          <a:prstGeom xmlns:a="http://schemas.openxmlformats.org/drawingml/2006/main" prst="rect">
            <a:avLst/>
          </a:prstGeom>
          <a:solidFill xmlns:a="http://schemas.openxmlformats.org/drawingml/2006/main">
            <a:srgbClr val="E4F3E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Copia de trabajo</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Lectura y validación</a:t>
            </a:r>
          </a:p>
        </p:txBody>
      </p:sp>
      <p:sp>
        <p:nvSpPr>
          <p:cNvPr id="20" name="diagram-node-3">
            <a:extLst xmlns:a="http://schemas.openxmlformats.org/drawingml/2006/main">
              <a:ext uri="{FF2B5EF4-FFF2-40B4-BE49-F238E27FC236}">
                <a16:creationId xmlns:a16="http://schemas.microsoft.com/office/drawing/2014/main" id="{0EAD6FE4-9978-43FD-89F5-45EC177A70F7}"/>
              </a:ext>
            </a:extLst>
          </p:cNvPr>
          <p:cNvSpPr>
            <a:spLocks xmlns:a="http://schemas.openxmlformats.org/drawingml/2006/main" noGrp="1"/>
          </p:cNvSpPr>
          <p:nvPr/>
        </p:nvSpPr>
        <p:spPr>
          <a:xfrm xmlns:a="http://schemas.openxmlformats.org/drawingml/2006/main">
            <a:off x="9429750" y="3143250"/>
            <a:ext cx="2095500" cy="1000125"/>
          </a:xfrm>
          <a:prstGeom xmlns:a="http://schemas.openxmlformats.org/drawingml/2006/main" prst="rect">
            <a:avLst/>
          </a:prstGeom>
          <a:solidFill xmlns:a="http://schemas.openxmlformats.org/drawingml/2006/main">
            <a:srgbClr val="F4F6FB"/>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Ejecución</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Entrada identificada</a:t>
            </a:r>
          </a:p>
        </p:txBody>
      </p:sp>
      <p:sp>
        <p:nvSpPr>
          <p:cNvPr id="25" name="check">
            <a:extLst xmlns:a="http://schemas.openxmlformats.org/drawingml/2006/main">
              <a:ext uri="{FF2B5EF4-FFF2-40B4-BE49-F238E27FC236}">
                <a16:creationId xmlns:a16="http://schemas.microsoft.com/office/drawing/2014/main" id="{5346528B-9749-44A0-A480-2B3B5212A081}"/>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El nombre del archivo puede repetirse aunque cambie su contenido.</a:t>
            </a:r>
          </a:p>
        </p:txBody>
      </p:sp>
      <p:sp>
        <p:nvSpPr>
          <p:cNvPr id="26" name="footer">
            <a:extLst xmlns:a="http://schemas.openxmlformats.org/drawingml/2006/main">
              <a:ext uri="{FF2B5EF4-FFF2-40B4-BE49-F238E27FC236}">
                <a16:creationId xmlns:a16="http://schemas.microsoft.com/office/drawing/2014/main" id="{B5D8BF9A-F257-4D69-A37D-962B0FD68DF4}"/>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7" name="page">
            <a:extLst xmlns:a="http://schemas.openxmlformats.org/drawingml/2006/main">
              <a:ext uri="{FF2B5EF4-FFF2-40B4-BE49-F238E27FC236}">
                <a16:creationId xmlns:a16="http://schemas.microsoft.com/office/drawing/2014/main" id="{78F23710-1EF3-4EAB-AF30-33DCA4126C84}"/>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26</a:t>
            </a:r>
          </a:p>
        </p:txBody>
      </p:sp>
    </p:spTree>
    <p:extLst>
      <p:ext uri="{BB962C8B-B14F-4D97-AF65-F5344CB8AC3E}">
        <p14:creationId xmlns:p14="http://schemas.microsoft.com/office/powerpoint/2010/main" val="116899893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67C228F0-6913-4D04-9F82-99C308D1E1EE}"/>
              </a:ext>
            </a:extLst>
          </p:cNvPr>
          <p:cNvPicPr>
            <a:picLocks xmlns:a="http://schemas.openxmlformats.org/drawingml/2006/main" noChangeAspect="1"/>
          </p:cNvPicPr>
          <p:nvPr/>
        </p:nvPicPr>
        <p:blipFill>
          <a:blip xmlns:r="http://schemas.openxmlformats.org/officeDocument/2006/relationships" xmlns:a="http://schemas.openxmlformats.org/drawingml/2006/main" r:embed="R337695f1140c4661"/>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98E07E12-8624-49DA-A42B-B6B5B89A5C35}"/>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Ejemplo de validación</a:t>
            </a:r>
          </a:p>
        </p:txBody>
      </p:sp>
      <p:sp>
        <p:nvSpPr>
          <p:cNvPr id="16" name="lead">
            <a:extLst xmlns:a="http://schemas.openxmlformats.org/drawingml/2006/main">
              <a:ext uri="{FF2B5EF4-FFF2-40B4-BE49-F238E27FC236}">
                <a16:creationId xmlns:a16="http://schemas.microsoft.com/office/drawing/2014/main" id="{6A077105-D763-44B4-BC71-D589C558B2C2}"/>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Seis filas hipotéticas permiten revisar el criterio antes del código.</a:t>
            </a:r>
          </a:p>
        </p:txBody>
      </p:sp>
      <p:graphicFrame>
        <p:nvGraphicFramePr>
          <p:cNvPr id="17" name="">
            <a:extLst xmlns:a="http://schemas.openxmlformats.org/drawingml/2006/main">
              <a:ext uri="{FF2B5EF4-FFF2-40B4-BE49-F238E27FC236}">
                <a16:creationId xmlns:a16="http://schemas.microsoft.com/office/drawing/2014/main" id="{360207DA-D0B5-4C04-8C30-580BA7462CC7}"/>
              </a:ext>
            </a:extLst>
          </p:cNvPr>
          <p:cNvGraphicFramePr/>
          <p:nvPr/>
        </p:nvGraphicFramePr>
        <p:xfrm>
          <a:off xmlns:a="http://schemas.openxmlformats.org/drawingml/2006/main" x="609600" y="2247900"/>
          <a:ext xmlns:a="http://schemas.openxmlformats.org/drawingml/2006/main" cx="10972800" cy="3448050"/>
        </p:xfrm>
        <a:graphic xmlns:a="http://schemas.openxmlformats.org/drawingml/2006/main">
          <a:graphicData uri="http://schemas.openxmlformats.org/drawingml/2006/table">
            <a:tbl>
              <a:tblPr/>
              <a:tblGrid>
                <a:gridCol w="1097280"/>
                <a:gridCol w="2194560"/>
                <a:gridCol w="2743200"/>
                <a:gridCol w="4937760"/>
              </a:tblGrid>
              <a:tr h="492579">
                <a:tc>
                  <a:txBody>
                    <a:bodyPr/>
                    <a:lstStyle/>
                    <a:p>
                      <a:r>
                        <a:rPr sz="1875" b="1">
                          <a:solidFill>
                            <a:srgbClr val="FFFFFF"/>
                          </a:solidFill>
                          <a:latin typeface="Calibri"/>
                          <a:ea typeface="Calibri"/>
                          <a:cs typeface="Calibri"/>
                        </a:rPr>
                        <a:t>Fila</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875" b="1">
                          <a:solidFill>
                            <a:srgbClr val="FFFFFF"/>
                          </a:solidFill>
                          <a:latin typeface="Calibri"/>
                          <a:ea typeface="Calibri"/>
                          <a:cs typeface="Calibri"/>
                        </a:rPr>
                        <a:t>Período</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875" b="1">
                          <a:solidFill>
                            <a:srgbClr val="FFFFFF"/>
                          </a:solidFill>
                          <a:latin typeface="Calibri"/>
                          <a:ea typeface="Calibri"/>
                          <a:cs typeface="Calibri"/>
                        </a:rPr>
                        <a:t>Territorio</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875" b="1">
                          <a:solidFill>
                            <a:srgbClr val="FFFFFF"/>
                          </a:solidFill>
                          <a:latin typeface="Calibri"/>
                          <a:ea typeface="Calibri"/>
                          <a:cs typeface="Calibri"/>
                        </a:rPr>
                        <a:t>Decisión</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492579">
                <a:tc>
                  <a:txBody>
                    <a:bodyPr/>
                    <a:lstStyle/>
                    <a:p>
                      <a:r>
                        <a:rPr sz="1875" b="0">
                          <a:solidFill>
                            <a:srgbClr val="203B68"/>
                          </a:solidFill>
                          <a:latin typeface="Calibri"/>
                          <a:ea typeface="Calibri"/>
                          <a:cs typeface="Calibri"/>
                        </a:rPr>
                        <a:t>1</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875" b="0">
                          <a:solidFill>
                            <a:srgbClr val="203B68"/>
                          </a:solidFill>
                          <a:latin typeface="Calibri"/>
                          <a:ea typeface="Calibri"/>
                          <a:cs typeface="Calibri"/>
                        </a:rPr>
                        <a:t>2024-I</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875" b="0">
                          <a:solidFill>
                            <a:srgbClr val="203B68"/>
                          </a:solidFill>
                          <a:latin typeface="Calibri"/>
                          <a:ea typeface="Calibri"/>
                          <a:cs typeface="Calibri"/>
                        </a:rPr>
                        <a:t>Bogotá</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875" b="0">
                          <a:solidFill>
                            <a:srgbClr val="203B68"/>
                          </a:solidFill>
                          <a:latin typeface="Calibri"/>
                          <a:ea typeface="Calibri"/>
                          <a:cs typeface="Calibri"/>
                        </a:rPr>
                        <a:t>Aceptar</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492579">
                <a:tc>
                  <a:txBody>
                    <a:bodyPr/>
                    <a:lstStyle/>
                    <a:p>
                      <a:r>
                        <a:rPr sz="1875" b="0">
                          <a:solidFill>
                            <a:srgbClr val="203B68"/>
                          </a:solidFill>
                          <a:latin typeface="Calibri"/>
                          <a:ea typeface="Calibri"/>
                          <a:cs typeface="Calibri"/>
                        </a:rPr>
                        <a:t>2</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875" b="0">
                          <a:solidFill>
                            <a:srgbClr val="203B68"/>
                          </a:solidFill>
                          <a:latin typeface="Calibri"/>
                          <a:ea typeface="Calibri"/>
                          <a:cs typeface="Calibri"/>
                        </a:rPr>
                        <a:t>2024-I</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875" b="0">
                          <a:solidFill>
                            <a:srgbClr val="203B68"/>
                          </a:solidFill>
                          <a:latin typeface="Calibri"/>
                          <a:ea typeface="Calibri"/>
                          <a:cs typeface="Calibri"/>
                        </a:rPr>
                        <a:t>Bogotá</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875" b="0">
                          <a:solidFill>
                            <a:srgbClr val="203B68"/>
                          </a:solidFill>
                          <a:latin typeface="Calibri"/>
                          <a:ea typeface="Calibri"/>
                          <a:cs typeface="Calibri"/>
                        </a:rPr>
                        <a:t>Aceptar</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492579">
                <a:tc>
                  <a:txBody>
                    <a:bodyPr/>
                    <a:lstStyle/>
                    <a:p>
                      <a:r>
                        <a:rPr sz="1875" b="0">
                          <a:solidFill>
                            <a:srgbClr val="203B68"/>
                          </a:solidFill>
                          <a:latin typeface="Calibri"/>
                          <a:ea typeface="Calibri"/>
                          <a:cs typeface="Calibri"/>
                        </a:rPr>
                        <a:t>3</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875" b="0">
                          <a:solidFill>
                            <a:srgbClr val="203B68"/>
                          </a:solidFill>
                          <a:latin typeface="Calibri"/>
                          <a:ea typeface="Calibri"/>
                          <a:cs typeface="Calibri"/>
                        </a:rPr>
                        <a:t>2024-I</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875" b="0">
                          <a:solidFill>
                            <a:srgbClr val="203B68"/>
                          </a:solidFill>
                          <a:latin typeface="Calibri"/>
                          <a:ea typeface="Calibri"/>
                          <a:cs typeface="Calibri"/>
                        </a:rPr>
                        <a:t>Boyacá</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875" b="0">
                          <a:solidFill>
                            <a:srgbClr val="203B68"/>
                          </a:solidFill>
                          <a:latin typeface="Calibri"/>
                          <a:ea typeface="Calibri"/>
                          <a:cs typeface="Calibri"/>
                        </a:rPr>
                        <a:t>Aceptar</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492579">
                <a:tc>
                  <a:txBody>
                    <a:bodyPr/>
                    <a:lstStyle/>
                    <a:p>
                      <a:r>
                        <a:rPr sz="1875" b="0">
                          <a:solidFill>
                            <a:srgbClr val="203B68"/>
                          </a:solidFill>
                          <a:latin typeface="Calibri"/>
                          <a:ea typeface="Calibri"/>
                          <a:cs typeface="Calibri"/>
                        </a:rPr>
                        <a:t>4</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875" b="0">
                          <a:solidFill>
                            <a:srgbClr val="203B68"/>
                          </a:solidFill>
                          <a:latin typeface="Calibri"/>
                          <a:ea typeface="Calibri"/>
                          <a:cs typeface="Calibri"/>
                        </a:rPr>
                        <a:t>2024-I</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875" b="0">
                          <a:solidFill>
                            <a:srgbClr val="203B68"/>
                          </a:solidFill>
                          <a:latin typeface="Calibri"/>
                          <a:ea typeface="Calibri"/>
                          <a:cs typeface="Calibri"/>
                        </a:rPr>
                        <a:t>Sin informar</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875" b="0">
                          <a:solidFill>
                            <a:srgbClr val="203B68"/>
                          </a:solidFill>
                          <a:latin typeface="Calibri"/>
                          <a:ea typeface="Calibri"/>
                          <a:cs typeface="Calibri"/>
                        </a:rPr>
                        <a:t>Aceptar con categoría</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492579">
                <a:tc>
                  <a:txBody>
                    <a:bodyPr/>
                    <a:lstStyle/>
                    <a:p>
                      <a:r>
                        <a:rPr sz="1875" b="0">
                          <a:solidFill>
                            <a:srgbClr val="203B68"/>
                          </a:solidFill>
                          <a:latin typeface="Calibri"/>
                          <a:ea typeface="Calibri"/>
                          <a:cs typeface="Calibri"/>
                        </a:rPr>
                        <a:t>5</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875" b="0">
                          <a:solidFill>
                            <a:srgbClr val="203B68"/>
                          </a:solidFill>
                          <a:latin typeface="Calibri"/>
                          <a:ea typeface="Calibri"/>
                          <a:cs typeface="Calibri"/>
                        </a:rPr>
                        <a:t>2024-II</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875" b="0">
                          <a:solidFill>
                            <a:srgbClr val="203B68"/>
                          </a:solidFill>
                          <a:latin typeface="Calibri"/>
                          <a:ea typeface="Calibri"/>
                          <a:cs typeface="Calibri"/>
                        </a:rPr>
                        <a:t>Bogotá</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875" b="0">
                          <a:solidFill>
                            <a:srgbClr val="203B68"/>
                          </a:solidFill>
                          <a:latin typeface="Calibri"/>
                          <a:ea typeface="Calibri"/>
                          <a:cs typeface="Calibri"/>
                        </a:rPr>
                        <a:t>Aceptar</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492579">
                <a:tc>
                  <a:txBody>
                    <a:bodyPr/>
                    <a:lstStyle/>
                    <a:p>
                      <a:r>
                        <a:rPr sz="1875" b="0">
                          <a:solidFill>
                            <a:srgbClr val="203B68"/>
                          </a:solidFill>
                          <a:latin typeface="Calibri"/>
                          <a:ea typeface="Calibri"/>
                          <a:cs typeface="Calibri"/>
                        </a:rPr>
                        <a:t>6</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875" b="0">
                          <a:solidFill>
                            <a:srgbClr val="203B68"/>
                          </a:solidFill>
                          <a:latin typeface="Calibri"/>
                          <a:ea typeface="Calibri"/>
                          <a:cs typeface="Calibri"/>
                        </a:rPr>
                        <a:t>Inválido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875" b="0">
                          <a:solidFill>
                            <a:srgbClr val="203B68"/>
                          </a:solidFill>
                          <a:latin typeface="Calibri"/>
                          <a:ea typeface="Calibri"/>
                          <a:cs typeface="Calibri"/>
                        </a:rPr>
                        <a:t>Boyacá</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875" b="0">
                          <a:solidFill>
                            <a:srgbClr val="203B68"/>
                          </a:solidFill>
                          <a:latin typeface="Calibri"/>
                          <a:ea typeface="Calibri"/>
                          <a:cs typeface="Calibri"/>
                        </a:rPr>
                        <a:t>Rechazar: período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bl>
          </a:graphicData>
        </a:graphic>
      </p:graphicFrame>
      <p:sp>
        <p:nvSpPr>
          <p:cNvPr id="18" name="check">
            <a:extLst xmlns:a="http://schemas.openxmlformats.org/drawingml/2006/main">
              <a:ext uri="{FF2B5EF4-FFF2-40B4-BE49-F238E27FC236}">
                <a16:creationId xmlns:a16="http://schemas.microsoft.com/office/drawing/2014/main" id="{4E458F68-513E-4ACB-80BA-ABDA581350D1}"/>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Ejemplo didáctico. No corresponde a conteos observados de Supersalud.</a:t>
            </a:r>
          </a:p>
        </p:txBody>
      </p:sp>
      <p:sp>
        <p:nvSpPr>
          <p:cNvPr id="19" name="footer">
            <a:extLst xmlns:a="http://schemas.openxmlformats.org/drawingml/2006/main">
              <a:ext uri="{FF2B5EF4-FFF2-40B4-BE49-F238E27FC236}">
                <a16:creationId xmlns:a16="http://schemas.microsoft.com/office/drawing/2014/main" id="{6C03F971-BF2C-46C4-A668-E7F29CA54776}"/>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934087AF-FFF3-4CA9-8D89-D2CC17AA2C27}"/>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27</a:t>
            </a:r>
          </a:p>
        </p:txBody>
      </p:sp>
    </p:spTree>
    <p:extLst>
      <p:ext uri="{BB962C8B-B14F-4D97-AF65-F5344CB8AC3E}">
        <p14:creationId xmlns:p14="http://schemas.microsoft.com/office/powerpoint/2010/main" val="116899893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A3C9086A-95BE-4AF4-8FB4-47C6EF462E5B}"/>
              </a:ext>
            </a:extLst>
          </p:cNvPr>
          <p:cNvCxnSpPr>
            <a:stCxn xmlns:a="http://schemas.openxmlformats.org/drawingml/2006/main" id="18" idx="3"/>
            <a:endCxn xmlns:a="http://schemas.openxmlformats.org/drawingml/2006/main" id="20" idx="1"/>
          </p:cNvCxnSpPr>
          <p:nvPr/>
        </p:nvCxnSpPr>
        <p:spPr>
          <a:xfrm xmlns:a="http://schemas.openxmlformats.org/drawingml/2006/main">
            <a:off x="7239000" y="3667125"/>
            <a:ext cx="1857375" cy="1333500"/>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2" name="">
            <a:extLst xmlns:a="http://schemas.openxmlformats.org/drawingml/2006/main">
              <a:ext uri="{FF2B5EF4-FFF2-40B4-BE49-F238E27FC236}">
                <a16:creationId xmlns:a16="http://schemas.microsoft.com/office/drawing/2014/main" id="{8200163F-2089-4192-A183-73AAF4AE3799}"/>
              </a:ext>
            </a:extLst>
          </p:cNvPr>
          <p:cNvCxnSpPr>
            <a:stCxn xmlns:a="http://schemas.openxmlformats.org/drawingml/2006/main" id="18" idx="3"/>
            <a:endCxn xmlns:a="http://schemas.openxmlformats.org/drawingml/2006/main" id="19" idx="1"/>
          </p:cNvCxnSpPr>
          <p:nvPr/>
        </p:nvCxnSpPr>
        <p:spPr>
          <a:xfrm xmlns:a="http://schemas.openxmlformats.org/drawingml/2006/main" flipV="1">
            <a:off x="7239000" y="2805113"/>
            <a:ext cx="1857375" cy="862013"/>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1" name="">
            <a:extLst xmlns:a="http://schemas.openxmlformats.org/drawingml/2006/main">
              <a:ext uri="{FF2B5EF4-FFF2-40B4-BE49-F238E27FC236}">
                <a16:creationId xmlns:a16="http://schemas.microsoft.com/office/drawing/2014/main" id="{CBD314D7-CF8D-4E40-964A-6AF960C21889}"/>
              </a:ext>
            </a:extLst>
          </p:cNvPr>
          <p:cNvCxnSpPr>
            <a:stCxn xmlns:a="http://schemas.openxmlformats.org/drawingml/2006/main" id="17" idx="3"/>
            <a:endCxn xmlns:a="http://schemas.openxmlformats.org/drawingml/2006/main" id="18" idx="1"/>
          </p:cNvCxnSpPr>
          <p:nvPr/>
        </p:nvCxnSpPr>
        <p:spPr>
          <a:xfrm xmlns:a="http://schemas.openxmlformats.org/drawingml/2006/main">
            <a:off x="2990850" y="3667125"/>
            <a:ext cx="1676400" cy="0"/>
          </a:xfrm>
          <a:prstGeom xmlns:a="http://schemas.openxmlformats.org/drawingml/2006/main" prst="straightConnector1">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27CF3BDD-E6A9-4792-AFE4-CFDF2DE2C115}"/>
              </a:ext>
            </a:extLst>
          </p:cNvPr>
          <p:cNvPicPr>
            <a:picLocks xmlns:a="http://schemas.openxmlformats.org/drawingml/2006/main" noChangeAspect="1"/>
          </p:cNvPicPr>
          <p:nvPr/>
        </p:nvPicPr>
        <p:blipFill>
          <a:blip xmlns:r="http://schemas.openxmlformats.org/officeDocument/2006/relationships" xmlns:a="http://schemas.openxmlformats.org/drawingml/2006/main" r:embed="Raa79ac73181b495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8BCCDDD9-E0C0-4AC0-91A0-E81A9200C893}"/>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Separación y conciliación</a:t>
            </a:r>
          </a:p>
        </p:txBody>
      </p:sp>
      <p:sp>
        <p:nvSpPr>
          <p:cNvPr id="16" name="lead">
            <a:extLst xmlns:a="http://schemas.openxmlformats.org/drawingml/2006/main">
              <a:ext uri="{FF2B5EF4-FFF2-40B4-BE49-F238E27FC236}">
                <a16:creationId xmlns:a16="http://schemas.microsoft.com/office/drawing/2014/main" id="{9246822C-3512-4AF6-842D-366E663C4129}"/>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Separar aceptados y rechazados permite explicar el destino de cada fila recibida.</a:t>
            </a:r>
          </a:p>
        </p:txBody>
      </p:sp>
      <p:sp>
        <p:nvSpPr>
          <p:cNvPr id="17" name="diagram-node-0">
            <a:extLst xmlns:a="http://schemas.openxmlformats.org/drawingml/2006/main">
              <a:ext uri="{FF2B5EF4-FFF2-40B4-BE49-F238E27FC236}">
                <a16:creationId xmlns:a16="http://schemas.microsoft.com/office/drawing/2014/main" id="{44508720-E240-412D-812A-5FD1A3A0EC7D}"/>
              </a:ext>
            </a:extLst>
          </p:cNvPr>
          <p:cNvSpPr>
            <a:spLocks xmlns:a="http://schemas.openxmlformats.org/drawingml/2006/main" noGrp="1"/>
          </p:cNvSpPr>
          <p:nvPr/>
        </p:nvSpPr>
        <p:spPr>
          <a:xfrm xmlns:a="http://schemas.openxmlformats.org/drawingml/2006/main">
            <a:off x="609600" y="3143250"/>
            <a:ext cx="2381250" cy="1047750"/>
          </a:xfrm>
          <a:prstGeom xmlns:a="http://schemas.openxmlformats.org/drawingml/2006/main" prst="rect">
            <a:avLst/>
          </a:prstGeom>
          <a:solidFill xmlns:a="http://schemas.openxmlformats.org/drawingml/2006/main">
            <a:srgbClr val="F4F6FB"/>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6 filas leídas</a:t>
            </a:r>
          </a:p>
        </p:txBody>
      </p:sp>
      <p:sp>
        <p:nvSpPr>
          <p:cNvPr id="18" name="diagram-node-1">
            <a:extLst xmlns:a="http://schemas.openxmlformats.org/drawingml/2006/main">
              <a:ext uri="{FF2B5EF4-FFF2-40B4-BE49-F238E27FC236}">
                <a16:creationId xmlns:a16="http://schemas.microsoft.com/office/drawing/2014/main" id="{BFB32225-6710-4F35-9043-EC41ACA75EA5}"/>
              </a:ext>
            </a:extLst>
          </p:cNvPr>
          <p:cNvSpPr>
            <a:spLocks xmlns:a="http://schemas.openxmlformats.org/drawingml/2006/main" noGrp="1"/>
          </p:cNvSpPr>
          <p:nvPr/>
        </p:nvSpPr>
        <p:spPr>
          <a:xfrm xmlns:a="http://schemas.openxmlformats.org/drawingml/2006/main">
            <a:off x="4667250" y="3143250"/>
            <a:ext cx="2571750" cy="1047750"/>
          </a:xfrm>
          <a:prstGeom xmlns:a="http://schemas.openxmlformats.org/drawingml/2006/main" prst="rect">
            <a:avLst/>
          </a:prstGeom>
          <a:solidFill xmlns:a="http://schemas.openxmlformats.org/drawingml/2006/main">
            <a:srgbClr val="E9E6F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Reglas</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de aceptación</a:t>
            </a:r>
          </a:p>
        </p:txBody>
      </p:sp>
      <p:sp>
        <p:nvSpPr>
          <p:cNvPr id="19" name="diagram-node-2">
            <a:extLst xmlns:a="http://schemas.openxmlformats.org/drawingml/2006/main">
              <a:ext uri="{FF2B5EF4-FFF2-40B4-BE49-F238E27FC236}">
                <a16:creationId xmlns:a16="http://schemas.microsoft.com/office/drawing/2014/main" id="{BFE147A1-6268-4F17-8F02-73BF4C81F320}"/>
              </a:ext>
            </a:extLst>
          </p:cNvPr>
          <p:cNvSpPr>
            <a:spLocks xmlns:a="http://schemas.openxmlformats.org/drawingml/2006/main" noGrp="1"/>
          </p:cNvSpPr>
          <p:nvPr/>
        </p:nvSpPr>
        <p:spPr>
          <a:xfrm xmlns:a="http://schemas.openxmlformats.org/drawingml/2006/main">
            <a:off x="9096375" y="2305050"/>
            <a:ext cx="2476500" cy="1000125"/>
          </a:xfrm>
          <a:prstGeom xmlns:a="http://schemas.openxmlformats.org/drawingml/2006/main" prst="rect">
            <a:avLst/>
          </a:prstGeom>
          <a:solidFill xmlns:a="http://schemas.openxmlformats.org/drawingml/2006/main">
            <a:srgbClr val="E4F3EF"/>
          </a:solidFill>
          <a:ln xmlns:a="http://schemas.openxmlformats.org/drawingml/2006/main" w="14288">
            <a:solidFill>
              <a:srgbClr val="087F7A"/>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087F7A"/>
                </a:solidFill>
                <a:latin typeface="Calibri"/>
                <a:ea typeface="Calibri"/>
                <a:cs typeface="Calibri"/>
              </a:defRPr>
            </a:defPPr>
            <a:lvl1pPr algn="ctr">
              <a:defRPr sz="1875" b="0">
                <a:solidFill>
                  <a:srgbClr val="087F7A"/>
                </a:solidFill>
                <a:latin typeface="Calibri"/>
                <a:ea typeface="Calibri"/>
                <a:cs typeface="Calibri"/>
              </a:defRPr>
            </a:lvl1pPr>
            <a:lvl2pPr algn="ctr">
              <a:defRPr sz="1875" b="0">
                <a:solidFill>
                  <a:srgbClr val="087F7A"/>
                </a:solidFill>
                <a:latin typeface="Calibri"/>
                <a:ea typeface="Calibri"/>
                <a:cs typeface="Calibri"/>
              </a:defRPr>
            </a:lvl2pPr>
            <a:lvl3pPr algn="ctr">
              <a:defRPr sz="1875" b="0">
                <a:solidFill>
                  <a:srgbClr val="087F7A"/>
                </a:solidFill>
                <a:latin typeface="Calibri"/>
                <a:ea typeface="Calibri"/>
                <a:cs typeface="Calibri"/>
              </a:defRPr>
            </a:lvl3pPr>
            <a:lvl4pPr algn="ctr">
              <a:defRPr sz="1875" b="0">
                <a:solidFill>
                  <a:srgbClr val="087F7A"/>
                </a:solidFill>
                <a:latin typeface="Calibri"/>
                <a:ea typeface="Calibri"/>
                <a:cs typeface="Calibri"/>
              </a:defRPr>
            </a:lvl4pPr>
            <a:lvl5pPr algn="ctr">
              <a:defRPr sz="1875" b="0">
                <a:solidFill>
                  <a:srgbClr val="087F7A"/>
                </a:solidFill>
                <a:latin typeface="Calibri"/>
                <a:ea typeface="Calibri"/>
                <a:cs typeface="Calibri"/>
              </a:defRPr>
            </a:lvl5pPr>
            <a:lvl6pPr algn="ctr">
              <a:defRPr sz="1875" b="0">
                <a:solidFill>
                  <a:srgbClr val="087F7A"/>
                </a:solidFill>
                <a:latin typeface="Calibri"/>
                <a:ea typeface="Calibri"/>
                <a:cs typeface="Calibri"/>
              </a:defRPr>
            </a:lvl6pPr>
            <a:lvl7pPr algn="ctr">
              <a:defRPr sz="1875" b="0">
                <a:solidFill>
                  <a:srgbClr val="087F7A"/>
                </a:solidFill>
                <a:latin typeface="Calibri"/>
                <a:ea typeface="Calibri"/>
                <a:cs typeface="Calibri"/>
              </a:defRPr>
            </a:lvl7pPr>
            <a:lvl8pPr algn="ctr">
              <a:defRPr sz="1875" b="0">
                <a:solidFill>
                  <a:srgbClr val="087F7A"/>
                </a:solidFill>
                <a:latin typeface="Calibri"/>
                <a:ea typeface="Calibri"/>
                <a:cs typeface="Calibri"/>
              </a:defRPr>
            </a:lvl8pPr>
            <a:lvl9pPr algn="ctr">
              <a:defRPr sz="1875" b="0">
                <a:solidFill>
                  <a:srgbClr val="087F7A"/>
                </a:solidFill>
                <a:latin typeface="Calibri"/>
                <a:ea typeface="Calibri"/>
                <a:cs typeface="Calibri"/>
              </a:defRPr>
            </a:lvl9pPr>
          </a:lstStyle>
          <a:p xmlns:a="http://schemas.openxmlformats.org/drawingml/2006/main">
            <a:pPr algn="ctr">
              <a:defRPr sz="1875" b="0">
                <a:solidFill>
                  <a:srgbClr val="087F7A"/>
                </a:solidFill>
                <a:latin typeface="Calibri"/>
                <a:ea typeface="Calibri"/>
                <a:cs typeface="Calibri"/>
              </a:defRPr>
            </a:pPr>
            <a:r>
              <a:rPr sz="1875" b="0">
                <a:solidFill>
                  <a:srgbClr val="087F7A"/>
                </a:solidFill>
                <a:latin typeface="Calibri"/>
                <a:ea typeface="Calibri"/>
                <a:cs typeface="Calibri"/>
              </a:rPr>
              <a:t>5 aceptadas</a:t>
            </a:r>
          </a:p>
        </p:txBody>
      </p:sp>
      <p:sp>
        <p:nvSpPr>
          <p:cNvPr id="20" name="diagram-node-3">
            <a:extLst xmlns:a="http://schemas.openxmlformats.org/drawingml/2006/main">
              <a:ext uri="{FF2B5EF4-FFF2-40B4-BE49-F238E27FC236}">
                <a16:creationId xmlns:a16="http://schemas.microsoft.com/office/drawing/2014/main" id="{472D5B78-C5BA-4E46-87D5-82B85608BAD1}"/>
              </a:ext>
            </a:extLst>
          </p:cNvPr>
          <p:cNvSpPr>
            <a:spLocks xmlns:a="http://schemas.openxmlformats.org/drawingml/2006/main" noGrp="1"/>
          </p:cNvSpPr>
          <p:nvPr/>
        </p:nvSpPr>
        <p:spPr>
          <a:xfrm xmlns:a="http://schemas.openxmlformats.org/drawingml/2006/main">
            <a:off x="9096375" y="4476750"/>
            <a:ext cx="2476500" cy="1047750"/>
          </a:xfrm>
          <a:prstGeom xmlns:a="http://schemas.openxmlformats.org/drawingml/2006/main" prst="rect">
            <a:avLst/>
          </a:prstGeom>
          <a:solidFill xmlns:a="http://schemas.openxmlformats.org/drawingml/2006/main">
            <a:srgbClr val="FFF1EE"/>
          </a:solidFill>
          <a:ln xmlns:a="http://schemas.openxmlformats.org/drawingml/2006/main" w="14288">
            <a:solidFill>
              <a:srgbClr val="A24440"/>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A24440"/>
                </a:solidFill>
                <a:latin typeface="Calibri"/>
                <a:ea typeface="Calibri"/>
                <a:cs typeface="Calibri"/>
              </a:defRPr>
            </a:defPPr>
            <a:lvl1pPr algn="ctr">
              <a:defRPr sz="1875" b="0">
                <a:solidFill>
                  <a:srgbClr val="A24440"/>
                </a:solidFill>
                <a:latin typeface="Calibri"/>
                <a:ea typeface="Calibri"/>
                <a:cs typeface="Calibri"/>
              </a:defRPr>
            </a:lvl1pPr>
            <a:lvl2pPr algn="ctr">
              <a:defRPr sz="1875" b="0">
                <a:solidFill>
                  <a:srgbClr val="A24440"/>
                </a:solidFill>
                <a:latin typeface="Calibri"/>
                <a:ea typeface="Calibri"/>
                <a:cs typeface="Calibri"/>
              </a:defRPr>
            </a:lvl2pPr>
            <a:lvl3pPr algn="ctr">
              <a:defRPr sz="1875" b="0">
                <a:solidFill>
                  <a:srgbClr val="A24440"/>
                </a:solidFill>
                <a:latin typeface="Calibri"/>
                <a:ea typeface="Calibri"/>
                <a:cs typeface="Calibri"/>
              </a:defRPr>
            </a:lvl3pPr>
            <a:lvl4pPr algn="ctr">
              <a:defRPr sz="1875" b="0">
                <a:solidFill>
                  <a:srgbClr val="A24440"/>
                </a:solidFill>
                <a:latin typeface="Calibri"/>
                <a:ea typeface="Calibri"/>
                <a:cs typeface="Calibri"/>
              </a:defRPr>
            </a:lvl4pPr>
            <a:lvl5pPr algn="ctr">
              <a:defRPr sz="1875" b="0">
                <a:solidFill>
                  <a:srgbClr val="A24440"/>
                </a:solidFill>
                <a:latin typeface="Calibri"/>
                <a:ea typeface="Calibri"/>
                <a:cs typeface="Calibri"/>
              </a:defRPr>
            </a:lvl5pPr>
            <a:lvl6pPr algn="ctr">
              <a:defRPr sz="1875" b="0">
                <a:solidFill>
                  <a:srgbClr val="A24440"/>
                </a:solidFill>
                <a:latin typeface="Calibri"/>
                <a:ea typeface="Calibri"/>
                <a:cs typeface="Calibri"/>
              </a:defRPr>
            </a:lvl6pPr>
            <a:lvl7pPr algn="ctr">
              <a:defRPr sz="1875" b="0">
                <a:solidFill>
                  <a:srgbClr val="A24440"/>
                </a:solidFill>
                <a:latin typeface="Calibri"/>
                <a:ea typeface="Calibri"/>
                <a:cs typeface="Calibri"/>
              </a:defRPr>
            </a:lvl7pPr>
            <a:lvl8pPr algn="ctr">
              <a:defRPr sz="1875" b="0">
                <a:solidFill>
                  <a:srgbClr val="A24440"/>
                </a:solidFill>
                <a:latin typeface="Calibri"/>
                <a:ea typeface="Calibri"/>
                <a:cs typeface="Calibri"/>
              </a:defRPr>
            </a:lvl8pPr>
            <a:lvl9pPr algn="ctr">
              <a:defRPr sz="1875" b="0">
                <a:solidFill>
                  <a:srgbClr val="A24440"/>
                </a:solidFill>
                <a:latin typeface="Calibri"/>
                <a:ea typeface="Calibri"/>
                <a:cs typeface="Calibri"/>
              </a:defRPr>
            </a:lvl9pPr>
          </a:lstStyle>
          <a:p xmlns:a="http://schemas.openxmlformats.org/drawingml/2006/main">
            <a:pPr algn="ctr">
              <a:defRPr sz="1875" b="0">
                <a:solidFill>
                  <a:srgbClr val="A24440"/>
                </a:solidFill>
                <a:latin typeface="Calibri"/>
                <a:ea typeface="Calibri"/>
                <a:cs typeface="Calibri"/>
              </a:defRPr>
            </a:pPr>
            <a:r>
              <a:rPr sz="1875" b="0">
                <a:solidFill>
                  <a:srgbClr val="A24440"/>
                </a:solidFill>
                <a:latin typeface="Calibri"/>
                <a:ea typeface="Calibri"/>
                <a:cs typeface="Calibri"/>
              </a:rPr>
              <a:t>1 rechazada</a:t>
            </a:r>
          </a:p>
          <a:p xmlns:a="http://schemas.openxmlformats.org/drawingml/2006/main">
            <a:pPr algn="ctr">
              <a:defRPr sz="1875" b="0">
                <a:solidFill>
                  <a:srgbClr val="A24440"/>
                </a:solidFill>
                <a:latin typeface="Calibri"/>
                <a:ea typeface="Calibri"/>
                <a:cs typeface="Calibri"/>
              </a:defRPr>
            </a:pPr>
            <a:r>
              <a:rPr sz="1875" b="0">
                <a:solidFill>
                  <a:srgbClr val="A24440"/>
                </a:solidFill>
                <a:latin typeface="Calibri"/>
                <a:ea typeface="Calibri"/>
                <a:cs typeface="Calibri"/>
              </a:rPr>
              <a:t>Motivo conservado</a:t>
            </a:r>
          </a:p>
        </p:txBody>
      </p:sp>
      <p:sp>
        <p:nvSpPr>
          <p:cNvPr id="24" name="check">
            <a:extLst xmlns:a="http://schemas.openxmlformats.org/drawingml/2006/main">
              <a:ext uri="{FF2B5EF4-FFF2-40B4-BE49-F238E27FC236}">
                <a16:creationId xmlns:a16="http://schemas.microsoft.com/office/drawing/2014/main" id="{BA689F99-9718-4A72-A9E8-8B28966A5CDB}"/>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Ejemplo hipotético: 6 = 5 + 1. Los motivos pueden superar el número de rechazadas.</a:t>
            </a:r>
          </a:p>
        </p:txBody>
      </p:sp>
      <p:sp>
        <p:nvSpPr>
          <p:cNvPr id="25" name="footer">
            <a:extLst xmlns:a="http://schemas.openxmlformats.org/drawingml/2006/main">
              <a:ext uri="{FF2B5EF4-FFF2-40B4-BE49-F238E27FC236}">
                <a16:creationId xmlns:a16="http://schemas.microsoft.com/office/drawing/2014/main" id="{CA1BC381-9610-4033-8660-6519E0789DA2}"/>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6" name="page">
            <a:extLst xmlns:a="http://schemas.openxmlformats.org/drawingml/2006/main">
              <a:ext uri="{FF2B5EF4-FFF2-40B4-BE49-F238E27FC236}">
                <a16:creationId xmlns:a16="http://schemas.microsoft.com/office/drawing/2014/main" id="{EE133BF7-1DAC-4704-A40E-39B4F33D693C}"/>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28</a:t>
            </a:r>
          </a:p>
        </p:txBody>
      </p:sp>
    </p:spTree>
    <p:extLst>
      <p:ext uri="{BB962C8B-B14F-4D97-AF65-F5344CB8AC3E}">
        <p14:creationId xmlns:p14="http://schemas.microsoft.com/office/powerpoint/2010/main" val="116899893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22AF59CE-80BC-4B78-AF93-53A9D792006F}"/>
              </a:ext>
            </a:extLst>
          </p:cNvPr>
          <p:cNvCxnSpPr>
            <a:stCxn xmlns:a="http://schemas.openxmlformats.org/drawingml/2006/main" id="21" idx="3"/>
            <a:endCxn xmlns:a="http://schemas.openxmlformats.org/drawingml/2006/main" id="25" idx="1"/>
          </p:cNvCxnSpPr>
          <p:nvPr/>
        </p:nvCxnSpPr>
        <p:spPr>
          <a:xfrm xmlns:a="http://schemas.openxmlformats.org/drawingml/2006/main" flipV="1">
            <a:off x="3143250" y="5305425"/>
            <a:ext cx="4953000" cy="28575"/>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9" name="">
            <a:extLst xmlns:a="http://schemas.openxmlformats.org/drawingml/2006/main">
              <a:ext uri="{FF2B5EF4-FFF2-40B4-BE49-F238E27FC236}">
                <a16:creationId xmlns:a16="http://schemas.microsoft.com/office/drawing/2014/main" id="{E25ECBFB-ADE9-4A55-9081-4E958FF2D1AC}"/>
              </a:ext>
            </a:extLst>
          </p:cNvPr>
          <p:cNvCxnSpPr>
            <a:stCxn xmlns:a="http://schemas.openxmlformats.org/drawingml/2006/main" id="20" idx="3"/>
            <a:endCxn xmlns:a="http://schemas.openxmlformats.org/drawingml/2006/main" id="24" idx="1"/>
          </p:cNvCxnSpPr>
          <p:nvPr/>
        </p:nvCxnSpPr>
        <p:spPr>
          <a:xfrm xmlns:a="http://schemas.openxmlformats.org/drawingml/2006/main" flipV="1">
            <a:off x="3143250" y="4410075"/>
            <a:ext cx="4953000" cy="219075"/>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8" name="">
            <a:extLst xmlns:a="http://schemas.openxmlformats.org/drawingml/2006/main">
              <a:ext uri="{FF2B5EF4-FFF2-40B4-BE49-F238E27FC236}">
                <a16:creationId xmlns:a16="http://schemas.microsoft.com/office/drawing/2014/main" id="{DA619F4C-8823-490F-B0A1-9D2C34EE0DAF}"/>
              </a:ext>
            </a:extLst>
          </p:cNvPr>
          <p:cNvCxnSpPr>
            <a:stCxn xmlns:a="http://schemas.openxmlformats.org/drawingml/2006/main" id="19" idx="3"/>
            <a:endCxn xmlns:a="http://schemas.openxmlformats.org/drawingml/2006/main" id="23" idx="1"/>
          </p:cNvCxnSpPr>
          <p:nvPr/>
        </p:nvCxnSpPr>
        <p:spPr>
          <a:xfrm xmlns:a="http://schemas.openxmlformats.org/drawingml/2006/main" flipV="1">
            <a:off x="3143250" y="3514725"/>
            <a:ext cx="4953000" cy="409575"/>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7" name="">
            <a:extLst xmlns:a="http://schemas.openxmlformats.org/drawingml/2006/main">
              <a:ext uri="{FF2B5EF4-FFF2-40B4-BE49-F238E27FC236}">
                <a16:creationId xmlns:a16="http://schemas.microsoft.com/office/drawing/2014/main" id="{F15194B7-0F91-4099-8EC7-ACF0793E57A8}"/>
              </a:ext>
            </a:extLst>
          </p:cNvPr>
          <p:cNvCxnSpPr>
            <a:stCxn xmlns:a="http://schemas.openxmlformats.org/drawingml/2006/main" id="18" idx="3"/>
            <a:endCxn xmlns:a="http://schemas.openxmlformats.org/drawingml/2006/main" id="22" idx="1"/>
          </p:cNvCxnSpPr>
          <p:nvPr/>
        </p:nvCxnSpPr>
        <p:spPr>
          <a:xfrm xmlns:a="http://schemas.openxmlformats.org/drawingml/2006/main" flipV="1">
            <a:off x="3143250" y="2619375"/>
            <a:ext cx="4953000" cy="600075"/>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6" name="">
            <a:extLst xmlns:a="http://schemas.openxmlformats.org/drawingml/2006/main">
              <a:ext uri="{FF2B5EF4-FFF2-40B4-BE49-F238E27FC236}">
                <a16:creationId xmlns:a16="http://schemas.microsoft.com/office/drawing/2014/main" id="{90403CF5-9CCF-4993-9BD1-78958BF4AF8A}"/>
              </a:ext>
            </a:extLst>
          </p:cNvPr>
          <p:cNvCxnSpPr>
            <a:stCxn xmlns:a="http://schemas.openxmlformats.org/drawingml/2006/main" id="17" idx="3"/>
            <a:endCxn xmlns:a="http://schemas.openxmlformats.org/drawingml/2006/main" id="22" idx="1"/>
          </p:cNvCxnSpPr>
          <p:nvPr/>
        </p:nvCxnSpPr>
        <p:spPr>
          <a:xfrm xmlns:a="http://schemas.openxmlformats.org/drawingml/2006/main">
            <a:off x="3143250" y="2514600"/>
            <a:ext cx="4953000" cy="104775"/>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F6797032-F431-4342-AE09-1375F8D02DF8}"/>
              </a:ext>
            </a:extLst>
          </p:cNvPr>
          <p:cNvPicPr>
            <a:picLocks xmlns:a="http://schemas.openxmlformats.org/drawingml/2006/main" noChangeAspect="1"/>
          </p:cNvPicPr>
          <p:nvPr/>
        </p:nvPicPr>
        <p:blipFill>
          <a:blip xmlns:r="http://schemas.openxmlformats.org/officeDocument/2006/relationships" xmlns:a="http://schemas.openxmlformats.org/drawingml/2006/main" r:embed="R2cf360a4c77d437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577EBAD5-5B1B-4053-A756-69CBF1CE9D78}"/>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Detalle y granularidad del agregado</a:t>
            </a:r>
          </a:p>
        </p:txBody>
      </p:sp>
      <p:sp>
        <p:nvSpPr>
          <p:cNvPr id="16" name="lead">
            <a:extLst xmlns:a="http://schemas.openxmlformats.org/drawingml/2006/main">
              <a:ext uri="{FF2B5EF4-FFF2-40B4-BE49-F238E27FC236}">
                <a16:creationId xmlns:a16="http://schemas.microsoft.com/office/drawing/2014/main" id="{03A92662-7E55-4AE7-BC7C-719815226A73}"/>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El detalle permite revisar casos. El agregado responde una pregunta con menos filas.</a:t>
            </a:r>
          </a:p>
        </p:txBody>
      </p:sp>
      <p:sp>
        <p:nvSpPr>
          <p:cNvPr id="17" name="diagram-node-0">
            <a:extLst xmlns:a="http://schemas.openxmlformats.org/drawingml/2006/main">
              <a:ext uri="{FF2B5EF4-FFF2-40B4-BE49-F238E27FC236}">
                <a16:creationId xmlns:a16="http://schemas.microsoft.com/office/drawing/2014/main" id="{BBBAA7A2-A1A2-475F-AC2F-751D805919A4}"/>
              </a:ext>
            </a:extLst>
          </p:cNvPr>
          <p:cNvSpPr>
            <a:spLocks xmlns:a="http://schemas.openxmlformats.org/drawingml/2006/main" noGrp="1"/>
          </p:cNvSpPr>
          <p:nvPr/>
        </p:nvSpPr>
        <p:spPr>
          <a:xfrm xmlns:a="http://schemas.openxmlformats.org/drawingml/2006/main">
            <a:off x="762000" y="2209800"/>
            <a:ext cx="2381250" cy="609600"/>
          </a:xfrm>
          <a:prstGeom xmlns:a="http://schemas.openxmlformats.org/drawingml/2006/main" prst="rect">
            <a:avLst/>
          </a:prstGeom>
          <a:solidFill xmlns:a="http://schemas.openxmlformats.org/drawingml/2006/main">
            <a:srgbClr val="E9E6F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Reporte 1</a:t>
            </a:r>
          </a:p>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I / Bogotá</a:t>
            </a:r>
          </a:p>
        </p:txBody>
      </p:sp>
      <p:sp>
        <p:nvSpPr>
          <p:cNvPr id="18" name="diagram-node-1">
            <a:extLst xmlns:a="http://schemas.openxmlformats.org/drawingml/2006/main">
              <a:ext uri="{FF2B5EF4-FFF2-40B4-BE49-F238E27FC236}">
                <a16:creationId xmlns:a16="http://schemas.microsoft.com/office/drawing/2014/main" id="{A2DEB2FF-432C-4E45-8AF9-0951EF022B7E}"/>
              </a:ext>
            </a:extLst>
          </p:cNvPr>
          <p:cNvSpPr>
            <a:spLocks xmlns:a="http://schemas.openxmlformats.org/drawingml/2006/main" noGrp="1"/>
          </p:cNvSpPr>
          <p:nvPr/>
        </p:nvSpPr>
        <p:spPr>
          <a:xfrm xmlns:a="http://schemas.openxmlformats.org/drawingml/2006/main">
            <a:off x="762000" y="2914650"/>
            <a:ext cx="2381250" cy="609600"/>
          </a:xfrm>
          <a:prstGeom xmlns:a="http://schemas.openxmlformats.org/drawingml/2006/main" prst="rect">
            <a:avLst/>
          </a:prstGeom>
          <a:solidFill xmlns:a="http://schemas.openxmlformats.org/drawingml/2006/main">
            <a:srgbClr val="E9E6F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Reporte 2</a:t>
            </a:r>
          </a:p>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I / Bogotá</a:t>
            </a:r>
          </a:p>
        </p:txBody>
      </p:sp>
      <p:sp>
        <p:nvSpPr>
          <p:cNvPr id="19" name="diagram-node-2">
            <a:extLst xmlns:a="http://schemas.openxmlformats.org/drawingml/2006/main">
              <a:ext uri="{FF2B5EF4-FFF2-40B4-BE49-F238E27FC236}">
                <a16:creationId xmlns:a16="http://schemas.microsoft.com/office/drawing/2014/main" id="{5C48BC86-D5A8-4453-9C5D-F1869C0CB96A}"/>
              </a:ext>
            </a:extLst>
          </p:cNvPr>
          <p:cNvSpPr>
            <a:spLocks xmlns:a="http://schemas.openxmlformats.org/drawingml/2006/main" noGrp="1"/>
          </p:cNvSpPr>
          <p:nvPr/>
        </p:nvSpPr>
        <p:spPr>
          <a:xfrm xmlns:a="http://schemas.openxmlformats.org/drawingml/2006/main">
            <a:off x="762000" y="3619500"/>
            <a:ext cx="2381250" cy="609600"/>
          </a:xfrm>
          <a:prstGeom xmlns:a="http://schemas.openxmlformats.org/drawingml/2006/main" prst="rect">
            <a:avLst/>
          </a:prstGeom>
          <a:solidFill xmlns:a="http://schemas.openxmlformats.org/drawingml/2006/main">
            <a:srgbClr val="E4F3E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Reporte 3</a:t>
            </a:r>
          </a:p>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I / Boyacá</a:t>
            </a:r>
          </a:p>
        </p:txBody>
      </p:sp>
      <p:sp>
        <p:nvSpPr>
          <p:cNvPr id="20" name="diagram-node-3">
            <a:extLst xmlns:a="http://schemas.openxmlformats.org/drawingml/2006/main">
              <a:ext uri="{FF2B5EF4-FFF2-40B4-BE49-F238E27FC236}">
                <a16:creationId xmlns:a16="http://schemas.microsoft.com/office/drawing/2014/main" id="{15317357-976F-47E9-9B7D-FC8F73EE89AD}"/>
              </a:ext>
            </a:extLst>
          </p:cNvPr>
          <p:cNvSpPr>
            <a:spLocks xmlns:a="http://schemas.openxmlformats.org/drawingml/2006/main" noGrp="1"/>
          </p:cNvSpPr>
          <p:nvPr/>
        </p:nvSpPr>
        <p:spPr>
          <a:xfrm xmlns:a="http://schemas.openxmlformats.org/drawingml/2006/main">
            <a:off x="762000" y="4324350"/>
            <a:ext cx="2381250" cy="609600"/>
          </a:xfrm>
          <a:prstGeom xmlns:a="http://schemas.openxmlformats.org/drawingml/2006/main" prst="rect">
            <a:avLst/>
          </a:prstGeom>
          <a:solidFill xmlns:a="http://schemas.openxmlformats.org/drawingml/2006/main">
            <a:srgbClr val="EDF4FA"/>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Reporte 4</a:t>
            </a:r>
          </a:p>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I / Sin informar</a:t>
            </a:r>
          </a:p>
        </p:txBody>
      </p:sp>
      <p:sp>
        <p:nvSpPr>
          <p:cNvPr id="21" name="diagram-node-4">
            <a:extLst xmlns:a="http://schemas.openxmlformats.org/drawingml/2006/main">
              <a:ext uri="{FF2B5EF4-FFF2-40B4-BE49-F238E27FC236}">
                <a16:creationId xmlns:a16="http://schemas.microsoft.com/office/drawing/2014/main" id="{D65AED39-5D40-4E9D-AF43-7F9875360336}"/>
              </a:ext>
            </a:extLst>
          </p:cNvPr>
          <p:cNvSpPr>
            <a:spLocks xmlns:a="http://schemas.openxmlformats.org/drawingml/2006/main" noGrp="1"/>
          </p:cNvSpPr>
          <p:nvPr/>
        </p:nvSpPr>
        <p:spPr>
          <a:xfrm xmlns:a="http://schemas.openxmlformats.org/drawingml/2006/main">
            <a:off x="762000" y="5029200"/>
            <a:ext cx="2381250" cy="609600"/>
          </a:xfrm>
          <a:prstGeom xmlns:a="http://schemas.openxmlformats.org/drawingml/2006/main" prst="rect">
            <a:avLst/>
          </a:prstGeom>
          <a:solidFill xmlns:a="http://schemas.openxmlformats.org/drawingml/2006/main">
            <a:srgbClr val="FFF1EE"/>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725" b="0">
                <a:solidFill>
                  <a:srgbClr val="203B68"/>
                </a:solidFill>
                <a:latin typeface="Calibri"/>
                <a:ea typeface="Calibri"/>
                <a:cs typeface="Calibri"/>
              </a:defRPr>
            </a:defPPr>
            <a:lvl1pPr algn="ctr">
              <a:defRPr sz="1725" b="0">
                <a:solidFill>
                  <a:srgbClr val="203B68"/>
                </a:solidFill>
                <a:latin typeface="Calibri"/>
                <a:ea typeface="Calibri"/>
                <a:cs typeface="Calibri"/>
              </a:defRPr>
            </a:lvl1pPr>
            <a:lvl2pPr algn="ctr">
              <a:defRPr sz="1725" b="0">
                <a:solidFill>
                  <a:srgbClr val="203B68"/>
                </a:solidFill>
                <a:latin typeface="Calibri"/>
                <a:ea typeface="Calibri"/>
                <a:cs typeface="Calibri"/>
              </a:defRPr>
            </a:lvl2pPr>
            <a:lvl3pPr algn="ctr">
              <a:defRPr sz="1725" b="0">
                <a:solidFill>
                  <a:srgbClr val="203B68"/>
                </a:solidFill>
                <a:latin typeface="Calibri"/>
                <a:ea typeface="Calibri"/>
                <a:cs typeface="Calibri"/>
              </a:defRPr>
            </a:lvl3pPr>
            <a:lvl4pPr algn="ctr">
              <a:defRPr sz="1725" b="0">
                <a:solidFill>
                  <a:srgbClr val="203B68"/>
                </a:solidFill>
                <a:latin typeface="Calibri"/>
                <a:ea typeface="Calibri"/>
                <a:cs typeface="Calibri"/>
              </a:defRPr>
            </a:lvl4pPr>
            <a:lvl5pPr algn="ctr">
              <a:defRPr sz="1725" b="0">
                <a:solidFill>
                  <a:srgbClr val="203B68"/>
                </a:solidFill>
                <a:latin typeface="Calibri"/>
                <a:ea typeface="Calibri"/>
                <a:cs typeface="Calibri"/>
              </a:defRPr>
            </a:lvl5pPr>
            <a:lvl6pPr algn="ctr">
              <a:defRPr sz="1725" b="0">
                <a:solidFill>
                  <a:srgbClr val="203B68"/>
                </a:solidFill>
                <a:latin typeface="Calibri"/>
                <a:ea typeface="Calibri"/>
                <a:cs typeface="Calibri"/>
              </a:defRPr>
            </a:lvl6pPr>
            <a:lvl7pPr algn="ctr">
              <a:defRPr sz="1725" b="0">
                <a:solidFill>
                  <a:srgbClr val="203B68"/>
                </a:solidFill>
                <a:latin typeface="Calibri"/>
                <a:ea typeface="Calibri"/>
                <a:cs typeface="Calibri"/>
              </a:defRPr>
            </a:lvl7pPr>
            <a:lvl8pPr algn="ctr">
              <a:defRPr sz="1725" b="0">
                <a:solidFill>
                  <a:srgbClr val="203B68"/>
                </a:solidFill>
                <a:latin typeface="Calibri"/>
                <a:ea typeface="Calibri"/>
                <a:cs typeface="Calibri"/>
              </a:defRPr>
            </a:lvl8pPr>
            <a:lvl9pPr algn="ctr">
              <a:defRPr sz="1725" b="0">
                <a:solidFill>
                  <a:srgbClr val="203B68"/>
                </a:solidFill>
                <a:latin typeface="Calibri"/>
                <a:ea typeface="Calibri"/>
                <a:cs typeface="Calibri"/>
              </a:defRPr>
            </a:lvl9pPr>
          </a:lstStyle>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Reporte 5</a:t>
            </a:r>
          </a:p>
          <a:p xmlns:a="http://schemas.openxmlformats.org/drawingml/2006/main">
            <a:pPr algn="ctr">
              <a:defRPr sz="1725" b="0">
                <a:solidFill>
                  <a:srgbClr val="203B68"/>
                </a:solidFill>
                <a:latin typeface="Calibri"/>
                <a:ea typeface="Calibri"/>
                <a:cs typeface="Calibri"/>
              </a:defRPr>
            </a:pPr>
            <a:r>
              <a:rPr sz="1725" b="0">
                <a:solidFill>
                  <a:srgbClr val="203B68"/>
                </a:solidFill>
                <a:latin typeface="Calibri"/>
                <a:ea typeface="Calibri"/>
                <a:cs typeface="Calibri"/>
              </a:rPr>
              <a:t>II / Bogotá</a:t>
            </a:r>
          </a:p>
        </p:txBody>
      </p:sp>
      <p:sp>
        <p:nvSpPr>
          <p:cNvPr id="22" name="diagram-node-5">
            <a:extLst xmlns:a="http://schemas.openxmlformats.org/drawingml/2006/main">
              <a:ext uri="{FF2B5EF4-FFF2-40B4-BE49-F238E27FC236}">
                <a16:creationId xmlns:a16="http://schemas.microsoft.com/office/drawing/2014/main" id="{F63FA791-E35B-4794-8908-F7E1006D4C38}"/>
              </a:ext>
            </a:extLst>
          </p:cNvPr>
          <p:cNvSpPr>
            <a:spLocks xmlns:a="http://schemas.openxmlformats.org/drawingml/2006/main" noGrp="1"/>
          </p:cNvSpPr>
          <p:nvPr/>
        </p:nvSpPr>
        <p:spPr>
          <a:xfrm xmlns:a="http://schemas.openxmlformats.org/drawingml/2006/main">
            <a:off x="8096250" y="2286000"/>
            <a:ext cx="3333750" cy="666750"/>
          </a:xfrm>
          <a:prstGeom xmlns:a="http://schemas.openxmlformats.org/drawingml/2006/main" prst="rect">
            <a:avLst/>
          </a:prstGeom>
          <a:solidFill xmlns:a="http://schemas.openxmlformats.org/drawingml/2006/main">
            <a:srgbClr val="E9E6F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00" b="0">
                <a:solidFill>
                  <a:srgbClr val="203B68"/>
                </a:solidFill>
                <a:latin typeface="Calibri"/>
                <a:ea typeface="Calibri"/>
                <a:cs typeface="Calibri"/>
              </a:defRPr>
            </a:defPPr>
            <a:lvl1pPr algn="ctr">
              <a:defRPr sz="1800" b="0">
                <a:solidFill>
                  <a:srgbClr val="203B68"/>
                </a:solidFill>
                <a:latin typeface="Calibri"/>
                <a:ea typeface="Calibri"/>
                <a:cs typeface="Calibri"/>
              </a:defRPr>
            </a:lvl1pPr>
            <a:lvl2pPr algn="ctr">
              <a:defRPr sz="1800" b="0">
                <a:solidFill>
                  <a:srgbClr val="203B68"/>
                </a:solidFill>
                <a:latin typeface="Calibri"/>
                <a:ea typeface="Calibri"/>
                <a:cs typeface="Calibri"/>
              </a:defRPr>
            </a:lvl2pPr>
            <a:lvl3pPr algn="ctr">
              <a:defRPr sz="1800" b="0">
                <a:solidFill>
                  <a:srgbClr val="203B68"/>
                </a:solidFill>
                <a:latin typeface="Calibri"/>
                <a:ea typeface="Calibri"/>
                <a:cs typeface="Calibri"/>
              </a:defRPr>
            </a:lvl3pPr>
            <a:lvl4pPr algn="ctr">
              <a:defRPr sz="1800" b="0">
                <a:solidFill>
                  <a:srgbClr val="203B68"/>
                </a:solidFill>
                <a:latin typeface="Calibri"/>
                <a:ea typeface="Calibri"/>
                <a:cs typeface="Calibri"/>
              </a:defRPr>
            </a:lvl4pPr>
            <a:lvl5pPr algn="ctr">
              <a:defRPr sz="1800" b="0">
                <a:solidFill>
                  <a:srgbClr val="203B68"/>
                </a:solidFill>
                <a:latin typeface="Calibri"/>
                <a:ea typeface="Calibri"/>
                <a:cs typeface="Calibri"/>
              </a:defRPr>
            </a:lvl5pPr>
            <a:lvl6pPr algn="ctr">
              <a:defRPr sz="1800" b="0">
                <a:solidFill>
                  <a:srgbClr val="203B68"/>
                </a:solidFill>
                <a:latin typeface="Calibri"/>
                <a:ea typeface="Calibri"/>
                <a:cs typeface="Calibri"/>
              </a:defRPr>
            </a:lvl6pPr>
            <a:lvl7pPr algn="ctr">
              <a:defRPr sz="1800" b="0">
                <a:solidFill>
                  <a:srgbClr val="203B68"/>
                </a:solidFill>
                <a:latin typeface="Calibri"/>
                <a:ea typeface="Calibri"/>
                <a:cs typeface="Calibri"/>
              </a:defRPr>
            </a:lvl7pPr>
            <a:lvl8pPr algn="ctr">
              <a:defRPr sz="1800" b="0">
                <a:solidFill>
                  <a:srgbClr val="203B68"/>
                </a:solidFill>
                <a:latin typeface="Calibri"/>
                <a:ea typeface="Calibri"/>
                <a:cs typeface="Calibri"/>
              </a:defRPr>
            </a:lvl8pPr>
            <a:lvl9pPr algn="ctr">
              <a:defRPr sz="1800" b="0">
                <a:solidFill>
                  <a:srgbClr val="203B68"/>
                </a:solidFill>
                <a:latin typeface="Calibri"/>
                <a:ea typeface="Calibri"/>
                <a:cs typeface="Calibri"/>
              </a:defRPr>
            </a:lvl9pPr>
          </a:lstStyle>
          <a:p xmlns:a="http://schemas.openxmlformats.org/drawingml/2006/main">
            <a:pPr algn="ctr">
              <a:defRPr sz="1800" b="0">
                <a:solidFill>
                  <a:srgbClr val="203B68"/>
                </a:solidFill>
                <a:latin typeface="Calibri"/>
                <a:ea typeface="Calibri"/>
                <a:cs typeface="Calibri"/>
              </a:defRPr>
            </a:pPr>
            <a:r>
              <a:rPr sz="1800" b="0">
                <a:solidFill>
                  <a:srgbClr val="203B68"/>
                </a:solidFill>
                <a:latin typeface="Calibri"/>
                <a:ea typeface="Calibri"/>
                <a:cs typeface="Calibri"/>
              </a:rPr>
              <a:t>I / Bogotá</a:t>
            </a:r>
          </a:p>
          <a:p xmlns:a="http://schemas.openxmlformats.org/drawingml/2006/main">
            <a:pPr algn="ctr">
              <a:defRPr sz="1800" b="0">
                <a:solidFill>
                  <a:srgbClr val="203B68"/>
                </a:solidFill>
                <a:latin typeface="Calibri"/>
                <a:ea typeface="Calibri"/>
                <a:cs typeface="Calibri"/>
              </a:defRPr>
            </a:pPr>
            <a:r>
              <a:rPr sz="1800" b="0">
                <a:solidFill>
                  <a:srgbClr val="203B68"/>
                </a:solidFill>
                <a:latin typeface="Calibri"/>
                <a:ea typeface="Calibri"/>
                <a:cs typeface="Calibri"/>
              </a:rPr>
              <a:t>2 reportes</a:t>
            </a:r>
          </a:p>
        </p:txBody>
      </p:sp>
      <p:sp>
        <p:nvSpPr>
          <p:cNvPr id="23" name="diagram-node-6">
            <a:extLst xmlns:a="http://schemas.openxmlformats.org/drawingml/2006/main">
              <a:ext uri="{FF2B5EF4-FFF2-40B4-BE49-F238E27FC236}">
                <a16:creationId xmlns:a16="http://schemas.microsoft.com/office/drawing/2014/main" id="{0E2366A1-116F-49E7-A0B8-6A84861A93EC}"/>
              </a:ext>
            </a:extLst>
          </p:cNvPr>
          <p:cNvSpPr>
            <a:spLocks xmlns:a="http://schemas.openxmlformats.org/drawingml/2006/main" noGrp="1"/>
          </p:cNvSpPr>
          <p:nvPr/>
        </p:nvSpPr>
        <p:spPr>
          <a:xfrm xmlns:a="http://schemas.openxmlformats.org/drawingml/2006/main">
            <a:off x="8096250" y="3181350"/>
            <a:ext cx="3333750" cy="666750"/>
          </a:xfrm>
          <a:prstGeom xmlns:a="http://schemas.openxmlformats.org/drawingml/2006/main" prst="rect">
            <a:avLst/>
          </a:prstGeom>
          <a:solidFill xmlns:a="http://schemas.openxmlformats.org/drawingml/2006/main">
            <a:srgbClr val="E4F3E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00" b="0">
                <a:solidFill>
                  <a:srgbClr val="203B68"/>
                </a:solidFill>
                <a:latin typeface="Calibri"/>
                <a:ea typeface="Calibri"/>
                <a:cs typeface="Calibri"/>
              </a:defRPr>
            </a:defPPr>
            <a:lvl1pPr algn="ctr">
              <a:defRPr sz="1800" b="0">
                <a:solidFill>
                  <a:srgbClr val="203B68"/>
                </a:solidFill>
                <a:latin typeface="Calibri"/>
                <a:ea typeface="Calibri"/>
                <a:cs typeface="Calibri"/>
              </a:defRPr>
            </a:lvl1pPr>
            <a:lvl2pPr algn="ctr">
              <a:defRPr sz="1800" b="0">
                <a:solidFill>
                  <a:srgbClr val="203B68"/>
                </a:solidFill>
                <a:latin typeface="Calibri"/>
                <a:ea typeface="Calibri"/>
                <a:cs typeface="Calibri"/>
              </a:defRPr>
            </a:lvl2pPr>
            <a:lvl3pPr algn="ctr">
              <a:defRPr sz="1800" b="0">
                <a:solidFill>
                  <a:srgbClr val="203B68"/>
                </a:solidFill>
                <a:latin typeface="Calibri"/>
                <a:ea typeface="Calibri"/>
                <a:cs typeface="Calibri"/>
              </a:defRPr>
            </a:lvl3pPr>
            <a:lvl4pPr algn="ctr">
              <a:defRPr sz="1800" b="0">
                <a:solidFill>
                  <a:srgbClr val="203B68"/>
                </a:solidFill>
                <a:latin typeface="Calibri"/>
                <a:ea typeface="Calibri"/>
                <a:cs typeface="Calibri"/>
              </a:defRPr>
            </a:lvl4pPr>
            <a:lvl5pPr algn="ctr">
              <a:defRPr sz="1800" b="0">
                <a:solidFill>
                  <a:srgbClr val="203B68"/>
                </a:solidFill>
                <a:latin typeface="Calibri"/>
                <a:ea typeface="Calibri"/>
                <a:cs typeface="Calibri"/>
              </a:defRPr>
            </a:lvl5pPr>
            <a:lvl6pPr algn="ctr">
              <a:defRPr sz="1800" b="0">
                <a:solidFill>
                  <a:srgbClr val="203B68"/>
                </a:solidFill>
                <a:latin typeface="Calibri"/>
                <a:ea typeface="Calibri"/>
                <a:cs typeface="Calibri"/>
              </a:defRPr>
            </a:lvl6pPr>
            <a:lvl7pPr algn="ctr">
              <a:defRPr sz="1800" b="0">
                <a:solidFill>
                  <a:srgbClr val="203B68"/>
                </a:solidFill>
                <a:latin typeface="Calibri"/>
                <a:ea typeface="Calibri"/>
                <a:cs typeface="Calibri"/>
              </a:defRPr>
            </a:lvl7pPr>
            <a:lvl8pPr algn="ctr">
              <a:defRPr sz="1800" b="0">
                <a:solidFill>
                  <a:srgbClr val="203B68"/>
                </a:solidFill>
                <a:latin typeface="Calibri"/>
                <a:ea typeface="Calibri"/>
                <a:cs typeface="Calibri"/>
              </a:defRPr>
            </a:lvl8pPr>
            <a:lvl9pPr algn="ctr">
              <a:defRPr sz="1800" b="0">
                <a:solidFill>
                  <a:srgbClr val="203B68"/>
                </a:solidFill>
                <a:latin typeface="Calibri"/>
                <a:ea typeface="Calibri"/>
                <a:cs typeface="Calibri"/>
              </a:defRPr>
            </a:lvl9pPr>
          </a:lstStyle>
          <a:p xmlns:a="http://schemas.openxmlformats.org/drawingml/2006/main">
            <a:pPr algn="ctr">
              <a:defRPr sz="1800" b="0">
                <a:solidFill>
                  <a:srgbClr val="203B68"/>
                </a:solidFill>
                <a:latin typeface="Calibri"/>
                <a:ea typeface="Calibri"/>
                <a:cs typeface="Calibri"/>
              </a:defRPr>
            </a:pPr>
            <a:r>
              <a:rPr sz="1800" b="0">
                <a:solidFill>
                  <a:srgbClr val="203B68"/>
                </a:solidFill>
                <a:latin typeface="Calibri"/>
                <a:ea typeface="Calibri"/>
                <a:cs typeface="Calibri"/>
              </a:rPr>
              <a:t>I / Boyacá</a:t>
            </a:r>
          </a:p>
          <a:p xmlns:a="http://schemas.openxmlformats.org/drawingml/2006/main">
            <a:pPr algn="ctr">
              <a:defRPr sz="1800" b="0">
                <a:solidFill>
                  <a:srgbClr val="203B68"/>
                </a:solidFill>
                <a:latin typeface="Calibri"/>
                <a:ea typeface="Calibri"/>
                <a:cs typeface="Calibri"/>
              </a:defRPr>
            </a:pPr>
            <a:r>
              <a:rPr sz="1800" b="0">
                <a:solidFill>
                  <a:srgbClr val="203B68"/>
                </a:solidFill>
                <a:latin typeface="Calibri"/>
                <a:ea typeface="Calibri"/>
                <a:cs typeface="Calibri"/>
              </a:rPr>
              <a:t>1 reporte</a:t>
            </a:r>
          </a:p>
        </p:txBody>
      </p:sp>
      <p:sp>
        <p:nvSpPr>
          <p:cNvPr id="24" name="diagram-node-7">
            <a:extLst xmlns:a="http://schemas.openxmlformats.org/drawingml/2006/main">
              <a:ext uri="{FF2B5EF4-FFF2-40B4-BE49-F238E27FC236}">
                <a16:creationId xmlns:a16="http://schemas.microsoft.com/office/drawing/2014/main" id="{B495F5BA-BF2C-4298-8D10-37EE98E5C724}"/>
              </a:ext>
            </a:extLst>
          </p:cNvPr>
          <p:cNvSpPr>
            <a:spLocks xmlns:a="http://schemas.openxmlformats.org/drawingml/2006/main" noGrp="1"/>
          </p:cNvSpPr>
          <p:nvPr/>
        </p:nvSpPr>
        <p:spPr>
          <a:xfrm xmlns:a="http://schemas.openxmlformats.org/drawingml/2006/main">
            <a:off x="8096250" y="4076700"/>
            <a:ext cx="3333750" cy="666750"/>
          </a:xfrm>
          <a:prstGeom xmlns:a="http://schemas.openxmlformats.org/drawingml/2006/main" prst="rect">
            <a:avLst/>
          </a:prstGeom>
          <a:solidFill xmlns:a="http://schemas.openxmlformats.org/drawingml/2006/main">
            <a:srgbClr val="EDF4FA"/>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00" b="0">
                <a:solidFill>
                  <a:srgbClr val="203B68"/>
                </a:solidFill>
                <a:latin typeface="Calibri"/>
                <a:ea typeface="Calibri"/>
                <a:cs typeface="Calibri"/>
              </a:defRPr>
            </a:defPPr>
            <a:lvl1pPr algn="ctr">
              <a:defRPr sz="1800" b="0">
                <a:solidFill>
                  <a:srgbClr val="203B68"/>
                </a:solidFill>
                <a:latin typeface="Calibri"/>
                <a:ea typeface="Calibri"/>
                <a:cs typeface="Calibri"/>
              </a:defRPr>
            </a:lvl1pPr>
            <a:lvl2pPr algn="ctr">
              <a:defRPr sz="1800" b="0">
                <a:solidFill>
                  <a:srgbClr val="203B68"/>
                </a:solidFill>
                <a:latin typeface="Calibri"/>
                <a:ea typeface="Calibri"/>
                <a:cs typeface="Calibri"/>
              </a:defRPr>
            </a:lvl2pPr>
            <a:lvl3pPr algn="ctr">
              <a:defRPr sz="1800" b="0">
                <a:solidFill>
                  <a:srgbClr val="203B68"/>
                </a:solidFill>
                <a:latin typeface="Calibri"/>
                <a:ea typeface="Calibri"/>
                <a:cs typeface="Calibri"/>
              </a:defRPr>
            </a:lvl3pPr>
            <a:lvl4pPr algn="ctr">
              <a:defRPr sz="1800" b="0">
                <a:solidFill>
                  <a:srgbClr val="203B68"/>
                </a:solidFill>
                <a:latin typeface="Calibri"/>
                <a:ea typeface="Calibri"/>
                <a:cs typeface="Calibri"/>
              </a:defRPr>
            </a:lvl4pPr>
            <a:lvl5pPr algn="ctr">
              <a:defRPr sz="1800" b="0">
                <a:solidFill>
                  <a:srgbClr val="203B68"/>
                </a:solidFill>
                <a:latin typeface="Calibri"/>
                <a:ea typeface="Calibri"/>
                <a:cs typeface="Calibri"/>
              </a:defRPr>
            </a:lvl5pPr>
            <a:lvl6pPr algn="ctr">
              <a:defRPr sz="1800" b="0">
                <a:solidFill>
                  <a:srgbClr val="203B68"/>
                </a:solidFill>
                <a:latin typeface="Calibri"/>
                <a:ea typeface="Calibri"/>
                <a:cs typeface="Calibri"/>
              </a:defRPr>
            </a:lvl6pPr>
            <a:lvl7pPr algn="ctr">
              <a:defRPr sz="1800" b="0">
                <a:solidFill>
                  <a:srgbClr val="203B68"/>
                </a:solidFill>
                <a:latin typeface="Calibri"/>
                <a:ea typeface="Calibri"/>
                <a:cs typeface="Calibri"/>
              </a:defRPr>
            </a:lvl7pPr>
            <a:lvl8pPr algn="ctr">
              <a:defRPr sz="1800" b="0">
                <a:solidFill>
                  <a:srgbClr val="203B68"/>
                </a:solidFill>
                <a:latin typeface="Calibri"/>
                <a:ea typeface="Calibri"/>
                <a:cs typeface="Calibri"/>
              </a:defRPr>
            </a:lvl8pPr>
            <a:lvl9pPr algn="ctr">
              <a:defRPr sz="1800" b="0">
                <a:solidFill>
                  <a:srgbClr val="203B68"/>
                </a:solidFill>
                <a:latin typeface="Calibri"/>
                <a:ea typeface="Calibri"/>
                <a:cs typeface="Calibri"/>
              </a:defRPr>
            </a:lvl9pPr>
          </a:lstStyle>
          <a:p xmlns:a="http://schemas.openxmlformats.org/drawingml/2006/main">
            <a:pPr algn="ctr">
              <a:defRPr sz="1800" b="0">
                <a:solidFill>
                  <a:srgbClr val="203B68"/>
                </a:solidFill>
                <a:latin typeface="Calibri"/>
                <a:ea typeface="Calibri"/>
                <a:cs typeface="Calibri"/>
              </a:defRPr>
            </a:pPr>
            <a:r>
              <a:rPr sz="1800" b="0">
                <a:solidFill>
                  <a:srgbClr val="203B68"/>
                </a:solidFill>
                <a:latin typeface="Calibri"/>
                <a:ea typeface="Calibri"/>
                <a:cs typeface="Calibri"/>
              </a:rPr>
              <a:t>I / SIN_INFORMAR</a:t>
            </a:r>
          </a:p>
          <a:p xmlns:a="http://schemas.openxmlformats.org/drawingml/2006/main">
            <a:pPr algn="ctr">
              <a:defRPr sz="1800" b="0">
                <a:solidFill>
                  <a:srgbClr val="203B68"/>
                </a:solidFill>
                <a:latin typeface="Calibri"/>
                <a:ea typeface="Calibri"/>
                <a:cs typeface="Calibri"/>
              </a:defRPr>
            </a:pPr>
            <a:r>
              <a:rPr sz="1800" b="0">
                <a:solidFill>
                  <a:srgbClr val="203B68"/>
                </a:solidFill>
                <a:latin typeface="Calibri"/>
                <a:ea typeface="Calibri"/>
                <a:cs typeface="Calibri"/>
              </a:rPr>
              <a:t>1 reporte</a:t>
            </a:r>
          </a:p>
        </p:txBody>
      </p:sp>
      <p:sp>
        <p:nvSpPr>
          <p:cNvPr id="25" name="diagram-node-8">
            <a:extLst xmlns:a="http://schemas.openxmlformats.org/drawingml/2006/main">
              <a:ext uri="{FF2B5EF4-FFF2-40B4-BE49-F238E27FC236}">
                <a16:creationId xmlns:a16="http://schemas.microsoft.com/office/drawing/2014/main" id="{CFF53BA4-2950-494C-B132-852F92BED1E1}"/>
              </a:ext>
            </a:extLst>
          </p:cNvPr>
          <p:cNvSpPr>
            <a:spLocks xmlns:a="http://schemas.openxmlformats.org/drawingml/2006/main" noGrp="1"/>
          </p:cNvSpPr>
          <p:nvPr/>
        </p:nvSpPr>
        <p:spPr>
          <a:xfrm xmlns:a="http://schemas.openxmlformats.org/drawingml/2006/main">
            <a:off x="8096250" y="4972050"/>
            <a:ext cx="3333750" cy="666750"/>
          </a:xfrm>
          <a:prstGeom xmlns:a="http://schemas.openxmlformats.org/drawingml/2006/main" prst="rect">
            <a:avLst/>
          </a:prstGeom>
          <a:solidFill xmlns:a="http://schemas.openxmlformats.org/drawingml/2006/main">
            <a:srgbClr val="FFF1EE"/>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00" b="0">
                <a:solidFill>
                  <a:srgbClr val="203B68"/>
                </a:solidFill>
                <a:latin typeface="Calibri"/>
                <a:ea typeface="Calibri"/>
                <a:cs typeface="Calibri"/>
              </a:defRPr>
            </a:defPPr>
            <a:lvl1pPr algn="ctr">
              <a:defRPr sz="1800" b="0">
                <a:solidFill>
                  <a:srgbClr val="203B68"/>
                </a:solidFill>
                <a:latin typeface="Calibri"/>
                <a:ea typeface="Calibri"/>
                <a:cs typeface="Calibri"/>
              </a:defRPr>
            </a:lvl1pPr>
            <a:lvl2pPr algn="ctr">
              <a:defRPr sz="1800" b="0">
                <a:solidFill>
                  <a:srgbClr val="203B68"/>
                </a:solidFill>
                <a:latin typeface="Calibri"/>
                <a:ea typeface="Calibri"/>
                <a:cs typeface="Calibri"/>
              </a:defRPr>
            </a:lvl2pPr>
            <a:lvl3pPr algn="ctr">
              <a:defRPr sz="1800" b="0">
                <a:solidFill>
                  <a:srgbClr val="203B68"/>
                </a:solidFill>
                <a:latin typeface="Calibri"/>
                <a:ea typeface="Calibri"/>
                <a:cs typeface="Calibri"/>
              </a:defRPr>
            </a:lvl3pPr>
            <a:lvl4pPr algn="ctr">
              <a:defRPr sz="1800" b="0">
                <a:solidFill>
                  <a:srgbClr val="203B68"/>
                </a:solidFill>
                <a:latin typeface="Calibri"/>
                <a:ea typeface="Calibri"/>
                <a:cs typeface="Calibri"/>
              </a:defRPr>
            </a:lvl4pPr>
            <a:lvl5pPr algn="ctr">
              <a:defRPr sz="1800" b="0">
                <a:solidFill>
                  <a:srgbClr val="203B68"/>
                </a:solidFill>
                <a:latin typeface="Calibri"/>
                <a:ea typeface="Calibri"/>
                <a:cs typeface="Calibri"/>
              </a:defRPr>
            </a:lvl5pPr>
            <a:lvl6pPr algn="ctr">
              <a:defRPr sz="1800" b="0">
                <a:solidFill>
                  <a:srgbClr val="203B68"/>
                </a:solidFill>
                <a:latin typeface="Calibri"/>
                <a:ea typeface="Calibri"/>
                <a:cs typeface="Calibri"/>
              </a:defRPr>
            </a:lvl6pPr>
            <a:lvl7pPr algn="ctr">
              <a:defRPr sz="1800" b="0">
                <a:solidFill>
                  <a:srgbClr val="203B68"/>
                </a:solidFill>
                <a:latin typeface="Calibri"/>
                <a:ea typeface="Calibri"/>
                <a:cs typeface="Calibri"/>
              </a:defRPr>
            </a:lvl7pPr>
            <a:lvl8pPr algn="ctr">
              <a:defRPr sz="1800" b="0">
                <a:solidFill>
                  <a:srgbClr val="203B68"/>
                </a:solidFill>
                <a:latin typeface="Calibri"/>
                <a:ea typeface="Calibri"/>
                <a:cs typeface="Calibri"/>
              </a:defRPr>
            </a:lvl8pPr>
            <a:lvl9pPr algn="ctr">
              <a:defRPr sz="1800" b="0">
                <a:solidFill>
                  <a:srgbClr val="203B68"/>
                </a:solidFill>
                <a:latin typeface="Calibri"/>
                <a:ea typeface="Calibri"/>
                <a:cs typeface="Calibri"/>
              </a:defRPr>
            </a:lvl9pPr>
          </a:lstStyle>
          <a:p xmlns:a="http://schemas.openxmlformats.org/drawingml/2006/main">
            <a:pPr algn="ctr">
              <a:defRPr sz="1800" b="0">
                <a:solidFill>
                  <a:srgbClr val="203B68"/>
                </a:solidFill>
                <a:latin typeface="Calibri"/>
                <a:ea typeface="Calibri"/>
                <a:cs typeface="Calibri"/>
              </a:defRPr>
            </a:pPr>
            <a:r>
              <a:rPr sz="1800" b="0">
                <a:solidFill>
                  <a:srgbClr val="203B68"/>
                </a:solidFill>
                <a:latin typeface="Calibri"/>
                <a:ea typeface="Calibri"/>
                <a:cs typeface="Calibri"/>
              </a:rPr>
              <a:t>II / Bogotá</a:t>
            </a:r>
          </a:p>
          <a:p xmlns:a="http://schemas.openxmlformats.org/drawingml/2006/main">
            <a:pPr algn="ctr">
              <a:defRPr sz="1800" b="0">
                <a:solidFill>
                  <a:srgbClr val="203B68"/>
                </a:solidFill>
                <a:latin typeface="Calibri"/>
                <a:ea typeface="Calibri"/>
                <a:cs typeface="Calibri"/>
              </a:defRPr>
            </a:pPr>
            <a:r>
              <a:rPr sz="1800" b="0">
                <a:solidFill>
                  <a:srgbClr val="203B68"/>
                </a:solidFill>
                <a:latin typeface="Calibri"/>
                <a:ea typeface="Calibri"/>
                <a:cs typeface="Calibri"/>
              </a:rPr>
              <a:t>1 reporte</a:t>
            </a:r>
          </a:p>
        </p:txBody>
      </p:sp>
      <p:sp>
        <p:nvSpPr>
          <p:cNvPr id="31" name="diagram-label-0">
            <a:extLst xmlns:a="http://schemas.openxmlformats.org/drawingml/2006/main">
              <a:ext uri="{FF2B5EF4-FFF2-40B4-BE49-F238E27FC236}">
                <a16:creationId xmlns:a16="http://schemas.microsoft.com/office/drawing/2014/main" id="{4B60D5E5-FE36-4451-944F-B97B9C410832}"/>
              </a:ext>
            </a:extLst>
          </p:cNvPr>
          <p:cNvSpPr>
            <a:spLocks xmlns:a="http://schemas.openxmlformats.org/drawingml/2006/main" noGrp="1"/>
          </p:cNvSpPr>
          <p:nvPr/>
        </p:nvSpPr>
        <p:spPr>
          <a:xfrm xmlns:a="http://schemas.openxmlformats.org/drawingml/2006/main">
            <a:off x="762000" y="19240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DETALLE</a:t>
            </a:r>
          </a:p>
        </p:txBody>
      </p:sp>
      <p:sp>
        <p:nvSpPr>
          <p:cNvPr id="32" name="diagram-label-1">
            <a:extLst xmlns:a="http://schemas.openxmlformats.org/drawingml/2006/main">
              <a:ext uri="{FF2B5EF4-FFF2-40B4-BE49-F238E27FC236}">
                <a16:creationId xmlns:a16="http://schemas.microsoft.com/office/drawing/2014/main" id="{91525844-63F6-4F54-915A-512B5CD44370}"/>
              </a:ext>
            </a:extLst>
          </p:cNvPr>
          <p:cNvSpPr>
            <a:spLocks xmlns:a="http://schemas.openxmlformats.org/drawingml/2006/main" noGrp="1"/>
          </p:cNvSpPr>
          <p:nvPr/>
        </p:nvSpPr>
        <p:spPr>
          <a:xfrm xmlns:a="http://schemas.openxmlformats.org/drawingml/2006/main">
            <a:off x="8096250" y="19240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AGREGADO</a:t>
            </a:r>
          </a:p>
        </p:txBody>
      </p:sp>
      <p:sp>
        <p:nvSpPr>
          <p:cNvPr id="33" name="check">
            <a:extLst xmlns:a="http://schemas.openxmlformats.org/drawingml/2006/main">
              <a:ext uri="{FF2B5EF4-FFF2-40B4-BE49-F238E27FC236}">
                <a16:creationId xmlns:a16="http://schemas.microsoft.com/office/drawing/2014/main" id="{2D18F59D-8BBB-4ED7-BE50-C91D5DF1AEC0}"/>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Ejemplo de 2024: cinco reportes aceptados forman cuatro grupos.</a:t>
            </a:r>
          </a:p>
        </p:txBody>
      </p:sp>
      <p:sp>
        <p:nvSpPr>
          <p:cNvPr id="34" name="footer">
            <a:extLst xmlns:a="http://schemas.openxmlformats.org/drawingml/2006/main">
              <a:ext uri="{FF2B5EF4-FFF2-40B4-BE49-F238E27FC236}">
                <a16:creationId xmlns:a16="http://schemas.microsoft.com/office/drawing/2014/main" id="{2AFF41AB-FE68-4ED4-8872-CF12EDDA4BC8}"/>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35" name="page">
            <a:extLst xmlns:a="http://schemas.openxmlformats.org/drawingml/2006/main">
              <a:ext uri="{FF2B5EF4-FFF2-40B4-BE49-F238E27FC236}">
                <a16:creationId xmlns:a16="http://schemas.microsoft.com/office/drawing/2014/main" id="{ACA86BC9-096F-4C6F-BEAA-956213F7B00D}"/>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29</a:t>
            </a:r>
          </a:p>
        </p:txBody>
      </p:sp>
    </p:spTree>
    <p:extLst>
      <p:ext uri="{BB962C8B-B14F-4D97-AF65-F5344CB8AC3E}">
        <p14:creationId xmlns:p14="http://schemas.microsoft.com/office/powerpoint/2010/main" val="116899893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8F6EB870-B9E4-4127-AFB5-DB291816B6B2}"/>
              </a:ext>
            </a:extLst>
          </p:cNvPr>
          <p:cNvPicPr>
            <a:picLocks xmlns:a="http://schemas.openxmlformats.org/drawingml/2006/main" noChangeAspect="1"/>
          </p:cNvPicPr>
          <p:nvPr/>
        </p:nvPicPr>
        <p:blipFill>
          <a:blip xmlns:r="http://schemas.openxmlformats.org/officeDocument/2006/relationships" xmlns:a="http://schemas.openxmlformats.org/drawingml/2006/main" r:embed="R808cee21ada44c9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FAAD7136-11F3-4E74-A937-133A62AAD375}"/>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Diferencias que oculta un total</a:t>
            </a:r>
          </a:p>
        </p:txBody>
      </p:sp>
      <p:sp>
        <p:nvSpPr>
          <p:cNvPr id="16" name="lead">
            <a:extLst xmlns:a="http://schemas.openxmlformats.org/drawingml/2006/main">
              <a:ext uri="{FF2B5EF4-FFF2-40B4-BE49-F238E27FC236}">
                <a16:creationId xmlns:a16="http://schemas.microsoft.com/office/drawing/2014/main" id="{1F5A29A0-2FC4-4375-9E2F-E7E23A6D6F89}"/>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Ambas tablas suman 5, pero la distribución publicada es incorrecta.</a:t>
            </a:r>
          </a:p>
        </p:txBody>
      </p:sp>
      <p:graphicFrame>
        <p:nvGraphicFramePr>
          <p:cNvPr id="17" name="Chart">
            <a:extLst xmlns:a="http://schemas.openxmlformats.org/drawingml/2006/main">
              <a:ext uri="{FF2B5EF4-FFF2-40B4-BE49-F238E27FC236}">
                <a16:creationId xmlns:a16="http://schemas.microsoft.com/office/drawing/2014/main" id="{C746C01C-ABF1-407C-9865-6BDB56A8E5C9}"/>
              </a:ext>
            </a:extLst>
          </p:cNvPr>
          <p:cNvGraphicFramePr/>
          <p:nvPr/>
        </p:nvGraphicFramePr>
        <p:xfrm>
          <a:off xmlns:a="http://schemas.openxmlformats.org/drawingml/2006/main" x="666750" y="2238375"/>
          <a:ext xmlns:a="http://schemas.openxmlformats.org/drawingml/2006/main" cx="10668000" cy="3429000"/>
        </p:xfrm>
        <a:graphic xmlns:a="http://schemas.openxmlformats.org/drawingml/2006/main">
          <a:graphicData uri="http://schemas.openxmlformats.org/drawingml/2006/chart">
            <c:chart xmlns:r="http://schemas.openxmlformats.org/officeDocument/2006/relationships" xmlns:c="http://schemas.openxmlformats.org/drawingml/2006/chart" r:id="Rdf02e59cb38b4eef"/>
          </a:graphicData>
        </a:graphic>
      </p:graphicFrame>
      <p:sp>
        <p:nvSpPr>
          <p:cNvPr id="18" name="check">
            <a:extLst xmlns:a="http://schemas.openxmlformats.org/drawingml/2006/main">
              <a:ext uri="{FF2B5EF4-FFF2-40B4-BE49-F238E27FC236}">
                <a16:creationId xmlns:a16="http://schemas.microsoft.com/office/drawing/2014/main" id="{92876611-1F56-4C3C-87FE-BBD816A07D1C}"/>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Ejemplo hipotético: las diferencias de los dos primeros grupos se compensan en el total.</a:t>
            </a:r>
          </a:p>
        </p:txBody>
      </p:sp>
      <p:sp>
        <p:nvSpPr>
          <p:cNvPr id="19" name="footer">
            <a:extLst xmlns:a="http://schemas.openxmlformats.org/drawingml/2006/main">
              <a:ext uri="{FF2B5EF4-FFF2-40B4-BE49-F238E27FC236}">
                <a16:creationId xmlns:a16="http://schemas.microsoft.com/office/drawing/2014/main" id="{CF60FE3D-AC68-4A57-8601-DC948D9C36AF}"/>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225D8245-F5AE-4B7E-B068-633854D27D2A}"/>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30</a:t>
            </a:r>
          </a:p>
        </p:txBody>
      </p:sp>
    </p:spTree>
    <p:extLst>
      <p:ext uri="{BB962C8B-B14F-4D97-AF65-F5344CB8AC3E}">
        <p14:creationId xmlns:p14="http://schemas.microsoft.com/office/powerpoint/2010/main" val="116899893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2AA1DED6-6567-437E-A40D-FC02346444F0}"/>
              </a:ext>
            </a:extLst>
          </p:cNvPr>
          <p:cNvCxnSpPr>
            <a:stCxn xmlns:a="http://schemas.openxmlformats.org/drawingml/2006/main" id="18" idx="3"/>
            <a:endCxn xmlns:a="http://schemas.openxmlformats.org/drawingml/2006/main" id="20" idx="1"/>
          </p:cNvCxnSpPr>
          <p:nvPr/>
        </p:nvCxnSpPr>
        <p:spPr>
          <a:xfrm xmlns:a="http://schemas.openxmlformats.org/drawingml/2006/main">
            <a:off x="7239000" y="3714750"/>
            <a:ext cx="1762125" cy="1285875"/>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2" name="">
            <a:extLst xmlns:a="http://schemas.openxmlformats.org/drawingml/2006/main">
              <a:ext uri="{FF2B5EF4-FFF2-40B4-BE49-F238E27FC236}">
                <a16:creationId xmlns:a16="http://schemas.microsoft.com/office/drawing/2014/main" id="{297ADDA3-8BB6-42C7-A850-6AF0E102A28E}"/>
              </a:ext>
            </a:extLst>
          </p:cNvPr>
          <p:cNvCxnSpPr>
            <a:stCxn xmlns:a="http://schemas.openxmlformats.org/drawingml/2006/main" id="18" idx="3"/>
            <a:endCxn xmlns:a="http://schemas.openxmlformats.org/drawingml/2006/main" id="19" idx="1"/>
          </p:cNvCxnSpPr>
          <p:nvPr/>
        </p:nvCxnSpPr>
        <p:spPr>
          <a:xfrm xmlns:a="http://schemas.openxmlformats.org/drawingml/2006/main" flipV="1">
            <a:off x="7239000" y="2809875"/>
            <a:ext cx="1762125" cy="904875"/>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1" name="">
            <a:extLst xmlns:a="http://schemas.openxmlformats.org/drawingml/2006/main">
              <a:ext uri="{FF2B5EF4-FFF2-40B4-BE49-F238E27FC236}">
                <a16:creationId xmlns:a16="http://schemas.microsoft.com/office/drawing/2014/main" id="{41AAC00B-9EF8-495C-8454-333EA3C21C5B}"/>
              </a:ext>
            </a:extLst>
          </p:cNvPr>
          <p:cNvCxnSpPr>
            <a:stCxn xmlns:a="http://schemas.openxmlformats.org/drawingml/2006/main" id="17" idx="3"/>
            <a:endCxn xmlns:a="http://schemas.openxmlformats.org/drawingml/2006/main" id="18" idx="1"/>
          </p:cNvCxnSpPr>
          <p:nvPr/>
        </p:nvCxnSpPr>
        <p:spPr>
          <a:xfrm xmlns:a="http://schemas.openxmlformats.org/drawingml/2006/main">
            <a:off x="2990850" y="3714750"/>
            <a:ext cx="1581150" cy="0"/>
          </a:xfrm>
          <a:prstGeom xmlns:a="http://schemas.openxmlformats.org/drawingml/2006/main" prst="straightConnector1">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2DDDD8A8-92F4-4CDA-8C43-53AEC729CA03}"/>
              </a:ext>
            </a:extLst>
          </p:cNvPr>
          <p:cNvPicPr>
            <a:picLocks xmlns:a="http://schemas.openxmlformats.org/drawingml/2006/main" noChangeAspect="1"/>
          </p:cNvPicPr>
          <p:nvPr/>
        </p:nvPicPr>
        <p:blipFill>
          <a:blip xmlns:r="http://schemas.openxmlformats.org/officeDocument/2006/relationships" xmlns:a="http://schemas.openxmlformats.org/drawingml/2006/main" r:embed="R5c8a2c5266fc4ce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7DAF00DB-2751-43BD-8B72-825BA5CAD39E}"/>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Decisión de publicación</a:t>
            </a:r>
          </a:p>
        </p:txBody>
      </p:sp>
      <p:sp>
        <p:nvSpPr>
          <p:cNvPr id="16" name="lead">
            <a:extLst xmlns:a="http://schemas.openxmlformats.org/drawingml/2006/main">
              <a:ext uri="{FF2B5EF4-FFF2-40B4-BE49-F238E27FC236}">
                <a16:creationId xmlns:a16="http://schemas.microsoft.com/office/drawing/2014/main" id="{D5220438-5337-4B93-873E-29C85E67E590}"/>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Un consumidor necesita una salida comprobada para evitar decisiones con datos incompletos.</a:t>
            </a:r>
          </a:p>
        </p:txBody>
      </p:sp>
      <p:sp>
        <p:nvSpPr>
          <p:cNvPr id="17" name="diagram-node-0">
            <a:extLst xmlns:a="http://schemas.openxmlformats.org/drawingml/2006/main">
              <a:ext uri="{FF2B5EF4-FFF2-40B4-BE49-F238E27FC236}">
                <a16:creationId xmlns:a16="http://schemas.microsoft.com/office/drawing/2014/main" id="{607BBD77-F232-4157-A715-818054DF680B}"/>
              </a:ext>
            </a:extLst>
          </p:cNvPr>
          <p:cNvSpPr>
            <a:spLocks xmlns:a="http://schemas.openxmlformats.org/drawingml/2006/main" noGrp="1"/>
          </p:cNvSpPr>
          <p:nvPr/>
        </p:nvSpPr>
        <p:spPr>
          <a:xfrm xmlns:a="http://schemas.openxmlformats.org/drawingml/2006/main">
            <a:off x="609600" y="3143250"/>
            <a:ext cx="2381250" cy="1143000"/>
          </a:xfrm>
          <a:prstGeom xmlns:a="http://schemas.openxmlformats.org/drawingml/2006/main" prst="rect">
            <a:avLst/>
          </a:prstGeom>
          <a:solidFill xmlns:a="http://schemas.openxmlformats.org/drawingml/2006/main">
            <a:srgbClr val="F4F6FB"/>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Candidato</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Detalle y agregado</a:t>
            </a:r>
          </a:p>
        </p:txBody>
      </p:sp>
      <p:sp>
        <p:nvSpPr>
          <p:cNvPr id="18" name="diagram-node-1">
            <a:extLst xmlns:a="http://schemas.openxmlformats.org/drawingml/2006/main">
              <a:ext uri="{FF2B5EF4-FFF2-40B4-BE49-F238E27FC236}">
                <a16:creationId xmlns:a16="http://schemas.microsoft.com/office/drawing/2014/main" id="{E38B62A3-9BC5-4F90-B40A-B982511CDB35}"/>
              </a:ext>
            </a:extLst>
          </p:cNvPr>
          <p:cNvSpPr>
            <a:spLocks xmlns:a="http://schemas.openxmlformats.org/drawingml/2006/main" noGrp="1"/>
          </p:cNvSpPr>
          <p:nvPr/>
        </p:nvSpPr>
        <p:spPr>
          <a:xfrm xmlns:a="http://schemas.openxmlformats.org/drawingml/2006/main">
            <a:off x="4572000" y="3143250"/>
            <a:ext cx="2667000" cy="1143000"/>
          </a:xfrm>
          <a:prstGeom xmlns:a="http://schemas.openxmlformats.org/drawingml/2006/main" prst="rect">
            <a:avLst/>
          </a:prstGeom>
          <a:solidFill xmlns:a="http://schemas.openxmlformats.org/drawingml/2006/main">
            <a:srgbClr val="E9E6F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Controles</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¿Cumple el contrato?</a:t>
            </a:r>
          </a:p>
        </p:txBody>
      </p:sp>
      <p:sp>
        <p:nvSpPr>
          <p:cNvPr id="19" name="diagram-node-2">
            <a:extLst xmlns:a="http://schemas.openxmlformats.org/drawingml/2006/main">
              <a:ext uri="{FF2B5EF4-FFF2-40B4-BE49-F238E27FC236}">
                <a16:creationId xmlns:a16="http://schemas.microsoft.com/office/drawing/2014/main" id="{1A17F485-5258-42CC-B40F-BEFC47601736}"/>
              </a:ext>
            </a:extLst>
          </p:cNvPr>
          <p:cNvSpPr>
            <a:spLocks xmlns:a="http://schemas.openxmlformats.org/drawingml/2006/main" noGrp="1"/>
          </p:cNvSpPr>
          <p:nvPr/>
        </p:nvSpPr>
        <p:spPr>
          <a:xfrm xmlns:a="http://schemas.openxmlformats.org/drawingml/2006/main">
            <a:off x="9001125" y="2286000"/>
            <a:ext cx="2571750" cy="1047750"/>
          </a:xfrm>
          <a:prstGeom xmlns:a="http://schemas.openxmlformats.org/drawingml/2006/main" prst="rect">
            <a:avLst/>
          </a:prstGeom>
          <a:solidFill xmlns:a="http://schemas.openxmlformats.org/drawingml/2006/main">
            <a:srgbClr val="E4F3EF"/>
          </a:solidFill>
          <a:ln xmlns:a="http://schemas.openxmlformats.org/drawingml/2006/main" w="14288">
            <a:solidFill>
              <a:srgbClr val="087F7A"/>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087F7A"/>
                </a:solidFill>
                <a:latin typeface="Calibri"/>
                <a:ea typeface="Calibri"/>
                <a:cs typeface="Calibri"/>
              </a:defRPr>
            </a:defPPr>
            <a:lvl1pPr algn="ctr">
              <a:defRPr sz="1875" b="0">
                <a:solidFill>
                  <a:srgbClr val="087F7A"/>
                </a:solidFill>
                <a:latin typeface="Calibri"/>
                <a:ea typeface="Calibri"/>
                <a:cs typeface="Calibri"/>
              </a:defRPr>
            </a:lvl1pPr>
            <a:lvl2pPr algn="ctr">
              <a:defRPr sz="1875" b="0">
                <a:solidFill>
                  <a:srgbClr val="087F7A"/>
                </a:solidFill>
                <a:latin typeface="Calibri"/>
                <a:ea typeface="Calibri"/>
                <a:cs typeface="Calibri"/>
              </a:defRPr>
            </a:lvl2pPr>
            <a:lvl3pPr algn="ctr">
              <a:defRPr sz="1875" b="0">
                <a:solidFill>
                  <a:srgbClr val="087F7A"/>
                </a:solidFill>
                <a:latin typeface="Calibri"/>
                <a:ea typeface="Calibri"/>
                <a:cs typeface="Calibri"/>
              </a:defRPr>
            </a:lvl3pPr>
            <a:lvl4pPr algn="ctr">
              <a:defRPr sz="1875" b="0">
                <a:solidFill>
                  <a:srgbClr val="087F7A"/>
                </a:solidFill>
                <a:latin typeface="Calibri"/>
                <a:ea typeface="Calibri"/>
                <a:cs typeface="Calibri"/>
              </a:defRPr>
            </a:lvl4pPr>
            <a:lvl5pPr algn="ctr">
              <a:defRPr sz="1875" b="0">
                <a:solidFill>
                  <a:srgbClr val="087F7A"/>
                </a:solidFill>
                <a:latin typeface="Calibri"/>
                <a:ea typeface="Calibri"/>
                <a:cs typeface="Calibri"/>
              </a:defRPr>
            </a:lvl5pPr>
            <a:lvl6pPr algn="ctr">
              <a:defRPr sz="1875" b="0">
                <a:solidFill>
                  <a:srgbClr val="087F7A"/>
                </a:solidFill>
                <a:latin typeface="Calibri"/>
                <a:ea typeface="Calibri"/>
                <a:cs typeface="Calibri"/>
              </a:defRPr>
            </a:lvl6pPr>
            <a:lvl7pPr algn="ctr">
              <a:defRPr sz="1875" b="0">
                <a:solidFill>
                  <a:srgbClr val="087F7A"/>
                </a:solidFill>
                <a:latin typeface="Calibri"/>
                <a:ea typeface="Calibri"/>
                <a:cs typeface="Calibri"/>
              </a:defRPr>
            </a:lvl7pPr>
            <a:lvl8pPr algn="ctr">
              <a:defRPr sz="1875" b="0">
                <a:solidFill>
                  <a:srgbClr val="087F7A"/>
                </a:solidFill>
                <a:latin typeface="Calibri"/>
                <a:ea typeface="Calibri"/>
                <a:cs typeface="Calibri"/>
              </a:defRPr>
            </a:lvl8pPr>
            <a:lvl9pPr algn="ctr">
              <a:defRPr sz="1875" b="0">
                <a:solidFill>
                  <a:srgbClr val="087F7A"/>
                </a:solidFill>
                <a:latin typeface="Calibri"/>
                <a:ea typeface="Calibri"/>
                <a:cs typeface="Calibri"/>
              </a:defRPr>
            </a:lvl9pPr>
          </a:lstStyle>
          <a:p xmlns:a="http://schemas.openxmlformats.org/drawingml/2006/main">
            <a:pPr algn="ctr">
              <a:defRPr sz="1875" b="0">
                <a:solidFill>
                  <a:srgbClr val="087F7A"/>
                </a:solidFill>
                <a:latin typeface="Calibri"/>
                <a:ea typeface="Calibri"/>
                <a:cs typeface="Calibri"/>
              </a:defRPr>
            </a:pPr>
            <a:r>
              <a:rPr sz="1875" b="0">
                <a:solidFill>
                  <a:srgbClr val="087F7A"/>
                </a:solidFill>
                <a:latin typeface="Calibri"/>
                <a:ea typeface="Calibri"/>
                <a:cs typeface="Calibri"/>
              </a:rPr>
              <a:t>Correcto</a:t>
            </a:r>
          </a:p>
          <a:p xmlns:a="http://schemas.openxmlformats.org/drawingml/2006/main">
            <a:pPr algn="ctr">
              <a:defRPr sz="1875" b="0">
                <a:solidFill>
                  <a:srgbClr val="087F7A"/>
                </a:solidFill>
                <a:latin typeface="Calibri"/>
                <a:ea typeface="Calibri"/>
                <a:cs typeface="Calibri"/>
              </a:defRPr>
            </a:pPr>
            <a:r>
              <a:rPr sz="1875" b="0">
                <a:solidFill>
                  <a:srgbClr val="087F7A"/>
                </a:solidFill>
                <a:latin typeface="Calibri"/>
                <a:ea typeface="Calibri"/>
                <a:cs typeface="Calibri"/>
              </a:rPr>
              <a:t>Identificar publicación</a:t>
            </a:r>
          </a:p>
        </p:txBody>
      </p:sp>
      <p:sp>
        <p:nvSpPr>
          <p:cNvPr id="20" name="diagram-node-3">
            <a:extLst xmlns:a="http://schemas.openxmlformats.org/drawingml/2006/main">
              <a:ext uri="{FF2B5EF4-FFF2-40B4-BE49-F238E27FC236}">
                <a16:creationId xmlns:a16="http://schemas.microsoft.com/office/drawing/2014/main" id="{5CF4E5B2-3B27-47CC-A882-513AB7CE2608}"/>
              </a:ext>
            </a:extLst>
          </p:cNvPr>
          <p:cNvSpPr>
            <a:spLocks xmlns:a="http://schemas.openxmlformats.org/drawingml/2006/main" noGrp="1"/>
          </p:cNvSpPr>
          <p:nvPr/>
        </p:nvSpPr>
        <p:spPr>
          <a:xfrm xmlns:a="http://schemas.openxmlformats.org/drawingml/2006/main">
            <a:off x="9001125" y="4476750"/>
            <a:ext cx="2571750" cy="1047750"/>
          </a:xfrm>
          <a:prstGeom xmlns:a="http://schemas.openxmlformats.org/drawingml/2006/main" prst="rect">
            <a:avLst/>
          </a:prstGeom>
          <a:solidFill xmlns:a="http://schemas.openxmlformats.org/drawingml/2006/main">
            <a:srgbClr val="FFF1EE"/>
          </a:solidFill>
          <a:ln xmlns:a="http://schemas.openxmlformats.org/drawingml/2006/main" w="14288">
            <a:solidFill>
              <a:srgbClr val="A24440"/>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A24440"/>
                </a:solidFill>
                <a:latin typeface="Calibri"/>
                <a:ea typeface="Calibri"/>
                <a:cs typeface="Calibri"/>
              </a:defRPr>
            </a:defPPr>
            <a:lvl1pPr algn="ctr">
              <a:defRPr sz="1875" b="0">
                <a:solidFill>
                  <a:srgbClr val="A24440"/>
                </a:solidFill>
                <a:latin typeface="Calibri"/>
                <a:ea typeface="Calibri"/>
                <a:cs typeface="Calibri"/>
              </a:defRPr>
            </a:lvl1pPr>
            <a:lvl2pPr algn="ctr">
              <a:defRPr sz="1875" b="0">
                <a:solidFill>
                  <a:srgbClr val="A24440"/>
                </a:solidFill>
                <a:latin typeface="Calibri"/>
                <a:ea typeface="Calibri"/>
                <a:cs typeface="Calibri"/>
              </a:defRPr>
            </a:lvl2pPr>
            <a:lvl3pPr algn="ctr">
              <a:defRPr sz="1875" b="0">
                <a:solidFill>
                  <a:srgbClr val="A24440"/>
                </a:solidFill>
                <a:latin typeface="Calibri"/>
                <a:ea typeface="Calibri"/>
                <a:cs typeface="Calibri"/>
              </a:defRPr>
            </a:lvl3pPr>
            <a:lvl4pPr algn="ctr">
              <a:defRPr sz="1875" b="0">
                <a:solidFill>
                  <a:srgbClr val="A24440"/>
                </a:solidFill>
                <a:latin typeface="Calibri"/>
                <a:ea typeface="Calibri"/>
                <a:cs typeface="Calibri"/>
              </a:defRPr>
            </a:lvl4pPr>
            <a:lvl5pPr algn="ctr">
              <a:defRPr sz="1875" b="0">
                <a:solidFill>
                  <a:srgbClr val="A24440"/>
                </a:solidFill>
                <a:latin typeface="Calibri"/>
                <a:ea typeface="Calibri"/>
                <a:cs typeface="Calibri"/>
              </a:defRPr>
            </a:lvl5pPr>
            <a:lvl6pPr algn="ctr">
              <a:defRPr sz="1875" b="0">
                <a:solidFill>
                  <a:srgbClr val="A24440"/>
                </a:solidFill>
                <a:latin typeface="Calibri"/>
                <a:ea typeface="Calibri"/>
                <a:cs typeface="Calibri"/>
              </a:defRPr>
            </a:lvl6pPr>
            <a:lvl7pPr algn="ctr">
              <a:defRPr sz="1875" b="0">
                <a:solidFill>
                  <a:srgbClr val="A24440"/>
                </a:solidFill>
                <a:latin typeface="Calibri"/>
                <a:ea typeface="Calibri"/>
                <a:cs typeface="Calibri"/>
              </a:defRPr>
            </a:lvl7pPr>
            <a:lvl8pPr algn="ctr">
              <a:defRPr sz="1875" b="0">
                <a:solidFill>
                  <a:srgbClr val="A24440"/>
                </a:solidFill>
                <a:latin typeface="Calibri"/>
                <a:ea typeface="Calibri"/>
                <a:cs typeface="Calibri"/>
              </a:defRPr>
            </a:lvl8pPr>
            <a:lvl9pPr algn="ctr">
              <a:defRPr sz="1875" b="0">
                <a:solidFill>
                  <a:srgbClr val="A24440"/>
                </a:solidFill>
                <a:latin typeface="Calibri"/>
                <a:ea typeface="Calibri"/>
                <a:cs typeface="Calibri"/>
              </a:defRPr>
            </a:lvl9pPr>
          </a:lstStyle>
          <a:p xmlns:a="http://schemas.openxmlformats.org/drawingml/2006/main">
            <a:pPr algn="ctr">
              <a:defRPr sz="1875" b="0">
                <a:solidFill>
                  <a:srgbClr val="A24440"/>
                </a:solidFill>
                <a:latin typeface="Calibri"/>
                <a:ea typeface="Calibri"/>
                <a:cs typeface="Calibri"/>
              </a:defRPr>
            </a:pPr>
            <a:r>
              <a:rPr sz="1875" b="0">
                <a:solidFill>
                  <a:srgbClr val="A24440"/>
                </a:solidFill>
                <a:latin typeface="Calibri"/>
                <a:ea typeface="Calibri"/>
                <a:cs typeface="Calibri"/>
              </a:rPr>
              <a:t>Fallido</a:t>
            </a:r>
          </a:p>
          <a:p xmlns:a="http://schemas.openxmlformats.org/drawingml/2006/main">
            <a:pPr algn="ctr">
              <a:defRPr sz="1875" b="0">
                <a:solidFill>
                  <a:srgbClr val="A24440"/>
                </a:solidFill>
                <a:latin typeface="Calibri"/>
                <a:ea typeface="Calibri"/>
                <a:cs typeface="Calibri"/>
              </a:defRPr>
            </a:pPr>
            <a:r>
              <a:rPr sz="1875" b="0">
                <a:solidFill>
                  <a:srgbClr val="A24440"/>
                </a:solidFill>
                <a:latin typeface="Calibri"/>
                <a:ea typeface="Calibri"/>
                <a:cs typeface="Calibri"/>
              </a:rPr>
              <a:t>Conservar evidencia</a:t>
            </a:r>
          </a:p>
        </p:txBody>
      </p:sp>
      <p:sp>
        <p:nvSpPr>
          <p:cNvPr id="24" name="diagram-label-0">
            <a:extLst xmlns:a="http://schemas.openxmlformats.org/drawingml/2006/main">
              <a:ext uri="{FF2B5EF4-FFF2-40B4-BE49-F238E27FC236}">
                <a16:creationId xmlns:a16="http://schemas.microsoft.com/office/drawing/2014/main" id="{0BFE0A11-0E80-4EAB-AF04-4638CF8E2C7F}"/>
              </a:ext>
            </a:extLst>
          </p:cNvPr>
          <p:cNvSpPr>
            <a:spLocks xmlns:a="http://schemas.openxmlformats.org/drawingml/2006/main" noGrp="1"/>
          </p:cNvSpPr>
          <p:nvPr/>
        </p:nvSpPr>
        <p:spPr>
          <a:xfrm xmlns:a="http://schemas.openxmlformats.org/drawingml/2006/main">
            <a:off x="7334250" y="2324100"/>
            <a:ext cx="147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87F7A"/>
                </a:solidFill>
                <a:latin typeface="Calibri"/>
                <a:ea typeface="Calibri"/>
                <a:cs typeface="Calibri"/>
              </a:defRPr>
            </a:defPPr>
            <a:lvl1pPr>
              <a:defRPr sz="1725" b="0">
                <a:solidFill>
                  <a:srgbClr val="087F7A"/>
                </a:solidFill>
                <a:latin typeface="Calibri"/>
                <a:ea typeface="Calibri"/>
                <a:cs typeface="Calibri"/>
              </a:defRPr>
            </a:lvl1pPr>
            <a:lvl2pPr>
              <a:defRPr sz="1725" b="0">
                <a:solidFill>
                  <a:srgbClr val="087F7A"/>
                </a:solidFill>
                <a:latin typeface="Calibri"/>
                <a:ea typeface="Calibri"/>
                <a:cs typeface="Calibri"/>
              </a:defRPr>
            </a:lvl2pPr>
            <a:lvl3pPr>
              <a:defRPr sz="1725" b="0">
                <a:solidFill>
                  <a:srgbClr val="087F7A"/>
                </a:solidFill>
                <a:latin typeface="Calibri"/>
                <a:ea typeface="Calibri"/>
                <a:cs typeface="Calibri"/>
              </a:defRPr>
            </a:lvl3pPr>
            <a:lvl4pPr>
              <a:defRPr sz="1725" b="0">
                <a:solidFill>
                  <a:srgbClr val="087F7A"/>
                </a:solidFill>
                <a:latin typeface="Calibri"/>
                <a:ea typeface="Calibri"/>
                <a:cs typeface="Calibri"/>
              </a:defRPr>
            </a:lvl4pPr>
            <a:lvl5pPr>
              <a:defRPr sz="1725" b="0">
                <a:solidFill>
                  <a:srgbClr val="087F7A"/>
                </a:solidFill>
                <a:latin typeface="Calibri"/>
                <a:ea typeface="Calibri"/>
                <a:cs typeface="Calibri"/>
              </a:defRPr>
            </a:lvl5pPr>
            <a:lvl6pPr>
              <a:defRPr sz="1725" b="0">
                <a:solidFill>
                  <a:srgbClr val="087F7A"/>
                </a:solidFill>
                <a:latin typeface="Calibri"/>
                <a:ea typeface="Calibri"/>
                <a:cs typeface="Calibri"/>
              </a:defRPr>
            </a:lvl6pPr>
            <a:lvl7pPr>
              <a:defRPr sz="1725" b="0">
                <a:solidFill>
                  <a:srgbClr val="087F7A"/>
                </a:solidFill>
                <a:latin typeface="Calibri"/>
                <a:ea typeface="Calibri"/>
                <a:cs typeface="Calibri"/>
              </a:defRPr>
            </a:lvl7pPr>
            <a:lvl8pPr>
              <a:defRPr sz="1725" b="0">
                <a:solidFill>
                  <a:srgbClr val="087F7A"/>
                </a:solidFill>
                <a:latin typeface="Calibri"/>
                <a:ea typeface="Calibri"/>
                <a:cs typeface="Calibri"/>
              </a:defRPr>
            </a:lvl8pPr>
            <a:lvl9pPr>
              <a:defRPr sz="1725" b="0">
                <a:solidFill>
                  <a:srgbClr val="087F7A"/>
                </a:solidFill>
                <a:latin typeface="Calibri"/>
                <a:ea typeface="Calibri"/>
                <a:cs typeface="Calibri"/>
              </a:defRPr>
            </a:lvl9pPr>
          </a:lstStyle>
          <a:p xmlns:a="http://schemas.openxmlformats.org/drawingml/2006/main">
            <a:pPr>
              <a:defRPr sz="1725" b="0">
                <a:solidFill>
                  <a:srgbClr val="087F7A"/>
                </a:solidFill>
                <a:latin typeface="Calibri"/>
                <a:ea typeface="Calibri"/>
                <a:cs typeface="Calibri"/>
              </a:defRPr>
            </a:pPr>
            <a:r>
              <a:rPr sz="1725" b="0">
                <a:solidFill>
                  <a:srgbClr val="087F7A"/>
                </a:solidFill>
                <a:latin typeface="Calibri"/>
                <a:ea typeface="Calibri"/>
                <a:cs typeface="Calibri"/>
              </a:rPr>
              <a:t>Cumple</a:t>
            </a:r>
          </a:p>
        </p:txBody>
      </p:sp>
      <p:sp>
        <p:nvSpPr>
          <p:cNvPr id="25" name="diagram-label-1">
            <a:extLst xmlns:a="http://schemas.openxmlformats.org/drawingml/2006/main">
              <a:ext uri="{FF2B5EF4-FFF2-40B4-BE49-F238E27FC236}">
                <a16:creationId xmlns:a16="http://schemas.microsoft.com/office/drawing/2014/main" id="{9881E940-DA5A-44E6-8E9D-F31E7874714C}"/>
              </a:ext>
            </a:extLst>
          </p:cNvPr>
          <p:cNvSpPr>
            <a:spLocks xmlns:a="http://schemas.openxmlformats.org/drawingml/2006/main" noGrp="1"/>
          </p:cNvSpPr>
          <p:nvPr/>
        </p:nvSpPr>
        <p:spPr>
          <a:xfrm xmlns:a="http://schemas.openxmlformats.org/drawingml/2006/main">
            <a:off x="7334250" y="5000625"/>
            <a:ext cx="147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24440"/>
                </a:solidFill>
                <a:latin typeface="Calibri"/>
                <a:ea typeface="Calibri"/>
                <a:cs typeface="Calibri"/>
              </a:defRPr>
            </a:defPPr>
            <a:lvl1pPr>
              <a:defRPr sz="1725" b="0">
                <a:solidFill>
                  <a:srgbClr val="A24440"/>
                </a:solidFill>
                <a:latin typeface="Calibri"/>
                <a:ea typeface="Calibri"/>
                <a:cs typeface="Calibri"/>
              </a:defRPr>
            </a:lvl1pPr>
            <a:lvl2pPr>
              <a:defRPr sz="1725" b="0">
                <a:solidFill>
                  <a:srgbClr val="A24440"/>
                </a:solidFill>
                <a:latin typeface="Calibri"/>
                <a:ea typeface="Calibri"/>
                <a:cs typeface="Calibri"/>
              </a:defRPr>
            </a:lvl2pPr>
            <a:lvl3pPr>
              <a:defRPr sz="1725" b="0">
                <a:solidFill>
                  <a:srgbClr val="A24440"/>
                </a:solidFill>
                <a:latin typeface="Calibri"/>
                <a:ea typeface="Calibri"/>
                <a:cs typeface="Calibri"/>
              </a:defRPr>
            </a:lvl3pPr>
            <a:lvl4pPr>
              <a:defRPr sz="1725" b="0">
                <a:solidFill>
                  <a:srgbClr val="A24440"/>
                </a:solidFill>
                <a:latin typeface="Calibri"/>
                <a:ea typeface="Calibri"/>
                <a:cs typeface="Calibri"/>
              </a:defRPr>
            </a:lvl4pPr>
            <a:lvl5pPr>
              <a:defRPr sz="1725" b="0">
                <a:solidFill>
                  <a:srgbClr val="A24440"/>
                </a:solidFill>
                <a:latin typeface="Calibri"/>
                <a:ea typeface="Calibri"/>
                <a:cs typeface="Calibri"/>
              </a:defRPr>
            </a:lvl5pPr>
            <a:lvl6pPr>
              <a:defRPr sz="1725" b="0">
                <a:solidFill>
                  <a:srgbClr val="A24440"/>
                </a:solidFill>
                <a:latin typeface="Calibri"/>
                <a:ea typeface="Calibri"/>
                <a:cs typeface="Calibri"/>
              </a:defRPr>
            </a:lvl6pPr>
            <a:lvl7pPr>
              <a:defRPr sz="1725" b="0">
                <a:solidFill>
                  <a:srgbClr val="A24440"/>
                </a:solidFill>
                <a:latin typeface="Calibri"/>
                <a:ea typeface="Calibri"/>
                <a:cs typeface="Calibri"/>
              </a:defRPr>
            </a:lvl7pPr>
            <a:lvl8pPr>
              <a:defRPr sz="1725" b="0">
                <a:solidFill>
                  <a:srgbClr val="A24440"/>
                </a:solidFill>
                <a:latin typeface="Calibri"/>
                <a:ea typeface="Calibri"/>
                <a:cs typeface="Calibri"/>
              </a:defRPr>
            </a:lvl8pPr>
            <a:lvl9pPr>
              <a:defRPr sz="1725" b="0">
                <a:solidFill>
                  <a:srgbClr val="A24440"/>
                </a:solidFill>
                <a:latin typeface="Calibri"/>
                <a:ea typeface="Calibri"/>
                <a:cs typeface="Calibri"/>
              </a:defRPr>
            </a:lvl9pPr>
          </a:lstStyle>
          <a:p xmlns:a="http://schemas.openxmlformats.org/drawingml/2006/main">
            <a:pPr>
              <a:defRPr sz="1725" b="0">
                <a:solidFill>
                  <a:srgbClr val="A24440"/>
                </a:solidFill>
                <a:latin typeface="Calibri"/>
                <a:ea typeface="Calibri"/>
                <a:cs typeface="Calibri"/>
              </a:defRPr>
            </a:pPr>
            <a:r>
              <a:rPr sz="1725" b="0">
                <a:solidFill>
                  <a:srgbClr val="A24440"/>
                </a:solidFill>
                <a:latin typeface="Calibri"/>
                <a:ea typeface="Calibri"/>
                <a:cs typeface="Calibri"/>
              </a:rPr>
              <a:t>Incumple</a:t>
            </a:r>
          </a:p>
        </p:txBody>
      </p:sp>
      <p:sp>
        <p:nvSpPr>
          <p:cNvPr id="26" name="check">
            <a:extLst xmlns:a="http://schemas.openxmlformats.org/drawingml/2006/main">
              <a:ext uri="{FF2B5EF4-FFF2-40B4-BE49-F238E27FC236}">
                <a16:creationId xmlns:a16="http://schemas.microsoft.com/office/drawing/2014/main" id="{7A2A7264-FDED-4CC6-90FD-5D959A95D833}"/>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La última publicación válida permanece disponible si el candidato falla.</a:t>
            </a:r>
          </a:p>
        </p:txBody>
      </p:sp>
      <p:sp>
        <p:nvSpPr>
          <p:cNvPr id="27" name="footer">
            <a:extLst xmlns:a="http://schemas.openxmlformats.org/drawingml/2006/main">
              <a:ext uri="{FF2B5EF4-FFF2-40B4-BE49-F238E27FC236}">
                <a16:creationId xmlns:a16="http://schemas.microsoft.com/office/drawing/2014/main" id="{749D1643-314E-45A0-81FE-32064C2D06CB}"/>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8" name="page">
            <a:extLst xmlns:a="http://schemas.openxmlformats.org/drawingml/2006/main">
              <a:ext uri="{FF2B5EF4-FFF2-40B4-BE49-F238E27FC236}">
                <a16:creationId xmlns:a16="http://schemas.microsoft.com/office/drawing/2014/main" id="{3BC395F1-E40B-4FB8-9807-041B373B0FB8}"/>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31</a:t>
            </a:r>
          </a:p>
        </p:txBody>
      </p:sp>
    </p:spTree>
    <p:extLst>
      <p:ext uri="{BB962C8B-B14F-4D97-AF65-F5344CB8AC3E}">
        <p14:creationId xmlns:p14="http://schemas.microsoft.com/office/powerpoint/2010/main" val="116899893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33CAD4D6-BE1B-434D-AA74-070A61DFA6C6}"/>
              </a:ext>
            </a:extLst>
          </p:cNvPr>
          <p:cNvPicPr>
            <a:picLocks xmlns:a="http://schemas.openxmlformats.org/drawingml/2006/main" noChangeAspect="1"/>
          </p:cNvPicPr>
          <p:nvPr/>
        </p:nvPicPr>
        <p:blipFill>
          <a:blip xmlns:r="http://schemas.openxmlformats.org/officeDocument/2006/relationships" xmlns:a="http://schemas.openxmlformats.org/drawingml/2006/main" r:embed="Raaf0468bfbf8462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A0E630A0-6971-4D09-8FCB-AF5BB4F57149}"/>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Descanso</a:t>
            </a:r>
          </a:p>
        </p:txBody>
      </p:sp>
      <p:sp>
        <p:nvSpPr>
          <p:cNvPr id="16" name="pause-time">
            <a:extLst xmlns:a="http://schemas.openxmlformats.org/drawingml/2006/main">
              <a:ext uri="{FF2B5EF4-FFF2-40B4-BE49-F238E27FC236}">
                <a16:creationId xmlns:a16="http://schemas.microsoft.com/office/drawing/2014/main" id="{A5024B8E-6C1C-4DC1-B4A2-A282E7A76188}"/>
              </a:ext>
            </a:extLst>
          </p:cNvPr>
          <p:cNvSpPr>
            <a:spLocks xmlns:a="http://schemas.openxmlformats.org/drawingml/2006/main" noGrp="1"/>
          </p:cNvSpPr>
          <p:nvPr/>
        </p:nvSpPr>
        <p:spPr>
          <a:xfrm xmlns:a="http://schemas.openxmlformats.org/drawingml/2006/main">
            <a:off x="685800" y="22669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5546ED"/>
                </a:solidFill>
                <a:latin typeface="Calibri"/>
                <a:ea typeface="Calibri"/>
                <a:cs typeface="Calibri"/>
              </a:defRPr>
            </a:defPPr>
            <a:lvl1pPr>
              <a:defRPr sz="4800" b="1">
                <a:solidFill>
                  <a:srgbClr val="5546ED"/>
                </a:solidFill>
                <a:latin typeface="Calibri"/>
                <a:ea typeface="Calibri"/>
                <a:cs typeface="Calibri"/>
              </a:defRPr>
            </a:lvl1pPr>
            <a:lvl2pPr>
              <a:defRPr sz="4800" b="1">
                <a:solidFill>
                  <a:srgbClr val="5546ED"/>
                </a:solidFill>
                <a:latin typeface="Calibri"/>
                <a:ea typeface="Calibri"/>
                <a:cs typeface="Calibri"/>
              </a:defRPr>
            </a:lvl2pPr>
            <a:lvl3pPr>
              <a:defRPr sz="4800" b="1">
                <a:solidFill>
                  <a:srgbClr val="5546ED"/>
                </a:solidFill>
                <a:latin typeface="Calibri"/>
                <a:ea typeface="Calibri"/>
                <a:cs typeface="Calibri"/>
              </a:defRPr>
            </a:lvl3pPr>
            <a:lvl4pPr>
              <a:defRPr sz="4800" b="1">
                <a:solidFill>
                  <a:srgbClr val="5546ED"/>
                </a:solidFill>
                <a:latin typeface="Calibri"/>
                <a:ea typeface="Calibri"/>
                <a:cs typeface="Calibri"/>
              </a:defRPr>
            </a:lvl4pPr>
            <a:lvl5pPr>
              <a:defRPr sz="4800" b="1">
                <a:solidFill>
                  <a:srgbClr val="5546ED"/>
                </a:solidFill>
                <a:latin typeface="Calibri"/>
                <a:ea typeface="Calibri"/>
                <a:cs typeface="Calibri"/>
              </a:defRPr>
            </a:lvl5pPr>
            <a:lvl6pPr>
              <a:defRPr sz="4800" b="1">
                <a:solidFill>
                  <a:srgbClr val="5546ED"/>
                </a:solidFill>
                <a:latin typeface="Calibri"/>
                <a:ea typeface="Calibri"/>
                <a:cs typeface="Calibri"/>
              </a:defRPr>
            </a:lvl6pPr>
            <a:lvl7pPr>
              <a:defRPr sz="4800" b="1">
                <a:solidFill>
                  <a:srgbClr val="5546ED"/>
                </a:solidFill>
                <a:latin typeface="Calibri"/>
                <a:ea typeface="Calibri"/>
                <a:cs typeface="Calibri"/>
              </a:defRPr>
            </a:lvl7pPr>
            <a:lvl8pPr>
              <a:defRPr sz="4800" b="1">
                <a:solidFill>
                  <a:srgbClr val="5546ED"/>
                </a:solidFill>
                <a:latin typeface="Calibri"/>
                <a:ea typeface="Calibri"/>
                <a:cs typeface="Calibri"/>
              </a:defRPr>
            </a:lvl8pPr>
            <a:lvl9pPr>
              <a:defRPr sz="4800" b="1">
                <a:solidFill>
                  <a:srgbClr val="5546ED"/>
                </a:solidFill>
                <a:latin typeface="Calibri"/>
                <a:ea typeface="Calibri"/>
                <a:cs typeface="Calibri"/>
              </a:defRPr>
            </a:lvl9pPr>
          </a:lstStyle>
          <a:p xmlns:a="http://schemas.openxmlformats.org/drawingml/2006/main">
            <a:pPr>
              <a:defRPr sz="4800" b="1">
                <a:solidFill>
                  <a:srgbClr val="5546ED"/>
                </a:solidFill>
                <a:latin typeface="Calibri"/>
                <a:ea typeface="Calibri"/>
                <a:cs typeface="Calibri"/>
              </a:defRPr>
            </a:pPr>
            <a:r>
              <a:rPr sz="4800" b="1">
                <a:solidFill>
                  <a:srgbClr val="5546ED"/>
                </a:solidFill>
                <a:latin typeface="Calibri"/>
                <a:ea typeface="Calibri"/>
                <a:cs typeface="Calibri"/>
              </a:rPr>
              <a:t>20:00–20:15</a:t>
            </a:r>
          </a:p>
        </p:txBody>
      </p:sp>
      <p:sp>
        <p:nvSpPr>
          <p:cNvPr id="17" name="pause-return">
            <a:extLst xmlns:a="http://schemas.openxmlformats.org/drawingml/2006/main">
              <a:ext uri="{FF2B5EF4-FFF2-40B4-BE49-F238E27FC236}">
                <a16:creationId xmlns:a16="http://schemas.microsoft.com/office/drawing/2014/main" id="{49493440-61CC-4709-9510-1C30934998C9}"/>
              </a:ext>
            </a:extLst>
          </p:cNvPr>
          <p:cNvSpPr>
            <a:spLocks xmlns:a="http://schemas.openxmlformats.org/drawingml/2006/main" noGrp="1"/>
          </p:cNvSpPr>
          <p:nvPr/>
        </p:nvSpPr>
        <p:spPr>
          <a:xfrm xmlns:a="http://schemas.openxmlformats.org/drawingml/2006/main">
            <a:off x="685800" y="371475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203B68"/>
                </a:solidFill>
                <a:latin typeface="Calibri"/>
                <a:ea typeface="Calibri"/>
                <a:cs typeface="Calibri"/>
              </a:defRPr>
            </a:defPPr>
            <a:lvl1pPr>
              <a:defRPr sz="2400" b="0">
                <a:solidFill>
                  <a:srgbClr val="203B68"/>
                </a:solidFill>
                <a:latin typeface="Calibri"/>
                <a:ea typeface="Calibri"/>
                <a:cs typeface="Calibri"/>
              </a:defRPr>
            </a:lvl1pPr>
            <a:lvl2pPr>
              <a:defRPr sz="2400" b="0">
                <a:solidFill>
                  <a:srgbClr val="203B68"/>
                </a:solidFill>
                <a:latin typeface="Calibri"/>
                <a:ea typeface="Calibri"/>
                <a:cs typeface="Calibri"/>
              </a:defRPr>
            </a:lvl2pPr>
            <a:lvl3pPr>
              <a:defRPr sz="2400" b="0">
                <a:solidFill>
                  <a:srgbClr val="203B68"/>
                </a:solidFill>
                <a:latin typeface="Calibri"/>
                <a:ea typeface="Calibri"/>
                <a:cs typeface="Calibri"/>
              </a:defRPr>
            </a:lvl3pPr>
            <a:lvl4pPr>
              <a:defRPr sz="2400" b="0">
                <a:solidFill>
                  <a:srgbClr val="203B68"/>
                </a:solidFill>
                <a:latin typeface="Calibri"/>
                <a:ea typeface="Calibri"/>
                <a:cs typeface="Calibri"/>
              </a:defRPr>
            </a:lvl4pPr>
            <a:lvl5pPr>
              <a:defRPr sz="2400" b="0">
                <a:solidFill>
                  <a:srgbClr val="203B68"/>
                </a:solidFill>
                <a:latin typeface="Calibri"/>
                <a:ea typeface="Calibri"/>
                <a:cs typeface="Calibri"/>
              </a:defRPr>
            </a:lvl5pPr>
            <a:lvl6pPr>
              <a:defRPr sz="2400" b="0">
                <a:solidFill>
                  <a:srgbClr val="203B68"/>
                </a:solidFill>
                <a:latin typeface="Calibri"/>
                <a:ea typeface="Calibri"/>
                <a:cs typeface="Calibri"/>
              </a:defRPr>
            </a:lvl6pPr>
            <a:lvl7pPr>
              <a:defRPr sz="2400" b="0">
                <a:solidFill>
                  <a:srgbClr val="203B68"/>
                </a:solidFill>
                <a:latin typeface="Calibri"/>
                <a:ea typeface="Calibri"/>
                <a:cs typeface="Calibri"/>
              </a:defRPr>
            </a:lvl7pPr>
            <a:lvl8pPr>
              <a:defRPr sz="2400" b="0">
                <a:solidFill>
                  <a:srgbClr val="203B68"/>
                </a:solidFill>
                <a:latin typeface="Calibri"/>
                <a:ea typeface="Calibri"/>
                <a:cs typeface="Calibri"/>
              </a:defRPr>
            </a:lvl8pPr>
            <a:lvl9pPr>
              <a:defRPr sz="2400" b="0">
                <a:solidFill>
                  <a:srgbClr val="203B68"/>
                </a:solidFill>
                <a:latin typeface="Calibri"/>
                <a:ea typeface="Calibri"/>
                <a:cs typeface="Calibri"/>
              </a:defRPr>
            </a:lvl9pPr>
          </a:lstStyle>
          <a:p xmlns:a="http://schemas.openxmlformats.org/drawingml/2006/main">
            <a:pPr>
              <a:defRPr sz="2400" b="0">
                <a:solidFill>
                  <a:srgbClr val="203B68"/>
                </a:solidFill>
                <a:latin typeface="Calibri"/>
                <a:ea typeface="Calibri"/>
                <a:cs typeface="Calibri"/>
              </a:defRPr>
            </a:pPr>
            <a:r>
              <a:rPr sz="2400" b="0">
                <a:solidFill>
                  <a:srgbClr val="203B68"/>
                </a:solidFill>
                <a:latin typeface="Calibri"/>
                <a:ea typeface="Calibri"/>
                <a:cs typeface="Calibri"/>
              </a:rPr>
              <a:t>Continuación: seguimiento del ejemplo y ejercicios guiados</a:t>
            </a:r>
          </a:p>
        </p:txBody>
      </p:sp>
      <p:sp>
        <p:nvSpPr>
          <p:cNvPr id="18" name="footer">
            <a:extLst xmlns:a="http://schemas.openxmlformats.org/drawingml/2006/main">
              <a:ext uri="{FF2B5EF4-FFF2-40B4-BE49-F238E27FC236}">
                <a16:creationId xmlns:a16="http://schemas.microsoft.com/office/drawing/2014/main" id="{8F9485C1-85A0-4C5D-AFE3-579291D1B1BB}"/>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19" name="page">
            <a:extLst xmlns:a="http://schemas.openxmlformats.org/drawingml/2006/main">
              <a:ext uri="{FF2B5EF4-FFF2-40B4-BE49-F238E27FC236}">
                <a16:creationId xmlns:a16="http://schemas.microsoft.com/office/drawing/2014/main" id="{1D56421A-2A92-4CD2-A21B-898784A5C2CC}"/>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32</a:t>
            </a:r>
          </a:p>
        </p:txBody>
      </p:sp>
    </p:spTree>
    <p:extLst>
      <p:ext uri="{BB962C8B-B14F-4D97-AF65-F5344CB8AC3E}">
        <p14:creationId xmlns:p14="http://schemas.microsoft.com/office/powerpoint/2010/main" val="116899893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C82EDE44-DF78-48B3-9677-0EA440F45606}"/>
              </a:ext>
            </a:extLst>
          </p:cNvPr>
          <p:cNvPicPr>
            <a:picLocks xmlns:a="http://schemas.openxmlformats.org/drawingml/2006/main" noChangeAspect="1"/>
          </p:cNvPicPr>
          <p:nvPr/>
        </p:nvPicPr>
        <p:blipFill>
          <a:blip xmlns:r="http://schemas.openxmlformats.org/officeDocument/2006/relationships" xmlns:a="http://schemas.openxmlformats.org/drawingml/2006/main" r:embed="R69e6e463849f459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4E62EA15-3BD9-411D-B417-C280DB943882}"/>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Consulta sobre el detalle</a:t>
            </a:r>
          </a:p>
        </p:txBody>
      </p:sp>
      <p:sp>
        <p:nvSpPr>
          <p:cNvPr id="16" name="lead">
            <a:extLst xmlns:a="http://schemas.openxmlformats.org/drawingml/2006/main">
              <a:ext uri="{FF2B5EF4-FFF2-40B4-BE49-F238E27FC236}">
                <a16:creationId xmlns:a16="http://schemas.microsoft.com/office/drawing/2014/main" id="{8F013C85-0C64-474D-8359-A3B883F047B1}"/>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DuckDB puede consultar los archivos Parquet publicados.</a:t>
            </a:r>
          </a:p>
        </p:txBody>
      </p:sp>
      <p:sp>
        <p:nvSpPr>
          <p:cNvPr id="17" name="code">
            <a:extLst xmlns:a="http://schemas.openxmlformats.org/drawingml/2006/main">
              <a:ext uri="{FF2B5EF4-FFF2-40B4-BE49-F238E27FC236}">
                <a16:creationId xmlns:a16="http://schemas.microsoft.com/office/drawing/2014/main" id="{3B3457AA-D648-46D2-95F3-B128A0BD5663}"/>
              </a:ext>
            </a:extLst>
          </p:cNvPr>
          <p:cNvSpPr>
            <a:spLocks xmlns:a="http://schemas.openxmlformats.org/drawingml/2006/main" noGrp="1"/>
          </p:cNvSpPr>
          <p:nvPr/>
        </p:nvSpPr>
        <p:spPr>
          <a:xfrm xmlns:a="http://schemas.openxmlformats.org/drawingml/2006/main">
            <a:off x="685800" y="2286000"/>
            <a:ext cx="106680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onsolas"/>
                <a:ea typeface="Consolas"/>
                <a:cs typeface="Consolas"/>
              </a:defRPr>
            </a:defPPr>
            <a:lvl1pPr>
              <a:defRPr sz="2175" b="0">
                <a:solidFill>
                  <a:srgbClr val="203B68"/>
                </a:solidFill>
                <a:latin typeface="Consolas"/>
                <a:ea typeface="Consolas"/>
                <a:cs typeface="Consolas"/>
              </a:defRPr>
            </a:lvl1pPr>
            <a:lvl2pPr>
              <a:defRPr sz="2175" b="0">
                <a:solidFill>
                  <a:srgbClr val="203B68"/>
                </a:solidFill>
                <a:latin typeface="Consolas"/>
                <a:ea typeface="Consolas"/>
                <a:cs typeface="Consolas"/>
              </a:defRPr>
            </a:lvl2pPr>
            <a:lvl3pPr>
              <a:defRPr sz="2175" b="0">
                <a:solidFill>
                  <a:srgbClr val="203B68"/>
                </a:solidFill>
                <a:latin typeface="Consolas"/>
                <a:ea typeface="Consolas"/>
                <a:cs typeface="Consolas"/>
              </a:defRPr>
            </a:lvl3pPr>
            <a:lvl4pPr>
              <a:defRPr sz="2175" b="0">
                <a:solidFill>
                  <a:srgbClr val="203B68"/>
                </a:solidFill>
                <a:latin typeface="Consolas"/>
                <a:ea typeface="Consolas"/>
                <a:cs typeface="Consolas"/>
              </a:defRPr>
            </a:lvl4pPr>
            <a:lvl5pPr>
              <a:defRPr sz="2175" b="0">
                <a:solidFill>
                  <a:srgbClr val="203B68"/>
                </a:solidFill>
                <a:latin typeface="Consolas"/>
                <a:ea typeface="Consolas"/>
                <a:cs typeface="Consolas"/>
              </a:defRPr>
            </a:lvl5pPr>
            <a:lvl6pPr>
              <a:defRPr sz="2175" b="0">
                <a:solidFill>
                  <a:srgbClr val="203B68"/>
                </a:solidFill>
                <a:latin typeface="Consolas"/>
                <a:ea typeface="Consolas"/>
                <a:cs typeface="Consolas"/>
              </a:defRPr>
            </a:lvl6pPr>
            <a:lvl7pPr>
              <a:defRPr sz="2175" b="0">
                <a:solidFill>
                  <a:srgbClr val="203B68"/>
                </a:solidFill>
                <a:latin typeface="Consolas"/>
                <a:ea typeface="Consolas"/>
                <a:cs typeface="Consolas"/>
              </a:defRPr>
            </a:lvl7pPr>
            <a:lvl8pPr>
              <a:defRPr sz="2175" b="0">
                <a:solidFill>
                  <a:srgbClr val="203B68"/>
                </a:solidFill>
                <a:latin typeface="Consolas"/>
                <a:ea typeface="Consolas"/>
                <a:cs typeface="Consolas"/>
              </a:defRPr>
            </a:lvl8pPr>
            <a:lvl9pPr>
              <a:defRPr sz="2175" b="0">
                <a:solidFill>
                  <a:srgbClr val="203B68"/>
                </a:solidFill>
                <a:latin typeface="Consolas"/>
                <a:ea typeface="Consolas"/>
                <a:cs typeface="Consolas"/>
              </a:defRPr>
            </a:lvl9pPr>
          </a:lstStyle>
          <a:p xmlns:a="http://schemas.openxmlformats.org/drawingml/2006/main">
            <a:pPr>
              <a:defRPr sz="2175" b="0">
                <a:solidFill>
                  <a:srgbClr val="203B68"/>
                </a:solidFill>
                <a:latin typeface="Consolas"/>
                <a:ea typeface="Consolas"/>
                <a:cs typeface="Consolas"/>
              </a:defRPr>
            </a:pPr>
            <a:r>
              <a:rPr sz="2175" b="0">
                <a:solidFill>
                  <a:srgbClr val="203B68"/>
                </a:solidFill>
                <a:latin typeface="Consolas"/>
                <a:ea typeface="Consolas"/>
                <a:cs typeface="Consolas"/>
              </a:rPr>
              <a:t>SELECT periodo, territorio,</a:t>
            </a:r>
          </a:p>
          <a:p xmlns:a="http://schemas.openxmlformats.org/drawingml/2006/main">
            <a:pPr>
              <a:defRPr sz="2175" b="0">
                <a:solidFill>
                  <a:srgbClr val="203B68"/>
                </a:solidFill>
                <a:latin typeface="Consolas"/>
                <a:ea typeface="Consolas"/>
                <a:cs typeface="Consolas"/>
              </a:defRPr>
            </a:pPr>
            <a:r>
              <a:rPr sz="2175" b="0">
                <a:solidFill>
                  <a:srgbClr val="203B68"/>
                </a:solidFill>
                <a:latin typeface="Consolas"/>
                <a:ea typeface="Consolas"/>
                <a:cs typeface="Consolas"/>
              </a:rPr>
              <a:t>       COUNT(*) AS reportes</a:t>
            </a:r>
          </a:p>
          <a:p xmlns:a="http://schemas.openxmlformats.org/drawingml/2006/main">
            <a:pPr>
              <a:defRPr sz="2175" b="0">
                <a:solidFill>
                  <a:srgbClr val="203B68"/>
                </a:solidFill>
                <a:latin typeface="Consolas"/>
                <a:ea typeface="Consolas"/>
                <a:cs typeface="Consolas"/>
              </a:defRPr>
            </a:pPr>
            <a:r>
              <a:rPr sz="2175" b="0">
                <a:solidFill>
                  <a:srgbClr val="203B68"/>
                </a:solidFill>
                <a:latin typeface="Consolas"/>
                <a:ea typeface="Consolas"/>
                <a:cs typeface="Consolas"/>
              </a:rPr>
              <a:t>FROM read_parquet('detalle.parquet')</a:t>
            </a:r>
          </a:p>
          <a:p xmlns:a="http://schemas.openxmlformats.org/drawingml/2006/main">
            <a:pPr>
              <a:defRPr sz="2175" b="0">
                <a:solidFill>
                  <a:srgbClr val="203B68"/>
                </a:solidFill>
                <a:latin typeface="Consolas"/>
                <a:ea typeface="Consolas"/>
                <a:cs typeface="Consolas"/>
              </a:defRPr>
            </a:pPr>
            <a:r>
              <a:rPr sz="2175" b="0">
                <a:solidFill>
                  <a:srgbClr val="203B68"/>
                </a:solidFill>
                <a:latin typeface="Consolas"/>
                <a:ea typeface="Consolas"/>
                <a:cs typeface="Consolas"/>
              </a:rPr>
              <a:t>GROUP BY periodo, territorio</a:t>
            </a:r>
          </a:p>
          <a:p xmlns:a="http://schemas.openxmlformats.org/drawingml/2006/main">
            <a:pPr>
              <a:defRPr sz="2175" b="0">
                <a:solidFill>
                  <a:srgbClr val="203B68"/>
                </a:solidFill>
                <a:latin typeface="Consolas"/>
                <a:ea typeface="Consolas"/>
                <a:cs typeface="Consolas"/>
              </a:defRPr>
            </a:pPr>
            <a:r>
              <a:rPr sz="2175" b="0">
                <a:solidFill>
                  <a:srgbClr val="203B68"/>
                </a:solidFill>
                <a:latin typeface="Consolas"/>
                <a:ea typeface="Consolas"/>
                <a:cs typeface="Consolas"/>
              </a:rPr>
              <a:t>ORDER BY periodo, territorio;</a:t>
            </a:r>
          </a:p>
        </p:txBody>
      </p:sp>
      <p:sp>
        <p:nvSpPr>
          <p:cNvPr id="18" name="code-explain">
            <a:extLst xmlns:a="http://schemas.openxmlformats.org/drawingml/2006/main">
              <a:ext uri="{FF2B5EF4-FFF2-40B4-BE49-F238E27FC236}">
                <a16:creationId xmlns:a16="http://schemas.microsoft.com/office/drawing/2014/main" id="{B158A4F8-8CA6-486F-9538-DA96AD6FEDA9}"/>
              </a:ext>
            </a:extLst>
          </p:cNvPr>
          <p:cNvSpPr>
            <a:spLocks xmlns:a="http://schemas.openxmlformats.org/drawingml/2006/main" noGrp="1"/>
          </p:cNvSpPr>
          <p:nvPr/>
        </p:nvSpPr>
        <p:spPr>
          <a:xfrm xmlns:a="http://schemas.openxmlformats.org/drawingml/2006/main">
            <a:off x="685800" y="50482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098F89"/>
                </a:solidFill>
                <a:latin typeface="Calibri"/>
                <a:ea typeface="Calibri"/>
                <a:cs typeface="Calibri"/>
              </a:defRPr>
            </a:defPPr>
            <a:lvl1pPr>
              <a:defRPr sz="2025" b="0">
                <a:solidFill>
                  <a:srgbClr val="098F89"/>
                </a:solidFill>
                <a:latin typeface="Calibri"/>
                <a:ea typeface="Calibri"/>
                <a:cs typeface="Calibri"/>
              </a:defRPr>
            </a:lvl1pPr>
            <a:lvl2pPr>
              <a:defRPr sz="2025" b="0">
                <a:solidFill>
                  <a:srgbClr val="098F89"/>
                </a:solidFill>
                <a:latin typeface="Calibri"/>
                <a:ea typeface="Calibri"/>
                <a:cs typeface="Calibri"/>
              </a:defRPr>
            </a:lvl2pPr>
            <a:lvl3pPr>
              <a:defRPr sz="2025" b="0">
                <a:solidFill>
                  <a:srgbClr val="098F89"/>
                </a:solidFill>
                <a:latin typeface="Calibri"/>
                <a:ea typeface="Calibri"/>
                <a:cs typeface="Calibri"/>
              </a:defRPr>
            </a:lvl3pPr>
            <a:lvl4pPr>
              <a:defRPr sz="2025" b="0">
                <a:solidFill>
                  <a:srgbClr val="098F89"/>
                </a:solidFill>
                <a:latin typeface="Calibri"/>
                <a:ea typeface="Calibri"/>
                <a:cs typeface="Calibri"/>
              </a:defRPr>
            </a:lvl4pPr>
            <a:lvl5pPr>
              <a:defRPr sz="2025" b="0">
                <a:solidFill>
                  <a:srgbClr val="098F89"/>
                </a:solidFill>
                <a:latin typeface="Calibri"/>
                <a:ea typeface="Calibri"/>
                <a:cs typeface="Calibri"/>
              </a:defRPr>
            </a:lvl5pPr>
            <a:lvl6pPr>
              <a:defRPr sz="2025" b="0">
                <a:solidFill>
                  <a:srgbClr val="098F89"/>
                </a:solidFill>
                <a:latin typeface="Calibri"/>
                <a:ea typeface="Calibri"/>
                <a:cs typeface="Calibri"/>
              </a:defRPr>
            </a:lvl6pPr>
            <a:lvl7pPr>
              <a:defRPr sz="2025" b="0">
                <a:solidFill>
                  <a:srgbClr val="098F89"/>
                </a:solidFill>
                <a:latin typeface="Calibri"/>
                <a:ea typeface="Calibri"/>
                <a:cs typeface="Calibri"/>
              </a:defRPr>
            </a:lvl7pPr>
            <a:lvl8pPr>
              <a:defRPr sz="2025" b="0">
                <a:solidFill>
                  <a:srgbClr val="098F89"/>
                </a:solidFill>
                <a:latin typeface="Calibri"/>
                <a:ea typeface="Calibri"/>
                <a:cs typeface="Calibri"/>
              </a:defRPr>
            </a:lvl8pPr>
            <a:lvl9pPr>
              <a:defRPr sz="2025" b="0">
                <a:solidFill>
                  <a:srgbClr val="098F89"/>
                </a:solidFill>
                <a:latin typeface="Calibri"/>
                <a:ea typeface="Calibri"/>
                <a:cs typeface="Calibri"/>
              </a:defRPr>
            </a:lvl9pPr>
          </a:lstStyle>
          <a:p xmlns:a="http://schemas.openxmlformats.org/drawingml/2006/main">
            <a:pPr>
              <a:defRPr sz="2025" b="0">
                <a:solidFill>
                  <a:srgbClr val="098F89"/>
                </a:solidFill>
                <a:latin typeface="Calibri"/>
                <a:ea typeface="Calibri"/>
                <a:cs typeface="Calibri"/>
              </a:defRPr>
            </a:pPr>
            <a:r>
              <a:rPr sz="2025" b="0">
                <a:solidFill>
                  <a:srgbClr val="098F89"/>
                </a:solidFill>
                <a:latin typeface="Calibri"/>
                <a:ea typeface="Calibri"/>
                <a:cs typeface="Calibri"/>
              </a:rPr>
              <a:t>La consulta reproduce la granularidad del agregado para contrastar ambos resultados.</a:t>
            </a:r>
          </a:p>
        </p:txBody>
      </p:sp>
      <p:sp>
        <p:nvSpPr>
          <p:cNvPr id="19" name="check">
            <a:extLst xmlns:a="http://schemas.openxmlformats.org/drawingml/2006/main">
              <a:ext uri="{FF2B5EF4-FFF2-40B4-BE49-F238E27FC236}">
                <a16:creationId xmlns:a16="http://schemas.microsoft.com/office/drawing/2014/main" id="{22D5FF72-B20F-4E8A-8E32-D64D6FBF2DA5}"/>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Comprobación: ¿qué ocurriría con los territorios ausentes si no se normalizan?</a:t>
            </a:r>
          </a:p>
        </p:txBody>
      </p:sp>
      <p:sp>
        <p:nvSpPr>
          <p:cNvPr id="20" name="footer">
            <a:extLst xmlns:a="http://schemas.openxmlformats.org/drawingml/2006/main">
              <a:ext uri="{FF2B5EF4-FFF2-40B4-BE49-F238E27FC236}">
                <a16:creationId xmlns:a16="http://schemas.microsoft.com/office/drawing/2014/main" id="{E0AE9158-67D3-4970-B857-208AC53986C6}"/>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1" name="page">
            <a:extLst xmlns:a="http://schemas.openxmlformats.org/drawingml/2006/main">
              <a:ext uri="{FF2B5EF4-FFF2-40B4-BE49-F238E27FC236}">
                <a16:creationId xmlns:a16="http://schemas.microsoft.com/office/drawing/2014/main" id="{B923CF0D-BAAC-47B3-9D07-9A25D1B60FEB}"/>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33</a:t>
            </a:r>
          </a:p>
        </p:txBody>
      </p:sp>
    </p:spTree>
    <p:extLst>
      <p:ext uri="{BB962C8B-B14F-4D97-AF65-F5344CB8AC3E}">
        <p14:creationId xmlns:p14="http://schemas.microsoft.com/office/powerpoint/2010/main" val="116899893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22D30170-948A-4887-89D6-019138888A60}"/>
              </a:ext>
            </a:extLst>
          </p:cNvPr>
          <p:cNvCxnSpPr>
            <a:stCxn xmlns:a="http://schemas.openxmlformats.org/drawingml/2006/main" id="19" idx="3"/>
            <a:endCxn xmlns:a="http://schemas.openxmlformats.org/drawingml/2006/main" id="20" idx="1"/>
          </p:cNvCxnSpPr>
          <p:nvPr/>
        </p:nvCxnSpPr>
        <p:spPr>
          <a:xfrm xmlns:a="http://schemas.openxmlformats.org/drawingml/2006/main" flipV="1">
            <a:off x="7334250" y="3833813"/>
            <a:ext cx="1714500" cy="1166813"/>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3" name="">
            <a:extLst xmlns:a="http://schemas.openxmlformats.org/drawingml/2006/main">
              <a:ext uri="{FF2B5EF4-FFF2-40B4-BE49-F238E27FC236}">
                <a16:creationId xmlns:a16="http://schemas.microsoft.com/office/drawing/2014/main" id="{DCC7DA97-7C41-4459-89E5-3F113E562658}"/>
              </a:ext>
            </a:extLst>
          </p:cNvPr>
          <p:cNvCxnSpPr>
            <a:stCxn xmlns:a="http://schemas.openxmlformats.org/drawingml/2006/main" id="18" idx="3"/>
            <a:endCxn xmlns:a="http://schemas.openxmlformats.org/drawingml/2006/main" id="20" idx="1"/>
          </p:cNvCxnSpPr>
          <p:nvPr/>
        </p:nvCxnSpPr>
        <p:spPr>
          <a:xfrm xmlns:a="http://schemas.openxmlformats.org/drawingml/2006/main">
            <a:off x="7334250" y="2809875"/>
            <a:ext cx="1714500" cy="1023938"/>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2" name="">
            <a:extLst xmlns:a="http://schemas.openxmlformats.org/drawingml/2006/main">
              <a:ext uri="{FF2B5EF4-FFF2-40B4-BE49-F238E27FC236}">
                <a16:creationId xmlns:a16="http://schemas.microsoft.com/office/drawing/2014/main" id="{50798A44-119B-4851-80DB-E4841C606593}"/>
              </a:ext>
            </a:extLst>
          </p:cNvPr>
          <p:cNvCxnSpPr>
            <a:stCxn xmlns:a="http://schemas.openxmlformats.org/drawingml/2006/main" id="17" idx="3"/>
            <a:endCxn xmlns:a="http://schemas.openxmlformats.org/drawingml/2006/main" id="19" idx="1"/>
          </p:cNvCxnSpPr>
          <p:nvPr/>
        </p:nvCxnSpPr>
        <p:spPr>
          <a:xfrm xmlns:a="http://schemas.openxmlformats.org/drawingml/2006/main">
            <a:off x="2895600" y="3643313"/>
            <a:ext cx="1676400" cy="1357313"/>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cxnSp>
        <p:nvCxnSpPr>
          <p:cNvPr id="21" name="">
            <a:extLst xmlns:a="http://schemas.openxmlformats.org/drawingml/2006/main">
              <a:ext uri="{FF2B5EF4-FFF2-40B4-BE49-F238E27FC236}">
                <a16:creationId xmlns:a16="http://schemas.microsoft.com/office/drawing/2014/main" id="{72D4C30D-979F-4AEF-9468-CE11E12DBE14}"/>
              </a:ext>
            </a:extLst>
          </p:cNvPr>
          <p:cNvCxnSpPr>
            <a:stCxn xmlns:a="http://schemas.openxmlformats.org/drawingml/2006/main" id="17" idx="3"/>
            <a:endCxn xmlns:a="http://schemas.openxmlformats.org/drawingml/2006/main" id="18" idx="1"/>
          </p:cNvCxnSpPr>
          <p:nvPr/>
        </p:nvCxnSpPr>
        <p:spPr>
          <a:xfrm xmlns:a="http://schemas.openxmlformats.org/drawingml/2006/main" flipV="1">
            <a:off x="2895600" y="2809875"/>
            <a:ext cx="1676400" cy="833438"/>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BBA187D6-A050-4D1B-8A3A-D5138386CE9D}"/>
              </a:ext>
            </a:extLst>
          </p:cNvPr>
          <p:cNvPicPr>
            <a:picLocks xmlns:a="http://schemas.openxmlformats.org/drawingml/2006/main" noChangeAspect="1"/>
          </p:cNvPicPr>
          <p:nvPr/>
        </p:nvPicPr>
        <p:blipFill>
          <a:blip xmlns:r="http://schemas.openxmlformats.org/officeDocument/2006/relationships" xmlns:a="http://schemas.openxmlformats.org/drawingml/2006/main" r:embed="R3ef4820c325f472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0E229067-E178-454B-BCDE-F21830C34323}"/>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Comprobación de la reejecución</a:t>
            </a:r>
          </a:p>
        </p:txBody>
      </p:sp>
      <p:sp>
        <p:nvSpPr>
          <p:cNvPr id="16" name="lead">
            <a:extLst xmlns:a="http://schemas.openxmlformats.org/drawingml/2006/main">
              <a:ext uri="{FF2B5EF4-FFF2-40B4-BE49-F238E27FC236}">
                <a16:creationId xmlns:a16="http://schemas.microsoft.com/office/drawing/2014/main" id="{1D323AE9-017C-400B-897C-A179275E4C25}"/>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Repetimos el recorrido para detectar acumulaciones o cambios accidentales del contenido.</a:t>
            </a:r>
          </a:p>
        </p:txBody>
      </p:sp>
      <p:sp>
        <p:nvSpPr>
          <p:cNvPr id="17" name="diagram-node-0">
            <a:extLst xmlns:a="http://schemas.openxmlformats.org/drawingml/2006/main">
              <a:ext uri="{FF2B5EF4-FFF2-40B4-BE49-F238E27FC236}">
                <a16:creationId xmlns:a16="http://schemas.microsoft.com/office/drawing/2014/main" id="{671CDAE7-881A-4FA7-8EAB-6749CB5FFA0C}"/>
              </a:ext>
            </a:extLst>
          </p:cNvPr>
          <p:cNvSpPr>
            <a:spLocks xmlns:a="http://schemas.openxmlformats.org/drawingml/2006/main" noGrp="1"/>
          </p:cNvSpPr>
          <p:nvPr/>
        </p:nvSpPr>
        <p:spPr>
          <a:xfrm xmlns:a="http://schemas.openxmlformats.org/drawingml/2006/main">
            <a:off x="609600" y="3143250"/>
            <a:ext cx="2286000" cy="1000125"/>
          </a:xfrm>
          <a:prstGeom xmlns:a="http://schemas.openxmlformats.org/drawingml/2006/main" prst="rect">
            <a:avLst/>
          </a:prstGeom>
          <a:solidFill xmlns:a="http://schemas.openxmlformats.org/drawingml/2006/main">
            <a:srgbClr val="F4F6FB"/>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Mismas entradas</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y reglas</a:t>
            </a:r>
          </a:p>
        </p:txBody>
      </p:sp>
      <p:sp>
        <p:nvSpPr>
          <p:cNvPr id="18" name="diagram-node-1">
            <a:extLst xmlns:a="http://schemas.openxmlformats.org/drawingml/2006/main">
              <a:ext uri="{FF2B5EF4-FFF2-40B4-BE49-F238E27FC236}">
                <a16:creationId xmlns:a16="http://schemas.microsoft.com/office/drawing/2014/main" id="{CEAD18D1-7EFF-4BA2-9385-A8500959E1B0}"/>
              </a:ext>
            </a:extLst>
          </p:cNvPr>
          <p:cNvSpPr>
            <a:spLocks xmlns:a="http://schemas.openxmlformats.org/drawingml/2006/main" noGrp="1"/>
          </p:cNvSpPr>
          <p:nvPr/>
        </p:nvSpPr>
        <p:spPr>
          <a:xfrm xmlns:a="http://schemas.openxmlformats.org/drawingml/2006/main">
            <a:off x="4572000" y="2286000"/>
            <a:ext cx="2762250" cy="1047750"/>
          </a:xfrm>
          <a:prstGeom xmlns:a="http://schemas.openxmlformats.org/drawingml/2006/main" prst="rect">
            <a:avLst/>
          </a:prstGeom>
          <a:solidFill xmlns:a="http://schemas.openxmlformats.org/drawingml/2006/main">
            <a:srgbClr val="E9E6F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Ejecución A</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Detalle y agregado</a:t>
            </a:r>
          </a:p>
        </p:txBody>
      </p:sp>
      <p:sp>
        <p:nvSpPr>
          <p:cNvPr id="19" name="diagram-node-2">
            <a:extLst xmlns:a="http://schemas.openxmlformats.org/drawingml/2006/main">
              <a:ext uri="{FF2B5EF4-FFF2-40B4-BE49-F238E27FC236}">
                <a16:creationId xmlns:a16="http://schemas.microsoft.com/office/drawing/2014/main" id="{7963A83E-6A8D-4510-8096-0C11B2083A73}"/>
              </a:ext>
            </a:extLst>
          </p:cNvPr>
          <p:cNvSpPr>
            <a:spLocks xmlns:a="http://schemas.openxmlformats.org/drawingml/2006/main" noGrp="1"/>
          </p:cNvSpPr>
          <p:nvPr/>
        </p:nvSpPr>
        <p:spPr>
          <a:xfrm xmlns:a="http://schemas.openxmlformats.org/drawingml/2006/main">
            <a:off x="4572000" y="4476750"/>
            <a:ext cx="2762250" cy="1047750"/>
          </a:xfrm>
          <a:prstGeom xmlns:a="http://schemas.openxmlformats.org/drawingml/2006/main" prst="rect">
            <a:avLst/>
          </a:prstGeom>
          <a:solidFill xmlns:a="http://schemas.openxmlformats.org/drawingml/2006/main">
            <a:srgbClr val="E4F3E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Ejecución B</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Detalle y agregado</a:t>
            </a:r>
          </a:p>
        </p:txBody>
      </p:sp>
      <p:sp>
        <p:nvSpPr>
          <p:cNvPr id="20" name="diagram-node-3">
            <a:extLst xmlns:a="http://schemas.openxmlformats.org/drawingml/2006/main">
              <a:ext uri="{FF2B5EF4-FFF2-40B4-BE49-F238E27FC236}">
                <a16:creationId xmlns:a16="http://schemas.microsoft.com/office/drawing/2014/main" id="{A9BB82AC-11FB-4261-8C69-4147EBB92EC4}"/>
              </a:ext>
            </a:extLst>
          </p:cNvPr>
          <p:cNvSpPr>
            <a:spLocks xmlns:a="http://schemas.openxmlformats.org/drawingml/2006/main" noGrp="1"/>
          </p:cNvSpPr>
          <p:nvPr/>
        </p:nvSpPr>
        <p:spPr>
          <a:xfrm xmlns:a="http://schemas.openxmlformats.org/drawingml/2006/main">
            <a:off x="9048750" y="3143250"/>
            <a:ext cx="2476500" cy="1381125"/>
          </a:xfrm>
          <a:prstGeom xmlns:a="http://schemas.openxmlformats.org/drawingml/2006/main" prst="rect">
            <a:avLst/>
          </a:prstGeom>
          <a:solidFill xmlns:a="http://schemas.openxmlformats.org/drawingml/2006/main">
            <a:srgbClr val="F4F6FB"/>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Comparación</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Claves, medidas</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y multiplicidades</a:t>
            </a:r>
          </a:p>
        </p:txBody>
      </p:sp>
      <p:sp>
        <p:nvSpPr>
          <p:cNvPr id="25" name="check">
            <a:extLst xmlns:a="http://schemas.openxmlformats.org/drawingml/2006/main">
              <a:ext uri="{FF2B5EF4-FFF2-40B4-BE49-F238E27FC236}">
                <a16:creationId xmlns:a16="http://schemas.microsoft.com/office/drawing/2014/main" id="{1F2F3030-7BB8-46AA-BDD9-960D64B91318}"/>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El identificador y la duración pueden cambiar. El contenido esperado debe conservarse.</a:t>
            </a:r>
          </a:p>
        </p:txBody>
      </p:sp>
      <p:sp>
        <p:nvSpPr>
          <p:cNvPr id="26" name="footer">
            <a:extLst xmlns:a="http://schemas.openxmlformats.org/drawingml/2006/main">
              <a:ext uri="{FF2B5EF4-FFF2-40B4-BE49-F238E27FC236}">
                <a16:creationId xmlns:a16="http://schemas.microsoft.com/office/drawing/2014/main" id="{449E527C-CF77-4FE9-AC88-F60C7CE8AE16}"/>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7" name="page">
            <a:extLst xmlns:a="http://schemas.openxmlformats.org/drawingml/2006/main">
              <a:ext uri="{FF2B5EF4-FFF2-40B4-BE49-F238E27FC236}">
                <a16:creationId xmlns:a16="http://schemas.microsoft.com/office/drawing/2014/main" id="{C4B7088D-1832-45C4-AEFB-0AF68773919A}"/>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34</a:t>
            </a:r>
          </a:p>
        </p:txBody>
      </p:sp>
    </p:spTree>
    <p:extLst>
      <p:ext uri="{BB962C8B-B14F-4D97-AF65-F5344CB8AC3E}">
        <p14:creationId xmlns:p14="http://schemas.microsoft.com/office/powerpoint/2010/main" val="116899893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AF85447E-4D1B-4F4D-9518-65094DDAB852}"/>
              </a:ext>
            </a:extLst>
          </p:cNvPr>
          <p:cNvPicPr>
            <a:picLocks xmlns:a="http://schemas.openxmlformats.org/drawingml/2006/main" noChangeAspect="1"/>
          </p:cNvPicPr>
          <p:nvPr/>
        </p:nvPicPr>
        <p:blipFill>
          <a:blip xmlns:r="http://schemas.openxmlformats.org/officeDocument/2006/relationships" xmlns:a="http://schemas.openxmlformats.org/drawingml/2006/main" r:embed="Re30ad35b145046f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5D34467C-5D46-4CF3-AD99-0ED11E84AF1A}"/>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Resultados de dos ejecuciones</a:t>
            </a:r>
          </a:p>
        </p:txBody>
      </p:sp>
      <p:sp>
        <p:nvSpPr>
          <p:cNvPr id="16" name="lead">
            <a:extLst xmlns:a="http://schemas.openxmlformats.org/drawingml/2006/main">
              <a:ext uri="{FF2B5EF4-FFF2-40B4-BE49-F238E27FC236}">
                <a16:creationId xmlns:a16="http://schemas.microsoft.com/office/drawing/2014/main" id="{03D047F2-A79C-4FC9-837F-683BD5E46AED}"/>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Ejemplo hipotético de controles estables.</a:t>
            </a:r>
          </a:p>
        </p:txBody>
      </p:sp>
      <p:graphicFrame>
        <p:nvGraphicFramePr>
          <p:cNvPr id="17" name="">
            <a:extLst xmlns:a="http://schemas.openxmlformats.org/drawingml/2006/main">
              <a:ext uri="{FF2B5EF4-FFF2-40B4-BE49-F238E27FC236}">
                <a16:creationId xmlns:a16="http://schemas.microsoft.com/office/drawing/2014/main" id="{B0D94ADA-80FE-4CE8-9304-2F4F1D9DFE56}"/>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5486400"/>
                <a:gridCol w="2743200"/>
                <a:gridCol w="2743200"/>
              </a:tblGrid>
              <a:tr h="555625">
                <a:tc>
                  <a:txBody>
                    <a:bodyPr/>
                    <a:lstStyle/>
                    <a:p>
                      <a:r>
                        <a:rPr sz="1950" b="1">
                          <a:solidFill>
                            <a:srgbClr val="FFFFFF"/>
                          </a:solidFill>
                          <a:latin typeface="Calibri"/>
                          <a:ea typeface="Calibri"/>
                          <a:cs typeface="Calibri"/>
                        </a:rPr>
                        <a:t>Control</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Ejecución A</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Ejecución B</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555625">
                <a:tc>
                  <a:txBody>
                    <a:bodyPr/>
                    <a:lstStyle/>
                    <a:p>
                      <a:r>
                        <a:rPr sz="1950" b="0">
                          <a:solidFill>
                            <a:srgbClr val="203B68"/>
                          </a:solidFill>
                          <a:latin typeface="Calibri"/>
                          <a:ea typeface="Calibri"/>
                          <a:cs typeface="Calibri"/>
                        </a:rPr>
                        <a:t>Filas leídas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6</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6</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Aceptadas / rechazadas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5 / 1</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5 / 1</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Grupos publicados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4</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4</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Total de reportes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5</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5</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Diferencias de contenido</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Referencia</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0</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bl>
          </a:graphicData>
        </a:graphic>
      </p:graphicFrame>
      <p:sp>
        <p:nvSpPr>
          <p:cNvPr id="18" name="check">
            <a:extLst xmlns:a="http://schemas.openxmlformats.org/drawingml/2006/main">
              <a:ext uri="{FF2B5EF4-FFF2-40B4-BE49-F238E27FC236}">
                <a16:creationId xmlns:a16="http://schemas.microsoft.com/office/drawing/2014/main" id="{CAB6C888-A225-48D4-AC26-85D2C612A4B9}"/>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Mismos conteos pueden ocultar diferencias: también se compara el contenido.</a:t>
            </a:r>
          </a:p>
        </p:txBody>
      </p:sp>
      <p:sp>
        <p:nvSpPr>
          <p:cNvPr id="19" name="footer">
            <a:extLst xmlns:a="http://schemas.openxmlformats.org/drawingml/2006/main">
              <a:ext uri="{FF2B5EF4-FFF2-40B4-BE49-F238E27FC236}">
                <a16:creationId xmlns:a16="http://schemas.microsoft.com/office/drawing/2014/main" id="{B8E36F64-A444-49E3-8AF9-1C0354CB4073}"/>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AC18F7CB-134C-4923-9C6B-8825790021D0}"/>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35</a:t>
            </a:r>
          </a:p>
        </p:txBody>
      </p:sp>
    </p:spTree>
    <p:extLst>
      <p:ext uri="{BB962C8B-B14F-4D97-AF65-F5344CB8AC3E}">
        <p14:creationId xmlns:p14="http://schemas.microsoft.com/office/powerpoint/2010/main" val="116899893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F3B1ACD7-9E3A-4B1C-B55E-0CFBAB6317E7}"/>
              </a:ext>
            </a:extLst>
          </p:cNvPr>
          <p:cNvPicPr>
            <a:picLocks xmlns:a="http://schemas.openxmlformats.org/drawingml/2006/main" noChangeAspect="1"/>
          </p:cNvPicPr>
          <p:nvPr/>
        </p:nvPicPr>
        <p:blipFill>
          <a:blip xmlns:r="http://schemas.openxmlformats.org/officeDocument/2006/relationships" xmlns:a="http://schemas.openxmlformats.org/drawingml/2006/main" r:embed="R8a6cf82d0a94444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02FA7B3B-D412-4BD8-8C64-762E86FA7A19}"/>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Seguimiento DataOps del ejemplo</a:t>
            </a:r>
          </a:p>
        </p:txBody>
      </p:sp>
      <p:sp>
        <p:nvSpPr>
          <p:cNvPr id="16" name="lead">
            <a:extLst xmlns:a="http://schemas.openxmlformats.org/drawingml/2006/main">
              <a:ext uri="{FF2B5EF4-FFF2-40B4-BE49-F238E27FC236}">
                <a16:creationId xmlns:a16="http://schemas.microsoft.com/office/drawing/2014/main" id="{86F39069-11D3-4B02-87F7-B6B2F1AE386C}"/>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Relacionamos una ejecución con las evidencias que permiten revisarla.</a:t>
            </a:r>
          </a:p>
        </p:txBody>
      </p:sp>
      <p:graphicFrame>
        <p:nvGraphicFramePr>
          <p:cNvPr id="17" name="">
            <a:extLst xmlns:a="http://schemas.openxmlformats.org/drawingml/2006/main">
              <a:ext uri="{FF2B5EF4-FFF2-40B4-BE49-F238E27FC236}">
                <a16:creationId xmlns:a16="http://schemas.microsoft.com/office/drawing/2014/main" id="{570446E2-950B-4B05-9F56-4A45309064A9}"/>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3072384"/>
                <a:gridCol w="7900416"/>
              </a:tblGrid>
              <a:tr h="555625">
                <a:tc>
                  <a:txBody>
                    <a:bodyPr/>
                    <a:lstStyle/>
                    <a:p>
                      <a:r>
                        <a:rPr sz="1950" b="1">
                          <a:solidFill>
                            <a:srgbClr val="FFFFFF"/>
                          </a:solidFill>
                          <a:latin typeface="Calibri"/>
                          <a:ea typeface="Calibri"/>
                          <a:cs typeface="Calibri"/>
                        </a:rPr>
                        <a:t>Decisión</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Evidencia del ejemplo hipotético</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555625">
                <a:tc>
                  <a:txBody>
                    <a:bodyPr/>
                    <a:lstStyle/>
                    <a:p>
                      <a:r>
                        <a:rPr sz="1950" b="0">
                          <a:solidFill>
                            <a:srgbClr val="203B68"/>
                          </a:solidFill>
                          <a:latin typeface="Calibri"/>
                          <a:ea typeface="Calibri"/>
                          <a:cs typeface="Calibri"/>
                        </a:rPr>
                        <a:t>Identificar entradas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Manifiesto: archivo, corte y huella</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Identificar reglas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reglas_v1: período válido; ausencia territorial conservada</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Revisar ejecución 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6 leídas, 5 aceptadas, 1 rechazada; 4 grupos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Revisar ejecución B</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Mismos datos; 0 diferencias de contenido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Aceptar publicación</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Revisor confirma controles y ubicación utilizable</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bl>
          </a:graphicData>
        </a:graphic>
      </p:graphicFrame>
      <p:sp>
        <p:nvSpPr>
          <p:cNvPr id="18" name="check">
            <a:extLst xmlns:a="http://schemas.openxmlformats.org/drawingml/2006/main">
              <a:ext uri="{FF2B5EF4-FFF2-40B4-BE49-F238E27FC236}">
                <a16:creationId xmlns:a16="http://schemas.microsoft.com/office/drawing/2014/main" id="{76581BE7-576D-4F56-ACF5-DF6BF4921037}"/>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El registro conecta datos, reglas, controles y resultado; los conteos no bastan por sí solos.</a:t>
            </a:r>
          </a:p>
        </p:txBody>
      </p:sp>
      <p:sp>
        <p:nvSpPr>
          <p:cNvPr id="19" name="footer">
            <a:extLst xmlns:a="http://schemas.openxmlformats.org/drawingml/2006/main">
              <a:ext uri="{FF2B5EF4-FFF2-40B4-BE49-F238E27FC236}">
                <a16:creationId xmlns:a16="http://schemas.microsoft.com/office/drawing/2014/main" id="{AA18B14B-0406-409E-9008-BD5B1E734565}"/>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85D86ACA-A232-4A54-A799-2F45991538AC}"/>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36</a:t>
            </a:r>
          </a:p>
        </p:txBody>
      </p:sp>
    </p:spTree>
    <p:extLst>
      <p:ext uri="{BB962C8B-B14F-4D97-AF65-F5344CB8AC3E}">
        <p14:creationId xmlns:p14="http://schemas.microsoft.com/office/powerpoint/2010/main" val="116899893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2C0B3219-82BA-40F9-8974-8BA49E75A308}"/>
              </a:ext>
            </a:extLst>
          </p:cNvPr>
          <p:cNvPicPr>
            <a:picLocks xmlns:a="http://schemas.openxmlformats.org/drawingml/2006/main" noChangeAspect="1"/>
          </p:cNvPicPr>
          <p:nvPr/>
        </p:nvPicPr>
        <p:blipFill>
          <a:blip xmlns:r="http://schemas.openxmlformats.org/officeDocument/2006/relationships" xmlns:a="http://schemas.openxmlformats.org/drawingml/2006/main" r:embed="Rd0feadd5c789496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CB697232-D9BA-4A14-B8B0-F324414703F6}"/>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Un cambio obliga a revisar el resultado</a:t>
            </a:r>
          </a:p>
        </p:txBody>
      </p:sp>
      <p:sp>
        <p:nvSpPr>
          <p:cNvPr id="16" name="lead">
            <a:extLst xmlns:a="http://schemas.openxmlformats.org/drawingml/2006/main">
              <a:ext uri="{FF2B5EF4-FFF2-40B4-BE49-F238E27FC236}">
                <a16:creationId xmlns:a16="http://schemas.microsoft.com/office/drawing/2014/main" id="{8E6DBBEE-80B4-45F2-9C3F-09C3E79E0A2A}"/>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Un territorio se corrige en la fuente y cambia la respuesta por grupo.</a:t>
            </a:r>
          </a:p>
        </p:txBody>
      </p:sp>
      <p:graphicFrame>
        <p:nvGraphicFramePr>
          <p:cNvPr id="17" name="">
            <a:extLst xmlns:a="http://schemas.openxmlformats.org/drawingml/2006/main">
              <a:ext uri="{FF2B5EF4-FFF2-40B4-BE49-F238E27FC236}">
                <a16:creationId xmlns:a16="http://schemas.microsoft.com/office/drawing/2014/main" id="{8FE1B04D-9D14-4980-9932-38C5F6FF3E18}"/>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3072384"/>
                <a:gridCol w="3730752"/>
                <a:gridCol w="4169664"/>
              </a:tblGrid>
              <a:tr h="555625">
                <a:tc>
                  <a:txBody>
                    <a:bodyPr/>
                    <a:lstStyle/>
                    <a:p>
                      <a:r>
                        <a:rPr sz="1950" b="1">
                          <a:solidFill>
                            <a:srgbClr val="FFFFFF"/>
                          </a:solidFill>
                          <a:latin typeface="Calibri"/>
                          <a:ea typeface="Calibri"/>
                          <a:cs typeface="Calibri"/>
                        </a:rPr>
                        <a:t>Situación</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Antes</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Después</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555625">
                <a:tc>
                  <a:txBody>
                    <a:bodyPr/>
                    <a:lstStyle/>
                    <a:p>
                      <a:r>
                        <a:rPr sz="1950" b="0">
                          <a:solidFill>
                            <a:srgbClr val="203B68"/>
                          </a:solidFill>
                          <a:latin typeface="Calibri"/>
                          <a:ea typeface="Calibri"/>
                          <a:cs typeface="Calibri"/>
                        </a:rPr>
                        <a:t>Entrada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Archivo original A</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Archivo corregido B, nueva huella</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I / Bogotá</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2 reportes</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3 reportes</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I / Boyacá</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1 reporte</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0 reportes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555625">
                <a:tc>
                  <a:txBody>
                    <a:bodyPr/>
                    <a:lstStyle/>
                    <a:p>
                      <a:r>
                        <a:rPr sz="1950" b="0">
                          <a:solidFill>
                            <a:srgbClr val="203B68"/>
                          </a:solidFill>
                          <a:latin typeface="Calibri"/>
                          <a:ea typeface="Calibri"/>
                          <a:cs typeface="Calibri"/>
                        </a:rPr>
                        <a:t>Total aceptado</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5 reportes</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5 reportes</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555625">
                <a:tc>
                  <a:txBody>
                    <a:bodyPr/>
                    <a:lstStyle/>
                    <a:p>
                      <a:r>
                        <a:rPr sz="1950" b="0">
                          <a:solidFill>
                            <a:srgbClr val="203B68"/>
                          </a:solidFill>
                          <a:latin typeface="Calibri"/>
                          <a:ea typeface="Calibri"/>
                          <a:cs typeface="Calibri"/>
                        </a:rPr>
                        <a:t>Decisión</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Conservar evidencia anterior</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Probar y aceptar nueva publicación</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bl>
          </a:graphicData>
        </a:graphic>
      </p:graphicFrame>
      <p:sp>
        <p:nvSpPr>
          <p:cNvPr id="18" name="check">
            <a:extLst xmlns:a="http://schemas.openxmlformats.org/drawingml/2006/main">
              <a:ext uri="{FF2B5EF4-FFF2-40B4-BE49-F238E27FC236}">
                <a16:creationId xmlns:a16="http://schemas.microsoft.com/office/drawing/2014/main" id="{BDD5F092-D05E-46B1-9867-1C7D0C3378C4}"/>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La corrección cambia la entrada: ya no esperamos igualdad entre ambas versiones.</a:t>
            </a:r>
          </a:p>
        </p:txBody>
      </p:sp>
      <p:sp>
        <p:nvSpPr>
          <p:cNvPr id="19" name="footer">
            <a:extLst xmlns:a="http://schemas.openxmlformats.org/drawingml/2006/main">
              <a:ext uri="{FF2B5EF4-FFF2-40B4-BE49-F238E27FC236}">
                <a16:creationId xmlns:a16="http://schemas.microsoft.com/office/drawing/2014/main" id="{C01F73FA-FECD-4DDB-A8DF-98D28B8714C7}"/>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0542F451-F2A2-4825-B84D-4CB9500693D3}"/>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37</a:t>
            </a:r>
          </a:p>
        </p:txBody>
      </p:sp>
    </p:spTree>
    <p:extLst>
      <p:ext uri="{BB962C8B-B14F-4D97-AF65-F5344CB8AC3E}">
        <p14:creationId xmlns:p14="http://schemas.microsoft.com/office/powerpoint/2010/main" val="116899893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64209DF4-03B2-4E07-BC69-D7C31F94AEA7}"/>
              </a:ext>
            </a:extLst>
          </p:cNvPr>
          <p:cNvCxnSpPr>
            <a:stCxn xmlns:a="http://schemas.openxmlformats.org/drawingml/2006/main" id="19" idx="3"/>
            <a:endCxn xmlns:a="http://schemas.openxmlformats.org/drawingml/2006/main" id="20" idx="1"/>
          </p:cNvCxnSpPr>
          <p:nvPr/>
        </p:nvCxnSpPr>
        <p:spPr>
          <a:xfrm xmlns:a="http://schemas.openxmlformats.org/drawingml/2006/main">
            <a:off x="7429500" y="5072063"/>
            <a:ext cx="1619250" cy="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2" name="">
            <a:extLst xmlns:a="http://schemas.openxmlformats.org/drawingml/2006/main">
              <a:ext uri="{FF2B5EF4-FFF2-40B4-BE49-F238E27FC236}">
                <a16:creationId xmlns:a16="http://schemas.microsoft.com/office/drawing/2014/main" id="{C656A53A-1247-4A81-B168-74341AEF4F16}"/>
              </a:ext>
            </a:extLst>
          </p:cNvPr>
          <p:cNvCxnSpPr>
            <a:stCxn xmlns:a="http://schemas.openxmlformats.org/drawingml/2006/main" id="18" idx="2"/>
            <a:endCxn xmlns:a="http://schemas.openxmlformats.org/drawingml/2006/main" id="19" idx="0"/>
          </p:cNvCxnSpPr>
          <p:nvPr/>
        </p:nvCxnSpPr>
        <p:spPr>
          <a:xfrm xmlns:a="http://schemas.openxmlformats.org/drawingml/2006/main">
            <a:off x="5857875" y="3286125"/>
            <a:ext cx="0" cy="1238250"/>
          </a:xfrm>
          <a:prstGeom xmlns:a="http://schemas.openxmlformats.org/drawingml/2006/main" prst="straightConnector1">
            <a:avLst/>
          </a:prstGeom>
          <a:ln xmlns:a="http://schemas.openxmlformats.org/drawingml/2006/main" w="19050">
            <a:solidFill>
              <a:srgbClr val="5546ED"/>
            </a:solidFill>
            <a:tailEnd type="triangle" w="med" len="med"/>
          </a:ln>
        </p:spPr>
      </p:cxnSp>
      <p:cxnSp>
        <p:nvCxnSpPr>
          <p:cNvPr id="21" name="">
            <a:extLst xmlns:a="http://schemas.openxmlformats.org/drawingml/2006/main">
              <a:ext uri="{FF2B5EF4-FFF2-40B4-BE49-F238E27FC236}">
                <a16:creationId xmlns:a16="http://schemas.microsoft.com/office/drawing/2014/main" id="{F4BCA812-B0D3-448D-B62A-3B556CD00A56}"/>
              </a:ext>
            </a:extLst>
          </p:cNvPr>
          <p:cNvCxnSpPr>
            <a:stCxn xmlns:a="http://schemas.openxmlformats.org/drawingml/2006/main" id="17" idx="3"/>
            <a:endCxn xmlns:a="http://schemas.openxmlformats.org/drawingml/2006/main" id="18" idx="1"/>
          </p:cNvCxnSpPr>
          <p:nvPr/>
        </p:nvCxnSpPr>
        <p:spPr>
          <a:xfrm xmlns:a="http://schemas.openxmlformats.org/drawingml/2006/main" flipV="1">
            <a:off x="2990850" y="2762250"/>
            <a:ext cx="1295400" cy="904875"/>
          </a:xfrm>
          <a:prstGeom xmlns:a="http://schemas.openxmlformats.org/drawingml/2006/main" prst="bentConnector3">
            <a:avLst>
              <a:gd name="adj1" fmla="val 50000"/>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5D0519E1-8802-4CCD-B6F9-797A9B1306E9}"/>
              </a:ext>
            </a:extLst>
          </p:cNvPr>
          <p:cNvPicPr>
            <a:picLocks xmlns:a="http://schemas.openxmlformats.org/drawingml/2006/main" noChangeAspect="1"/>
          </p:cNvPicPr>
          <p:nvPr/>
        </p:nvPicPr>
        <p:blipFill>
          <a:blip xmlns:r="http://schemas.openxmlformats.org/officeDocument/2006/relationships" xmlns:a="http://schemas.openxmlformats.org/drawingml/2006/main" r:embed="R9b34488328a647f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50848808-DE96-48FD-9B31-A6AE71B587B0}"/>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Archivo, tabla, catálogo y motor</a:t>
            </a:r>
          </a:p>
        </p:txBody>
      </p:sp>
      <p:sp>
        <p:nvSpPr>
          <p:cNvPr id="16" name="lead">
            <a:extLst xmlns:a="http://schemas.openxmlformats.org/drawingml/2006/main">
              <a:ext uri="{FF2B5EF4-FFF2-40B4-BE49-F238E27FC236}">
                <a16:creationId xmlns:a16="http://schemas.microsoft.com/office/drawing/2014/main" id="{E57221B4-E351-410D-8D80-66CB709201F8}"/>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Parquet e Iceberg cumplen funciones complementarias.</a:t>
            </a:r>
          </a:p>
        </p:txBody>
      </p:sp>
      <p:sp>
        <p:nvSpPr>
          <p:cNvPr id="17" name="diagram-node-0">
            <a:extLst xmlns:a="http://schemas.openxmlformats.org/drawingml/2006/main">
              <a:ext uri="{FF2B5EF4-FFF2-40B4-BE49-F238E27FC236}">
                <a16:creationId xmlns:a16="http://schemas.microsoft.com/office/drawing/2014/main" id="{A188A22D-3BD9-4A92-AAF3-D30606F70C4D}"/>
              </a:ext>
            </a:extLst>
          </p:cNvPr>
          <p:cNvSpPr>
            <a:spLocks xmlns:a="http://schemas.openxmlformats.org/drawingml/2006/main" noGrp="1"/>
          </p:cNvSpPr>
          <p:nvPr/>
        </p:nvSpPr>
        <p:spPr>
          <a:xfrm xmlns:a="http://schemas.openxmlformats.org/drawingml/2006/main">
            <a:off x="609600" y="2952750"/>
            <a:ext cx="2381250" cy="1428750"/>
          </a:xfrm>
          <a:prstGeom xmlns:a="http://schemas.openxmlformats.org/drawingml/2006/main" prst="rect">
            <a:avLst/>
          </a:prstGeom>
          <a:solidFill xmlns:a="http://schemas.openxmlformats.org/drawingml/2006/main">
            <a:srgbClr val="F4F6FB"/>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Motor</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Spark ejecuta SQL</a:t>
            </a:r>
          </a:p>
        </p:txBody>
      </p:sp>
      <p:sp>
        <p:nvSpPr>
          <p:cNvPr id="18" name="diagram-node-1">
            <a:extLst xmlns:a="http://schemas.openxmlformats.org/drawingml/2006/main">
              <a:ext uri="{FF2B5EF4-FFF2-40B4-BE49-F238E27FC236}">
                <a16:creationId xmlns:a16="http://schemas.microsoft.com/office/drawing/2014/main" id="{A64D62B5-68AF-49E1-93BB-0E73F5952F2C}"/>
              </a:ext>
            </a:extLst>
          </p:cNvPr>
          <p:cNvSpPr>
            <a:spLocks xmlns:a="http://schemas.openxmlformats.org/drawingml/2006/main" noGrp="1"/>
          </p:cNvSpPr>
          <p:nvPr/>
        </p:nvSpPr>
        <p:spPr>
          <a:xfrm xmlns:a="http://schemas.openxmlformats.org/drawingml/2006/main">
            <a:off x="4286250" y="2238375"/>
            <a:ext cx="3143250" cy="1047750"/>
          </a:xfrm>
          <a:prstGeom xmlns:a="http://schemas.openxmlformats.org/drawingml/2006/main" prst="rect">
            <a:avLst/>
          </a:prstGeom>
          <a:solidFill xmlns:a="http://schemas.openxmlformats.org/drawingml/2006/main">
            <a:srgbClr val="E9E6F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Catálogo</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Resuelve el nombre</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de la tabla</a:t>
            </a:r>
          </a:p>
        </p:txBody>
      </p:sp>
      <p:sp>
        <p:nvSpPr>
          <p:cNvPr id="19" name="diagram-node-2">
            <a:extLst xmlns:a="http://schemas.openxmlformats.org/drawingml/2006/main">
              <a:ext uri="{FF2B5EF4-FFF2-40B4-BE49-F238E27FC236}">
                <a16:creationId xmlns:a16="http://schemas.microsoft.com/office/drawing/2014/main" id="{22C3EB54-6E2C-4AA8-8E60-4CF5DE961433}"/>
              </a:ext>
            </a:extLst>
          </p:cNvPr>
          <p:cNvSpPr>
            <a:spLocks xmlns:a="http://schemas.openxmlformats.org/drawingml/2006/main" noGrp="1"/>
          </p:cNvSpPr>
          <p:nvPr/>
        </p:nvSpPr>
        <p:spPr>
          <a:xfrm xmlns:a="http://schemas.openxmlformats.org/drawingml/2006/main">
            <a:off x="4286250" y="4524375"/>
            <a:ext cx="3143250" cy="1095375"/>
          </a:xfrm>
          <a:prstGeom xmlns:a="http://schemas.openxmlformats.org/drawingml/2006/main" prst="rect">
            <a:avLst/>
          </a:prstGeom>
          <a:solidFill xmlns:a="http://schemas.openxmlformats.org/drawingml/2006/main">
            <a:srgbClr val="E4F3E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Tabla Iceberg</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Estado y archivos</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que lo componen</a:t>
            </a:r>
          </a:p>
        </p:txBody>
      </p:sp>
      <p:sp>
        <p:nvSpPr>
          <p:cNvPr id="20" name="diagram-node-3">
            <a:extLst xmlns:a="http://schemas.openxmlformats.org/drawingml/2006/main">
              <a:ext uri="{FF2B5EF4-FFF2-40B4-BE49-F238E27FC236}">
                <a16:creationId xmlns:a16="http://schemas.microsoft.com/office/drawing/2014/main" id="{D4990270-2E7D-4F6E-BA9C-CC19DFFAF5FD}"/>
              </a:ext>
            </a:extLst>
          </p:cNvPr>
          <p:cNvSpPr>
            <a:spLocks xmlns:a="http://schemas.openxmlformats.org/drawingml/2006/main" noGrp="1"/>
          </p:cNvSpPr>
          <p:nvPr/>
        </p:nvSpPr>
        <p:spPr>
          <a:xfrm xmlns:a="http://schemas.openxmlformats.org/drawingml/2006/main">
            <a:off x="9048750" y="4524375"/>
            <a:ext cx="2476500" cy="1095375"/>
          </a:xfrm>
          <a:prstGeom xmlns:a="http://schemas.openxmlformats.org/drawingml/2006/main" prst="rect">
            <a:avLst/>
          </a:prstGeom>
          <a:solidFill xmlns:a="http://schemas.openxmlformats.org/drawingml/2006/main">
            <a:srgbClr val="F4F6FB"/>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1875" b="0">
                <a:solidFill>
                  <a:srgbClr val="203B68"/>
                </a:solidFill>
                <a:latin typeface="Calibri"/>
                <a:ea typeface="Calibri"/>
                <a:cs typeface="Calibri"/>
              </a:defRPr>
            </a:defPPr>
            <a:lvl1pPr algn="ctr">
              <a:defRPr sz="1875" b="0">
                <a:solidFill>
                  <a:srgbClr val="203B68"/>
                </a:solidFill>
                <a:latin typeface="Calibri"/>
                <a:ea typeface="Calibri"/>
                <a:cs typeface="Calibri"/>
              </a:defRPr>
            </a:lvl1pPr>
            <a:lvl2pPr algn="ctr">
              <a:defRPr sz="1875" b="0">
                <a:solidFill>
                  <a:srgbClr val="203B68"/>
                </a:solidFill>
                <a:latin typeface="Calibri"/>
                <a:ea typeface="Calibri"/>
                <a:cs typeface="Calibri"/>
              </a:defRPr>
            </a:lvl2pPr>
            <a:lvl3pPr algn="ctr">
              <a:defRPr sz="1875" b="0">
                <a:solidFill>
                  <a:srgbClr val="203B68"/>
                </a:solidFill>
                <a:latin typeface="Calibri"/>
                <a:ea typeface="Calibri"/>
                <a:cs typeface="Calibri"/>
              </a:defRPr>
            </a:lvl3pPr>
            <a:lvl4pPr algn="ctr">
              <a:defRPr sz="1875" b="0">
                <a:solidFill>
                  <a:srgbClr val="203B68"/>
                </a:solidFill>
                <a:latin typeface="Calibri"/>
                <a:ea typeface="Calibri"/>
                <a:cs typeface="Calibri"/>
              </a:defRPr>
            </a:lvl4pPr>
            <a:lvl5pPr algn="ctr">
              <a:defRPr sz="1875" b="0">
                <a:solidFill>
                  <a:srgbClr val="203B68"/>
                </a:solidFill>
                <a:latin typeface="Calibri"/>
                <a:ea typeface="Calibri"/>
                <a:cs typeface="Calibri"/>
              </a:defRPr>
            </a:lvl5pPr>
            <a:lvl6pPr algn="ctr">
              <a:defRPr sz="1875" b="0">
                <a:solidFill>
                  <a:srgbClr val="203B68"/>
                </a:solidFill>
                <a:latin typeface="Calibri"/>
                <a:ea typeface="Calibri"/>
                <a:cs typeface="Calibri"/>
              </a:defRPr>
            </a:lvl6pPr>
            <a:lvl7pPr algn="ctr">
              <a:defRPr sz="1875" b="0">
                <a:solidFill>
                  <a:srgbClr val="203B68"/>
                </a:solidFill>
                <a:latin typeface="Calibri"/>
                <a:ea typeface="Calibri"/>
                <a:cs typeface="Calibri"/>
              </a:defRPr>
            </a:lvl7pPr>
            <a:lvl8pPr algn="ctr">
              <a:defRPr sz="1875" b="0">
                <a:solidFill>
                  <a:srgbClr val="203B68"/>
                </a:solidFill>
                <a:latin typeface="Calibri"/>
                <a:ea typeface="Calibri"/>
                <a:cs typeface="Calibri"/>
              </a:defRPr>
            </a:lvl8pPr>
            <a:lvl9pPr algn="ctr">
              <a:defRPr sz="1875" b="0">
                <a:solidFill>
                  <a:srgbClr val="203B68"/>
                </a:solidFill>
                <a:latin typeface="Calibri"/>
                <a:ea typeface="Calibri"/>
                <a:cs typeface="Calibri"/>
              </a:defRPr>
            </a:lvl9pPr>
          </a:lstStyle>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Archivos Parquet</a:t>
            </a:r>
          </a:p>
          <a:p xmlns:a="http://schemas.openxmlformats.org/drawingml/2006/main">
            <a:pPr algn="ctr">
              <a:defRPr sz="1875" b="0">
                <a:solidFill>
                  <a:srgbClr val="203B68"/>
                </a:solidFill>
                <a:latin typeface="Calibri"/>
                <a:ea typeface="Calibri"/>
                <a:cs typeface="Calibri"/>
              </a:defRPr>
            </a:pPr>
            <a:r>
              <a:rPr sz="1875" b="0">
                <a:solidFill>
                  <a:srgbClr val="203B68"/>
                </a:solidFill>
                <a:latin typeface="Calibri"/>
                <a:ea typeface="Calibri"/>
                <a:cs typeface="Calibri"/>
              </a:rPr>
              <a:t>Valores y columnas</a:t>
            </a:r>
          </a:p>
        </p:txBody>
      </p:sp>
      <p:sp>
        <p:nvSpPr>
          <p:cNvPr id="24" name="check">
            <a:extLst xmlns:a="http://schemas.openxmlformats.org/drawingml/2006/main">
              <a:ext uri="{FF2B5EF4-FFF2-40B4-BE49-F238E27FC236}">
                <a16:creationId xmlns:a16="http://schemas.microsoft.com/office/drawing/2014/main" id="{745AE04A-4BB6-491E-B02B-2CDEA7CA39C4}"/>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Los metadatos de tabla permiten identificar el estado consultado.</a:t>
            </a:r>
          </a:p>
        </p:txBody>
      </p:sp>
      <p:sp>
        <p:nvSpPr>
          <p:cNvPr id="25" name="footer">
            <a:extLst xmlns:a="http://schemas.openxmlformats.org/drawingml/2006/main">
              <a:ext uri="{FF2B5EF4-FFF2-40B4-BE49-F238E27FC236}">
                <a16:creationId xmlns:a16="http://schemas.microsoft.com/office/drawing/2014/main" id="{426C3A4E-4B0D-4628-9D4C-EF160E8AA8D8}"/>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6" name="page">
            <a:extLst xmlns:a="http://schemas.openxmlformats.org/drawingml/2006/main">
              <a:ext uri="{FF2B5EF4-FFF2-40B4-BE49-F238E27FC236}">
                <a16:creationId xmlns:a16="http://schemas.microsoft.com/office/drawing/2014/main" id="{B6FCF1D7-C83E-4FDD-BEAB-E3BFF3C3D9F6}"/>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38</a:t>
            </a:r>
          </a:p>
        </p:txBody>
      </p:sp>
    </p:spTree>
    <p:extLst>
      <p:ext uri="{BB962C8B-B14F-4D97-AF65-F5344CB8AC3E}">
        <p14:creationId xmlns:p14="http://schemas.microsoft.com/office/powerpoint/2010/main" val="116899893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9A06F243-7FBF-40C6-A5AB-5B39416E26A1}"/>
              </a:ext>
            </a:extLst>
          </p:cNvPr>
          <p:cNvCxnSpPr>
            <a:stCxn xmlns:a="http://schemas.openxmlformats.org/drawingml/2006/main" id="17" idx="3"/>
            <a:endCxn xmlns:a="http://schemas.openxmlformats.org/drawingml/2006/main" id="18" idx="1"/>
          </p:cNvCxnSpPr>
          <p:nvPr/>
        </p:nvCxnSpPr>
        <p:spPr>
          <a:xfrm xmlns:a="http://schemas.openxmlformats.org/drawingml/2006/main">
            <a:off x="4381500" y="3810000"/>
            <a:ext cx="3429000" cy="0"/>
          </a:xfrm>
          <a:prstGeom xmlns:a="http://schemas.openxmlformats.org/drawingml/2006/main" prst="straightConnector1">
            <a:avLst/>
          </a:prstGeom>
          <a:ln xmlns:a="http://schemas.openxmlformats.org/drawingml/2006/main" w="19050">
            <a:solidFill>
              <a:srgbClr val="5546ED"/>
            </a:solidFill>
            <a:tailEnd type="triangle" w="med" len="med"/>
          </a:ln>
        </p:spPr>
      </p:cxnSp>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BFE9ACA0-C736-4257-A184-D6B390957479}"/>
              </a:ext>
            </a:extLst>
          </p:cNvPr>
          <p:cNvPicPr>
            <a:picLocks xmlns:a="http://schemas.openxmlformats.org/drawingml/2006/main" noChangeAspect="1"/>
          </p:cNvPicPr>
          <p:nvPr/>
        </p:nvPicPr>
        <p:blipFill>
          <a:blip xmlns:r="http://schemas.openxmlformats.org/officeDocument/2006/relationships" xmlns:a="http://schemas.openxmlformats.org/drawingml/2006/main" r:embed="R60b0022cd7eb4f38"/>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7166B6F2-24A5-47D5-8A07-A5DB9D12DE4E}"/>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Snapshot y corrección</a:t>
            </a:r>
          </a:p>
        </p:txBody>
      </p:sp>
      <p:sp>
        <p:nvSpPr>
          <p:cNvPr id="16" name="lead">
            <a:extLst xmlns:a="http://schemas.openxmlformats.org/drawingml/2006/main">
              <a:ext uri="{FF2B5EF4-FFF2-40B4-BE49-F238E27FC236}">
                <a16:creationId xmlns:a16="http://schemas.microsoft.com/office/drawing/2014/main" id="{E5F9D361-AA63-4326-A382-37A9EF4D84AE}"/>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La consulta histórica distingue el resultado previo del corregido.</a:t>
            </a:r>
          </a:p>
        </p:txBody>
      </p:sp>
      <p:sp>
        <p:nvSpPr>
          <p:cNvPr id="17" name="diagram-node-0">
            <a:extLst xmlns:a="http://schemas.openxmlformats.org/drawingml/2006/main">
              <a:ext uri="{FF2B5EF4-FFF2-40B4-BE49-F238E27FC236}">
                <a16:creationId xmlns:a16="http://schemas.microsoft.com/office/drawing/2014/main" id="{EB4B05B2-7958-42DD-8CC6-09785E12715A}"/>
              </a:ext>
            </a:extLst>
          </p:cNvPr>
          <p:cNvSpPr>
            <a:spLocks xmlns:a="http://schemas.openxmlformats.org/drawingml/2006/main" noGrp="1"/>
          </p:cNvSpPr>
          <p:nvPr/>
        </p:nvSpPr>
        <p:spPr>
          <a:xfrm xmlns:a="http://schemas.openxmlformats.org/drawingml/2006/main">
            <a:off x="762000" y="2476500"/>
            <a:ext cx="3619500" cy="2667000"/>
          </a:xfrm>
          <a:prstGeom xmlns:a="http://schemas.openxmlformats.org/drawingml/2006/main" prst="rect">
            <a:avLst/>
          </a:prstGeom>
          <a:solidFill xmlns:a="http://schemas.openxmlformats.org/drawingml/2006/main">
            <a:srgbClr val="E9E6F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203B68"/>
                </a:solidFill>
                <a:latin typeface="Calibri"/>
                <a:ea typeface="Calibri"/>
                <a:cs typeface="Calibri"/>
              </a:defRPr>
            </a:defPPr>
            <a:lvl1pPr algn="ctr">
              <a:defRPr sz="2025" b="0">
                <a:solidFill>
                  <a:srgbClr val="203B68"/>
                </a:solidFill>
                <a:latin typeface="Calibri"/>
                <a:ea typeface="Calibri"/>
                <a:cs typeface="Calibri"/>
              </a:defRPr>
            </a:lvl1pPr>
            <a:lvl2pPr algn="ctr">
              <a:defRPr sz="2025" b="0">
                <a:solidFill>
                  <a:srgbClr val="203B68"/>
                </a:solidFill>
                <a:latin typeface="Calibri"/>
                <a:ea typeface="Calibri"/>
                <a:cs typeface="Calibri"/>
              </a:defRPr>
            </a:lvl2pPr>
            <a:lvl3pPr algn="ctr">
              <a:defRPr sz="2025" b="0">
                <a:solidFill>
                  <a:srgbClr val="203B68"/>
                </a:solidFill>
                <a:latin typeface="Calibri"/>
                <a:ea typeface="Calibri"/>
                <a:cs typeface="Calibri"/>
              </a:defRPr>
            </a:lvl3pPr>
            <a:lvl4pPr algn="ctr">
              <a:defRPr sz="2025" b="0">
                <a:solidFill>
                  <a:srgbClr val="203B68"/>
                </a:solidFill>
                <a:latin typeface="Calibri"/>
                <a:ea typeface="Calibri"/>
                <a:cs typeface="Calibri"/>
              </a:defRPr>
            </a:lvl4pPr>
            <a:lvl5pPr algn="ctr">
              <a:defRPr sz="2025" b="0">
                <a:solidFill>
                  <a:srgbClr val="203B68"/>
                </a:solidFill>
                <a:latin typeface="Calibri"/>
                <a:ea typeface="Calibri"/>
                <a:cs typeface="Calibri"/>
              </a:defRPr>
            </a:lvl5pPr>
            <a:lvl6pPr algn="ctr">
              <a:defRPr sz="2025" b="0">
                <a:solidFill>
                  <a:srgbClr val="203B68"/>
                </a:solidFill>
                <a:latin typeface="Calibri"/>
                <a:ea typeface="Calibri"/>
                <a:cs typeface="Calibri"/>
              </a:defRPr>
            </a:lvl6pPr>
            <a:lvl7pPr algn="ctr">
              <a:defRPr sz="2025" b="0">
                <a:solidFill>
                  <a:srgbClr val="203B68"/>
                </a:solidFill>
                <a:latin typeface="Calibri"/>
                <a:ea typeface="Calibri"/>
                <a:cs typeface="Calibri"/>
              </a:defRPr>
            </a:lvl7pPr>
            <a:lvl8pPr algn="ctr">
              <a:defRPr sz="2025" b="0">
                <a:solidFill>
                  <a:srgbClr val="203B68"/>
                </a:solidFill>
                <a:latin typeface="Calibri"/>
                <a:ea typeface="Calibri"/>
                <a:cs typeface="Calibri"/>
              </a:defRPr>
            </a:lvl8pPr>
            <a:lvl9pPr algn="ctr">
              <a:defRPr sz="2025" b="0">
                <a:solidFill>
                  <a:srgbClr val="203B68"/>
                </a:solidFill>
                <a:latin typeface="Calibri"/>
                <a:ea typeface="Calibri"/>
                <a:cs typeface="Calibri"/>
              </a:defRPr>
            </a:lvl9pPr>
          </a:lstStyle>
          <a:p xmlns:a="http://schemas.openxmlformats.org/drawingml/2006/main">
            <a:pPr algn="ctr">
              <a:defRPr sz="2025" b="0">
                <a:solidFill>
                  <a:srgbClr val="203B68"/>
                </a:solidFill>
                <a:latin typeface="Calibri"/>
                <a:ea typeface="Calibri"/>
                <a:cs typeface="Calibri"/>
              </a:defRPr>
            </a:pPr>
            <a:r>
              <a:rPr sz="2025" b="0">
                <a:solidFill>
                  <a:srgbClr val="203B68"/>
                </a:solidFill>
                <a:latin typeface="Calibri"/>
                <a:ea typeface="Calibri"/>
                <a:cs typeface="Calibri"/>
              </a:rPr>
              <a:t>Snapshot A</a:t>
            </a:r>
          </a:p>
          <a:p xmlns:a="http://schemas.openxmlformats.org/drawingml/2006/main">
            <a:pPr algn="ctr">
              <a:defRPr sz="2025" b="0">
                <a:solidFill>
                  <a:srgbClr val="203B68"/>
                </a:solidFill>
                <a:latin typeface="Calibri"/>
                <a:ea typeface="Calibri"/>
                <a:cs typeface="Calibri"/>
              </a:defRPr>
            </a:pPr>
            <a:r>
              <a:rPr sz="2025" b="0">
                <a:solidFill>
                  <a:srgbClr val="203B68"/>
                </a:solidFill>
                <a:latin typeface="Calibri"/>
                <a:ea typeface="Calibri"/>
                <a:cs typeface="Calibri"/>
              </a:rPr>
              <a:t>5 reportes</a:t>
            </a:r>
          </a:p>
          <a:p xmlns:a="http://schemas.openxmlformats.org/drawingml/2006/main">
            <a:pPr algn="ctr">
              <a:defRPr sz="2025" b="0">
                <a:solidFill>
                  <a:srgbClr val="203B68"/>
                </a:solidFill>
                <a:latin typeface="Calibri"/>
                <a:ea typeface="Calibri"/>
                <a:cs typeface="Calibri"/>
              </a:defRPr>
            </a:pPr>
            <a:r>
              <a:rPr sz="2025" b="0">
                <a:solidFill>
                  <a:srgbClr val="203B68"/>
                </a:solidFill>
                <a:latin typeface="Calibri"/>
                <a:ea typeface="Calibri"/>
                <a:cs typeface="Calibri"/>
              </a:rPr>
              <a:t>I / Bogotá: 2</a:t>
            </a:r>
          </a:p>
          <a:p xmlns:a="http://schemas.openxmlformats.org/drawingml/2006/main">
            <a:pPr algn="ctr">
              <a:defRPr sz="2025" b="0">
                <a:solidFill>
                  <a:srgbClr val="203B68"/>
                </a:solidFill>
                <a:latin typeface="Calibri"/>
                <a:ea typeface="Calibri"/>
                <a:cs typeface="Calibri"/>
              </a:defRPr>
            </a:pPr>
            <a:r>
              <a:rPr sz="2025" b="0">
                <a:solidFill>
                  <a:srgbClr val="203B68"/>
                </a:solidFill>
                <a:latin typeface="Calibri"/>
                <a:ea typeface="Calibri"/>
                <a:cs typeface="Calibri"/>
              </a:rPr>
              <a:t>I / Boyacá: 1</a:t>
            </a:r>
          </a:p>
          <a:p xmlns:a="http://schemas.openxmlformats.org/drawingml/2006/main">
            <a:pPr algn="ctr">
              <a:defRPr sz="2025" b="0">
                <a:solidFill>
                  <a:srgbClr val="203B68"/>
                </a:solidFill>
                <a:latin typeface="Calibri"/>
                <a:ea typeface="Calibri"/>
                <a:cs typeface="Calibri"/>
              </a:defRPr>
            </a:pPr>
            <a:r>
              <a:rPr sz="2025" b="0">
                <a:solidFill>
                  <a:srgbClr val="203B68"/>
                </a:solidFill>
                <a:latin typeface="Calibri"/>
                <a:ea typeface="Calibri"/>
                <a:cs typeface="Calibri"/>
              </a:rPr>
              <a:t>Otros grupos: 2</a:t>
            </a:r>
          </a:p>
        </p:txBody>
      </p:sp>
      <p:sp>
        <p:nvSpPr>
          <p:cNvPr id="18" name="diagram-node-1">
            <a:extLst xmlns:a="http://schemas.openxmlformats.org/drawingml/2006/main">
              <a:ext uri="{FF2B5EF4-FFF2-40B4-BE49-F238E27FC236}">
                <a16:creationId xmlns:a16="http://schemas.microsoft.com/office/drawing/2014/main" id="{3EFF04F3-17B2-4E7B-B3A2-A23DE7306E6B}"/>
              </a:ext>
            </a:extLst>
          </p:cNvPr>
          <p:cNvSpPr>
            <a:spLocks xmlns:a="http://schemas.openxmlformats.org/drawingml/2006/main" noGrp="1"/>
          </p:cNvSpPr>
          <p:nvPr/>
        </p:nvSpPr>
        <p:spPr>
          <a:xfrm xmlns:a="http://schemas.openxmlformats.org/drawingml/2006/main">
            <a:off x="7810500" y="2476500"/>
            <a:ext cx="3619500" cy="2667000"/>
          </a:xfrm>
          <a:prstGeom xmlns:a="http://schemas.openxmlformats.org/drawingml/2006/main" prst="rect">
            <a:avLst/>
          </a:prstGeom>
          <a:solidFill xmlns:a="http://schemas.openxmlformats.org/drawingml/2006/main">
            <a:srgbClr val="E4F3EF"/>
          </a:solidFill>
          <a:ln xmlns:a="http://schemas.openxmlformats.org/drawingml/2006/main" w="14288">
            <a:solidFill>
              <a:srgbClr val="203B68"/>
            </a:solidFill>
          </a:ln>
        </p:spPr>
        <p:txBody>
          <a:bodyPr xmlns:a="http://schemas.openxmlformats.org/drawingml/2006/main" lIns="114300" tIns="114300" rIns="114300" bIns="114300" anchor="ctr">
            <a:noAutofit/>
          </a:bodyPr>
          <a:lstStyle xmlns:a="http://schemas.openxmlformats.org/drawingml/2006/main">
            <a:defPPr algn="ctr">
              <a:defRPr sz="2025" b="0">
                <a:solidFill>
                  <a:srgbClr val="203B68"/>
                </a:solidFill>
                <a:latin typeface="Calibri"/>
                <a:ea typeface="Calibri"/>
                <a:cs typeface="Calibri"/>
              </a:defRPr>
            </a:defPPr>
            <a:lvl1pPr algn="ctr">
              <a:defRPr sz="2025" b="0">
                <a:solidFill>
                  <a:srgbClr val="203B68"/>
                </a:solidFill>
                <a:latin typeface="Calibri"/>
                <a:ea typeface="Calibri"/>
                <a:cs typeface="Calibri"/>
              </a:defRPr>
            </a:lvl1pPr>
            <a:lvl2pPr algn="ctr">
              <a:defRPr sz="2025" b="0">
                <a:solidFill>
                  <a:srgbClr val="203B68"/>
                </a:solidFill>
                <a:latin typeface="Calibri"/>
                <a:ea typeface="Calibri"/>
                <a:cs typeface="Calibri"/>
              </a:defRPr>
            </a:lvl2pPr>
            <a:lvl3pPr algn="ctr">
              <a:defRPr sz="2025" b="0">
                <a:solidFill>
                  <a:srgbClr val="203B68"/>
                </a:solidFill>
                <a:latin typeface="Calibri"/>
                <a:ea typeface="Calibri"/>
                <a:cs typeface="Calibri"/>
              </a:defRPr>
            </a:lvl3pPr>
            <a:lvl4pPr algn="ctr">
              <a:defRPr sz="2025" b="0">
                <a:solidFill>
                  <a:srgbClr val="203B68"/>
                </a:solidFill>
                <a:latin typeface="Calibri"/>
                <a:ea typeface="Calibri"/>
                <a:cs typeface="Calibri"/>
              </a:defRPr>
            </a:lvl4pPr>
            <a:lvl5pPr algn="ctr">
              <a:defRPr sz="2025" b="0">
                <a:solidFill>
                  <a:srgbClr val="203B68"/>
                </a:solidFill>
                <a:latin typeface="Calibri"/>
                <a:ea typeface="Calibri"/>
                <a:cs typeface="Calibri"/>
              </a:defRPr>
            </a:lvl5pPr>
            <a:lvl6pPr algn="ctr">
              <a:defRPr sz="2025" b="0">
                <a:solidFill>
                  <a:srgbClr val="203B68"/>
                </a:solidFill>
                <a:latin typeface="Calibri"/>
                <a:ea typeface="Calibri"/>
                <a:cs typeface="Calibri"/>
              </a:defRPr>
            </a:lvl6pPr>
            <a:lvl7pPr algn="ctr">
              <a:defRPr sz="2025" b="0">
                <a:solidFill>
                  <a:srgbClr val="203B68"/>
                </a:solidFill>
                <a:latin typeface="Calibri"/>
                <a:ea typeface="Calibri"/>
                <a:cs typeface="Calibri"/>
              </a:defRPr>
            </a:lvl7pPr>
            <a:lvl8pPr algn="ctr">
              <a:defRPr sz="2025" b="0">
                <a:solidFill>
                  <a:srgbClr val="203B68"/>
                </a:solidFill>
                <a:latin typeface="Calibri"/>
                <a:ea typeface="Calibri"/>
                <a:cs typeface="Calibri"/>
              </a:defRPr>
            </a:lvl8pPr>
            <a:lvl9pPr algn="ctr">
              <a:defRPr sz="2025" b="0">
                <a:solidFill>
                  <a:srgbClr val="203B68"/>
                </a:solidFill>
                <a:latin typeface="Calibri"/>
                <a:ea typeface="Calibri"/>
                <a:cs typeface="Calibri"/>
              </a:defRPr>
            </a:lvl9pPr>
          </a:lstStyle>
          <a:p xmlns:a="http://schemas.openxmlformats.org/drawingml/2006/main">
            <a:pPr algn="ctr">
              <a:defRPr sz="2025" b="0">
                <a:solidFill>
                  <a:srgbClr val="203B68"/>
                </a:solidFill>
                <a:latin typeface="Calibri"/>
                <a:ea typeface="Calibri"/>
                <a:cs typeface="Calibri"/>
              </a:defRPr>
            </a:pPr>
            <a:r>
              <a:rPr sz="2025" b="0">
                <a:solidFill>
                  <a:srgbClr val="203B68"/>
                </a:solidFill>
                <a:latin typeface="Calibri"/>
                <a:ea typeface="Calibri"/>
                <a:cs typeface="Calibri"/>
              </a:rPr>
              <a:t>Snapshot B</a:t>
            </a:r>
          </a:p>
          <a:p xmlns:a="http://schemas.openxmlformats.org/drawingml/2006/main">
            <a:pPr algn="ctr">
              <a:defRPr sz="2025" b="0">
                <a:solidFill>
                  <a:srgbClr val="203B68"/>
                </a:solidFill>
                <a:latin typeface="Calibri"/>
                <a:ea typeface="Calibri"/>
                <a:cs typeface="Calibri"/>
              </a:defRPr>
            </a:pPr>
            <a:r>
              <a:rPr sz="2025" b="0">
                <a:solidFill>
                  <a:srgbClr val="203B68"/>
                </a:solidFill>
                <a:latin typeface="Calibri"/>
                <a:ea typeface="Calibri"/>
                <a:cs typeface="Calibri"/>
              </a:rPr>
              <a:t>5 reportes</a:t>
            </a:r>
          </a:p>
          <a:p xmlns:a="http://schemas.openxmlformats.org/drawingml/2006/main">
            <a:pPr algn="ctr">
              <a:defRPr sz="2025" b="0">
                <a:solidFill>
                  <a:srgbClr val="203B68"/>
                </a:solidFill>
                <a:latin typeface="Calibri"/>
                <a:ea typeface="Calibri"/>
                <a:cs typeface="Calibri"/>
              </a:defRPr>
            </a:pPr>
            <a:r>
              <a:rPr sz="2025" b="0">
                <a:solidFill>
                  <a:srgbClr val="203B68"/>
                </a:solidFill>
                <a:latin typeface="Calibri"/>
                <a:ea typeface="Calibri"/>
                <a:cs typeface="Calibri"/>
              </a:rPr>
              <a:t>I / Bogotá: 3</a:t>
            </a:r>
          </a:p>
          <a:p xmlns:a="http://schemas.openxmlformats.org/drawingml/2006/main">
            <a:pPr algn="ctr">
              <a:defRPr sz="2025" b="0">
                <a:solidFill>
                  <a:srgbClr val="203B68"/>
                </a:solidFill>
                <a:latin typeface="Calibri"/>
                <a:ea typeface="Calibri"/>
                <a:cs typeface="Calibri"/>
              </a:defRPr>
            </a:pPr>
            <a:r>
              <a:rPr sz="2025" b="0">
                <a:solidFill>
                  <a:srgbClr val="203B68"/>
                </a:solidFill>
                <a:latin typeface="Calibri"/>
                <a:ea typeface="Calibri"/>
                <a:cs typeface="Calibri"/>
              </a:rPr>
              <a:t>I / Boyacá: 0</a:t>
            </a:r>
          </a:p>
          <a:p xmlns:a="http://schemas.openxmlformats.org/drawingml/2006/main">
            <a:pPr algn="ctr">
              <a:defRPr sz="2025" b="0">
                <a:solidFill>
                  <a:srgbClr val="203B68"/>
                </a:solidFill>
                <a:latin typeface="Calibri"/>
                <a:ea typeface="Calibri"/>
                <a:cs typeface="Calibri"/>
              </a:defRPr>
            </a:pPr>
            <a:r>
              <a:rPr sz="2025" b="0">
                <a:solidFill>
                  <a:srgbClr val="203B68"/>
                </a:solidFill>
                <a:latin typeface="Calibri"/>
                <a:ea typeface="Calibri"/>
                <a:cs typeface="Calibri"/>
              </a:rPr>
              <a:t>Otros grupos: 2</a:t>
            </a:r>
          </a:p>
        </p:txBody>
      </p:sp>
      <p:sp>
        <p:nvSpPr>
          <p:cNvPr id="20" name="diagram-label-0">
            <a:extLst xmlns:a="http://schemas.openxmlformats.org/drawingml/2006/main">
              <a:ext uri="{FF2B5EF4-FFF2-40B4-BE49-F238E27FC236}">
                <a16:creationId xmlns:a16="http://schemas.microsoft.com/office/drawing/2014/main" id="{E774638E-63E3-46EB-B8C4-B451211B893D}"/>
              </a:ext>
            </a:extLst>
          </p:cNvPr>
          <p:cNvSpPr>
            <a:spLocks xmlns:a="http://schemas.openxmlformats.org/drawingml/2006/main" noGrp="1"/>
          </p:cNvSpPr>
          <p:nvPr/>
        </p:nvSpPr>
        <p:spPr>
          <a:xfrm xmlns:a="http://schemas.openxmlformats.org/drawingml/2006/main">
            <a:off x="4667250" y="242887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98F89"/>
                </a:solidFill>
                <a:latin typeface="Calibri"/>
                <a:ea typeface="Calibri"/>
                <a:cs typeface="Calibri"/>
              </a:defRPr>
            </a:defPPr>
            <a:lvl1pPr>
              <a:defRPr sz="2025" b="1">
                <a:solidFill>
                  <a:srgbClr val="098F89"/>
                </a:solidFill>
                <a:latin typeface="Calibri"/>
                <a:ea typeface="Calibri"/>
                <a:cs typeface="Calibri"/>
              </a:defRPr>
            </a:lvl1pPr>
            <a:lvl2pPr>
              <a:defRPr sz="2025" b="1">
                <a:solidFill>
                  <a:srgbClr val="098F89"/>
                </a:solidFill>
                <a:latin typeface="Calibri"/>
                <a:ea typeface="Calibri"/>
                <a:cs typeface="Calibri"/>
              </a:defRPr>
            </a:lvl2pPr>
            <a:lvl3pPr>
              <a:defRPr sz="2025" b="1">
                <a:solidFill>
                  <a:srgbClr val="098F89"/>
                </a:solidFill>
                <a:latin typeface="Calibri"/>
                <a:ea typeface="Calibri"/>
                <a:cs typeface="Calibri"/>
              </a:defRPr>
            </a:lvl3pPr>
            <a:lvl4pPr>
              <a:defRPr sz="2025" b="1">
                <a:solidFill>
                  <a:srgbClr val="098F89"/>
                </a:solidFill>
                <a:latin typeface="Calibri"/>
                <a:ea typeface="Calibri"/>
                <a:cs typeface="Calibri"/>
              </a:defRPr>
            </a:lvl4pPr>
            <a:lvl5pPr>
              <a:defRPr sz="2025" b="1">
                <a:solidFill>
                  <a:srgbClr val="098F89"/>
                </a:solidFill>
                <a:latin typeface="Calibri"/>
                <a:ea typeface="Calibri"/>
                <a:cs typeface="Calibri"/>
              </a:defRPr>
            </a:lvl5pPr>
            <a:lvl6pPr>
              <a:defRPr sz="2025" b="1">
                <a:solidFill>
                  <a:srgbClr val="098F89"/>
                </a:solidFill>
                <a:latin typeface="Calibri"/>
                <a:ea typeface="Calibri"/>
                <a:cs typeface="Calibri"/>
              </a:defRPr>
            </a:lvl6pPr>
            <a:lvl7pPr>
              <a:defRPr sz="2025" b="1">
                <a:solidFill>
                  <a:srgbClr val="098F89"/>
                </a:solidFill>
                <a:latin typeface="Calibri"/>
                <a:ea typeface="Calibri"/>
                <a:cs typeface="Calibri"/>
              </a:defRPr>
            </a:lvl7pPr>
            <a:lvl8pPr>
              <a:defRPr sz="2025" b="1">
                <a:solidFill>
                  <a:srgbClr val="098F89"/>
                </a:solidFill>
                <a:latin typeface="Calibri"/>
                <a:ea typeface="Calibri"/>
                <a:cs typeface="Calibri"/>
              </a:defRPr>
            </a:lvl8pPr>
            <a:lvl9pPr>
              <a:defRPr sz="2025" b="1">
                <a:solidFill>
                  <a:srgbClr val="098F89"/>
                </a:solidFill>
                <a:latin typeface="Calibri"/>
                <a:ea typeface="Calibri"/>
                <a:cs typeface="Calibri"/>
              </a:defRPr>
            </a:lvl9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Corrección de</a:t>
            </a:r>
          </a:p>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un territorio</a:t>
            </a:r>
          </a:p>
        </p:txBody>
      </p:sp>
      <p:sp>
        <p:nvSpPr>
          <p:cNvPr id="21" name="diagram-label-1">
            <a:extLst xmlns:a="http://schemas.openxmlformats.org/drawingml/2006/main">
              <a:ext uri="{FF2B5EF4-FFF2-40B4-BE49-F238E27FC236}">
                <a16:creationId xmlns:a16="http://schemas.microsoft.com/office/drawing/2014/main" id="{7B429BA8-2DAD-400E-BEAE-677BCAA7D5B8}"/>
              </a:ext>
            </a:extLst>
          </p:cNvPr>
          <p:cNvSpPr>
            <a:spLocks xmlns:a="http://schemas.openxmlformats.org/drawingml/2006/main" noGrp="1"/>
          </p:cNvSpPr>
          <p:nvPr/>
        </p:nvSpPr>
        <p:spPr>
          <a:xfrm xmlns:a="http://schemas.openxmlformats.org/drawingml/2006/main">
            <a:off x="4572000" y="4572000"/>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98F89"/>
                </a:solidFill>
                <a:latin typeface="Calibri"/>
                <a:ea typeface="Calibri"/>
                <a:cs typeface="Calibri"/>
              </a:defRPr>
            </a:defPPr>
            <a:lvl1pPr>
              <a:defRPr sz="1950" b="0">
                <a:solidFill>
                  <a:srgbClr val="098F89"/>
                </a:solidFill>
                <a:latin typeface="Calibri"/>
                <a:ea typeface="Calibri"/>
                <a:cs typeface="Calibri"/>
              </a:defRPr>
            </a:lvl1pPr>
            <a:lvl2pPr>
              <a:defRPr sz="1950" b="0">
                <a:solidFill>
                  <a:srgbClr val="098F89"/>
                </a:solidFill>
                <a:latin typeface="Calibri"/>
                <a:ea typeface="Calibri"/>
                <a:cs typeface="Calibri"/>
              </a:defRPr>
            </a:lvl2pPr>
            <a:lvl3pPr>
              <a:defRPr sz="1950" b="0">
                <a:solidFill>
                  <a:srgbClr val="098F89"/>
                </a:solidFill>
                <a:latin typeface="Calibri"/>
                <a:ea typeface="Calibri"/>
                <a:cs typeface="Calibri"/>
              </a:defRPr>
            </a:lvl3pPr>
            <a:lvl4pPr>
              <a:defRPr sz="1950" b="0">
                <a:solidFill>
                  <a:srgbClr val="098F89"/>
                </a:solidFill>
                <a:latin typeface="Calibri"/>
                <a:ea typeface="Calibri"/>
                <a:cs typeface="Calibri"/>
              </a:defRPr>
            </a:lvl4pPr>
            <a:lvl5pPr>
              <a:defRPr sz="1950" b="0">
                <a:solidFill>
                  <a:srgbClr val="098F89"/>
                </a:solidFill>
                <a:latin typeface="Calibri"/>
                <a:ea typeface="Calibri"/>
                <a:cs typeface="Calibri"/>
              </a:defRPr>
            </a:lvl5pPr>
            <a:lvl6pPr>
              <a:defRPr sz="1950" b="0">
                <a:solidFill>
                  <a:srgbClr val="098F89"/>
                </a:solidFill>
                <a:latin typeface="Calibri"/>
                <a:ea typeface="Calibri"/>
                <a:cs typeface="Calibri"/>
              </a:defRPr>
            </a:lvl6pPr>
            <a:lvl7pPr>
              <a:defRPr sz="1950" b="0">
                <a:solidFill>
                  <a:srgbClr val="098F89"/>
                </a:solidFill>
                <a:latin typeface="Calibri"/>
                <a:ea typeface="Calibri"/>
                <a:cs typeface="Calibri"/>
              </a:defRPr>
            </a:lvl7pPr>
            <a:lvl8pPr>
              <a:defRPr sz="1950" b="0">
                <a:solidFill>
                  <a:srgbClr val="098F89"/>
                </a:solidFill>
                <a:latin typeface="Calibri"/>
                <a:ea typeface="Calibri"/>
                <a:cs typeface="Calibri"/>
              </a:defRPr>
            </a:lvl8pPr>
            <a:lvl9pPr>
              <a:defRPr sz="1950" b="0">
                <a:solidFill>
                  <a:srgbClr val="098F89"/>
                </a:solidFill>
                <a:latin typeface="Calibri"/>
                <a:ea typeface="Calibri"/>
                <a:cs typeface="Calibri"/>
              </a:defRPr>
            </a:lvl9pPr>
          </a:lstStyle>
          <a:p xmlns:a="http://schemas.openxmlformats.org/drawingml/2006/main">
            <a:pPr>
              <a:defRPr sz="1950" b="0">
                <a:solidFill>
                  <a:srgbClr val="098F89"/>
                </a:solidFill>
                <a:latin typeface="Calibri"/>
                <a:ea typeface="Calibri"/>
                <a:cs typeface="Calibri"/>
              </a:defRPr>
            </a:pPr>
            <a:r>
              <a:rPr sz="1950" b="0">
                <a:solidFill>
                  <a:srgbClr val="098F89"/>
                </a:solidFill>
                <a:latin typeface="Calibri"/>
                <a:ea typeface="Calibri"/>
                <a:cs typeface="Calibri"/>
              </a:rPr>
              <a:t>La consulta identifica</a:t>
            </a:r>
          </a:p>
          <a:p xmlns:a="http://schemas.openxmlformats.org/drawingml/2006/main">
            <a:pPr>
              <a:defRPr sz="1950" b="0">
                <a:solidFill>
                  <a:srgbClr val="098F89"/>
                </a:solidFill>
                <a:latin typeface="Calibri"/>
                <a:ea typeface="Calibri"/>
                <a:cs typeface="Calibri"/>
              </a:defRPr>
            </a:pPr>
            <a:r>
              <a:rPr sz="1950" b="0">
                <a:solidFill>
                  <a:srgbClr val="098F89"/>
                </a:solidFill>
                <a:latin typeface="Calibri"/>
                <a:ea typeface="Calibri"/>
                <a:cs typeface="Calibri"/>
              </a:rPr>
              <a:t>el snapshot elegido.</a:t>
            </a:r>
          </a:p>
        </p:txBody>
      </p:sp>
      <p:sp>
        <p:nvSpPr>
          <p:cNvPr id="22" name="check">
            <a:extLst xmlns:a="http://schemas.openxmlformats.org/drawingml/2006/main">
              <a:ext uri="{FF2B5EF4-FFF2-40B4-BE49-F238E27FC236}">
                <a16:creationId xmlns:a16="http://schemas.microsoft.com/office/drawing/2014/main" id="{30DDF28A-7171-4F53-8A1C-9F30DF55B956}"/>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Ejemplo de 2024: corregir un territorio conserva el total y cambia los grupos.</a:t>
            </a:r>
          </a:p>
        </p:txBody>
      </p:sp>
      <p:sp>
        <p:nvSpPr>
          <p:cNvPr id="23" name="footer">
            <a:extLst xmlns:a="http://schemas.openxmlformats.org/drawingml/2006/main">
              <a:ext uri="{FF2B5EF4-FFF2-40B4-BE49-F238E27FC236}">
                <a16:creationId xmlns:a16="http://schemas.microsoft.com/office/drawing/2014/main" id="{37890D72-FA19-41D5-9004-C6997F189D72}"/>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4" name="page">
            <a:extLst xmlns:a="http://schemas.openxmlformats.org/drawingml/2006/main">
              <a:ext uri="{FF2B5EF4-FFF2-40B4-BE49-F238E27FC236}">
                <a16:creationId xmlns:a16="http://schemas.microsoft.com/office/drawing/2014/main" id="{16ACC4A2-C6EB-4CAD-B4C5-C25C8CBCFACC}"/>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39</a:t>
            </a:r>
          </a:p>
        </p:txBody>
      </p:sp>
    </p:spTree>
    <p:extLst>
      <p:ext uri="{BB962C8B-B14F-4D97-AF65-F5344CB8AC3E}">
        <p14:creationId xmlns:p14="http://schemas.microsoft.com/office/powerpoint/2010/main" val="116899893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BBF01F95-DB8A-474B-82E6-C0758BD2CAA2}"/>
              </a:ext>
            </a:extLst>
          </p:cNvPr>
          <p:cNvPicPr>
            <a:picLocks xmlns:a="http://schemas.openxmlformats.org/drawingml/2006/main" noChangeAspect="1"/>
          </p:cNvPicPr>
          <p:nvPr/>
        </p:nvPicPr>
        <p:blipFill>
          <a:blip xmlns:r="http://schemas.openxmlformats.org/officeDocument/2006/relationships" xmlns:a="http://schemas.openxmlformats.org/drawingml/2006/main" r:embed="Rce2ad95943d04b9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B584D318-570D-4483-A7B5-FFD449A2E063}"/>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Cómo ayudan los formatos de tabla</a:t>
            </a:r>
          </a:p>
        </p:txBody>
      </p:sp>
      <p:sp>
        <p:nvSpPr>
          <p:cNvPr id="16" name="lead">
            <a:extLst xmlns:a="http://schemas.openxmlformats.org/drawingml/2006/main">
              <a:ext uri="{FF2B5EF4-FFF2-40B4-BE49-F238E27FC236}">
                <a16:creationId xmlns:a16="http://schemas.microsoft.com/office/drawing/2014/main" id="{713A4FA6-9B58-4E13-9A56-8533802213A1}"/>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Iceberg permite identificar estados de una tabla compuesta por archivos.</a:t>
            </a:r>
          </a:p>
        </p:txBody>
      </p:sp>
      <p:sp>
        <p:nvSpPr>
          <p:cNvPr id="17" name="paragraph-1">
            <a:extLst xmlns:a="http://schemas.openxmlformats.org/drawingml/2006/main">
              <a:ext uri="{FF2B5EF4-FFF2-40B4-BE49-F238E27FC236}">
                <a16:creationId xmlns:a16="http://schemas.microsoft.com/office/drawing/2014/main" id="{FF05F19C-3008-47F6-A140-BF48FB8D9CB6}"/>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En una corrección interesa conocer qué archivos corresponden al estado consultado.</a:t>
            </a:r>
          </a:p>
        </p:txBody>
      </p:sp>
      <p:sp>
        <p:nvSpPr>
          <p:cNvPr id="18" name="paragraph-2">
            <a:extLst xmlns:a="http://schemas.openxmlformats.org/drawingml/2006/main">
              <a:ext uri="{FF2B5EF4-FFF2-40B4-BE49-F238E27FC236}">
                <a16:creationId xmlns:a16="http://schemas.microsoft.com/office/drawing/2014/main" id="{89EB3509-8C7F-4770-85C8-1658DB5497B0}"/>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Los snapshots permiten consultar estados anteriores mientras se conserven sus metadatos y archivos.</a:t>
            </a:r>
          </a:p>
        </p:txBody>
      </p:sp>
      <p:sp>
        <p:nvSpPr>
          <p:cNvPr id="19" name="paragraph-3">
            <a:extLst xmlns:a="http://schemas.openxmlformats.org/drawingml/2006/main">
              <a:ext uri="{FF2B5EF4-FFF2-40B4-BE49-F238E27FC236}">
                <a16:creationId xmlns:a16="http://schemas.microsoft.com/office/drawing/2014/main" id="{FCADE6C4-E7D7-49F9-A0C7-6FFF1356990F}"/>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Iceberg y Hudi amplían la gestión de tablas. Las pruebas y responsabilidades de DataOps siguen siendo necesarias.</a:t>
            </a:r>
          </a:p>
        </p:txBody>
      </p:sp>
      <p:sp>
        <p:nvSpPr>
          <p:cNvPr id="20" name="check">
            <a:extLst xmlns:a="http://schemas.openxmlformats.org/drawingml/2006/main">
              <a:ext uri="{FF2B5EF4-FFF2-40B4-BE49-F238E27FC236}">
                <a16:creationId xmlns:a16="http://schemas.microsoft.com/office/drawing/2014/main" id="{CA70193E-B7AF-47EB-84BB-11AD0AB0D39B}"/>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La demostración docente ilustra el concepto; E12 conserva su solución local con Parquet.</a:t>
            </a:r>
          </a:p>
        </p:txBody>
      </p:sp>
      <p:sp>
        <p:nvSpPr>
          <p:cNvPr id="21" name="footer">
            <a:extLst xmlns:a="http://schemas.openxmlformats.org/drawingml/2006/main">
              <a:ext uri="{FF2B5EF4-FFF2-40B4-BE49-F238E27FC236}">
                <a16:creationId xmlns:a16="http://schemas.microsoft.com/office/drawing/2014/main" id="{17ECF80A-3379-4A3A-AC44-A82C0BCCC3B3}"/>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9B7C815E-1A64-45F5-9E73-3DEB6062B4A5}"/>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40</a:t>
            </a:r>
          </a:p>
        </p:txBody>
      </p:sp>
    </p:spTree>
    <p:extLst>
      <p:ext uri="{BB962C8B-B14F-4D97-AF65-F5344CB8AC3E}">
        <p14:creationId xmlns:p14="http://schemas.microsoft.com/office/powerpoint/2010/main" val="116899893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652D9A0C-0E52-4AC2-9EEF-564185F8F994}"/>
              </a:ext>
            </a:extLst>
          </p:cNvPr>
          <p:cNvPicPr>
            <a:picLocks xmlns:a="http://schemas.openxmlformats.org/drawingml/2006/main" noChangeAspect="1"/>
          </p:cNvPicPr>
          <p:nvPr/>
        </p:nvPicPr>
        <p:blipFill>
          <a:blip xmlns:r="http://schemas.openxmlformats.org/officeDocument/2006/relationships" xmlns:a="http://schemas.openxmlformats.org/drawingml/2006/main" r:embed="R061eb6cbde3f49a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F5FD7BFB-6F72-4A2A-9D30-B6EBE68AFF2C}"/>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Ejercicio guiado 1: diseñar el pipeline</a:t>
            </a:r>
          </a:p>
        </p:txBody>
      </p:sp>
      <p:sp>
        <p:nvSpPr>
          <p:cNvPr id="16" name="lead">
            <a:extLst xmlns:a="http://schemas.openxmlformats.org/drawingml/2006/main">
              <a:ext uri="{FF2B5EF4-FFF2-40B4-BE49-F238E27FC236}">
                <a16:creationId xmlns:a16="http://schemas.microsoft.com/office/drawing/2014/main" id="{A3BEF7EA-8FC6-4ADE-80FD-4604422FE4A2}"/>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Antes de programar, dibujen el proceso para contar reportes por período y territorio.</a:t>
            </a:r>
          </a:p>
        </p:txBody>
      </p:sp>
      <p:sp>
        <p:nvSpPr>
          <p:cNvPr id="17" name="paragraph-1">
            <a:extLst xmlns:a="http://schemas.openxmlformats.org/drawingml/2006/main">
              <a:ext uri="{FF2B5EF4-FFF2-40B4-BE49-F238E27FC236}">
                <a16:creationId xmlns:a16="http://schemas.microsoft.com/office/drawing/2014/main" id="{A9A76DC0-E56C-4A8E-8AD3-9AC0B5502BDC}"/>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Identifiquen entrada, unidad de observación y dos productos: detalle y agregado.</a:t>
            </a:r>
          </a:p>
        </p:txBody>
      </p:sp>
      <p:sp>
        <p:nvSpPr>
          <p:cNvPr id="18" name="paragraph-2">
            <a:extLst xmlns:a="http://schemas.openxmlformats.org/drawingml/2006/main">
              <a:ext uri="{FF2B5EF4-FFF2-40B4-BE49-F238E27FC236}">
                <a16:creationId xmlns:a16="http://schemas.microsoft.com/office/drawing/2014/main" id="{75FF57E8-1E59-448B-B3B1-D80AFEE0C556}"/>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Dibujen las tareas y sus dependencias. Incluyan la salida de rechazados y el control previo a publicar.</a:t>
            </a:r>
          </a:p>
        </p:txBody>
      </p:sp>
      <p:sp>
        <p:nvSpPr>
          <p:cNvPr id="19" name="paragraph-3">
            <a:extLst xmlns:a="http://schemas.openxmlformats.org/drawingml/2006/main">
              <a:ext uri="{FF2B5EF4-FFF2-40B4-BE49-F238E27FC236}">
                <a16:creationId xmlns:a16="http://schemas.microsoft.com/office/drawing/2014/main" id="{ACE946DD-83F6-43F6-93C0-B9CCF171F7BA}"/>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Expliquen qué tarea queda bloqueada si falta la entrada y qué evidencia necesitaría el consumidor.</a:t>
            </a:r>
          </a:p>
        </p:txBody>
      </p:sp>
      <p:sp>
        <p:nvSpPr>
          <p:cNvPr id="20" name="check">
            <a:extLst xmlns:a="http://schemas.openxmlformats.org/drawingml/2006/main">
              <a:ext uri="{FF2B5EF4-FFF2-40B4-BE49-F238E27FC236}">
                <a16:creationId xmlns:a16="http://schemas.microsoft.com/office/drawing/2014/main" id="{6332BED8-02B6-43D9-8823-713955DE266B}"/>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Producto en clase: un esquema explicado. No requiere código ni entrega calificada el viernes.</a:t>
            </a:r>
          </a:p>
        </p:txBody>
      </p:sp>
      <p:sp>
        <p:nvSpPr>
          <p:cNvPr id="21" name="footer">
            <a:extLst xmlns:a="http://schemas.openxmlformats.org/drawingml/2006/main">
              <a:ext uri="{FF2B5EF4-FFF2-40B4-BE49-F238E27FC236}">
                <a16:creationId xmlns:a16="http://schemas.microsoft.com/office/drawing/2014/main" id="{E931758E-27C1-4C3C-AC92-8A2EBBA9C1B8}"/>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EE057845-33E1-481C-B15A-F1DF78294C92}"/>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41</a:t>
            </a:r>
          </a:p>
        </p:txBody>
      </p:sp>
    </p:spTree>
    <p:extLst>
      <p:ext uri="{BB962C8B-B14F-4D97-AF65-F5344CB8AC3E}">
        <p14:creationId xmlns:p14="http://schemas.microsoft.com/office/powerpoint/2010/main" val="116899893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DCDBBF6B-52B1-414A-B1F7-9F487CC8C8DB}"/>
              </a:ext>
            </a:extLst>
          </p:cNvPr>
          <p:cNvPicPr>
            <a:picLocks xmlns:a="http://schemas.openxmlformats.org/drawingml/2006/main" noChangeAspect="1"/>
          </p:cNvPicPr>
          <p:nvPr/>
        </p:nvPicPr>
        <p:blipFill>
          <a:blip xmlns:r="http://schemas.openxmlformats.org/officeDocument/2006/relationships" xmlns:a="http://schemas.openxmlformats.org/drawingml/2006/main" r:embed="R4ff75fb2eccd44b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11F56722-C277-4054-B8DE-5B4CD75685DA}"/>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Ejercicio guiado 2: atender incidentes</a:t>
            </a:r>
          </a:p>
        </p:txBody>
      </p:sp>
      <p:sp>
        <p:nvSpPr>
          <p:cNvPr id="16" name="lead">
            <a:extLst xmlns:a="http://schemas.openxmlformats.org/drawingml/2006/main">
              <a:ext uri="{FF2B5EF4-FFF2-40B4-BE49-F238E27FC236}">
                <a16:creationId xmlns:a16="http://schemas.microsoft.com/office/drawing/2014/main" id="{35F4B329-880F-4E69-9BD7-52A3F703A944}"/>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En parejas, decidan qué hacer y qué evidencia conservar.</a:t>
            </a:r>
          </a:p>
        </p:txBody>
      </p:sp>
      <p:graphicFrame>
        <p:nvGraphicFramePr>
          <p:cNvPr id="17" name="">
            <a:extLst xmlns:a="http://schemas.openxmlformats.org/drawingml/2006/main">
              <a:ext uri="{FF2B5EF4-FFF2-40B4-BE49-F238E27FC236}">
                <a16:creationId xmlns:a16="http://schemas.microsoft.com/office/drawing/2014/main" id="{028DFBA0-8F0F-4A62-BD08-8B46C24DDE2F}"/>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4718304"/>
                <a:gridCol w="6254496"/>
              </a:tblGrid>
              <a:tr h="666750">
                <a:tc>
                  <a:txBody>
                    <a:bodyPr/>
                    <a:lstStyle/>
                    <a:p>
                      <a:r>
                        <a:rPr sz="1950" b="1">
                          <a:solidFill>
                            <a:srgbClr val="FFFFFF"/>
                          </a:solidFill>
                          <a:latin typeface="Calibri"/>
                          <a:ea typeface="Calibri"/>
                          <a:cs typeface="Calibri"/>
                        </a:rPr>
                        <a:t>Incidente</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Decisión que deben justificar</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666750">
                <a:tc>
                  <a:txBody>
                    <a:bodyPr/>
                    <a:lstStyle/>
                    <a:p>
                      <a:r>
                        <a:rPr sz="1950" b="0">
                          <a:solidFill>
                            <a:srgbClr val="203B68"/>
                          </a:solidFill>
                          <a:latin typeface="Calibri"/>
                          <a:ea typeface="Calibri"/>
                          <a:cs typeface="Calibri"/>
                        </a:rPr>
                        <a:t>La descarga se interrumpe</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¿Reintentar? ¿Qué verificar al terminar?</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El total coincide; dos grupos difieren</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¿Se puede publicar? ¿Qué revisar?</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666750">
                <a:tc>
                  <a:txBody>
                    <a:bodyPr/>
                    <a:lstStyle/>
                    <a:p>
                      <a:r>
                        <a:rPr sz="1950" b="0">
                          <a:solidFill>
                            <a:srgbClr val="203B68"/>
                          </a:solidFill>
                          <a:latin typeface="Calibri"/>
                          <a:ea typeface="Calibri"/>
                          <a:cs typeface="Calibri"/>
                        </a:rPr>
                        <a:t>La segunda ejecución produce 10 filas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¿Qué efecto se repitió? ¿Cómo comprobarlo?</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Aumentaron los rechazos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¿Qué entradas y reglas comparar primero?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bl>
          </a:graphicData>
        </a:graphic>
      </p:graphicFrame>
      <p:sp>
        <p:nvSpPr>
          <p:cNvPr id="18" name="check">
            <a:extLst xmlns:a="http://schemas.openxmlformats.org/drawingml/2006/main">
              <a:ext uri="{FF2B5EF4-FFF2-40B4-BE49-F238E27FC236}">
                <a16:creationId xmlns:a16="http://schemas.microsoft.com/office/drawing/2014/main" id="{DC3E361B-5894-4A8B-B721-DC76701A4591}"/>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Producto en clase: causa posible, acción, evidencia y responsable para cada incidente.</a:t>
            </a:r>
          </a:p>
        </p:txBody>
      </p:sp>
      <p:sp>
        <p:nvSpPr>
          <p:cNvPr id="19" name="footer">
            <a:extLst xmlns:a="http://schemas.openxmlformats.org/drawingml/2006/main">
              <a:ext uri="{FF2B5EF4-FFF2-40B4-BE49-F238E27FC236}">
                <a16:creationId xmlns:a16="http://schemas.microsoft.com/office/drawing/2014/main" id="{CE88AD54-A5E7-4CC7-B58D-94B13EF3A5DA}"/>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D1C3BD07-9998-45AD-8DE0-F8EF2457B6C6}"/>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42</a:t>
            </a:r>
          </a:p>
        </p:txBody>
      </p:sp>
    </p:spTree>
    <p:extLst>
      <p:ext uri="{BB962C8B-B14F-4D97-AF65-F5344CB8AC3E}">
        <p14:creationId xmlns:p14="http://schemas.microsoft.com/office/powerpoint/2010/main" val="116899893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80308455-0E19-4402-B6A2-DBDFF012010E}"/>
              </a:ext>
            </a:extLst>
          </p:cNvPr>
          <p:cNvPicPr>
            <a:picLocks xmlns:a="http://schemas.openxmlformats.org/drawingml/2006/main" noChangeAspect="1"/>
          </p:cNvPicPr>
          <p:nvPr/>
        </p:nvPicPr>
        <p:blipFill>
          <a:blip xmlns:r="http://schemas.openxmlformats.org/officeDocument/2006/relationships" xmlns:a="http://schemas.openxmlformats.org/drawingml/2006/main" r:embed="R364f23c54ffe4730"/>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7DF8F388-C593-40D7-80CC-F2CBC9A82FC4}"/>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Ejercicio guiado 3: proponer una prueba</a:t>
            </a:r>
          </a:p>
        </p:txBody>
      </p:sp>
      <p:sp>
        <p:nvSpPr>
          <p:cNvPr id="16" name="lead">
            <a:extLst xmlns:a="http://schemas.openxmlformats.org/drawingml/2006/main">
              <a:ext uri="{FF2B5EF4-FFF2-40B4-BE49-F238E27FC236}">
                <a16:creationId xmlns:a16="http://schemas.microsoft.com/office/drawing/2014/main" id="{9306BCD1-57F5-4683-BAD8-6C36EAFEF2EF}"/>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Usen las seis filas del ejemplo para definir resultados esperados.</a:t>
            </a:r>
          </a:p>
        </p:txBody>
      </p:sp>
      <p:sp>
        <p:nvSpPr>
          <p:cNvPr id="17" name="paragraph-1">
            <a:extLst xmlns:a="http://schemas.openxmlformats.org/drawingml/2006/main">
              <a:ext uri="{FF2B5EF4-FFF2-40B4-BE49-F238E27FC236}">
                <a16:creationId xmlns:a16="http://schemas.microsoft.com/office/drawing/2014/main" id="{7050DA8A-7531-4377-AF31-8165F3B16E2C}"/>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Escriban el conteo esperado de leídas, aceptadas y rechazadas, con el motivo de exclusión.</a:t>
            </a:r>
          </a:p>
        </p:txBody>
      </p:sp>
      <p:sp>
        <p:nvSpPr>
          <p:cNvPr id="18" name="paragraph-2">
            <a:extLst xmlns:a="http://schemas.openxmlformats.org/drawingml/2006/main">
              <a:ext uri="{FF2B5EF4-FFF2-40B4-BE49-F238E27FC236}">
                <a16:creationId xmlns:a16="http://schemas.microsoft.com/office/drawing/2014/main" id="{A17B5080-84AF-402B-9193-0A45AC6EA7E1}"/>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Calculen los grupos del agregado y expliquen cómo tratarán el territorio sin informar.</a:t>
            </a:r>
          </a:p>
        </p:txBody>
      </p:sp>
      <p:sp>
        <p:nvSpPr>
          <p:cNvPr id="19" name="paragraph-3">
            <a:extLst xmlns:a="http://schemas.openxmlformats.org/drawingml/2006/main">
              <a:ext uri="{FF2B5EF4-FFF2-40B4-BE49-F238E27FC236}">
                <a16:creationId xmlns:a16="http://schemas.microsoft.com/office/drawing/2014/main" id="{7507DE45-9AFB-42F4-BA96-EF9D95908DEF}"/>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Propongan una modificación deliberada que un control deba detectar y expliquen por qué.</a:t>
            </a:r>
          </a:p>
        </p:txBody>
      </p:sp>
      <p:sp>
        <p:nvSpPr>
          <p:cNvPr id="20" name="check">
            <a:extLst xmlns:a="http://schemas.openxmlformats.org/drawingml/2006/main">
              <a:ext uri="{FF2B5EF4-FFF2-40B4-BE49-F238E27FC236}">
                <a16:creationId xmlns:a16="http://schemas.microsoft.com/office/drawing/2014/main" id="{17B512A6-2BBA-4BA2-9EAE-E522FADFF463}"/>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Producto en clase: tabla esperada y un fallo detectable antes de escribir la implementación.</a:t>
            </a:r>
          </a:p>
        </p:txBody>
      </p:sp>
      <p:sp>
        <p:nvSpPr>
          <p:cNvPr id="21" name="footer">
            <a:extLst xmlns:a="http://schemas.openxmlformats.org/drawingml/2006/main">
              <a:ext uri="{FF2B5EF4-FFF2-40B4-BE49-F238E27FC236}">
                <a16:creationId xmlns:a16="http://schemas.microsoft.com/office/drawing/2014/main" id="{EF7EA214-3055-4376-9A29-7647E13739A6}"/>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5A91ED69-7E79-4E67-95DD-4E1D38C1882B}"/>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43</a:t>
            </a:r>
          </a:p>
        </p:txBody>
      </p:sp>
    </p:spTree>
    <p:extLst>
      <p:ext uri="{BB962C8B-B14F-4D97-AF65-F5344CB8AC3E}">
        <p14:creationId xmlns:p14="http://schemas.microsoft.com/office/powerpoint/2010/main" val="116899893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19031163-48CA-415A-8073-3A1E9FB4ABA9}"/>
              </a:ext>
            </a:extLst>
          </p:cNvPr>
          <p:cNvPicPr>
            <a:picLocks xmlns:a="http://schemas.openxmlformats.org/drawingml/2006/main" noChangeAspect="1"/>
          </p:cNvPicPr>
          <p:nvPr/>
        </p:nvPicPr>
        <p:blipFill>
          <a:blip xmlns:r="http://schemas.openxmlformats.org/officeDocument/2006/relationships" xmlns:a="http://schemas.openxmlformats.org/drawingml/2006/main" r:embed="Rc87a658cce80441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77EE8A76-FC90-44C2-A8C1-FA2D72E0177D}"/>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Ejercicio del sábado</a:t>
            </a:r>
          </a:p>
        </p:txBody>
      </p:sp>
      <p:sp>
        <p:nvSpPr>
          <p:cNvPr id="16" name="lead">
            <a:extLst xmlns:a="http://schemas.openxmlformats.org/drawingml/2006/main">
              <a:ext uri="{FF2B5EF4-FFF2-40B4-BE49-F238E27FC236}">
                <a16:creationId xmlns:a16="http://schemas.microsoft.com/office/drawing/2014/main" id="{1FC11602-286A-4170-9D59-2A1D82A92F05}"/>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E12 aporta la evidencia operativa al proyecto E13.</a:t>
            </a:r>
          </a:p>
        </p:txBody>
      </p:sp>
      <p:graphicFrame>
        <p:nvGraphicFramePr>
          <p:cNvPr id="17" name="">
            <a:extLst xmlns:a="http://schemas.openxmlformats.org/drawingml/2006/main">
              <a:ext uri="{FF2B5EF4-FFF2-40B4-BE49-F238E27FC236}">
                <a16:creationId xmlns:a16="http://schemas.microsoft.com/office/drawing/2014/main" id="{C884429A-2B06-4334-8995-2191A64B6DE0}"/>
              </a:ext>
            </a:extLst>
          </p:cNvPr>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3840480"/>
                <a:gridCol w="7132320"/>
              </a:tblGrid>
              <a:tr h="666750">
                <a:tc>
                  <a:txBody>
                    <a:bodyPr/>
                    <a:lstStyle/>
                    <a:p>
                      <a:r>
                        <a:rPr sz="1950" b="1">
                          <a:solidFill>
                            <a:srgbClr val="FFFFFF"/>
                          </a:solidFill>
                          <a:latin typeface="Calibri"/>
                          <a:ea typeface="Calibri"/>
                          <a:cs typeface="Calibri"/>
                        </a:rPr>
                        <a:t>Criterio mínimo</a:t>
                      </a:r>
                    </a:p>
                  </a:txBody>
                  <a:tcPr marL="133350" marR="133350" marT="76200" marB="76200" anchor="ctr">
                    <a:lnL w="6668">
                      <a:solidFill>
                        <a:srgbClr val="CFD7E2"/>
                      </a:solidFill>
                      <a:prstDash val="solid"/>
                    </a:lnL>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c>
                  <a:txBody>
                    <a:bodyPr/>
                    <a:lstStyle/>
                    <a:p>
                      <a:r>
                        <a:rPr sz="1950" b="1">
                          <a:solidFill>
                            <a:srgbClr val="FFFFFF"/>
                          </a:solidFill>
                          <a:latin typeface="Calibri"/>
                          <a:ea typeface="Calibri"/>
                          <a:cs typeface="Calibri"/>
                        </a:rPr>
                        <a:t>Comprobación</a:t>
                      </a:r>
                    </a:p>
                  </a:txBody>
                  <a:tcPr marL="133350" marR="133350" marT="76200" marB="76200" anchor="ctr">
                    <a:lnR w="6668">
                      <a:solidFill>
                        <a:srgbClr val="CFD7E2"/>
                      </a:solidFill>
                      <a:prstDash val="solid"/>
                    </a:lnR>
                    <a:lnT w="6668">
                      <a:solidFill>
                        <a:srgbClr val="CFD7E2"/>
                      </a:solidFill>
                      <a:prstDash val="solid"/>
                    </a:lnT>
                    <a:lnB w="6668">
                      <a:solidFill>
                        <a:srgbClr val="CFD7E2"/>
                      </a:solidFill>
                      <a:prstDash val="solid"/>
                    </a:lnB>
                    <a:solidFill>
                      <a:srgbClr val="4239C8"/>
                    </a:solidFill>
                  </a:tcPr>
                </a:tc>
              </a:tr>
              <a:tr h="666750">
                <a:tc>
                  <a:txBody>
                    <a:bodyPr/>
                    <a:lstStyle/>
                    <a:p>
                      <a:r>
                        <a:rPr sz="1950" b="0">
                          <a:solidFill>
                            <a:srgbClr val="203B68"/>
                          </a:solidFill>
                          <a:latin typeface="Calibri"/>
                          <a:ea typeface="Calibri"/>
                          <a:cs typeface="Calibri"/>
                        </a:rPr>
                        <a:t>Ejecución completa</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Otra persona puede seguir las instrucciones</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Conteos explicables</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Entradas, aceptados y rechazados concilian</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r h="666750">
                <a:tc>
                  <a:txBody>
                    <a:bodyPr/>
                    <a:lstStyle/>
                    <a:p>
                      <a:r>
                        <a:rPr sz="1950" b="0">
                          <a:solidFill>
                            <a:srgbClr val="203B68"/>
                          </a:solidFill>
                          <a:latin typeface="Calibri"/>
                          <a:ea typeface="Calibri"/>
                          <a:cs typeface="Calibri"/>
                        </a:rPr>
                        <a:t>Agregado consistente</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F5F7F9"/>
                    </a:solidFill>
                  </a:tcPr>
                </a:tc>
                <a:tc>
                  <a:txBody>
                    <a:bodyPr/>
                    <a:lstStyle/>
                    <a:p>
                      <a:r>
                        <a:rPr sz="1950" b="0">
                          <a:solidFill>
                            <a:srgbClr val="203B68"/>
                          </a:solidFill>
                          <a:latin typeface="Calibri"/>
                          <a:ea typeface="Calibri"/>
                          <a:cs typeface="Calibri"/>
                        </a:rPr>
                        <a:t>Comparación por grupo y total con el detalle</a:t>
                      </a:r>
                    </a:p>
                  </a:txBody>
                  <a:tcPr marL="133350" marR="133350" marT="76200" marB="76200" anchor="ctr">
                    <a:lnR w="6668">
                      <a:solidFill>
                        <a:srgbClr val="CFD7E2"/>
                      </a:solidFill>
                      <a:prstDash val="solid"/>
                    </a:lnR>
                    <a:lnB w="6668">
                      <a:solidFill>
                        <a:srgbClr val="CFD7E2"/>
                      </a:solidFill>
                      <a:prstDash val="solid"/>
                    </a:lnB>
                    <a:solidFill>
                      <a:srgbClr val="F5F7F9"/>
                    </a:solidFill>
                  </a:tcPr>
                </a:tc>
              </a:tr>
              <a:tr h="666750">
                <a:tc>
                  <a:txBody>
                    <a:bodyPr/>
                    <a:lstStyle/>
                    <a:p>
                      <a:r>
                        <a:rPr sz="1950" b="0">
                          <a:solidFill>
                            <a:srgbClr val="203B68"/>
                          </a:solidFill>
                          <a:latin typeface="Calibri"/>
                          <a:ea typeface="Calibri"/>
                          <a:cs typeface="Calibri"/>
                        </a:rPr>
                        <a:t>Reejecución estable</a:t>
                      </a:r>
                    </a:p>
                  </a:txBody>
                  <a:tcPr marL="133350" marR="133350" marT="76200" marB="76200" anchor="ctr">
                    <a:lnL w="6668">
                      <a:solidFill>
                        <a:srgbClr val="CFD7E2"/>
                      </a:solidFill>
                      <a:prstDash val="solid"/>
                    </a:lnL>
                    <a:lnR w="6668">
                      <a:solidFill>
                        <a:srgbClr val="CFD7E2"/>
                      </a:solidFill>
                      <a:prstDash val="solid"/>
                    </a:lnR>
                    <a:lnB w="6668">
                      <a:solidFill>
                        <a:srgbClr val="CFD7E2"/>
                      </a:solidFill>
                      <a:prstDash val="solid"/>
                    </a:lnB>
                    <a:solidFill>
                      <a:srgbClr val="E8F1F1"/>
                    </a:solidFill>
                  </a:tcPr>
                </a:tc>
                <a:tc>
                  <a:txBody>
                    <a:bodyPr/>
                    <a:lstStyle/>
                    <a:p>
                      <a:r>
                        <a:rPr sz="1950" b="0">
                          <a:solidFill>
                            <a:srgbClr val="203B68"/>
                          </a:solidFill>
                          <a:latin typeface="Calibri"/>
                          <a:ea typeface="Calibri"/>
                          <a:cs typeface="Calibri"/>
                        </a:rPr>
                        <a:t>Segunda ejecución sin diferencias de contenido</a:t>
                      </a:r>
                    </a:p>
                  </a:txBody>
                  <a:tcPr marL="133350" marR="133350" marT="76200" marB="76200" anchor="ctr">
                    <a:lnR w="6668">
                      <a:solidFill>
                        <a:srgbClr val="CFD7E2"/>
                      </a:solidFill>
                      <a:prstDash val="solid"/>
                    </a:lnR>
                    <a:lnB w="6668">
                      <a:solidFill>
                        <a:srgbClr val="CFD7E2"/>
                      </a:solidFill>
                      <a:prstDash val="solid"/>
                    </a:lnB>
                    <a:solidFill>
                      <a:srgbClr val="E8F1F1"/>
                    </a:solidFill>
                  </a:tcPr>
                </a:tc>
              </a:tr>
            </a:tbl>
          </a:graphicData>
        </a:graphic>
      </p:graphicFrame>
      <p:sp>
        <p:nvSpPr>
          <p:cNvPr id="18" name="check">
            <a:extLst xmlns:a="http://schemas.openxmlformats.org/drawingml/2006/main">
              <a:ext uri="{FF2B5EF4-FFF2-40B4-BE49-F238E27FC236}">
                <a16:creationId xmlns:a16="http://schemas.microsoft.com/office/drawing/2014/main" id="{174DCAA7-7F9C-4C6D-8839-2DD8653D157F}"/>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El candidato del 31 es formativo. La versión final permanece el 7 de noviembre.</a:t>
            </a:r>
          </a:p>
        </p:txBody>
      </p:sp>
      <p:sp>
        <p:nvSpPr>
          <p:cNvPr id="19" name="footer">
            <a:extLst xmlns:a="http://schemas.openxmlformats.org/drawingml/2006/main">
              <a:ext uri="{FF2B5EF4-FFF2-40B4-BE49-F238E27FC236}">
                <a16:creationId xmlns:a16="http://schemas.microsoft.com/office/drawing/2014/main" id="{F4D08A38-C0CB-4C04-92D3-B2DF7F769F4E}"/>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0" name="page">
            <a:extLst xmlns:a="http://schemas.openxmlformats.org/drawingml/2006/main">
              <a:ext uri="{FF2B5EF4-FFF2-40B4-BE49-F238E27FC236}">
                <a16:creationId xmlns:a16="http://schemas.microsoft.com/office/drawing/2014/main" id="{3FBC0EB0-83E3-4E74-A408-B9867511733D}"/>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44</a:t>
            </a:r>
          </a:p>
        </p:txBody>
      </p:sp>
    </p:spTree>
    <p:extLst>
      <p:ext uri="{BB962C8B-B14F-4D97-AF65-F5344CB8AC3E}">
        <p14:creationId xmlns:p14="http://schemas.microsoft.com/office/powerpoint/2010/main" val="116899893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748516E7-0888-4DE0-88AA-7BED58B6BB86}"/>
              </a:ext>
            </a:extLst>
          </p:cNvPr>
          <p:cNvPicPr>
            <a:picLocks xmlns:a="http://schemas.openxmlformats.org/drawingml/2006/main" noChangeAspect="1"/>
          </p:cNvPicPr>
          <p:nvPr/>
        </p:nvPicPr>
        <p:blipFill>
          <a:blip xmlns:r="http://schemas.openxmlformats.org/officeDocument/2006/relationships" xmlns:a="http://schemas.openxmlformats.org/drawingml/2006/main" r:embed="R5e527f8464494d5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69776EF2-E3A7-411D-93C1-497E52364190}"/>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E12: secuencia de trabajo en clase</a:t>
            </a:r>
          </a:p>
        </p:txBody>
      </p:sp>
      <p:sp>
        <p:nvSpPr>
          <p:cNvPr id="16" name="lead">
            <a:extLst xmlns:a="http://schemas.openxmlformats.org/drawingml/2006/main">
              <a:ext uri="{FF2B5EF4-FFF2-40B4-BE49-F238E27FC236}">
                <a16:creationId xmlns:a16="http://schemas.microsoft.com/office/drawing/2014/main" id="{1FBBA258-6C1A-4CED-A8C4-E548AD59C4E5}"/>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Cada paso produce una evidencia que el siguiente puede utilizar.</a:t>
            </a:r>
          </a:p>
        </p:txBody>
      </p:sp>
      <p:sp>
        <p:nvSpPr>
          <p:cNvPr id="17" name="paragraph-1">
            <a:extLst xmlns:a="http://schemas.openxmlformats.org/drawingml/2006/main">
              <a:ext uri="{FF2B5EF4-FFF2-40B4-BE49-F238E27FC236}">
                <a16:creationId xmlns:a16="http://schemas.microsoft.com/office/drawing/2014/main" id="{31D95C66-C88C-49D3-9646-FA1E617719A0}"/>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Definir fuente, corte y reglas. Integrar lectura, validación y transformación ya estudiadas.</a:t>
            </a:r>
          </a:p>
        </p:txBody>
      </p:sp>
      <p:sp>
        <p:nvSpPr>
          <p:cNvPr id="18" name="paragraph-2">
            <a:extLst xmlns:a="http://schemas.openxmlformats.org/drawingml/2006/main">
              <a:ext uri="{FF2B5EF4-FFF2-40B4-BE49-F238E27FC236}">
                <a16:creationId xmlns:a16="http://schemas.microsoft.com/office/drawing/2014/main" id="{4C7CBF28-C81C-4A66-96CF-813CCB2C2C6C}"/>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Escribir candidatos; releer detalle y agregado. Conciliar filas, grupos y total antes de identificar publicación.</a:t>
            </a:r>
          </a:p>
        </p:txBody>
      </p:sp>
      <p:sp>
        <p:nvSpPr>
          <p:cNvPr id="19" name="paragraph-3">
            <a:extLst xmlns:a="http://schemas.openxmlformats.org/drawingml/2006/main">
              <a:ext uri="{FF2B5EF4-FFF2-40B4-BE49-F238E27FC236}">
                <a16:creationId xmlns:a16="http://schemas.microsoft.com/office/drawing/2014/main" id="{409873DB-6D11-4864-A757-68BCBEE7B2F2}"/>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Repetir con las mismas entradas y reglas. Otro equipo revisa instrucciones, controles y diferencias de contenido.</a:t>
            </a:r>
          </a:p>
        </p:txBody>
      </p:sp>
      <p:sp>
        <p:nvSpPr>
          <p:cNvPr id="20" name="check">
            <a:extLst xmlns:a="http://schemas.openxmlformats.org/drawingml/2006/main">
              <a:ext uri="{FF2B5EF4-FFF2-40B4-BE49-F238E27FC236}">
                <a16:creationId xmlns:a16="http://schemas.microsoft.com/office/drawing/2014/main" id="{ECA8B5AF-36A0-4A68-958D-4059DD400C77}"/>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El manifiesto, las reglas y los dos registros hacen visibles las prácticas de DataOps.</a:t>
            </a:r>
          </a:p>
        </p:txBody>
      </p:sp>
      <p:sp>
        <p:nvSpPr>
          <p:cNvPr id="21" name="footer">
            <a:extLst xmlns:a="http://schemas.openxmlformats.org/drawingml/2006/main">
              <a:ext uri="{FF2B5EF4-FFF2-40B4-BE49-F238E27FC236}">
                <a16:creationId xmlns:a16="http://schemas.microsoft.com/office/drawing/2014/main" id="{5A1092BA-6DFD-41F7-8D9E-E4269EB52E4C}"/>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9BF445B1-C86A-4B2C-861A-9D8E3E5B675F}"/>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45</a:t>
            </a:r>
          </a:p>
        </p:txBody>
      </p:sp>
    </p:spTree>
    <p:extLst>
      <p:ext uri="{BB962C8B-B14F-4D97-AF65-F5344CB8AC3E}">
        <p14:creationId xmlns:p14="http://schemas.microsoft.com/office/powerpoint/2010/main" val="116899893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3F45CA-AB91-4E4C-B136-8013116458E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pic>
        <p:nvPicPr>
          <p:cNvPr id="14" name="">
            <a:extLst xmlns:a="http://schemas.openxmlformats.org/drawingml/2006/main">
              <a:ext uri="{FF2B5EF4-FFF2-40B4-BE49-F238E27FC236}">
                <a16:creationId xmlns:a16="http://schemas.microsoft.com/office/drawing/2014/main" id="{4DA41BD9-4AB7-4BD4-A3D8-3A29A19586E5}"/>
              </a:ext>
            </a:extLst>
          </p:cNvPr>
          <p:cNvPicPr>
            <a:picLocks xmlns:a="http://schemas.openxmlformats.org/drawingml/2006/main" noChangeAspect="1"/>
          </p:cNvPicPr>
          <p:nvPr/>
        </p:nvPicPr>
        <p:blipFill>
          <a:blip xmlns:r="http://schemas.openxmlformats.org/officeDocument/2006/relationships" xmlns:a="http://schemas.openxmlformats.org/drawingml/2006/main" r:embed="Rf94a62bb8e6a4d60"/>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15" name="slide-title">
            <a:extLst xmlns:a="http://schemas.openxmlformats.org/drawingml/2006/main">
              <a:ext uri="{FF2B5EF4-FFF2-40B4-BE49-F238E27FC236}">
                <a16:creationId xmlns:a16="http://schemas.microsoft.com/office/drawing/2014/main" id="{5BAA2F5B-6B00-4E4D-9BF0-E0C96CCF0F18}"/>
              </a:ext>
            </a:extLst>
          </p:cNvPr>
          <p:cNvSpPr>
            <a:spLocks xmlns:a="http://schemas.openxmlformats.org/drawingml/2006/main" noGrp="1"/>
          </p:cNvSpPr>
          <p:nvPr/>
        </p:nvSpPr>
        <p:spPr>
          <a:xfrm xmlns:a="http://schemas.openxmlformats.org/drawingml/2006/main">
            <a:off x="1638300" y="295275"/>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5546ED"/>
                </a:solidFill>
                <a:latin typeface="Calibri"/>
                <a:ea typeface="Calibri"/>
                <a:cs typeface="Calibri"/>
              </a:defRPr>
            </a:defPPr>
            <a:lvl1pPr>
              <a:defRPr sz="3000" b="1">
                <a:solidFill>
                  <a:srgbClr val="5546ED"/>
                </a:solidFill>
                <a:latin typeface="Calibri"/>
                <a:ea typeface="Calibri"/>
                <a:cs typeface="Calibri"/>
              </a:defRPr>
            </a:lvl1pPr>
            <a:lvl2pPr>
              <a:defRPr sz="3000" b="1">
                <a:solidFill>
                  <a:srgbClr val="5546ED"/>
                </a:solidFill>
                <a:latin typeface="Calibri"/>
                <a:ea typeface="Calibri"/>
                <a:cs typeface="Calibri"/>
              </a:defRPr>
            </a:lvl2pPr>
            <a:lvl3pPr>
              <a:defRPr sz="3000" b="1">
                <a:solidFill>
                  <a:srgbClr val="5546ED"/>
                </a:solidFill>
                <a:latin typeface="Calibri"/>
                <a:ea typeface="Calibri"/>
                <a:cs typeface="Calibri"/>
              </a:defRPr>
            </a:lvl3pPr>
            <a:lvl4pPr>
              <a:defRPr sz="3000" b="1">
                <a:solidFill>
                  <a:srgbClr val="5546ED"/>
                </a:solidFill>
                <a:latin typeface="Calibri"/>
                <a:ea typeface="Calibri"/>
                <a:cs typeface="Calibri"/>
              </a:defRPr>
            </a:lvl4pPr>
            <a:lvl5pPr>
              <a:defRPr sz="3000" b="1">
                <a:solidFill>
                  <a:srgbClr val="5546ED"/>
                </a:solidFill>
                <a:latin typeface="Calibri"/>
                <a:ea typeface="Calibri"/>
                <a:cs typeface="Calibri"/>
              </a:defRPr>
            </a:lvl5pPr>
            <a:lvl6pPr>
              <a:defRPr sz="3000" b="1">
                <a:solidFill>
                  <a:srgbClr val="5546ED"/>
                </a:solidFill>
                <a:latin typeface="Calibri"/>
                <a:ea typeface="Calibri"/>
                <a:cs typeface="Calibri"/>
              </a:defRPr>
            </a:lvl6pPr>
            <a:lvl7pPr>
              <a:defRPr sz="3000" b="1">
                <a:solidFill>
                  <a:srgbClr val="5546ED"/>
                </a:solidFill>
                <a:latin typeface="Calibri"/>
                <a:ea typeface="Calibri"/>
                <a:cs typeface="Calibri"/>
              </a:defRPr>
            </a:lvl7pPr>
            <a:lvl8pPr>
              <a:defRPr sz="3000" b="1">
                <a:solidFill>
                  <a:srgbClr val="5546ED"/>
                </a:solidFill>
                <a:latin typeface="Calibri"/>
                <a:ea typeface="Calibri"/>
                <a:cs typeface="Calibri"/>
              </a:defRPr>
            </a:lvl8pPr>
            <a:lvl9pPr>
              <a:defRPr sz="3000" b="1">
                <a:solidFill>
                  <a:srgbClr val="5546ED"/>
                </a:solidFill>
                <a:latin typeface="Calibri"/>
                <a:ea typeface="Calibri"/>
                <a:cs typeface="Calibri"/>
              </a:defRPr>
            </a:lvl9pPr>
          </a:lstStyle>
          <a:p xmlns:a="http://schemas.openxmlformats.org/drawingml/2006/main">
            <a:pPr>
              <a:defRPr sz="3000" b="1">
                <a:solidFill>
                  <a:srgbClr val="5546ED"/>
                </a:solidFill>
                <a:latin typeface="Calibri"/>
                <a:ea typeface="Calibri"/>
                <a:cs typeface="Calibri"/>
              </a:defRPr>
            </a:pPr>
            <a:r>
              <a:rPr sz="3000" b="1">
                <a:solidFill>
                  <a:srgbClr val="5546ED"/>
                </a:solidFill>
                <a:latin typeface="Calibri"/>
                <a:ea typeface="Calibri"/>
                <a:cs typeface="Calibri"/>
              </a:rPr>
              <a:t>Comprobación de comprensión</a:t>
            </a:r>
          </a:p>
        </p:txBody>
      </p:sp>
      <p:sp>
        <p:nvSpPr>
          <p:cNvPr id="16" name="lead">
            <a:extLst xmlns:a="http://schemas.openxmlformats.org/drawingml/2006/main">
              <a:ext uri="{FF2B5EF4-FFF2-40B4-BE49-F238E27FC236}">
                <a16:creationId xmlns:a16="http://schemas.microsoft.com/office/drawing/2014/main" id="{549B843E-CB4A-447F-AEDF-F4481FB9FAF8}"/>
              </a:ext>
            </a:extLst>
          </p:cNvPr>
          <p:cNvSpPr>
            <a:spLocks xmlns:a="http://schemas.openxmlformats.org/drawingml/2006/main" noGrp="1"/>
          </p:cNvSpPr>
          <p:nvPr/>
        </p:nvSpPr>
        <p:spPr>
          <a:xfrm xmlns:a="http://schemas.openxmlformats.org/drawingml/2006/main">
            <a:off x="609600" y="1371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B68"/>
                </a:solidFill>
                <a:latin typeface="Calibri"/>
                <a:ea typeface="Calibri"/>
                <a:cs typeface="Calibri"/>
              </a:defRPr>
            </a:defPPr>
            <a:lvl1pPr>
              <a:defRPr sz="2250" b="1">
                <a:solidFill>
                  <a:srgbClr val="203B68"/>
                </a:solidFill>
                <a:latin typeface="Calibri"/>
                <a:ea typeface="Calibri"/>
                <a:cs typeface="Calibri"/>
              </a:defRPr>
            </a:lvl1pPr>
            <a:lvl2pPr>
              <a:defRPr sz="2250" b="1">
                <a:solidFill>
                  <a:srgbClr val="203B68"/>
                </a:solidFill>
                <a:latin typeface="Calibri"/>
                <a:ea typeface="Calibri"/>
                <a:cs typeface="Calibri"/>
              </a:defRPr>
            </a:lvl2pPr>
            <a:lvl3pPr>
              <a:defRPr sz="2250" b="1">
                <a:solidFill>
                  <a:srgbClr val="203B68"/>
                </a:solidFill>
                <a:latin typeface="Calibri"/>
                <a:ea typeface="Calibri"/>
                <a:cs typeface="Calibri"/>
              </a:defRPr>
            </a:lvl3pPr>
            <a:lvl4pPr>
              <a:defRPr sz="2250" b="1">
                <a:solidFill>
                  <a:srgbClr val="203B68"/>
                </a:solidFill>
                <a:latin typeface="Calibri"/>
                <a:ea typeface="Calibri"/>
                <a:cs typeface="Calibri"/>
              </a:defRPr>
            </a:lvl4pPr>
            <a:lvl5pPr>
              <a:defRPr sz="2250" b="1">
                <a:solidFill>
                  <a:srgbClr val="203B68"/>
                </a:solidFill>
                <a:latin typeface="Calibri"/>
                <a:ea typeface="Calibri"/>
                <a:cs typeface="Calibri"/>
              </a:defRPr>
            </a:lvl5pPr>
            <a:lvl6pPr>
              <a:defRPr sz="2250" b="1">
                <a:solidFill>
                  <a:srgbClr val="203B68"/>
                </a:solidFill>
                <a:latin typeface="Calibri"/>
                <a:ea typeface="Calibri"/>
                <a:cs typeface="Calibri"/>
              </a:defRPr>
            </a:lvl6pPr>
            <a:lvl7pPr>
              <a:defRPr sz="2250" b="1">
                <a:solidFill>
                  <a:srgbClr val="203B68"/>
                </a:solidFill>
                <a:latin typeface="Calibri"/>
                <a:ea typeface="Calibri"/>
                <a:cs typeface="Calibri"/>
              </a:defRPr>
            </a:lvl7pPr>
            <a:lvl8pPr>
              <a:defRPr sz="2250" b="1">
                <a:solidFill>
                  <a:srgbClr val="203B68"/>
                </a:solidFill>
                <a:latin typeface="Calibri"/>
                <a:ea typeface="Calibri"/>
                <a:cs typeface="Calibri"/>
              </a:defRPr>
            </a:lvl8pPr>
            <a:lvl9pPr>
              <a:defRPr sz="2250" b="1">
                <a:solidFill>
                  <a:srgbClr val="203B68"/>
                </a:solidFill>
                <a:latin typeface="Calibri"/>
                <a:ea typeface="Calibri"/>
                <a:cs typeface="Calibri"/>
              </a:defRPr>
            </a:lvl9pPr>
          </a:lstStyle>
          <a:p xmlns:a="http://schemas.openxmlformats.org/drawingml/2006/main">
            <a:pPr>
              <a:defRPr sz="2250" b="1">
                <a:solidFill>
                  <a:srgbClr val="203B68"/>
                </a:solidFill>
                <a:latin typeface="Calibri"/>
                <a:ea typeface="Calibri"/>
                <a:cs typeface="Calibri"/>
              </a:defRPr>
            </a:pPr>
            <a:r>
              <a:rPr sz="2250" b="1">
                <a:solidFill>
                  <a:srgbClr val="203B68"/>
                </a:solidFill>
                <a:latin typeface="Calibri"/>
                <a:ea typeface="Calibri"/>
                <a:cs typeface="Calibri"/>
              </a:rPr>
              <a:t>Un consumidor pregunta por qué cambió una cifra publicada.</a:t>
            </a:r>
          </a:p>
        </p:txBody>
      </p:sp>
      <p:sp>
        <p:nvSpPr>
          <p:cNvPr id="17" name="paragraph-1">
            <a:extLst xmlns:a="http://schemas.openxmlformats.org/drawingml/2006/main">
              <a:ext uri="{FF2B5EF4-FFF2-40B4-BE49-F238E27FC236}">
                <a16:creationId xmlns:a16="http://schemas.microsoft.com/office/drawing/2014/main" id="{76E85BE1-1FF8-4DE7-8FCE-72F2A13BFAD1}"/>
              </a:ext>
            </a:extLst>
          </p:cNvPr>
          <p:cNvSpPr>
            <a:spLocks xmlns:a="http://schemas.openxmlformats.org/drawingml/2006/main" noGrp="1"/>
          </p:cNvSpPr>
          <p:nvPr/>
        </p:nvSpPr>
        <p:spPr>
          <a:xfrm xmlns:a="http://schemas.openxmlformats.org/drawingml/2006/main">
            <a:off x="685800" y="2343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¿Cómo distinguirían un cambio de entrada, un cambio de regla y un error del proceso?</a:t>
            </a:r>
          </a:p>
        </p:txBody>
      </p:sp>
      <p:sp>
        <p:nvSpPr>
          <p:cNvPr id="18" name="paragraph-2">
            <a:extLst xmlns:a="http://schemas.openxmlformats.org/drawingml/2006/main">
              <a:ext uri="{FF2B5EF4-FFF2-40B4-BE49-F238E27FC236}">
                <a16:creationId xmlns:a16="http://schemas.microsoft.com/office/drawing/2014/main" id="{FE0D8EE0-10B7-409B-B2A8-F8072D4EC998}"/>
              </a:ext>
            </a:extLst>
          </p:cNvPr>
          <p:cNvSpPr>
            <a:spLocks xmlns:a="http://schemas.openxmlformats.org/drawingml/2006/main" noGrp="1"/>
          </p:cNvSpPr>
          <p:nvPr/>
        </p:nvSpPr>
        <p:spPr>
          <a:xfrm xmlns:a="http://schemas.openxmlformats.org/drawingml/2006/main">
            <a:off x="685800" y="33909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¿Qué evidencia vincula el archivo original con el grupo consultado?</a:t>
            </a:r>
          </a:p>
        </p:txBody>
      </p:sp>
      <p:sp>
        <p:nvSpPr>
          <p:cNvPr id="19" name="paragraph-3">
            <a:extLst xmlns:a="http://schemas.openxmlformats.org/drawingml/2006/main">
              <a:ext uri="{FF2B5EF4-FFF2-40B4-BE49-F238E27FC236}">
                <a16:creationId xmlns:a16="http://schemas.microsoft.com/office/drawing/2014/main" id="{5EEB7367-3065-4289-9D11-45E49AFEABC8}"/>
              </a:ext>
            </a:extLst>
          </p:cNvPr>
          <p:cNvSpPr>
            <a:spLocks xmlns:a="http://schemas.openxmlformats.org/drawingml/2006/main" noGrp="1"/>
          </p:cNvSpPr>
          <p:nvPr/>
        </p:nvSpPr>
        <p:spPr>
          <a:xfrm xmlns:a="http://schemas.openxmlformats.org/drawingml/2006/main">
            <a:off x="685800" y="4438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03B68"/>
                </a:solidFill>
                <a:latin typeface="Calibri"/>
                <a:ea typeface="Calibri"/>
                <a:cs typeface="Calibri"/>
              </a:defRPr>
            </a:defPPr>
            <a:lvl1pPr>
              <a:defRPr sz="2175" b="0">
                <a:solidFill>
                  <a:srgbClr val="203B68"/>
                </a:solidFill>
                <a:latin typeface="Calibri"/>
                <a:ea typeface="Calibri"/>
                <a:cs typeface="Calibri"/>
              </a:defRPr>
            </a:lvl1pPr>
            <a:lvl2pPr>
              <a:defRPr sz="2175" b="0">
                <a:solidFill>
                  <a:srgbClr val="203B68"/>
                </a:solidFill>
                <a:latin typeface="Calibri"/>
                <a:ea typeface="Calibri"/>
                <a:cs typeface="Calibri"/>
              </a:defRPr>
            </a:lvl2pPr>
            <a:lvl3pPr>
              <a:defRPr sz="2175" b="0">
                <a:solidFill>
                  <a:srgbClr val="203B68"/>
                </a:solidFill>
                <a:latin typeface="Calibri"/>
                <a:ea typeface="Calibri"/>
                <a:cs typeface="Calibri"/>
              </a:defRPr>
            </a:lvl3pPr>
            <a:lvl4pPr>
              <a:defRPr sz="2175" b="0">
                <a:solidFill>
                  <a:srgbClr val="203B68"/>
                </a:solidFill>
                <a:latin typeface="Calibri"/>
                <a:ea typeface="Calibri"/>
                <a:cs typeface="Calibri"/>
              </a:defRPr>
            </a:lvl4pPr>
            <a:lvl5pPr>
              <a:defRPr sz="2175" b="0">
                <a:solidFill>
                  <a:srgbClr val="203B68"/>
                </a:solidFill>
                <a:latin typeface="Calibri"/>
                <a:ea typeface="Calibri"/>
                <a:cs typeface="Calibri"/>
              </a:defRPr>
            </a:lvl5pPr>
            <a:lvl6pPr>
              <a:defRPr sz="2175" b="0">
                <a:solidFill>
                  <a:srgbClr val="203B68"/>
                </a:solidFill>
                <a:latin typeface="Calibri"/>
                <a:ea typeface="Calibri"/>
                <a:cs typeface="Calibri"/>
              </a:defRPr>
            </a:lvl6pPr>
            <a:lvl7pPr>
              <a:defRPr sz="2175" b="0">
                <a:solidFill>
                  <a:srgbClr val="203B68"/>
                </a:solidFill>
                <a:latin typeface="Calibri"/>
                <a:ea typeface="Calibri"/>
                <a:cs typeface="Calibri"/>
              </a:defRPr>
            </a:lvl7pPr>
            <a:lvl8pPr>
              <a:defRPr sz="2175" b="0">
                <a:solidFill>
                  <a:srgbClr val="203B68"/>
                </a:solidFill>
                <a:latin typeface="Calibri"/>
                <a:ea typeface="Calibri"/>
                <a:cs typeface="Calibri"/>
              </a:defRPr>
            </a:lvl8pPr>
            <a:lvl9pPr>
              <a:defRPr sz="2175" b="0">
                <a:solidFill>
                  <a:srgbClr val="203B68"/>
                </a:solidFill>
                <a:latin typeface="Calibri"/>
                <a:ea typeface="Calibri"/>
                <a:cs typeface="Calibri"/>
              </a:defRPr>
            </a:lvl9pPr>
          </a:lstStyle>
          <a:p xmlns:a="http://schemas.openxmlformats.org/drawingml/2006/main">
            <a:pPr>
              <a:defRPr sz="2175" b="0">
                <a:solidFill>
                  <a:srgbClr val="203B68"/>
                </a:solidFill>
                <a:latin typeface="Calibri"/>
                <a:ea typeface="Calibri"/>
                <a:cs typeface="Calibri"/>
              </a:defRPr>
            </a:pPr>
            <a:r>
              <a:rPr sz="2175" b="0">
                <a:solidFill>
                  <a:srgbClr val="203B68"/>
                </a:solidFill>
                <a:latin typeface="Calibri"/>
                <a:ea typeface="Calibri"/>
                <a:cs typeface="Calibri"/>
              </a:rPr>
              <a:t>¿Qué condiciones permitirían aceptar la corrección y repetir el proceso con confianza?</a:t>
            </a:r>
          </a:p>
        </p:txBody>
      </p:sp>
      <p:sp>
        <p:nvSpPr>
          <p:cNvPr id="20" name="check">
            <a:extLst xmlns:a="http://schemas.openxmlformats.org/drawingml/2006/main">
              <a:ext uri="{FF2B5EF4-FFF2-40B4-BE49-F238E27FC236}">
                <a16:creationId xmlns:a16="http://schemas.microsoft.com/office/drawing/2014/main" id="{6C463F95-7772-49B7-A926-A122A2EB08F9}"/>
              </a:ext>
            </a:extLst>
          </p:cNvPr>
          <p:cNvSpPr>
            <a:spLocks xmlns:a="http://schemas.openxmlformats.org/drawingml/2006/main" noGrp="1"/>
          </p:cNvSpPr>
          <p:nvPr/>
        </p:nvSpPr>
        <p:spPr>
          <a:xfrm xmlns:a="http://schemas.openxmlformats.org/drawingml/2006/main">
            <a:off x="609600" y="5895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98F89"/>
                </a:solidFill>
                <a:latin typeface="Calibri"/>
                <a:ea typeface="Calibri"/>
                <a:cs typeface="Calibri"/>
              </a:defRPr>
            </a:defPPr>
            <a:lvl1pPr>
              <a:defRPr sz="1725" b="1">
                <a:solidFill>
                  <a:srgbClr val="098F89"/>
                </a:solidFill>
                <a:latin typeface="Calibri"/>
                <a:ea typeface="Calibri"/>
                <a:cs typeface="Calibri"/>
              </a:defRPr>
            </a:lvl1pPr>
            <a:lvl2pPr>
              <a:defRPr sz="1725" b="1">
                <a:solidFill>
                  <a:srgbClr val="098F89"/>
                </a:solidFill>
                <a:latin typeface="Calibri"/>
                <a:ea typeface="Calibri"/>
                <a:cs typeface="Calibri"/>
              </a:defRPr>
            </a:lvl2pPr>
            <a:lvl3pPr>
              <a:defRPr sz="1725" b="1">
                <a:solidFill>
                  <a:srgbClr val="098F89"/>
                </a:solidFill>
                <a:latin typeface="Calibri"/>
                <a:ea typeface="Calibri"/>
                <a:cs typeface="Calibri"/>
              </a:defRPr>
            </a:lvl3pPr>
            <a:lvl4pPr>
              <a:defRPr sz="1725" b="1">
                <a:solidFill>
                  <a:srgbClr val="098F89"/>
                </a:solidFill>
                <a:latin typeface="Calibri"/>
                <a:ea typeface="Calibri"/>
                <a:cs typeface="Calibri"/>
              </a:defRPr>
            </a:lvl4pPr>
            <a:lvl5pPr>
              <a:defRPr sz="1725" b="1">
                <a:solidFill>
                  <a:srgbClr val="098F89"/>
                </a:solidFill>
                <a:latin typeface="Calibri"/>
                <a:ea typeface="Calibri"/>
                <a:cs typeface="Calibri"/>
              </a:defRPr>
            </a:lvl5pPr>
            <a:lvl6pPr>
              <a:defRPr sz="1725" b="1">
                <a:solidFill>
                  <a:srgbClr val="098F89"/>
                </a:solidFill>
                <a:latin typeface="Calibri"/>
                <a:ea typeface="Calibri"/>
                <a:cs typeface="Calibri"/>
              </a:defRPr>
            </a:lvl6pPr>
            <a:lvl7pPr>
              <a:defRPr sz="1725" b="1">
                <a:solidFill>
                  <a:srgbClr val="098F89"/>
                </a:solidFill>
                <a:latin typeface="Calibri"/>
                <a:ea typeface="Calibri"/>
                <a:cs typeface="Calibri"/>
              </a:defRPr>
            </a:lvl7pPr>
            <a:lvl8pPr>
              <a:defRPr sz="1725" b="1">
                <a:solidFill>
                  <a:srgbClr val="098F89"/>
                </a:solidFill>
                <a:latin typeface="Calibri"/>
                <a:ea typeface="Calibri"/>
                <a:cs typeface="Calibri"/>
              </a:defRPr>
            </a:lvl8pPr>
            <a:lvl9pPr>
              <a:defRPr sz="1725" b="1">
                <a:solidFill>
                  <a:srgbClr val="098F89"/>
                </a:solidFill>
                <a:latin typeface="Calibri"/>
                <a:ea typeface="Calibri"/>
                <a:cs typeface="Calibri"/>
              </a:defRPr>
            </a:lvl9pPr>
          </a:lstStyle>
          <a:p xmlns:a="http://schemas.openxmlformats.org/drawingml/2006/main">
            <a:pPr>
              <a:defRPr sz="1725" b="1">
                <a:solidFill>
                  <a:srgbClr val="098F89"/>
                </a:solidFill>
                <a:latin typeface="Calibri"/>
                <a:ea typeface="Calibri"/>
                <a:cs typeface="Calibri"/>
              </a:defRPr>
            </a:pPr>
            <a:r>
              <a:rPr sz="1725" b="1">
                <a:solidFill>
                  <a:srgbClr val="098F89"/>
                </a:solidFill>
                <a:latin typeface="Calibri"/>
                <a:ea typeface="Calibri"/>
                <a:cs typeface="Calibri"/>
              </a:rPr>
              <a:t>La explicación debe conectar conceptos, decisiones y evidencia del caso.</a:t>
            </a:r>
          </a:p>
        </p:txBody>
      </p:sp>
      <p:sp>
        <p:nvSpPr>
          <p:cNvPr id="21" name="footer">
            <a:extLst xmlns:a="http://schemas.openxmlformats.org/drawingml/2006/main">
              <a:ext uri="{FF2B5EF4-FFF2-40B4-BE49-F238E27FC236}">
                <a16:creationId xmlns:a16="http://schemas.microsoft.com/office/drawing/2014/main" id="{E5DA11F5-62A5-45F5-AA14-D736036CDF91}"/>
              </a:ext>
            </a:extLst>
          </p:cNvPr>
          <p:cNvSpPr>
            <a:spLocks xmlns:a="http://schemas.openxmlformats.org/drawingml/2006/main" noGrp="1"/>
          </p:cNvSpPr>
          <p:nvPr/>
        </p:nvSpPr>
        <p:spPr>
          <a:xfrm xmlns:a="http://schemas.openxmlformats.org/drawingml/2006/main">
            <a:off x="609600" y="64960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1">
                <a:solidFill>
                  <a:srgbClr val="5546ED"/>
                </a:solidFill>
                <a:latin typeface="Calibri"/>
                <a:ea typeface="Calibri"/>
                <a:cs typeface="Calibri"/>
              </a:defRPr>
            </a:defPPr>
            <a:lvl1pPr>
              <a:defRPr sz="1125" b="1">
                <a:solidFill>
                  <a:srgbClr val="5546ED"/>
                </a:solidFill>
                <a:latin typeface="Calibri"/>
                <a:ea typeface="Calibri"/>
                <a:cs typeface="Calibri"/>
              </a:defRPr>
            </a:lvl1pPr>
            <a:lvl2pPr>
              <a:defRPr sz="1125" b="1">
                <a:solidFill>
                  <a:srgbClr val="5546ED"/>
                </a:solidFill>
                <a:latin typeface="Calibri"/>
                <a:ea typeface="Calibri"/>
                <a:cs typeface="Calibri"/>
              </a:defRPr>
            </a:lvl2pPr>
            <a:lvl3pPr>
              <a:defRPr sz="1125" b="1">
                <a:solidFill>
                  <a:srgbClr val="5546ED"/>
                </a:solidFill>
                <a:latin typeface="Calibri"/>
                <a:ea typeface="Calibri"/>
                <a:cs typeface="Calibri"/>
              </a:defRPr>
            </a:lvl3pPr>
            <a:lvl4pPr>
              <a:defRPr sz="1125" b="1">
                <a:solidFill>
                  <a:srgbClr val="5546ED"/>
                </a:solidFill>
                <a:latin typeface="Calibri"/>
                <a:ea typeface="Calibri"/>
                <a:cs typeface="Calibri"/>
              </a:defRPr>
            </a:lvl4pPr>
            <a:lvl5pPr>
              <a:defRPr sz="1125" b="1">
                <a:solidFill>
                  <a:srgbClr val="5546ED"/>
                </a:solidFill>
                <a:latin typeface="Calibri"/>
                <a:ea typeface="Calibri"/>
                <a:cs typeface="Calibri"/>
              </a:defRPr>
            </a:lvl5pPr>
            <a:lvl6pPr>
              <a:defRPr sz="1125" b="1">
                <a:solidFill>
                  <a:srgbClr val="5546ED"/>
                </a:solidFill>
                <a:latin typeface="Calibri"/>
                <a:ea typeface="Calibri"/>
                <a:cs typeface="Calibri"/>
              </a:defRPr>
            </a:lvl6pPr>
            <a:lvl7pPr>
              <a:defRPr sz="1125" b="1">
                <a:solidFill>
                  <a:srgbClr val="5546ED"/>
                </a:solidFill>
                <a:latin typeface="Calibri"/>
                <a:ea typeface="Calibri"/>
                <a:cs typeface="Calibri"/>
              </a:defRPr>
            </a:lvl7pPr>
            <a:lvl8pPr>
              <a:defRPr sz="1125" b="1">
                <a:solidFill>
                  <a:srgbClr val="5546ED"/>
                </a:solidFill>
                <a:latin typeface="Calibri"/>
                <a:ea typeface="Calibri"/>
                <a:cs typeface="Calibri"/>
              </a:defRPr>
            </a:lvl8pPr>
            <a:lvl9pPr>
              <a:defRPr sz="1125" b="1">
                <a:solidFill>
                  <a:srgbClr val="5546ED"/>
                </a:solidFill>
                <a:latin typeface="Calibri"/>
                <a:ea typeface="Calibri"/>
                <a:cs typeface="Calibri"/>
              </a:defRPr>
            </a:lvl9pPr>
          </a:lstStyle>
          <a:p xmlns:a="http://schemas.openxmlformats.org/drawingml/2006/main">
            <a:pPr>
              <a:defRPr sz="1125" b="1">
                <a:solidFill>
                  <a:srgbClr val="5546ED"/>
                </a:solidFill>
                <a:latin typeface="Calibri"/>
                <a:ea typeface="Calibri"/>
                <a:cs typeface="Calibri"/>
              </a:defRPr>
            </a:pPr>
            <a:r>
              <a:rPr sz="1125" b="1">
                <a:solidFill>
                  <a:srgbClr val="5546ED"/>
                </a:solidFill>
                <a:latin typeface="Calibri"/>
                <a:ea typeface="Calibri"/>
                <a:cs typeface="Calibri"/>
              </a:rPr>
              <a:t>Curso de Postgrado: BigData · Especialización en Bases de datos</a:t>
            </a:r>
          </a:p>
        </p:txBody>
      </p:sp>
      <p:sp>
        <p:nvSpPr>
          <p:cNvPr id="22" name="page">
            <a:extLst xmlns:a="http://schemas.openxmlformats.org/drawingml/2006/main">
              <a:ext uri="{FF2B5EF4-FFF2-40B4-BE49-F238E27FC236}">
                <a16:creationId xmlns:a16="http://schemas.microsoft.com/office/drawing/2014/main" id="{E991CD0B-574D-4846-B883-6234F86EB6EF}"/>
              </a:ext>
            </a:extLst>
          </p:cNvPr>
          <p:cNvSpPr>
            <a:spLocks xmlns:a="http://schemas.openxmlformats.org/drawingml/2006/main" noGrp="1"/>
          </p:cNvSpPr>
          <p:nvPr/>
        </p:nvSpPr>
        <p:spPr>
          <a:xfrm xmlns:a="http://schemas.openxmlformats.org/drawingml/2006/main">
            <a:off x="11001375" y="6496050"/>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b="0">
                <a:solidFill>
                  <a:srgbClr val="5546ED"/>
                </a:solidFill>
                <a:latin typeface="Calibri"/>
                <a:ea typeface="Calibri"/>
                <a:cs typeface="Calibri"/>
              </a:defRPr>
            </a:defPPr>
            <a:lvl1pPr>
              <a:defRPr sz="1125" b="0">
                <a:solidFill>
                  <a:srgbClr val="5546ED"/>
                </a:solidFill>
                <a:latin typeface="Calibri"/>
                <a:ea typeface="Calibri"/>
                <a:cs typeface="Calibri"/>
              </a:defRPr>
            </a:lvl1pPr>
            <a:lvl2pPr>
              <a:defRPr sz="1125" b="0">
                <a:solidFill>
                  <a:srgbClr val="5546ED"/>
                </a:solidFill>
                <a:latin typeface="Calibri"/>
                <a:ea typeface="Calibri"/>
                <a:cs typeface="Calibri"/>
              </a:defRPr>
            </a:lvl2pPr>
            <a:lvl3pPr>
              <a:defRPr sz="1125" b="0">
                <a:solidFill>
                  <a:srgbClr val="5546ED"/>
                </a:solidFill>
                <a:latin typeface="Calibri"/>
                <a:ea typeface="Calibri"/>
                <a:cs typeface="Calibri"/>
              </a:defRPr>
            </a:lvl3pPr>
            <a:lvl4pPr>
              <a:defRPr sz="1125" b="0">
                <a:solidFill>
                  <a:srgbClr val="5546ED"/>
                </a:solidFill>
                <a:latin typeface="Calibri"/>
                <a:ea typeface="Calibri"/>
                <a:cs typeface="Calibri"/>
              </a:defRPr>
            </a:lvl4pPr>
            <a:lvl5pPr>
              <a:defRPr sz="1125" b="0">
                <a:solidFill>
                  <a:srgbClr val="5546ED"/>
                </a:solidFill>
                <a:latin typeface="Calibri"/>
                <a:ea typeface="Calibri"/>
                <a:cs typeface="Calibri"/>
              </a:defRPr>
            </a:lvl5pPr>
            <a:lvl6pPr>
              <a:defRPr sz="1125" b="0">
                <a:solidFill>
                  <a:srgbClr val="5546ED"/>
                </a:solidFill>
                <a:latin typeface="Calibri"/>
                <a:ea typeface="Calibri"/>
                <a:cs typeface="Calibri"/>
              </a:defRPr>
            </a:lvl6pPr>
            <a:lvl7pPr>
              <a:defRPr sz="1125" b="0">
                <a:solidFill>
                  <a:srgbClr val="5546ED"/>
                </a:solidFill>
                <a:latin typeface="Calibri"/>
                <a:ea typeface="Calibri"/>
                <a:cs typeface="Calibri"/>
              </a:defRPr>
            </a:lvl7pPr>
            <a:lvl8pPr>
              <a:defRPr sz="1125" b="0">
                <a:solidFill>
                  <a:srgbClr val="5546ED"/>
                </a:solidFill>
                <a:latin typeface="Calibri"/>
                <a:ea typeface="Calibri"/>
                <a:cs typeface="Calibri"/>
              </a:defRPr>
            </a:lvl8pPr>
            <a:lvl9pPr>
              <a:defRPr sz="1125" b="0">
                <a:solidFill>
                  <a:srgbClr val="5546ED"/>
                </a:solidFill>
                <a:latin typeface="Calibri"/>
                <a:ea typeface="Calibri"/>
                <a:cs typeface="Calibri"/>
              </a:defRPr>
            </a:lvl9pPr>
          </a:lstStyle>
          <a:p xmlns:a="http://schemas.openxmlformats.org/drawingml/2006/main">
            <a:pPr>
              <a:defRPr sz="1125" b="0">
                <a:solidFill>
                  <a:srgbClr val="5546ED"/>
                </a:solidFill>
                <a:latin typeface="Calibri"/>
                <a:ea typeface="Calibri"/>
                <a:cs typeface="Calibri"/>
              </a:defRPr>
            </a:pPr>
            <a:r>
              <a:rPr sz="1125" b="0">
                <a:solidFill>
                  <a:srgbClr val="5546ED"/>
                </a:solidFill>
                <a:latin typeface="Calibri"/>
                <a:ea typeface="Calibri"/>
                <a:cs typeface="Calibri"/>
              </a:rPr>
              <a:t>46</a:t>
            </a:r>
          </a:p>
        </p:txBody>
      </p:sp>
    </p:spTree>
    <p:extLst>
      <p:ext uri="{BB962C8B-B14F-4D97-AF65-F5344CB8AC3E}">
        <p14:creationId xmlns:p14="http://schemas.microsoft.com/office/powerpoint/2010/main" val="11689989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2026-10-30T21:19:05.3940000Z</dcterms:created>
  <dcterms:modified xsi:type="dcterms:W3CDTF">2026-10-30T21:19:05.3940000Z</dcterms:modified>
</coreProperties>
</file>