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6f38b129a3f4406" /><Relationship Type="http://schemas.openxmlformats.org/officeDocument/2006/relationships/extended-properties" Target="/docProps/app.xml" Id="R5b0c9183d1b74135" /><Relationship Type="http://schemas.openxmlformats.org/officeDocument/2006/relationships/officeDocument" Target="/ppt/presentation.xml" Id="R52d2aaf570634e41" /></Relationships>
</file>

<file path=ppt/presentation.xml><?xml version="1.0" encoding="utf-8"?>
<p:presentation xmlns:p="http://schemas.openxmlformats.org/presentationml/2006/main">
  <p:sldMasterIdLst>
    <p:sldMasterId xmlns:r="http://schemas.openxmlformats.org/officeDocument/2006/relationships" id="2147483648" r:id="R1643d0e4fe2f4463"/>
  </p:sldMasterIdLst>
  <p:notesMasterIdLst>
    <p:notesMasterId xmlns:r="http://schemas.openxmlformats.org/officeDocument/2006/relationships" r:id="R0ecad8a5b28e4ec7"/>
  </p:notesMasterIdLst>
  <p:sldIdLst>
    <p:sldId xmlns:r="http://schemas.openxmlformats.org/officeDocument/2006/relationships" id="256" r:id="R788d972c745f4f85"/>
    <p:sldId xmlns:r="http://schemas.openxmlformats.org/officeDocument/2006/relationships" id="257" r:id="R96afa342bc434cdd"/>
    <p:sldId xmlns:r="http://schemas.openxmlformats.org/officeDocument/2006/relationships" id="258" r:id="R3beabc90fdac460c"/>
    <p:sldId xmlns:r="http://schemas.openxmlformats.org/officeDocument/2006/relationships" id="259" r:id="R17fae84861204a70"/>
    <p:sldId xmlns:r="http://schemas.openxmlformats.org/officeDocument/2006/relationships" id="260" r:id="R51c3942635714256"/>
    <p:sldId xmlns:r="http://schemas.openxmlformats.org/officeDocument/2006/relationships" id="261" r:id="R2569dbfbe9b24e8e"/>
    <p:sldId xmlns:r="http://schemas.openxmlformats.org/officeDocument/2006/relationships" id="262" r:id="Rbc9ae2effb1e4cd0"/>
    <p:sldId xmlns:r="http://schemas.openxmlformats.org/officeDocument/2006/relationships" id="263" r:id="R10fbd430eb144471"/>
    <p:sldId xmlns:r="http://schemas.openxmlformats.org/officeDocument/2006/relationships" id="264" r:id="R613470c22b8947db"/>
    <p:sldId xmlns:r="http://schemas.openxmlformats.org/officeDocument/2006/relationships" id="265" r:id="Rb45718f2a85c4fab"/>
    <p:sldId xmlns:r="http://schemas.openxmlformats.org/officeDocument/2006/relationships" id="266" r:id="R240ffc9bbd0e4cb0"/>
    <p:sldId xmlns:r="http://schemas.openxmlformats.org/officeDocument/2006/relationships" id="267" r:id="Rafc861fbc62b4978"/>
    <p:sldId xmlns:r="http://schemas.openxmlformats.org/officeDocument/2006/relationships" id="268" r:id="Re8395a411e7d4e84"/>
    <p:sldId xmlns:r="http://schemas.openxmlformats.org/officeDocument/2006/relationships" id="269" r:id="Rbcb9ea7f21ff42b6"/>
    <p:sldId xmlns:r="http://schemas.openxmlformats.org/officeDocument/2006/relationships" id="270" r:id="R3bab1dbe631b413a"/>
    <p:sldId xmlns:r="http://schemas.openxmlformats.org/officeDocument/2006/relationships" id="271" r:id="Rbd0151374c4b4cf1"/>
    <p:sldId xmlns:r="http://schemas.openxmlformats.org/officeDocument/2006/relationships" id="272" r:id="Rb60e30cad88449ec"/>
    <p:sldId xmlns:r="http://schemas.openxmlformats.org/officeDocument/2006/relationships" id="273" r:id="Raf618d2c5131473d"/>
    <p:sldId xmlns:r="http://schemas.openxmlformats.org/officeDocument/2006/relationships" id="274" r:id="R64f1f008553f49d1"/>
    <p:sldId xmlns:r="http://schemas.openxmlformats.org/officeDocument/2006/relationships" id="275" r:id="R5f39564d73eb4d09"/>
    <p:sldId xmlns:r="http://schemas.openxmlformats.org/officeDocument/2006/relationships" id="276" r:id="Rf5f5a32e84a04d13"/>
    <p:sldId xmlns:r="http://schemas.openxmlformats.org/officeDocument/2006/relationships" id="277" r:id="Rde618c161e7e4f6c"/>
    <p:sldId xmlns:r="http://schemas.openxmlformats.org/officeDocument/2006/relationships" id="278" r:id="Rb280926b0a2e4e96"/>
    <p:sldId xmlns:r="http://schemas.openxmlformats.org/officeDocument/2006/relationships" id="279" r:id="R7b1d930699ba4fde"/>
    <p:sldId xmlns:r="http://schemas.openxmlformats.org/officeDocument/2006/relationships" id="280" r:id="R22488aadaadb4e48"/>
    <p:sldId xmlns:r="http://schemas.openxmlformats.org/officeDocument/2006/relationships" id="281" r:id="Rd522b1435af54400"/>
    <p:sldId xmlns:r="http://schemas.openxmlformats.org/officeDocument/2006/relationships" id="282" r:id="R7cd6cafb8d784504"/>
    <p:sldId xmlns:r="http://schemas.openxmlformats.org/officeDocument/2006/relationships" id="283" r:id="R64577ba8959b4a51"/>
    <p:sldId xmlns:r="http://schemas.openxmlformats.org/officeDocument/2006/relationships" id="284" r:id="R5c83b81cad4646b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b921b630a424674" /><Relationship Type="http://schemas.openxmlformats.org/officeDocument/2006/relationships/slideMaster" Target="/ppt/slideMasters/slideMaster1.xml" Id="R1643d0e4fe2f4463" /><Relationship Type="http://schemas.openxmlformats.org/officeDocument/2006/relationships/notesMaster" Target="/ppt/notesMasters/notesMaster1.xml" Id="R0ecad8a5b28e4ec7" /><Relationship Type="http://schemas.openxmlformats.org/officeDocument/2006/relationships/presProps" Target="/ppt/presProps.xml" Id="R89c65fd764ce4f6a" /><Relationship Type="http://schemas.openxmlformats.org/officeDocument/2006/relationships/tableStyles" Target="/ppt/tableStyles.xml" Id="Rbb00cbf11e0c4d3b" /><Relationship Type="http://schemas.openxmlformats.org/officeDocument/2006/relationships/slide" Target="/ppt/slides/slide1.xml" Id="R788d972c745f4f85" /><Relationship Type="http://schemas.openxmlformats.org/officeDocument/2006/relationships/slide" Target="/ppt/slides/slide2.xml" Id="R96afa342bc434cdd" /><Relationship Type="http://schemas.openxmlformats.org/officeDocument/2006/relationships/slide" Target="/ppt/slides/slide3.xml" Id="R3beabc90fdac460c" /><Relationship Type="http://schemas.openxmlformats.org/officeDocument/2006/relationships/slide" Target="/ppt/slides/slide4.xml" Id="R17fae84861204a70" /><Relationship Type="http://schemas.openxmlformats.org/officeDocument/2006/relationships/slide" Target="/ppt/slides/slide5.xml" Id="R51c3942635714256" /><Relationship Type="http://schemas.openxmlformats.org/officeDocument/2006/relationships/slide" Target="/ppt/slides/slide6.xml" Id="R2569dbfbe9b24e8e" /><Relationship Type="http://schemas.openxmlformats.org/officeDocument/2006/relationships/slide" Target="/ppt/slides/slide7.xml" Id="Rbc9ae2effb1e4cd0" /><Relationship Type="http://schemas.openxmlformats.org/officeDocument/2006/relationships/slide" Target="/ppt/slides/slide8.xml" Id="R10fbd430eb144471" /><Relationship Type="http://schemas.openxmlformats.org/officeDocument/2006/relationships/slide" Target="/ppt/slides/slide9.xml" Id="R613470c22b8947db" /><Relationship Type="http://schemas.openxmlformats.org/officeDocument/2006/relationships/slide" Target="/ppt/slides/slide10.xml" Id="Rb45718f2a85c4fab" /><Relationship Type="http://schemas.openxmlformats.org/officeDocument/2006/relationships/slide" Target="/ppt/slides/slide11.xml" Id="R240ffc9bbd0e4cb0" /><Relationship Type="http://schemas.openxmlformats.org/officeDocument/2006/relationships/slide" Target="/ppt/slides/slide12.xml" Id="Rafc861fbc62b4978" /><Relationship Type="http://schemas.openxmlformats.org/officeDocument/2006/relationships/slide" Target="/ppt/slides/slide13.xml" Id="Re8395a411e7d4e84" /><Relationship Type="http://schemas.openxmlformats.org/officeDocument/2006/relationships/slide" Target="/ppt/slides/slide14.xml" Id="Rbcb9ea7f21ff42b6" /><Relationship Type="http://schemas.openxmlformats.org/officeDocument/2006/relationships/slide" Target="/ppt/slides/slide15.xml" Id="R3bab1dbe631b413a" /><Relationship Type="http://schemas.openxmlformats.org/officeDocument/2006/relationships/slide" Target="/ppt/slides/slide16.xml" Id="Rbd0151374c4b4cf1" /><Relationship Type="http://schemas.openxmlformats.org/officeDocument/2006/relationships/slide" Target="/ppt/slides/slide17.xml" Id="Rb60e30cad88449ec" /><Relationship Type="http://schemas.openxmlformats.org/officeDocument/2006/relationships/slide" Target="/ppt/slides/slide18.xml" Id="Raf618d2c5131473d" /><Relationship Type="http://schemas.openxmlformats.org/officeDocument/2006/relationships/slide" Target="/ppt/slides/slide19.xml" Id="R64f1f008553f49d1" /><Relationship Type="http://schemas.openxmlformats.org/officeDocument/2006/relationships/slide" Target="/ppt/slides/slide20.xml" Id="R5f39564d73eb4d09" /><Relationship Type="http://schemas.openxmlformats.org/officeDocument/2006/relationships/slide" Target="/ppt/slides/slide21.xml" Id="Rf5f5a32e84a04d13" /><Relationship Type="http://schemas.openxmlformats.org/officeDocument/2006/relationships/slide" Target="/ppt/slides/slide22.xml" Id="Rde618c161e7e4f6c" /><Relationship Type="http://schemas.openxmlformats.org/officeDocument/2006/relationships/slide" Target="/ppt/slides/slide23.xml" Id="Rb280926b0a2e4e96" /><Relationship Type="http://schemas.openxmlformats.org/officeDocument/2006/relationships/slide" Target="/ppt/slides/slide24.xml" Id="R7b1d930699ba4fde" /><Relationship Type="http://schemas.openxmlformats.org/officeDocument/2006/relationships/slide" Target="/ppt/slides/slide25.xml" Id="R22488aadaadb4e48" /><Relationship Type="http://schemas.openxmlformats.org/officeDocument/2006/relationships/slide" Target="/ppt/slides/slide26.xml" Id="Rd522b1435af54400" /><Relationship Type="http://schemas.openxmlformats.org/officeDocument/2006/relationships/slide" Target="/ppt/slides/slide27.xml" Id="R7cd6cafb8d784504" /><Relationship Type="http://schemas.openxmlformats.org/officeDocument/2006/relationships/slide" Target="/ppt/slides/slide28.xml" Id="R64577ba8959b4a51" /><Relationship Type="http://schemas.openxmlformats.org/officeDocument/2006/relationships/slide" Target="/ppt/slides/slide29.xml" Id="R5c83b81cad4646b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ca6d6bfc603482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1d0a00952a84af5" /><Relationship Type="http://schemas.openxmlformats.org/officeDocument/2006/relationships/notesMaster" Target="/ppt/notesMasters/notesMaster1.xml" Id="Rd4c7294d94564940" /></Relationships>
</file>

<file path=ppt/notesSlides/_rels/notesSlide2.xml.rels>&#65279;<?xml version="1.0" encoding="utf-8"?><Relationships xmlns="http://schemas.openxmlformats.org/package/2006/relationships"><Relationship Type="http://schemas.openxmlformats.org/officeDocument/2006/relationships/slide" Target="/ppt/slides/slide2.xml" Id="R62e51481898d4190" /><Relationship Type="http://schemas.openxmlformats.org/officeDocument/2006/relationships/notesMaster" Target="/ppt/notesMasters/notesMaster1.xml" Id="Rfa296aa3883646e1"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29937d7ffa4ea3" /><Relationship Type="http://schemas.openxmlformats.org/officeDocument/2006/relationships/notesMaster" Target="/ppt/notesMasters/notesMaster1.xml" Id="R04bded5923524c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133d4a27ff14c94" /><Relationship Type="http://schemas.openxmlformats.org/officeDocument/2006/relationships/notesMaster" Target="/ppt/notesMasters/notesMaster1.xml" Id="R09c231346a0345d8" /></Relationships>
</file>

<file path=ppt/notesSlides/_rels/notesSlide5.xml.rels>&#65279;<?xml version="1.0" encoding="utf-8"?><Relationships xmlns="http://schemas.openxmlformats.org/package/2006/relationships"><Relationship Type="http://schemas.openxmlformats.org/officeDocument/2006/relationships/slide" Target="/ppt/slides/slide5.xml" Id="R712e161a459b4c5f" /><Relationship Type="http://schemas.openxmlformats.org/officeDocument/2006/relationships/notesMaster" Target="/ppt/notesMasters/notesMaster1.xml" Id="R6851d2fcfa3c4a8f" /></Relationships>
</file>

<file path=ppt/notesSlides/_rels/notesSlide6.xml.rels>&#65279;<?xml version="1.0" encoding="utf-8"?><Relationships xmlns="http://schemas.openxmlformats.org/package/2006/relationships"><Relationship Type="http://schemas.openxmlformats.org/officeDocument/2006/relationships/slide" Target="/ppt/slides/slide6.xml" Id="R53983d35ca464f10" /><Relationship Type="http://schemas.openxmlformats.org/officeDocument/2006/relationships/notesMaster" Target="/ppt/notesMasters/notesMaster1.xml" Id="R7680dd23c1ac4f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25e5ce5f334d4101" /><Relationship Type="http://schemas.openxmlformats.org/officeDocument/2006/relationships/notesMaster" Target="/ppt/notesMasters/notesMaster1.xml" Id="R56ae568c7f004b4c"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5a9c877b424470" /><Relationship Type="http://schemas.openxmlformats.org/officeDocument/2006/relationships/notesMaster" Target="/ppt/notesMasters/notesMaster1.xml" Id="Rae362e2a030044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b405cd2c686842ba" /><Relationship Type="http://schemas.openxmlformats.org/officeDocument/2006/relationships/notesMaster" Target="/ppt/notesMasters/notesMaster1.xml" Id="Rb0dd6f76836646a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a3f9c4bb735401e" /><Relationship Type="http://schemas.openxmlformats.org/officeDocument/2006/relationships/notesMaster" Target="/ppt/notesMasters/notesMaster1.xml" Id="Re992d855405049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5b04da206b14bc9" /><Relationship Type="http://schemas.openxmlformats.org/officeDocument/2006/relationships/notesMaster" Target="/ppt/notesMasters/notesMaster1.xml" Id="R035b1e79feaf448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312e31f0ce040c1" /><Relationship Type="http://schemas.openxmlformats.org/officeDocument/2006/relationships/notesMaster" Target="/ppt/notesMasters/notesMaster1.xml" Id="Rc53311022d324db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130eaf1eef4d6c" /><Relationship Type="http://schemas.openxmlformats.org/officeDocument/2006/relationships/notesMaster" Target="/ppt/notesMasters/notesMaster1.xml" Id="R2b2040b0ca67412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893c0532119439d" /><Relationship Type="http://schemas.openxmlformats.org/officeDocument/2006/relationships/notesMaster" Target="/ppt/notesMasters/notesMaster1.xml" Id="R19eb4a80e655495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101265c0b284644" /><Relationship Type="http://schemas.openxmlformats.org/officeDocument/2006/relationships/notesMaster" Target="/ppt/notesMasters/notesMaster1.xml" Id="R17bcaff8b44e433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5bd01c5348c40a4" /><Relationship Type="http://schemas.openxmlformats.org/officeDocument/2006/relationships/notesMaster" Target="/ppt/notesMasters/notesMaster1.xml" Id="Rc78837ed4dfa4c2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f69928b31d854ca3" /><Relationship Type="http://schemas.openxmlformats.org/officeDocument/2006/relationships/notesMaster" Target="/ppt/notesMasters/notesMaster1.xml" Id="R078305426e6f415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d216707f9634519" /><Relationship Type="http://schemas.openxmlformats.org/officeDocument/2006/relationships/notesMaster" Target="/ppt/notesMasters/notesMaster1.xml" Id="R091d26be294946dd"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37f92f52fb74b82" /><Relationship Type="http://schemas.openxmlformats.org/officeDocument/2006/relationships/notesMaster" Target="/ppt/notesMasters/notesMaster1.xml" Id="Ra4596b0869ec4ea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4be295c6b1424309" /><Relationship Type="http://schemas.openxmlformats.org/officeDocument/2006/relationships/notesMaster" Target="/ppt/notesMasters/notesMaster1.xml" Id="R00c0108a9ada488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c3885fb786a4406" /><Relationship Type="http://schemas.openxmlformats.org/officeDocument/2006/relationships/notesMaster" Target="/ppt/notesMasters/notesMaster1.xml" Id="R897be1d3fe3b4c88"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69224a59293f4316" /><Relationship Type="http://schemas.openxmlformats.org/officeDocument/2006/relationships/notesMaster" Target="/ppt/notesMasters/notesMaster1.xml" Id="R459f673be7dc4c7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1ff19f3579149a6" /><Relationship Type="http://schemas.openxmlformats.org/officeDocument/2006/relationships/notesMaster" Target="/ppt/notesMasters/notesMaster1.xml" Id="Rcf0fb13fcaaf4f85"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d8ae1a4c995423f" /><Relationship Type="http://schemas.openxmlformats.org/officeDocument/2006/relationships/notesMaster" Target="/ppt/notesMasters/notesMaster1.xml" Id="Ra838e362e159495f"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588d196f62fc4432" /><Relationship Type="http://schemas.openxmlformats.org/officeDocument/2006/relationships/notesMaster" Target="/ppt/notesMasters/notesMaster1.xml" Id="R139e4106d1b542b8"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6ee4a7b01bc41e0" /><Relationship Type="http://schemas.openxmlformats.org/officeDocument/2006/relationships/notesMaster" Target="/ppt/notesMasters/notesMaster1.xml" Id="R6adba5ca999f464e"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4ce153b181994f4a" /><Relationship Type="http://schemas.openxmlformats.org/officeDocument/2006/relationships/notesMaster" Target="/ppt/notesMasters/notesMaster1.xml" Id="Rff5f1548c89a4961"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cddb36299164b1e" /><Relationship Type="http://schemas.openxmlformats.org/officeDocument/2006/relationships/notesMaster" Target="/ppt/notesMasters/notesMaster1.xml" Id="Rbcae807e6b734b6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cd67f8e49f6e49ff" /><Relationship Type="http://schemas.openxmlformats.org/officeDocument/2006/relationships/notesMaster" Target="/ppt/notesMasters/notesMaster1.xml" Id="R71955d1ac02046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Curso de Postgrado: BigData, Especialización en Bases de datos. Viernes 16/10/2026, 18:00–21:15. Demostración guiada por el profesor. Fuente: docs/calendario_contractual.json. Ilustración conceptual sketch de la colección CyberColombia.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Sesión 5. Viernes 16/10/2026, 18:00–21:15. Demostración guiada por el profesor.</a:t>
            </a:r>
          </a:p>
          <a:p xmlns:a="http://schemas.openxmlformats.org/drawingml/2006/main">
            <a:r>
              <a:t/>
            </a:r>
          </a:p>
          <a:p xmlns:a="http://schemas.openxmlformats.org/drawingml/2006/main">
            <a:r>
              <a:t>Fuentes: big-data-postgraduate/docs/programa.md; docs/calendario_contractual.json; docs/mapa-ejercicios.md; talleres/E07.md, E08.md y E09.md; kit/Notebooks/05_Spark_lectura_y_agregacion.ipynb, 06_Spark_joins_y_ventanas.ipynb, E08_Geoespacial.ipynb y E09_Geoespacial.ipynb.</a:t>
            </a:r>
          </a:p>
          <a:p xmlns:a="http://schemas.openxmlformats.org/drawingml/2006/main">
            <a:r>
              <a:t>Los fragmentos de código se ejecutan en el contexto del notebook señalado, con sus importaciones y pasos previos. Los conteos son controles del corte docente, no nuevas mediciones. Imágenes sketch conceptuales de la colección del curso.</a:t>
            </a:r>
          </a:p>
          <a:p xmlns:a="http://schemas.openxmlformats.org/drawingml/2006/main">
            <a:r>
              <a:t>La entrega estudiantil es el sábado 17 de octubre, de 16:30 a 17:00. El viernes no hay entrega ni trabajo autónomo obligatorio.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Sesión 5. Viernes 16/10/2026, 18:00–21:15. Demostración guiada por el profesor.</a:t>
            </a:r>
          </a:p>
          <a:p xmlns:a="http://schemas.openxmlformats.org/drawingml/2006/main">
            <a:r>
              <a:t>https://spark.apache.org/docs/4.0.1/cluster-overview.html</a:t>
            </a:r>
          </a:p>
          <a:p xmlns:a="http://schemas.openxmlformats.org/drawingml/2006/main">
            <a:r>
              <a:t>El gestor asigna recursos. El driver programa tareas. Los executors leen almacenamiento y obtienen bloques de otros executors. Esquema de clúster, no topología de local[2].</a:t>
            </a:r>
          </a:p>
          <a:p xmlns:a="http://schemas.openxmlformats.org/drawingml/2006/main">
            <a:r>
              <a:t>Ilustración generada con IA y revisada como esquema conceptual. Se omiten mensajes de retorno en el dibujo, explicados en la diapositiva de canales de comunicación.</a:t>
            </a:r>
          </a:p>
          <a:p xmlns:a="http://schemas.openxmlformats.org/drawingml/2006/main">
            <a:r>
              <a:t>Fuentes: big-data-postgraduate/docs/programa.md; docs/calendario_contractual.json; docs/mapa-ejercicios.md; talleres/E07.md, E08.md y E09.md; kit/Notebooks/05_Spark_lectura_y_agregacion.ipynb, 06_Spark_joins_y_ventanas.ipynb, E08_Geoespacial.ipynb y E09_Geoespacial.ipynb.</a:t>
            </a:r>
          </a:p>
          <a:p xmlns:a="http://schemas.openxmlformats.org/drawingml/2006/main">
            <a:r>
              <a:t>Los fragmentos de código se ejecutan en el contexto del notebook señalado, con sus importaciones y pasos previos. Los conteos son controles del corte docente, no nuevas mediciones. Imágenes sketch conceptuales de la colección del curso.</a:t>
            </a:r>
          </a:p>
          <a:p xmlns:a="http://schemas.openxmlformats.org/drawingml/2006/main">
            <a:r>
              <a:t>La entrega estudiantil es el sábado 17 de octubre, de 16:30 a 17:00. El viernes no hay entrega ni trabajo autónomo obligatorio.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Sesión 5. Viernes 16/10/2026, 18:00–21:15. Demostración guiada por el profesor.</a:t>
            </a:r>
          </a:p>
          <a:p xmlns:a="http://schemas.openxmlformats.org/drawingml/2006/main">
            <a:r>
              <a:t>https://spark.apache.org/docs/4.0.1/cluster-overview.html</a:t>
            </a:r>
          </a:p>
          <a:p xmlns:a="http://schemas.openxmlformats.org/drawingml/2006/main">
            <a:r>
              <a:t>Fuentes: big-data-postgraduate/docs/programa.md; docs/calendario_contractual.json; docs/mapa-ejercicios.md; talleres/E07.md, E08.md y E09.md; kit/Notebooks/05_Spark_lectura_y_agregacion.ipynb, 06_Spark_joins_y_ventanas.ipynb, E08_Geoespacial.ipynb y E09_Geoespacial.ipynb.</a:t>
            </a:r>
          </a:p>
          <a:p xmlns:a="http://schemas.openxmlformats.org/drawingml/2006/main">
            <a:r>
              <a:t>Los fragmentos de código se ejecutan en el contexto del notebook señalado, con sus importaciones y pasos previos. Los conteos son controles del corte docente, no nuevas mediciones. Imágenes sketch conceptuales de la colección del curso.</a:t>
            </a:r>
          </a:p>
          <a:p xmlns:a="http://schemas.openxmlformats.org/drawingml/2006/main">
            <a:r>
              <a:t>La entrega estudiantil es el sábado 17 de octubre, de 16:30 a 17:00. El viernes no hay entrega ni trabajo autónomo obligatorio.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Recorrer la secuencia sobre el diagrama de la diapositiva 3. El gestor interviene en la asignación, no en cada decisión de una consulta. En local[2] no se crea un clúster externo.</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https://github.com/apache/spark/blob/v4.0.1/core/src/main/scala/org/apache/spark/scheduler/DAGScheduler.scala</a:t>
            </a:r>
          </a:p>
          <a:p xmlns:a="http://schemas.openxmlformats.org/drawingml/2006/main">
            <a:r>
              <a:t>SparkContext es el punto de acceso a la ejecución. SparkSession ofrece DataFrames y SQL. El driver puede alojarse dentro o fuera del clúster según el modo de despliegue. En PySpark clásico, Python se comunica con la JVM. Las funciones SQL integradas se ejecutan en el motor, sin una UDF Python por fila.</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https://github.com/apache/spark/blob/v4.0.1/core/src/main/scala/org/apache/spark/storage/BlockManager.scala</a:t>
            </a:r>
          </a:p>
          <a:p xmlns:a="http://schemas.openxmlformats.org/drawingml/2006/main">
            <a:r>
              <a:t>Ejemplo: dos executors con dos núcleos cada uno pueden ofrecer cuatro espacios para tareas con la configuración usual de una CPU por tarea. La concurrencia efectiva también depende de las tareas disponibles y los recursos requeridos.</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https://spark.apache.org/docs/4.0.1/rdd-programming-guide.html</a:t>
            </a:r>
          </a:p>
          <a:p xmlns:a="http://schemas.openxmlformats.org/drawingml/2006/main">
            <a:r>
              <a:t>El orden del esquema es didáctico, no una traza exhaustiva. Driver envía tareas serializadas y referencias a dependencias. Executors devuelven estado, métricas y resultados. El intercambio de bloques de shuffle ocurre entre nodos sin pasar todas las filas por el driver. Si existe un servicio externo de shuffle puede servir los archivos. Ilustración sketch generada con IA.</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https://spark.apache.org/docs/4.0.1/cluster-overview.html</a:t>
            </a:r>
          </a:p>
          <a:p xmlns:a="http://schemas.openxmlformats.org/drawingml/2006/main">
            <a:r>
              <a:t>Distinguir datos persistentes del almacenamiento, particiones lógicas y bloques temporales de shuffle. El resultado final puede permanecer distribuido. Un almacenamiento local de un nodo no implica que todos los nodos vean la misma ruta. Spark es un motor de procesamiento y puede leer de distintos sistemas de almacenamiento.</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https://spark.apache.org/docs/4.0.1/rdd-programming-guide.html</a:t>
            </a:r>
          </a:p>
          <a:p xmlns:a="http://schemas.openxmlformats.org/drawingml/2006/main">
            <a:r>
              <a:t>El modelo de planes, particiones, etapas y tareas sigue siendo útil en local. El número de particiones no determina el número de nodos. Client y cluster describen la ubicación del driver, una distinción diferente de local frente a distribuido.</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Ejemplo hipotético, no medición. En una etapa se crean tareas para sus particiones. Los recursos, CPU por tarea y dependencias limitan la concurrencia. Más particiones pueden repartir mejor el trabajo, pero demasiadas tareas pequeñas añaden costes de programación.</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https://spark.apache.org/docs/4.0.1/sql-programming-guide.html</a:t>
            </a:r>
          </a:p>
          <a:p xmlns:a="http://schemas.openxmlformats.org/drawingml/2006/main">
            <a:r>
              <a:t>El DataFrame Python no equivale a un DataFrame pandas que ya contiene todo en memoria. Su representación incluye un plan distribuido. El optimizador puede razonar sobre expresiones integradas mejor que sobre código Python opaco de una UDF.</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El método count de GroupedData crea una agregación DataFrame. El método count de DataFrame devuelve un número y dispara una acción. Hacer explícita esta diferencia al presentar el código. Una acción puede originar varios jobs. Si no hay persistencia, acciones posteriores pueden volver a calcular partes del plan.</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https://spark.apache.org/docs/4.0.1/sql-ref-syntax-qry-explain.html</a:t>
            </a:r>
          </a:p>
          <a:p xmlns:a="http://schemas.openxmlformats.org/drawingml/2006/main">
            <a:r>
              <a:t>https://spark.apache.org/docs/4.0.1/sql-performance-tuning.html</a:t>
            </a:r>
          </a:p>
          <a:p xmlns:a="http://schemas.openxmlformats.org/drawingml/2006/main">
            <a:r>
              <a:t>La lista de operadores es un ejemplo orientativo. El plan depende de versión, tipos, configuración y datos. Mostrar explain extendido si se quiere comparar planes lógicos y físico. Con explain formatted se estudia el físico.</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https://github.com/apache/spark/blob/v4.0.1/core/src/main/scala/org/apache/spark/scheduler/DAGScheduler.scala</a:t>
            </a:r>
          </a:p>
          <a:p xmlns:a="http://schemas.openxmlformats.org/drawingml/2006/main">
            <a:r>
              <a:t>Una aplicación tiene driver y executors. Un job solicita un resultado de ejecución. El scheduler separa etapas por dependencias de shuffle. Cada etapa lanza tareas para sus particiones. En este esquema, etapa 1: tres tareas de lectura/filtro/agregación parcial. Etapa 2: dos tareas que combinan aportes. A y B representan dos claves asignadas a destinos distintos para simplificar. Los nombres y números de etapas son ilustrativos, no una captura de E07. AQE puede cambiar la estructura observada. Ilustración generada con IA.</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https://github.com/apache/spark/blob/v4.0.1/core/src/main/scala/org/apache/spark/scheduler/DAGScheduler.scala</a:t>
            </a:r>
          </a:p>
          <a:p xmlns:a="http://schemas.openxmlformats.org/drawingml/2006/main">
            <a:r>
              <a:t>Las dependencias estrechas permiten encadenar operaciones sin redistribuir cada fila entre etapas. El pipeline se aplica a cada partición. Usar el ejemplo de la siguiente sección: A=(10 t,2 ha) en una partición y A=(20 t,8 ha) en otra. La primera tarea solo conoce sus 10 t y 2 ha.</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En una agregación hash, la función de particionado determina el destino. Las filas con la misma clave van a la misma partición lógica de la agregación. La combinación parcial puede reducir el volumen transferido. El beneficio depende de cuántas claves se repiten por partición.</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Ejemplo inventado y calculado para enseñanza. Mantener producción y área como dos medidas separadas hasta la agregación final. P0 reúne dos registros de A. El destino A suma 14+16=30 y 3+7=10. El destino B suma 9+3=12 y 3+1=4. El promedio simple de los rendimientos individuales de A sería (5+4+16/7)/3, aproximadamente 3,762, diferente de 3.</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https://spark.apache.org/docs/4.0.1/sql-performance-tuning.html</a:t>
            </a:r>
          </a:p>
          <a:p xmlns:a="http://schemas.openxmlformats.org/drawingml/2006/main">
            <a:r>
              <a:t>La caché no significa que todo el trabajo sea siempre en memoria. El nivel de almacenamiento determina si se utiliza disco. Cada acción que recalcula una consulta sin caché puede repetir operaciones. La caché solo conviene si el resultado se reutiliza y el ahorro supera su coste. Liberar con unpersist cuando deje de ser necesaria.</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https://github.com/apache/spark/blob/v4.0.1/core/src/main/scala/org/apache/spark/scheduler/DAGScheduler.scala</a:t>
            </a:r>
          </a:p>
          <a:p xmlns:a="http://schemas.openxmlformats.org/drawingml/2006/main">
            <a:r>
              <a:t>https://spark.apache.org/docs/4.0.1/rdd-programming-guide.html</a:t>
            </a:r>
          </a:p>
          <a:p xmlns:a="http://schemas.openxmlformats.org/drawingml/2006/main">
            <a:r>
              <a:t>No todos los datos se pierden con el proceso: el almacenamiento externo o un servicio de shuffle pueden conservarlos. La recuperación requiere que fuentes y transformaciones permitan reproducir el cálculo. Efectos externos desde tareas pueden repetirse. La lineage no reemplaza una estrategia de recuperación del driver.</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https://spark.apache.org/docs/4.0.1/web-ui.html</a:t>
            </a:r>
          </a:p>
          <a:p xmlns:a="http://schemas.openxmlformats.org/drawingml/2006/main">
            <a:r>
              <a:t>Usar la UI como comprobación de las explicaciones, no como una lista de pantallas. Elegir la consulta que escribe el rendimiento y relacionar su plan SQL con stages y tareas. Comparar tareas lentas, volumen de lectura y shuffle. Una consulta corta puede terminar antes de abrir la vista.</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https://spark.apache.org/docs/4.0.1/cluster-overview.html</a:t>
            </a:r>
          </a:p>
          <a:p xmlns:a="http://schemas.openxmlformats.org/drawingml/2006/main">
            <a:r>
              <a:t>https://spark.apache.org/docs/4.0.1/rdd-programming-guide.html</a:t>
            </a:r>
          </a:p>
          <a:p xmlns:a="http://schemas.openxmlformats.org/drawingml/2006/main">
            <a:r>
              <a:t>Ejercicio de predicción antes de ejecutar. No identificar partición con nodo. Pedir que el estudiante distinga driver, executor, tarea y partición. En local se mantienen roles de coordinación y ejecución en una sola máquina. Concluir que ocho particiones no crean ocho máquinas.</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local: kit/Notebooks/05_Spark_lectura_y_agregacion.ipynb. La preparación pandas y la escritura de eva.parquet se ejecutan antes de este fragmento. Aptitud: área positiva, producción no negativa y año interpretable. Control del corte docente: 159616 aptos. printSchema consulta esquema; count calcula el número de filas. No afirmar que ningún trabajo pueda ocurrir en lectura de metadatos o planificación.</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local: notebook 05, paso 5. Usar el nombre exacto codigo_municipio, no municipio. Conectar con el ejemplo numérico de shuffle. Preguntar por qué agrupar solo por cultivo produciría otra unidad de análisis. El cociente de sumas pondera por el área, mientras el promedio simple de rendimientos responde una pregunta diferente.</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https://spark.apache.org/docs/4.0.1/sql-performance-tuning.html</a:t>
            </a:r>
          </a:p>
          <a:p xmlns:a="http://schemas.openxmlformats.org/drawingml/2006/main">
            <a:r>
              <a:t>https://spark.apache.org/docs/4.0.1/sql-ref-syntax-qry-explain.html</a:t>
            </a:r>
          </a:p>
          <a:p xmlns:a="http://schemas.openxmlformats.org/drawingml/2006/main">
            <a:r>
              <a:t>No presentar estos comentarios como salida capturada. El estudiante debe observar el plan real de su ejecución. Explicar HashAggregate parcial/final si aparecen. AdaptiveSparkPlan puede envolver el plan y modificarlo después. Ubicar las expresiones aggregate de producción y área.</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https://spark.apache.org/docs/4.0.1/web-ui.html</a:t>
            </a:r>
          </a:p>
          <a:p xmlns:a="http://schemas.openxmlformats.org/drawingml/2006/main">
            <a:r>
              <a:t>Fuente local: notebook 05, paso 6. El código muestra dos celdas separadas, no se debe pegar como una sola. La primera imprime la dirección de la UI. La segunda empieza con %%time y solicita lectura, filtro, agregación y escritura pendientes. La sesión ya está iniciada. Registrar métricas reales, sin inventar duración ni número de jobs. Si hay reutilización de datos de ejecuciones anteriores, anotarlo al comparar.</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https://spark.apache.org/docs/4.0.1/sql-performance-tuning.html</a:t>
            </a:r>
          </a:p>
          <a:p xmlns:a="http://schemas.openxmlformats.org/drawingml/2006/main">
            <a:r>
              <a:t>Este experimento es adicional al notebook, no una celda ya existente. Escribe únicamente carpetas prueba_particiones_2 y prueba_particiones_4. Para estudiar el efecto aislado de particiones, observar o controlar AQE y documentar su configuración. Repetir alternando el orden si se comparan tiempos, debido a cachés y calentamiento. No inferir escalabilidad a partir de una medición local pequeña.</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 local: notebook 05, pasos 6–8. El resultado agregado cabe en memoria local en este ejercicio. Comprobar unicidad de claves, unión externa con indicador para cobertura y np.isclose en cada medida con atol=1e-6, rtol=0 y equal_nan=False. El parquet Spark es una carpeta con varios archivos. No leer solo el primer part. No medir la preparación pandas como si fuera trabajo Spark.</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https://spark.apache.org/docs/4.0.1/rdd-programming-guide.html</a:t>
            </a:r>
          </a:p>
          <a:p xmlns:a="http://schemas.openxmlformats.org/drawingml/2006/main">
            <a:r>
              <a:t>https://spark.apache.org/docs/4.0.1/sql-performance-tuning.html</a:t>
            </a:r>
          </a:p>
          <a:p xmlns:a="http://schemas.openxmlformats.org/drawingml/2006/main">
            <a:r>
              <a:t>No asignar tiempos hipotéticos a TB como si fueran mediciones. Pedir al estudiante justificar su diagnóstico con métricas de lectura, shuffle, spill, duración por tarea y recursos. Spark no garantiza acelerar un problema pequeño. Volver al esquema de la diapositiva 3 y recorrer el cuello de botella elegido.</a:t>
            </a:r>
          </a:p>
          <a:p xmlns:a="http://schemas.openxmlformats.org/drawingml/2006/main">
            <a:r>
              <a:t>Curso de Postgrado: BigData, Especialización en Bases de datos. Sesión 05.</a:t>
            </a:r>
          </a:p>
          <a:p xmlns:a="http://schemas.openxmlformats.org/drawingml/2006/main">
            <a:r>
              <a:t>Los fragmentos de ejercicios usan el contexto del notebook kit/Notebooks/05_Spark_lectura_y_agregacion.ipynb, salvo las extensiones indicadas. Ejecutar las importaciones y la preparación antes de los fragmentos. Referencias numéricas del corte docente, no nuevas mediciones. Ilustraciones sketch de la colección del curso y activos generados para esta explicación.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98d29a23bd4b3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924bedf121d4450" /><Relationship Type="http://schemas.openxmlformats.org/officeDocument/2006/relationships/slideLayout" Target="/ppt/slideLayouts/slideLayout1.xml" Id="Rada2cb352ea0421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da2cb352ea0421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da430c617fa4435" /><Relationship Type="http://schemas.openxmlformats.org/officeDocument/2006/relationships/image" Target="/ppt/media/image.png" Id="R9e329df9a5474507" /><Relationship Type="http://schemas.openxmlformats.org/officeDocument/2006/relationships/image" Target="/ppt/media/image2.png" Id="Rd99a2058d0164aef" /><Relationship Type="http://schemas.openxmlformats.org/officeDocument/2006/relationships/notesSlide" Target="/ppt/notesSlides/notesSlide1.xml" Id="Rbe9c3b489f6b4a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f089c17e269149d8" /><Relationship Type="http://schemas.openxmlformats.org/officeDocument/2006/relationships/image" Target="/ppt/media/image3.png" Id="R474cd857ff5a4017" /><Relationship Type="http://schemas.openxmlformats.org/officeDocument/2006/relationships/notesSlide" Target="/ppt/notesSlides/notesSlide2.xml" Id="R0a10a94342c544e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e59da3621624c6f" /><Relationship Type="http://schemas.openxmlformats.org/officeDocument/2006/relationships/image" Target="/ppt/media/image4.png" Id="R3ed765e389d743a4" /><Relationship Type="http://schemas.openxmlformats.org/officeDocument/2006/relationships/image" Target="/ppt/media/image5.png" Id="R327d5831235244c0" /><Relationship Type="http://schemas.openxmlformats.org/officeDocument/2006/relationships/notesSlide" Target="/ppt/notesSlides/notesSlide3.xml" Id="R5c5123efd4d84b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302b690e2f942f4" /><Relationship Type="http://schemas.openxmlformats.org/officeDocument/2006/relationships/image" Target="/ppt/media/image6.png" Id="R4cece68f3b32421c" /><Relationship Type="http://schemas.openxmlformats.org/officeDocument/2006/relationships/notesSlide" Target="/ppt/notesSlides/notesSlide4.xml" Id="Rdc067033bba7478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7b9a71f65dc4a1b" /><Relationship Type="http://schemas.openxmlformats.org/officeDocument/2006/relationships/image" Target="/ppt/media/image7.png" Id="R10c5bce0f6e34dad" /><Relationship Type="http://schemas.openxmlformats.org/officeDocument/2006/relationships/notesSlide" Target="/ppt/notesSlides/notesSlide5.xml" Id="R7b7dbfc6e0f74f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f03a1a60bf34366" /><Relationship Type="http://schemas.openxmlformats.org/officeDocument/2006/relationships/image" Target="/ppt/media/image8.png" Id="R2a13d2b80daa4113" /><Relationship Type="http://schemas.openxmlformats.org/officeDocument/2006/relationships/notesSlide" Target="/ppt/notesSlides/notesSlide6.xml" Id="R3a3d4fcffd334d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c5024123b3b428c" /><Relationship Type="http://schemas.openxmlformats.org/officeDocument/2006/relationships/image" Target="/ppt/media/image9.png" Id="Rb5505d80e54c4543" /><Relationship Type="http://schemas.openxmlformats.org/officeDocument/2006/relationships/notesSlide" Target="/ppt/notesSlides/notesSlide7.xml" Id="R1a872f5346714b75"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2dee8b69f2045bd" /><Relationship Type="http://schemas.openxmlformats.org/officeDocument/2006/relationships/image" Target="/ppt/media/image10.png" Id="Rb8441f5307f347d4" /><Relationship Type="http://schemas.openxmlformats.org/officeDocument/2006/relationships/image" Target="/ppt/media/image11.png" Id="Rb7c9cb17c9914a4d" /><Relationship Type="http://schemas.openxmlformats.org/officeDocument/2006/relationships/notesSlide" Target="/ppt/notesSlides/notesSlide8.xml" Id="Rc8052cfed41a48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1a73e66e8e34882" /><Relationship Type="http://schemas.openxmlformats.org/officeDocument/2006/relationships/image" Target="/ppt/media/image12.png" Id="R19dd737c422e41ea" /><Relationship Type="http://schemas.openxmlformats.org/officeDocument/2006/relationships/image" Target="/ppt/media/image13.png" Id="Re02e86308f5444d7" /><Relationship Type="http://schemas.openxmlformats.org/officeDocument/2006/relationships/notesSlide" Target="/ppt/notesSlides/notesSlide9.xml" Id="Rc47a0100709246d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4f54f217ea646b4" /><Relationship Type="http://schemas.openxmlformats.org/officeDocument/2006/relationships/image" Target="/ppt/media/image14.png" Id="R8ae4aa179a6c4ebe" /><Relationship Type="http://schemas.openxmlformats.org/officeDocument/2006/relationships/notesSlide" Target="/ppt/notesSlides/notesSlide10.xml" Id="R29a83791c7a84c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24ef9b76d7d4a03" /><Relationship Type="http://schemas.openxmlformats.org/officeDocument/2006/relationships/image" Target="/ppt/media/image15.png" Id="R3e8ea9ff0b504ac6" /><Relationship Type="http://schemas.openxmlformats.org/officeDocument/2006/relationships/notesSlide" Target="/ppt/notesSlides/notesSlide11.xml" Id="Rb9cb369fe8224ef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073763e0ab84527" /><Relationship Type="http://schemas.openxmlformats.org/officeDocument/2006/relationships/image" Target="/ppt/media/image16.png" Id="R0bd4a69c14f24201" /><Relationship Type="http://schemas.openxmlformats.org/officeDocument/2006/relationships/notesSlide" Target="/ppt/notesSlides/notesSlide12.xml" Id="Raa6d7c855e904c1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42b1466a881c4b14" /><Relationship Type="http://schemas.openxmlformats.org/officeDocument/2006/relationships/image" Target="/ppt/media/image17.png" Id="R4993c7de9783489d" /><Relationship Type="http://schemas.openxmlformats.org/officeDocument/2006/relationships/notesSlide" Target="/ppt/notesSlides/notesSlide13.xml" Id="Refe34f1e776b419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d493025e827a40cd" /><Relationship Type="http://schemas.openxmlformats.org/officeDocument/2006/relationships/image" Target="/ppt/media/image18.png" Id="Rabda3906a1c74c7c" /><Relationship Type="http://schemas.openxmlformats.org/officeDocument/2006/relationships/notesSlide" Target="/ppt/notesSlides/notesSlide14.xml" Id="Ra5a12c302b9248e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1caeda4d31bb477c" /><Relationship Type="http://schemas.openxmlformats.org/officeDocument/2006/relationships/image" Target="/ppt/media/image19.png" Id="R4aa567cc5788464e" /><Relationship Type="http://schemas.openxmlformats.org/officeDocument/2006/relationships/image" Target="/ppt/media/image20.png" Id="R1c65d3e0d0d5418c" /><Relationship Type="http://schemas.openxmlformats.org/officeDocument/2006/relationships/notesSlide" Target="/ppt/notesSlides/notesSlide15.xml" Id="R1b9b3932f66142b8"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50793420d2a4e3f" /><Relationship Type="http://schemas.openxmlformats.org/officeDocument/2006/relationships/image" Target="/ppt/media/image21.png" Id="R0cc863d11f2f467a" /><Relationship Type="http://schemas.openxmlformats.org/officeDocument/2006/relationships/image" Target="/ppt/media/image22.png" Id="Red7ca7bcd2534769" /><Relationship Type="http://schemas.openxmlformats.org/officeDocument/2006/relationships/notesSlide" Target="/ppt/notesSlides/notesSlide16.xml" Id="R6175e9bdc29047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7696b7f3dfa940e4" /><Relationship Type="http://schemas.openxmlformats.org/officeDocument/2006/relationships/image" Target="/ppt/media/image23.png" Id="R1597fc1242254e0f" /><Relationship Type="http://schemas.openxmlformats.org/officeDocument/2006/relationships/image" Target="/ppt/media/image24.png" Id="Rfa9eb79ec8de4d70" /><Relationship Type="http://schemas.openxmlformats.org/officeDocument/2006/relationships/notesSlide" Target="/ppt/notesSlides/notesSlide17.xml" Id="R2d5f601810a1437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1b5d9d5738784246" /><Relationship Type="http://schemas.openxmlformats.org/officeDocument/2006/relationships/image" Target="/ppt/media/image25.png" Id="R9119d25995d44ee7" /><Relationship Type="http://schemas.openxmlformats.org/officeDocument/2006/relationships/notesSlide" Target="/ppt/notesSlides/notesSlide18.xml" Id="R152dee3a5db44ecd"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3cd7b7851f14108" /><Relationship Type="http://schemas.openxmlformats.org/officeDocument/2006/relationships/image" Target="/ppt/media/image26.png" Id="R2e24e6137ae04ddc" /><Relationship Type="http://schemas.openxmlformats.org/officeDocument/2006/relationships/image" Target="/ppt/media/image27.png" Id="Rcd9ee8037bdd48d9" /><Relationship Type="http://schemas.openxmlformats.org/officeDocument/2006/relationships/notesSlide" Target="/ppt/notesSlides/notesSlide19.xml" Id="R911314e5b79a46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55f7f1b4d104d3a" /><Relationship Type="http://schemas.openxmlformats.org/officeDocument/2006/relationships/image" Target="/ppt/media/image28.png" Id="R8181592fbb484798" /><Relationship Type="http://schemas.openxmlformats.org/officeDocument/2006/relationships/image" Target="/ppt/media/image29.png" Id="Rb76a9c13ea114923" /><Relationship Type="http://schemas.openxmlformats.org/officeDocument/2006/relationships/notesSlide" Target="/ppt/notesSlides/notesSlide20.xml" Id="R88ca1d7e496a43b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91a067f198424f4c" /><Relationship Type="http://schemas.openxmlformats.org/officeDocument/2006/relationships/image" Target="/ppt/media/image30.png" Id="Rd1dfd632b2d54e77" /><Relationship Type="http://schemas.openxmlformats.org/officeDocument/2006/relationships/notesSlide" Target="/ppt/notesSlides/notesSlide21.xml" Id="Redc86196eb864b4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823b131963d24c0b" /><Relationship Type="http://schemas.openxmlformats.org/officeDocument/2006/relationships/image" Target="/ppt/media/image31.png" Id="R706b6756fd924f21" /><Relationship Type="http://schemas.openxmlformats.org/officeDocument/2006/relationships/notesSlide" Target="/ppt/notesSlides/notesSlide22.xml" Id="Rd591e1d7f9164f5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dbe3294502bb490d" /><Relationship Type="http://schemas.openxmlformats.org/officeDocument/2006/relationships/image" Target="/ppt/media/image32.png" Id="Rc2254c9f202e4f66" /><Relationship Type="http://schemas.openxmlformats.org/officeDocument/2006/relationships/notesSlide" Target="/ppt/notesSlides/notesSlide23.xml" Id="R7053d03e203d458a"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ae60b7f4b80246ab" /><Relationship Type="http://schemas.openxmlformats.org/officeDocument/2006/relationships/image" Target="/ppt/media/image33.png" Id="Re3f0f66324334dab" /><Relationship Type="http://schemas.openxmlformats.org/officeDocument/2006/relationships/notesSlide" Target="/ppt/notesSlides/notesSlide24.xml" Id="R1525ee9f5db447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8d84c44e4b8844f5" /><Relationship Type="http://schemas.openxmlformats.org/officeDocument/2006/relationships/image" Target="/ppt/media/image34.png" Id="R58b9abbf657042e9" /><Relationship Type="http://schemas.openxmlformats.org/officeDocument/2006/relationships/notesSlide" Target="/ppt/notesSlides/notesSlide25.xml" Id="R9c998480fddc404f"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2f19d07c543840ad" /><Relationship Type="http://schemas.openxmlformats.org/officeDocument/2006/relationships/image" Target="/ppt/media/image35.png" Id="R2c0b1219ff99466c" /><Relationship Type="http://schemas.openxmlformats.org/officeDocument/2006/relationships/notesSlide" Target="/ppt/notesSlides/notesSlide26.xml" Id="R086061e6017a4b70"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b0ddfe1739cf41e8" /><Relationship Type="http://schemas.openxmlformats.org/officeDocument/2006/relationships/image" Target="/ppt/media/image36.png" Id="R805e20e78e534292" /><Relationship Type="http://schemas.openxmlformats.org/officeDocument/2006/relationships/notesSlide" Target="/ppt/notesSlides/notesSlide27.xml" Id="R44b54dfbd08b421c"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9274f0f8b6b24ef8" /><Relationship Type="http://schemas.openxmlformats.org/officeDocument/2006/relationships/image" Target="/ppt/media/image37.png" Id="R92411d15118d4432" /><Relationship Type="http://schemas.openxmlformats.org/officeDocument/2006/relationships/notesSlide" Target="/ppt/notesSlides/notesSlide28.xml" Id="Rdad8a745230d43e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02fd33e271fa43c2" /><Relationship Type="http://schemas.openxmlformats.org/officeDocument/2006/relationships/image" Target="/ppt/media/image38.png" Id="R21aa49fc18de4d93" /><Relationship Type="http://schemas.openxmlformats.org/officeDocument/2006/relationships/notesSlide" Target="/ppt/notesSlides/notesSlide29.xml" Id="R59a02ae8e6eb42aa" /></Relationships>
</file>

<file path=ppt/slides/slide1.xml><?xml version="1.0" encoding="utf-8"?>
<p:sld xmlns:p="http://schemas.openxmlformats.org/presentationml/2006/main">
  <p:cSld>
    <p:bg>
      <p:bgPr>
        <ns1:solidFill xmlns:ns1="http://schemas.openxmlformats.org/drawingml/2006/main">
          <ns1:srgbClr val="FFFFFF"/>
        </ns1:solidFill>
        <ns2:effectLst xmlns:ns2="http://schemas.openxmlformats.org/drawingml/2006/main"/>
      </p:bgPr>
    </p:bg>
    <p:spTree>
      <p:nvGrpSpPr>
        <p:cNvPr id="1" name=""/>
        <p:cNvGrpSpPr/>
        <p:nvPr/>
      </p:nvGrpSpPr>
      <p:grpSpPr>
        <a:xfrm xmlns:a="http://schemas.openxmlformats.org/drawingml/2006/main"/>
      </p:grpSpPr>
      <p:pic>
        <p:nvPicPr>
          <p:cNvPr id="15" name="">
            <a:extLst xmlns:a="http://schemas.openxmlformats.org/drawingml/2006/main">
              <a:ext uri="{FF2B5EF4-FFF2-40B4-BE49-F238E27FC236}">
                <a16:creationId xmlns:a16="http://schemas.microsoft.com/office/drawing/2014/main" id="{C6C48A6A-26A2-43E7-988A-A663844A39A1}"/>
              </a:ext>
            </a:extLst>
          </p:cNvPr>
          <p:cNvPicPr>
            <a:picLocks xmlns:a="http://schemas.openxmlformats.org/drawingml/2006/main" noChangeAspect="1"/>
          </p:cNvPicPr>
          <p:nvPr/>
        </p:nvPicPr>
        <p:blipFill>
          <a:blip xmlns:r="http://schemas.openxmlformats.org/officeDocument/2006/relationships" xmlns:a="http://schemas.openxmlformats.org/drawingml/2006/main" r:embed="R9e329df9a547450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30164B19-ABC1-4FA8-AB9F-11077F509355}"/>
              </a:ext>
            </a:extLst>
          </p:cNvPr>
          <p:cNvPicPr>
            <a:picLocks xmlns:a="http://schemas.openxmlformats.org/drawingml/2006/main" noChangeAspect="1"/>
          </p:cNvPicPr>
          <p:nvPr/>
        </p:nvPicPr>
        <p:blipFill>
          <a:blip xmlns:r="http://schemas.openxmlformats.org/officeDocument/2006/relationships" xmlns:a="http://schemas.openxmlformats.org/drawingml/2006/main" r:embed="Rd99a2058d0164aef"/>
          <a:stretch xmlns:a="http://schemas.openxmlformats.org/drawingml/2006/main"/>
        </p:blipFill>
        <p:spPr>
          <a:xfrm xmlns:a="http://schemas.openxmlformats.org/drawingml/2006/main">
            <a:off x="6667500" y="1619250"/>
            <a:ext cx="5143500" cy="3857625"/>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5364D7-E08D-455C-BA73-616229D42299}"/>
              </a:ext>
            </a:extLst>
          </p:cNvPr>
          <p:cNvSpPr>
            <a:spLocks xmlns:a="http://schemas.openxmlformats.org/drawingml/2006/main" noGrp="1"/>
          </p:cNvSpPr>
          <p:nvPr/>
        </p:nvSpPr>
        <p:spPr>
          <a:xfrm xmlns:a="http://schemas.openxmlformats.org/drawingml/2006/main">
            <a:off x="609600" y="1476375"/>
            <a:ext cx="590550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Curso de Postgrado:</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BigData</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Especialización en</a:t>
            </a:r>
          </a:p>
          <a:p xmlns:a="http://schemas.openxmlformats.org/drawingml/2006/main">
            <a:pPr>
              <a:buNone/>
              <a:defRPr sz="3000" b="1">
                <a:solidFill>
                  <a:srgbClr val="203B68"/>
                </a:solidFill>
                <a:latin typeface="Calibri"/>
                <a:ea typeface="Calibri"/>
                <a:cs typeface="Calibri"/>
              </a:defRPr>
            </a:pPr>
            <a:r>
              <a:rPr sz="3000" b="1">
                <a:solidFill>
                  <a:srgbClr val="203B68"/>
                </a:solidFill>
                <a:latin typeface="Calibri"/>
                <a:ea typeface="Calibri"/>
                <a:cs typeface="Calibri"/>
              </a:rPr>
              <a:t>Bases de datos</a:t>
            </a:r>
          </a:p>
        </p:txBody>
      </p:sp>
      <p:sp>
        <p:nvSpPr>
          <p:cNvPr id="3" name="">
            <a:extLst xmlns:a="http://schemas.openxmlformats.org/drawingml/2006/main">
              <a:ext uri="{FF2B5EF4-FFF2-40B4-BE49-F238E27FC236}">
                <a16:creationId xmlns:a16="http://schemas.microsoft.com/office/drawing/2014/main" id="{E152956F-885C-4D36-8294-E473005C9C4A}"/>
              </a:ext>
            </a:extLst>
          </p:cNvPr>
          <p:cNvSpPr>
            <a:spLocks xmlns:a="http://schemas.openxmlformats.org/drawingml/2006/main" noGrp="1"/>
          </p:cNvSpPr>
          <p:nvPr/>
        </p:nvSpPr>
        <p:spPr>
          <a:xfrm xmlns:a="http://schemas.openxmlformats.org/drawingml/2006/main">
            <a:off x="609600" y="3857625"/>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Procesamiento</a:t>
            </a:r>
          </a:p>
          <a:p xmlns:a="http://schemas.openxmlformats.org/drawingml/2006/main">
            <a:pPr>
              <a:buNone/>
              <a:defRPr sz="2700" b="1">
                <a:solidFill>
                  <a:srgbClr val="5546ED"/>
                </a:solidFill>
                <a:latin typeface="Calibri"/>
                <a:ea typeface="Calibri"/>
                <a:cs typeface="Calibri"/>
              </a:defRPr>
            </a:pPr>
            <a:r>
              <a:rPr sz="2700" b="1">
                <a:solidFill>
                  <a:srgbClr val="5546ED"/>
                </a:solidFill>
                <a:latin typeface="Calibri"/>
                <a:ea typeface="Calibri"/>
                <a:cs typeface="Calibri"/>
              </a:rPr>
              <a:t>con Spark</a:t>
            </a:r>
          </a:p>
        </p:txBody>
      </p:sp>
      <p:sp>
        <p:nvSpPr>
          <p:cNvPr id="5" name="">
            <a:extLst xmlns:a="http://schemas.openxmlformats.org/drawingml/2006/main">
              <a:ext uri="{FF2B5EF4-FFF2-40B4-BE49-F238E27FC236}">
                <a16:creationId xmlns:a16="http://schemas.microsoft.com/office/drawing/2014/main" id="{A8A0A444-C758-4C2D-BB6C-C03DE4CB09B2}"/>
              </a:ext>
            </a:extLst>
          </p:cNvPr>
          <p:cNvSpPr>
            <a:spLocks xmlns:a="http://schemas.openxmlformats.org/drawingml/2006/main" noGrp="1"/>
          </p:cNvSpPr>
          <p:nvPr/>
        </p:nvSpPr>
        <p:spPr>
          <a:xfrm xmlns:a="http://schemas.openxmlformats.org/drawingml/2006/main">
            <a:off x="609600" y="5248275"/>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Sesión 05 · Viernes 16 de octubre de 2026</a:t>
            </a:r>
          </a:p>
        </p:txBody>
      </p:sp>
      <p:sp>
        <p:nvSpPr>
          <p:cNvPr id="6" name="">
            <a:extLst xmlns:a="http://schemas.openxmlformats.org/drawingml/2006/main">
              <a:ext uri="{FF2B5EF4-FFF2-40B4-BE49-F238E27FC236}">
                <a16:creationId xmlns:a16="http://schemas.microsoft.com/office/drawing/2014/main" id="{ED8D55FA-C30F-44E9-BEDF-4099D262C52A}"/>
              </a:ext>
            </a:extLst>
          </p:cNvPr>
          <p:cNvSpPr>
            <a:spLocks xmlns:a="http://schemas.openxmlformats.org/drawingml/2006/main" noGrp="1"/>
          </p:cNvSpPr>
          <p:nvPr/>
        </p:nvSpPr>
        <p:spPr>
          <a:xfrm xmlns:a="http://schemas.openxmlformats.org/drawingml/2006/main">
            <a:off x="609600" y="5734050"/>
            <a:ext cx="11049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203B68"/>
                </a:solidFill>
                <a:latin typeface="Calibri"/>
                <a:ea typeface="Calibri"/>
                <a:cs typeface="Calibri"/>
              </a:defRPr>
            </a:pPr>
            <a:r>
              <a:rPr sz="1875" b="0">
                <a:solidFill>
                  <a:srgbClr val="203B68"/>
                </a:solidFill>
                <a:latin typeface="Calibri"/>
                <a:ea typeface="Calibri"/>
                <a:cs typeface="Calibri"/>
              </a:rPr>
              <a:t>18:00–21:15</a:t>
            </a:r>
            <a:r>
              <a:rPr sz="1875" b="0">
                <a:solidFill>
                  <a:srgbClr val="203B68"/>
                </a:solidFill>
                <a:latin typeface="Calibri"/>
                <a:ea typeface="Calibri"/>
                <a:cs typeface="Calibri"/>
              </a:rPr>
              <a:t> · Esteban Hernández, PhD</a:t>
            </a:r>
          </a:p>
        </p:txBody>
      </p:sp>
      <p:sp>
        <p:nvSpPr>
          <p:cNvPr id="17" name="">
            <a:extLst xmlns:a="http://schemas.openxmlformats.org/drawingml/2006/main">
              <a:ext uri="{FF2B5EF4-FFF2-40B4-BE49-F238E27FC236}">
                <a16:creationId xmlns:a16="http://schemas.microsoft.com/office/drawing/2014/main" id="{DB2775BA-AC91-4EDE-AFA5-CB0555B9D0B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buNone/>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Tree>
    <p:extLst>
      <p:ext uri="{BB962C8B-B14F-4D97-AF65-F5344CB8AC3E}">
        <p14:creationId xmlns:p14="http://schemas.microsoft.com/office/powerpoint/2010/main" val="1410344815"/>
      </p:ext>
    </p:extLst>
  </p:cSld>
  <p:transition spd="med" advClick="1">
    <p:fade/>
  </p:transition>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DFDC782-8472-4C5F-95E1-182B8EA51961}"/>
              </a:ext>
            </a:extLst>
          </p:cNvPr>
          <p:cNvPicPr>
            <a:picLocks xmlns:a="http://schemas.openxmlformats.org/drawingml/2006/main" noChangeAspect="1"/>
          </p:cNvPicPr>
          <p:nvPr/>
        </p:nvPicPr>
        <p:blipFill>
          <a:blip xmlns:r="http://schemas.openxmlformats.org/officeDocument/2006/relationships" xmlns:a="http://schemas.openxmlformats.org/drawingml/2006/main" r:embed="R474cd857ff5a401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7265EA6-CF3D-4445-81BE-C4FF068290D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El problema que resolverá Spark</a:t>
            </a:r>
          </a:p>
        </p:txBody>
      </p:sp>
      <p:sp>
        <p:nvSpPr>
          <p:cNvPr id="3" name="">
            <a:extLst xmlns:a="http://schemas.openxmlformats.org/drawingml/2006/main">
              <a:ext uri="{FF2B5EF4-FFF2-40B4-BE49-F238E27FC236}">
                <a16:creationId xmlns:a16="http://schemas.microsoft.com/office/drawing/2014/main" id="{1541F706-C1D3-4BED-8643-6AC80A8EBA9D}"/>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buNone/>
              <a:defRPr sz="2025" b="1">
                <a:solidFill>
                  <a:srgbClr val="5546ED"/>
                </a:solidFill>
                <a:latin typeface="Calibri"/>
                <a:ea typeface="Calibri"/>
                <a:cs typeface="Calibri"/>
              </a:defRPr>
            </a:pPr>
            <a:r>
              <a:rPr sz="2025" b="1">
                <a:solidFill>
                  <a:srgbClr val="5546ED"/>
                </a:solidFill>
                <a:latin typeface="Calibri"/>
                <a:ea typeface="Calibri"/>
                <a:cs typeface="Calibri"/>
              </a:rPr>
              <a:t>Pregunta de E07</a:t>
            </a:r>
          </a:p>
        </p:txBody>
      </p:sp>
      <p:sp>
        <p:nvSpPr>
          <p:cNvPr id="4" name="">
            <a:extLst xmlns:a="http://schemas.openxmlformats.org/drawingml/2006/main">
              <a:ext uri="{FF2B5EF4-FFF2-40B4-BE49-F238E27FC236}">
                <a16:creationId xmlns:a16="http://schemas.microsoft.com/office/drawing/2014/main" id="{FE3E14B3-F5EF-413D-9D15-854C57F6DBC3}"/>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¿Cuál es el rendimiento por municipio, cultivo, estado físico y año?</a:t>
            </a:r>
          </a:p>
        </p:txBody>
      </p:sp>
      <p:sp>
        <p:nvSpPr>
          <p:cNvPr id="5" name="">
            <a:extLst xmlns:a="http://schemas.openxmlformats.org/drawingml/2006/main">
              <a:ext uri="{FF2B5EF4-FFF2-40B4-BE49-F238E27FC236}">
                <a16:creationId xmlns:a16="http://schemas.microsoft.com/office/drawing/2014/main" id="{33EEF376-04A7-463E-B6F5-0D1D0114705F}"/>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buNone/>
              <a:defRPr sz="2025" b="1">
                <a:solidFill>
                  <a:srgbClr val="098F89"/>
                </a:solidFill>
                <a:latin typeface="Calibri"/>
                <a:ea typeface="Calibri"/>
                <a:cs typeface="Calibri"/>
              </a:defRPr>
            </a:pPr>
            <a:r>
              <a:rPr sz="2025" b="1">
                <a:solidFill>
                  <a:srgbClr val="098F89"/>
                </a:solidFill>
                <a:latin typeface="Calibri"/>
                <a:ea typeface="Calibri"/>
                <a:cs typeface="Calibri"/>
              </a:rPr>
              <a:t>Operación</a:t>
            </a:r>
          </a:p>
        </p:txBody>
      </p:sp>
      <p:sp>
        <p:nvSpPr>
          <p:cNvPr id="6" name="">
            <a:extLst xmlns:a="http://schemas.openxmlformats.org/drawingml/2006/main">
              <a:ext uri="{FF2B5EF4-FFF2-40B4-BE49-F238E27FC236}">
                <a16:creationId xmlns:a16="http://schemas.microsoft.com/office/drawing/2014/main" id="{3BD7D2AA-4A5F-47BE-BAE8-97D1F29CDBF1}"/>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Filtrar registros aptos, sumar producción y área, calcular su cociente.</a:t>
            </a:r>
          </a:p>
        </p:txBody>
      </p:sp>
      <p:sp>
        <p:nvSpPr>
          <p:cNvPr id="7" name="">
            <a:extLst xmlns:a="http://schemas.openxmlformats.org/drawingml/2006/main">
              <a:ext uri="{FF2B5EF4-FFF2-40B4-BE49-F238E27FC236}">
                <a16:creationId xmlns:a16="http://schemas.microsoft.com/office/drawing/2014/main" id="{E20C5F55-E7B5-44F9-8694-2EC8D3B4D184}"/>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buNone/>
              <a:defRPr sz="2025" b="1">
                <a:solidFill>
                  <a:srgbClr val="CE4E47"/>
                </a:solidFill>
                <a:latin typeface="Calibri"/>
                <a:ea typeface="Calibri"/>
                <a:cs typeface="Calibri"/>
              </a:defRPr>
            </a:pPr>
            <a:r>
              <a:rPr sz="2025" b="1">
                <a:solidFill>
                  <a:srgbClr val="CE4E47"/>
                </a:solidFill>
                <a:latin typeface="Calibri"/>
                <a:ea typeface="Calibri"/>
                <a:cs typeface="Calibri"/>
              </a:rPr>
              <a:t>Problema de escala</a:t>
            </a:r>
          </a:p>
        </p:txBody>
      </p:sp>
      <p:sp>
        <p:nvSpPr>
          <p:cNvPr id="8" name="">
            <a:extLst xmlns:a="http://schemas.openxmlformats.org/drawingml/2006/main">
              <a:ext uri="{FF2B5EF4-FFF2-40B4-BE49-F238E27FC236}">
                <a16:creationId xmlns:a16="http://schemas.microsoft.com/office/drawing/2014/main" id="{F7767024-37CD-47C0-8EFD-33ED7C500E35}"/>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buNone/>
              <a:defRPr sz="2100" b="0">
                <a:solidFill>
                  <a:srgbClr val="203B68"/>
                </a:solidFill>
                <a:latin typeface="Calibri"/>
                <a:ea typeface="Calibri"/>
                <a:cs typeface="Calibri"/>
              </a:defRPr>
            </a:pPr>
            <a:r>
              <a:rPr sz="2100" b="0">
                <a:solidFill>
                  <a:srgbClr val="203B68"/>
                </a:solidFill>
                <a:latin typeface="Calibri"/>
                <a:ea typeface="Calibri"/>
                <a:cs typeface="Calibri"/>
              </a:rPr>
              <a:t>La misma clave puede aparecer en archivos y máquinas diferentes. Hay que reunir sus aportes.</a:t>
            </a:r>
          </a:p>
        </p:txBody>
      </p:sp>
      <p:sp>
        <p:nvSpPr>
          <p:cNvPr id="9" name="">
            <a:extLst xmlns:a="http://schemas.openxmlformats.org/drawingml/2006/main">
              <a:ext uri="{FF2B5EF4-FFF2-40B4-BE49-F238E27FC236}">
                <a16:creationId xmlns:a16="http://schemas.microsoft.com/office/drawing/2014/main" id="{98B4D0DE-B029-416E-8136-6612E4B5940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Viernes 16 de octubre de 2026 · 18:00–21:15 · Demostración con el notebook 05</a:t>
            </a:r>
          </a:p>
        </p:txBody>
      </p:sp>
      <p:sp>
        <p:nvSpPr>
          <p:cNvPr id="10" name="">
            <a:extLst xmlns:a="http://schemas.openxmlformats.org/drawingml/2006/main">
              <a:ext uri="{FF2B5EF4-FFF2-40B4-BE49-F238E27FC236}">
                <a16:creationId xmlns:a16="http://schemas.microsoft.com/office/drawing/2014/main" id="{C8A8F0ED-F4A4-4557-A124-391DC5B0A773}"/>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buNone/>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64808F63-B5D4-43E0-93E1-23249CA7017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buNone/>
              <a:defRPr sz="1200" b="0">
                <a:solidFill>
                  <a:srgbClr val="4239C8"/>
                </a:solidFill>
                <a:latin typeface="Calibri"/>
                <a:ea typeface="Calibri"/>
                <a:cs typeface="Calibri"/>
              </a:defRPr>
            </a:pPr>
            <a:r>
              <a:rPr sz="1200" b="0">
                <a:solidFill>
                  <a:srgbClr val="4239C8"/>
                </a:solidFill>
                <a:latin typeface="Calibri"/>
                <a:ea typeface="Calibri"/>
                <a:cs typeface="Calibri"/>
              </a:rPr>
              <a:t>02</a:t>
            </a:r>
          </a:p>
        </p:txBody>
      </p:sp>
    </p:spTree>
    <p:extLst>
      <p:ext uri="{BB962C8B-B14F-4D97-AF65-F5344CB8AC3E}">
        <p14:creationId xmlns:p14="http://schemas.microsoft.com/office/powerpoint/2010/main" val="1285856215"/>
      </p:ext>
    </p:extLst>
  </p:cSld>
  <p:transition spd="med" advClick="1">
    <p:fade/>
  </p:transition>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968416C0-FB67-4006-8037-288211935037}"/>
              </a:ext>
            </a:extLst>
          </p:cNvPr>
          <p:cNvPicPr>
            <a:picLocks xmlns:a="http://schemas.openxmlformats.org/drawingml/2006/main" noChangeAspect="1"/>
          </p:cNvPicPr>
          <p:nvPr/>
        </p:nvPicPr>
        <p:blipFill>
          <a:blip xmlns:r="http://schemas.openxmlformats.org/officeDocument/2006/relationships" xmlns:a="http://schemas.openxmlformats.org/drawingml/2006/main" r:embed="R3ed765e389d743a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73E468B-2B80-4230-A345-E1351A1BE5D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Arquitectura de una aplicación Spark</a:t>
            </a:r>
          </a:p>
        </p:txBody>
      </p:sp>
      <p:pic>
        <p:nvPicPr>
          <p:cNvPr id="3" name="">
            <a:extLst xmlns:a="http://schemas.openxmlformats.org/drawingml/2006/main">
              <a:ext uri="{FF2B5EF4-FFF2-40B4-BE49-F238E27FC236}">
                <a16:creationId xmlns:a16="http://schemas.microsoft.com/office/drawing/2014/main" id="{73337F36-91F6-4209-A6FF-686FCB49A9FC}"/>
              </a:ext>
            </a:extLst>
          </p:cNvPr>
          <p:cNvPicPr>
            <a:picLocks xmlns:a="http://schemas.openxmlformats.org/drawingml/2006/main" noChangeAspect="1"/>
          </p:cNvPicPr>
          <p:nvPr/>
        </p:nvPicPr>
        <p:blipFill>
          <a:blip xmlns:r="http://schemas.openxmlformats.org/officeDocument/2006/relationships" xmlns:a="http://schemas.openxmlformats.org/drawingml/2006/main" r:embed="R327d5831235244c0"/>
          <a:stretch xmlns:a="http://schemas.openxmlformats.org/drawingml/2006/main"/>
        </p:blipFill>
        <p:spPr>
          <a:xfrm xmlns:a="http://schemas.openxmlformats.org/drawingml/2006/main">
            <a:off x="2076470" y="1285875"/>
            <a:ext cx="803906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0814F911-BC35-4884-8CFB-561BD15C3AC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Violeta: coordinación. Turquesa: movimiento de datos. Cada aplicación tiene sus propios executors.</a:t>
            </a:r>
          </a:p>
        </p:txBody>
      </p:sp>
      <p:sp>
        <p:nvSpPr>
          <p:cNvPr id="5" name="">
            <a:extLst xmlns:a="http://schemas.openxmlformats.org/drawingml/2006/main">
              <a:ext uri="{FF2B5EF4-FFF2-40B4-BE49-F238E27FC236}">
                <a16:creationId xmlns:a16="http://schemas.microsoft.com/office/drawing/2014/main" id="{879E3B92-8028-4C05-B2CB-21951D9FA490}"/>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buNone/>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A0FE24AE-3B2B-4B7C-B50B-70C44DA75BC5}"/>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buNone/>
              <a:defRPr sz="1200" b="0">
                <a:solidFill>
                  <a:srgbClr val="4239C8"/>
                </a:solidFill>
                <a:latin typeface="Calibri"/>
                <a:ea typeface="Calibri"/>
                <a:cs typeface="Calibri"/>
              </a:defRPr>
            </a:pPr>
            <a:r>
              <a:rPr sz="1200" b="0">
                <a:solidFill>
                  <a:srgbClr val="4239C8"/>
                </a:solidFill>
                <a:latin typeface="Calibri"/>
                <a:ea typeface="Calibri"/>
                <a:cs typeface="Calibri"/>
              </a:rPr>
              <a:t>03</a:t>
            </a:r>
          </a:p>
        </p:txBody>
      </p:sp>
    </p:spTree>
    <p:extLst>
      <p:ext uri="{BB962C8B-B14F-4D97-AF65-F5344CB8AC3E}">
        <p14:creationId xmlns:p14="http://schemas.microsoft.com/office/powerpoint/2010/main" val="1494808842"/>
      </p:ext>
    </p:extLst>
  </p:cSld>
  <p:transition spd="med" advClick="1">
    <p:fade/>
  </p:transition>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E7D6649-8374-45F5-BD3E-9EB2969DB480}"/>
              </a:ext>
            </a:extLst>
          </p:cNvPr>
          <p:cNvPicPr>
            <a:picLocks xmlns:a="http://schemas.openxmlformats.org/drawingml/2006/main" noChangeAspect="1"/>
          </p:cNvPicPr>
          <p:nvPr/>
        </p:nvPicPr>
        <p:blipFill>
          <a:blip xmlns:r="http://schemas.openxmlformats.org/officeDocument/2006/relationships" xmlns:a="http://schemas.openxmlformats.org/drawingml/2006/main" r:embed="R4cece68f3b32421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2772321-3851-4DD4-A161-A11DE3CC7E07}"/>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buNone/>
              <a:defRPr sz="2850" b="1">
                <a:solidFill>
                  <a:srgbClr val="5546ED"/>
                </a:solidFill>
                <a:latin typeface="Calibri"/>
                <a:ea typeface="Calibri"/>
                <a:cs typeface="Calibri"/>
              </a:defRPr>
            </a:pPr>
            <a:r>
              <a:rPr sz="2850" b="1">
                <a:solidFill>
                  <a:srgbClr val="5546ED"/>
                </a:solidFill>
                <a:latin typeface="Calibri"/>
                <a:ea typeface="Calibri"/>
                <a:cs typeface="Calibri"/>
              </a:rPr>
              <a:t>Componentes y responsabilidades</a:t>
            </a:r>
          </a:p>
        </p:txBody>
      </p:sp>
      <p:graphicFrame>
        <p:nvGraphicFramePr>
          <p:cNvPr id="3" name="">
            <a:extLst xmlns:a="http://schemas.openxmlformats.org/drawingml/2006/main">
              <a:ext uri="{FF2B5EF4-FFF2-40B4-BE49-F238E27FC236}">
                <a16:creationId xmlns:a16="http://schemas.microsoft.com/office/drawing/2014/main" id="{64E40AE3-8758-4BB6-80B3-4B39E34CABDF}"/>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Componente</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hace</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Driver</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Ejecuta el programa principal, construye planes y coordina tareas.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Gestor de recursos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Asigna recursos a aplicaciones: Standalone, YARN o Kubernetes.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Worker / nodo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Máquina que puede alojar procesos executor.</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Executor</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Proceso de una aplicación. Ejecuta tareas y conserva bloques.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Task</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Unidad de ejecución que procesa una partición en una etapa.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F46035AA-A1F0-4E5D-86EA-5D21B6B22C6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buNone/>
              <a:defRPr sz="1500" b="0">
                <a:solidFill>
                  <a:srgbClr val="203B68"/>
                </a:solidFill>
                <a:latin typeface="Calibri"/>
                <a:ea typeface="Calibri"/>
                <a:cs typeface="Calibri"/>
              </a:defRPr>
            </a:pPr>
            <a:r>
              <a:rPr sz="1500" b="0">
                <a:solidFill>
                  <a:srgbClr val="203B68"/>
                </a:solidFill>
                <a:latin typeface="Calibri"/>
                <a:ea typeface="Calibri"/>
                <a:cs typeface="Calibri"/>
              </a:rPr>
              <a:t>El gestor asigna recursos. El scheduler del driver decide las tareas.</a:t>
            </a:r>
          </a:p>
        </p:txBody>
      </p:sp>
      <p:sp>
        <p:nvSpPr>
          <p:cNvPr id="5" name="">
            <a:extLst xmlns:a="http://schemas.openxmlformats.org/drawingml/2006/main">
              <a:ext uri="{FF2B5EF4-FFF2-40B4-BE49-F238E27FC236}">
                <a16:creationId xmlns:a16="http://schemas.microsoft.com/office/drawing/2014/main" id="{F4366F21-187E-466D-88CE-AF9FD789D92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buNone/>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2D1D2668-2266-4912-96D1-C6CC24D988E9}"/>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buNone/>
              <a:defRPr sz="1200" b="0">
                <a:solidFill>
                  <a:srgbClr val="4239C8"/>
                </a:solidFill>
                <a:latin typeface="Calibri"/>
                <a:ea typeface="Calibri"/>
                <a:cs typeface="Calibri"/>
              </a:defRPr>
            </a:pPr>
            <a:r>
              <a:rPr sz="1200" b="0">
                <a:solidFill>
                  <a:srgbClr val="4239C8"/>
                </a:solidFill>
                <a:latin typeface="Calibri"/>
                <a:ea typeface="Calibri"/>
                <a:cs typeface="Calibri"/>
              </a:rPr>
              <a:t>04</a:t>
            </a:r>
          </a:p>
        </p:txBody>
      </p:sp>
    </p:spTree>
    <p:extLst>
      <p:ext uri="{BB962C8B-B14F-4D97-AF65-F5344CB8AC3E}">
        <p14:creationId xmlns:p14="http://schemas.microsoft.com/office/powerpoint/2010/main" val="1805570555"/>
      </p:ext>
    </p:extLst>
  </p:cSld>
  <p:transition spd="med" advClick="1">
    <p:fade/>
  </p:transition>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AA078493-778B-46F7-AC61-DDE6FB91C7EA}"/>
              </a:ext>
            </a:extLst>
          </p:cNvPr>
          <p:cNvPicPr>
            <a:picLocks xmlns:a="http://schemas.openxmlformats.org/drawingml/2006/main" noChangeAspect="1"/>
          </p:cNvPicPr>
          <p:nvPr/>
        </p:nvPicPr>
        <p:blipFill>
          <a:blip xmlns:r="http://schemas.openxmlformats.org/officeDocument/2006/relationships" xmlns:a="http://schemas.openxmlformats.org/drawingml/2006/main" r:embed="R10c5bce0f6e34da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E592785-0296-4ED4-A446-71486C58F706}"/>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Inicio de una aplicación Spark</a:t>
            </a:r>
          </a:p>
        </p:txBody>
      </p:sp>
      <p:graphicFrame>
        <p:nvGraphicFramePr>
          <p:cNvPr id="3" name="">
            <a:extLst xmlns:a="http://schemas.openxmlformats.org/drawingml/2006/main">
              <a:ext uri="{FF2B5EF4-FFF2-40B4-BE49-F238E27FC236}">
                <a16:creationId xmlns:a16="http://schemas.microsoft.com/office/drawing/2014/main" id="{67DFCBBC-9DB5-4E0A-AFDD-03DDF6182CFC}"/>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Paso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sucede</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1. Se inicia el driver</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El programa crea SparkSession y SparkContext.</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2. Se solicitan recursos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En clúster, el gestor asigna CPU y memoria.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3. Arrancan los executors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Los procesos se registran ante el driver.</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4. Se solicita un resultado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Una acción requiere ejecutar el cálculo pendiente.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5. Se envían tareas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El driver coordina las etapas y los executors ejecutan.</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D01FFF0C-32E3-4E07-90FF-2AE3CA6D2216}"/>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Los executors mantienen su proceso durante múltiples tareas.</a:t>
            </a:r>
          </a:p>
        </p:txBody>
      </p:sp>
      <p:sp>
        <p:nvSpPr>
          <p:cNvPr id="5" name="">
            <a:extLst xmlns:a="http://schemas.openxmlformats.org/drawingml/2006/main">
              <a:ext uri="{FF2B5EF4-FFF2-40B4-BE49-F238E27FC236}">
                <a16:creationId xmlns:a16="http://schemas.microsoft.com/office/drawing/2014/main" id="{2D6D6F75-DE65-4AF3-89CA-CAC5F0D1418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488362CD-6C9C-4ED3-B1B8-F025ACBEB4F6}"/>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05</a:t>
            </a:r>
          </a:p>
        </p:txBody>
      </p:sp>
    </p:spTree>
    <p:extLst>
      <p:ext uri="{BB962C8B-B14F-4D97-AF65-F5344CB8AC3E}">
        <p14:creationId xmlns:p14="http://schemas.microsoft.com/office/powerpoint/2010/main" val="35764580"/>
      </p:ext>
    </p:extLst>
  </p:cSld>
  <p:transition spd="med" advClick="1">
    <p:fade/>
  </p:transition>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FBAA81EE-6C5F-4601-8448-35DCF60DF63B}"/>
              </a:ext>
            </a:extLst>
          </p:cNvPr>
          <p:cNvPicPr>
            <a:picLocks xmlns:a="http://schemas.openxmlformats.org/drawingml/2006/main" noChangeAspect="1"/>
          </p:cNvPicPr>
          <p:nvPr/>
        </p:nvPicPr>
        <p:blipFill>
          <a:blip xmlns:r="http://schemas.openxmlformats.org/officeDocument/2006/relationships" xmlns:a="http://schemas.openxmlformats.org/drawingml/2006/main" r:embed="R2a13d2b80daa411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D938B97-5778-48FB-BD9E-529350148C14}"/>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Dentro del driver</a:t>
            </a:r>
          </a:p>
        </p:txBody>
      </p:sp>
      <p:sp>
        <p:nvSpPr>
          <p:cNvPr id="3" name="">
            <a:extLst xmlns:a="http://schemas.openxmlformats.org/drawingml/2006/main">
              <a:ext uri="{FF2B5EF4-FFF2-40B4-BE49-F238E27FC236}">
                <a16:creationId xmlns:a16="http://schemas.microsoft.com/office/drawing/2014/main" id="{2227E480-5AB2-4E0F-A014-5FA729B71A06}"/>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El programa del estudiante</a:t>
            </a:r>
          </a:p>
        </p:txBody>
      </p:sp>
      <p:sp>
        <p:nvSpPr>
          <p:cNvPr id="4" name="">
            <a:extLst xmlns:a="http://schemas.openxmlformats.org/drawingml/2006/main">
              <a:ext uri="{FF2B5EF4-FFF2-40B4-BE49-F238E27FC236}">
                <a16:creationId xmlns:a16="http://schemas.microsoft.com/office/drawing/2014/main" id="{9C5A55E2-8A61-416F-BD83-8C42C2E08588}"/>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Python construye expresiones como filter y groupBy mediante SparkSession.</a:t>
            </a:r>
          </a:p>
        </p:txBody>
      </p:sp>
      <p:sp>
        <p:nvSpPr>
          <p:cNvPr id="5" name="">
            <a:extLst xmlns:a="http://schemas.openxmlformats.org/drawingml/2006/main">
              <a:ext uri="{FF2B5EF4-FFF2-40B4-BE49-F238E27FC236}">
                <a16:creationId xmlns:a16="http://schemas.microsoft.com/office/drawing/2014/main" id="{F39F8B34-1173-4184-BA07-699F33FB85F7}"/>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Planificación</a:t>
            </a:r>
          </a:p>
        </p:txBody>
      </p:sp>
      <p:sp>
        <p:nvSpPr>
          <p:cNvPr id="6" name="">
            <a:extLst xmlns:a="http://schemas.openxmlformats.org/drawingml/2006/main">
              <a:ext uri="{FF2B5EF4-FFF2-40B4-BE49-F238E27FC236}">
                <a16:creationId xmlns:a16="http://schemas.microsoft.com/office/drawing/2014/main" id="{4D5F6C51-C245-446A-B42E-ECD3224F79F3}"/>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Spark SQL prepara el plan. DAGScheduler organiza etapas y TaskScheduler asigna tareas.</a:t>
            </a:r>
          </a:p>
        </p:txBody>
      </p:sp>
      <p:sp>
        <p:nvSpPr>
          <p:cNvPr id="7" name="">
            <a:extLst xmlns:a="http://schemas.openxmlformats.org/drawingml/2006/main">
              <a:ext uri="{FF2B5EF4-FFF2-40B4-BE49-F238E27FC236}">
                <a16:creationId xmlns:a16="http://schemas.microsoft.com/office/drawing/2014/main" id="{70B80418-3F56-4FD2-BBD7-1E7AAFD08F79}"/>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Seguimiento</a:t>
            </a:r>
          </a:p>
        </p:txBody>
      </p:sp>
      <p:sp>
        <p:nvSpPr>
          <p:cNvPr id="8" name="">
            <a:extLst xmlns:a="http://schemas.openxmlformats.org/drawingml/2006/main">
              <a:ext uri="{FF2B5EF4-FFF2-40B4-BE49-F238E27FC236}">
                <a16:creationId xmlns:a16="http://schemas.microsoft.com/office/drawing/2014/main" id="{1FC8A180-40D4-4320-AE27-583A15D7B8ED}"/>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El driver recibe estados y resultados. Coordina reintentos y conoce la ubicación de salidas.</a:t>
            </a:r>
          </a:p>
        </p:txBody>
      </p:sp>
      <p:sp>
        <p:nvSpPr>
          <p:cNvPr id="9" name="">
            <a:extLst xmlns:a="http://schemas.openxmlformats.org/drawingml/2006/main">
              <a:ext uri="{FF2B5EF4-FFF2-40B4-BE49-F238E27FC236}">
                <a16:creationId xmlns:a16="http://schemas.microsoft.com/office/drawing/2014/main" id="{B11D8230-7A66-416A-8BD4-895C4F98D468}"/>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programa principal corre en el driver. Los cálculos por partición corren en las tareas.</a:t>
            </a:r>
          </a:p>
        </p:txBody>
      </p:sp>
      <p:sp>
        <p:nvSpPr>
          <p:cNvPr id="10" name="">
            <a:extLst xmlns:a="http://schemas.openxmlformats.org/drawingml/2006/main">
              <a:ext uri="{FF2B5EF4-FFF2-40B4-BE49-F238E27FC236}">
                <a16:creationId xmlns:a16="http://schemas.microsoft.com/office/drawing/2014/main" id="{79599E4A-8DBE-4E5D-8A23-E5AAB78CCD62}"/>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90E70FEF-30C6-4E26-906B-9F001746BCDB}"/>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06</a:t>
            </a:r>
          </a:p>
        </p:txBody>
      </p:sp>
    </p:spTree>
    <p:extLst>
      <p:ext uri="{BB962C8B-B14F-4D97-AF65-F5344CB8AC3E}">
        <p14:creationId xmlns:p14="http://schemas.microsoft.com/office/powerpoint/2010/main" val="104643090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794A352E-F9FB-448C-88B1-898C49B00D44}"/>
              </a:ext>
            </a:extLst>
          </p:cNvPr>
          <p:cNvPicPr>
            <a:picLocks xmlns:a="http://schemas.openxmlformats.org/drawingml/2006/main" noChangeAspect="1"/>
          </p:cNvPicPr>
          <p:nvPr/>
        </p:nvPicPr>
        <p:blipFill>
          <a:blip xmlns:r="http://schemas.openxmlformats.org/officeDocument/2006/relationships" xmlns:a="http://schemas.openxmlformats.org/drawingml/2006/main" r:embed="Rb5505d80e54c454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61EF537-2BE8-4CD4-9C6D-39CB3B10C3C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Dentro de un executor</a:t>
            </a:r>
          </a:p>
        </p:txBody>
      </p:sp>
      <p:sp>
        <p:nvSpPr>
          <p:cNvPr id="3" name="">
            <a:extLst xmlns:a="http://schemas.openxmlformats.org/drawingml/2006/main">
              <a:ext uri="{FF2B5EF4-FFF2-40B4-BE49-F238E27FC236}">
                <a16:creationId xmlns:a16="http://schemas.microsoft.com/office/drawing/2014/main" id="{408EB94B-44F7-41B3-BD99-FA4C7B9D73B3}"/>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Proceso con recursos asignados</a:t>
            </a:r>
          </a:p>
        </p:txBody>
      </p:sp>
      <p:sp>
        <p:nvSpPr>
          <p:cNvPr id="4" name="">
            <a:extLst xmlns:a="http://schemas.openxmlformats.org/drawingml/2006/main">
              <a:ext uri="{FF2B5EF4-FFF2-40B4-BE49-F238E27FC236}">
                <a16:creationId xmlns:a16="http://schemas.microsoft.com/office/drawing/2014/main" id="{70E12E9F-531E-412F-89C5-9AD489DEDD4F}"/>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CPU y memoria limitan las tareas que puede ejecutar simultáneamente.</a:t>
            </a:r>
          </a:p>
        </p:txBody>
      </p:sp>
      <p:sp>
        <p:nvSpPr>
          <p:cNvPr id="5" name="">
            <a:extLst xmlns:a="http://schemas.openxmlformats.org/drawingml/2006/main">
              <a:ext uri="{FF2B5EF4-FFF2-40B4-BE49-F238E27FC236}">
                <a16:creationId xmlns:a16="http://schemas.microsoft.com/office/drawing/2014/main" id="{00BEA0EF-DAD9-4FD2-AA74-2D40B6FDEE4E}"/>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Hilos de tareas</a:t>
            </a:r>
          </a:p>
        </p:txBody>
      </p:sp>
      <p:sp>
        <p:nvSpPr>
          <p:cNvPr id="6" name="">
            <a:extLst xmlns:a="http://schemas.openxmlformats.org/drawingml/2006/main">
              <a:ext uri="{FF2B5EF4-FFF2-40B4-BE49-F238E27FC236}">
                <a16:creationId xmlns:a16="http://schemas.microsoft.com/office/drawing/2014/main" id="{0268DF25-F24F-488A-A2D8-F27D5EB8CCFA}"/>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Cada tarea trabaja sobre una partición de una etapa. El executor atiende muchas tareas en su vida.</a:t>
            </a:r>
          </a:p>
        </p:txBody>
      </p:sp>
      <p:sp>
        <p:nvSpPr>
          <p:cNvPr id="7" name="">
            <a:extLst xmlns:a="http://schemas.openxmlformats.org/drawingml/2006/main">
              <a:ext uri="{FF2B5EF4-FFF2-40B4-BE49-F238E27FC236}">
                <a16:creationId xmlns:a16="http://schemas.microsoft.com/office/drawing/2014/main" id="{9C46F5C3-18A9-4502-9010-BD9F098B6976}"/>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Bloques de datos</a:t>
            </a:r>
          </a:p>
        </p:txBody>
      </p:sp>
      <p:sp>
        <p:nvSpPr>
          <p:cNvPr id="8" name="">
            <a:extLst xmlns:a="http://schemas.openxmlformats.org/drawingml/2006/main">
              <a:ext uri="{FF2B5EF4-FFF2-40B4-BE49-F238E27FC236}">
                <a16:creationId xmlns:a16="http://schemas.microsoft.com/office/drawing/2014/main" id="{F6B939B7-29D9-4FB3-B844-1496088094CE}"/>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BlockManager administra bloques. El executor usa memoria y disco, y comunica su actividad al driver.</a:t>
            </a:r>
          </a:p>
        </p:txBody>
      </p:sp>
      <p:sp>
        <p:nvSpPr>
          <p:cNvPr id="9" name="">
            <a:extLst xmlns:a="http://schemas.openxmlformats.org/drawingml/2006/main">
              <a:ext uri="{FF2B5EF4-FFF2-40B4-BE49-F238E27FC236}">
                <a16:creationId xmlns:a16="http://schemas.microsoft.com/office/drawing/2014/main" id="{CF4B1CBD-A383-4664-A746-73587DD03E3D}"/>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 nodo es una máquina. Un executor es un proceso de una aplicación.</a:t>
            </a:r>
          </a:p>
        </p:txBody>
      </p:sp>
      <p:sp>
        <p:nvSpPr>
          <p:cNvPr id="10" name="">
            <a:extLst xmlns:a="http://schemas.openxmlformats.org/drawingml/2006/main">
              <a:ext uri="{FF2B5EF4-FFF2-40B4-BE49-F238E27FC236}">
                <a16:creationId xmlns:a16="http://schemas.microsoft.com/office/drawing/2014/main" id="{FE02173D-2890-4BCA-921B-B80659675847}"/>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4A76EE08-1F6D-4D75-829E-70EFCBF27839}"/>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07</a:t>
            </a:r>
          </a:p>
        </p:txBody>
      </p:sp>
    </p:spTree>
    <p:extLst>
      <p:ext uri="{BB962C8B-B14F-4D97-AF65-F5344CB8AC3E}">
        <p14:creationId xmlns:p14="http://schemas.microsoft.com/office/powerpoint/2010/main" val="51229190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F3B2558-D514-4C39-82A2-315682019DB2}"/>
              </a:ext>
            </a:extLst>
          </p:cNvPr>
          <p:cNvPicPr>
            <a:picLocks xmlns:a="http://schemas.openxmlformats.org/drawingml/2006/main" noChangeAspect="1"/>
          </p:cNvPicPr>
          <p:nvPr/>
        </p:nvPicPr>
        <p:blipFill>
          <a:blip xmlns:r="http://schemas.openxmlformats.org/officeDocument/2006/relationships" xmlns:a="http://schemas.openxmlformats.org/drawingml/2006/main" r:embed="Rb8441f5307f347d4"/>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6ED8F85-2FE8-491C-87DD-962B57CE7925}"/>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Comunicación entre componentes</a:t>
            </a:r>
          </a:p>
        </p:txBody>
      </p:sp>
      <p:pic>
        <p:nvPicPr>
          <p:cNvPr id="3" name="">
            <a:extLst xmlns:a="http://schemas.openxmlformats.org/drawingml/2006/main">
              <a:ext uri="{FF2B5EF4-FFF2-40B4-BE49-F238E27FC236}">
                <a16:creationId xmlns:a16="http://schemas.microsoft.com/office/drawing/2014/main" id="{835D31C2-F155-44CE-A980-1B369BD7C9DB}"/>
              </a:ext>
            </a:extLst>
          </p:cNvPr>
          <p:cNvPicPr>
            <a:picLocks xmlns:a="http://schemas.openxmlformats.org/drawingml/2006/main" noChangeAspect="1"/>
          </p:cNvPicPr>
          <p:nvPr/>
        </p:nvPicPr>
        <p:blipFill>
          <a:blip xmlns:r="http://schemas.openxmlformats.org/officeDocument/2006/relationships" xmlns:a="http://schemas.openxmlformats.org/drawingml/2006/main" r:embed="Rb7c9cb17c9914a4d"/>
          <a:stretch xmlns:a="http://schemas.openxmlformats.org/drawingml/2006/main"/>
        </p:blipFill>
        <p:spPr>
          <a:xfrm xmlns:a="http://schemas.openxmlformats.org/drawingml/2006/main">
            <a:off x="1571625" y="1285875"/>
            <a:ext cx="904875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CF30F34-1F4E-4BC1-A8A7-6FF478D4129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Control: envío de tareas y reporte de estado. Datos: transferencia de bloques entre nodos.</a:t>
            </a:r>
          </a:p>
        </p:txBody>
      </p:sp>
      <p:sp>
        <p:nvSpPr>
          <p:cNvPr id="5" name="">
            <a:extLst xmlns:a="http://schemas.openxmlformats.org/drawingml/2006/main">
              <a:ext uri="{FF2B5EF4-FFF2-40B4-BE49-F238E27FC236}">
                <a16:creationId xmlns:a16="http://schemas.microsoft.com/office/drawing/2014/main" id="{A1599EF2-EF96-468C-A330-D516C6F539F3}"/>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E3497362-5EDE-4BF7-9E5D-749FD7E7BCD9}"/>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08</a:t>
            </a:r>
          </a:p>
        </p:txBody>
      </p:sp>
    </p:spTree>
    <p:extLst>
      <p:ext uri="{BB962C8B-B14F-4D97-AF65-F5344CB8AC3E}">
        <p14:creationId xmlns:p14="http://schemas.microsoft.com/office/powerpoint/2010/main" val="5752641"/>
      </p:ext>
    </p:extLst>
  </p:cSld>
  <p:transition spd="med" advClick="1">
    <p:fade/>
  </p:transition>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4797775D-056A-481C-B984-56F8BB5AD47B}"/>
              </a:ext>
            </a:extLst>
          </p:cNvPr>
          <p:cNvPicPr>
            <a:picLocks xmlns:a="http://schemas.openxmlformats.org/drawingml/2006/main" noChangeAspect="1"/>
          </p:cNvPicPr>
          <p:nvPr/>
        </p:nvPicPr>
        <p:blipFill>
          <a:blip xmlns:r="http://schemas.openxmlformats.org/officeDocument/2006/relationships" xmlns:a="http://schemas.openxmlformats.org/drawingml/2006/main" r:embed="R19dd737c422e41e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B93E46C-BFF2-4DB9-B1B9-D3D39A7170F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Recorrido de los datos</a:t>
            </a:r>
          </a:p>
        </p:txBody>
      </p:sp>
      <p:pic>
        <p:nvPicPr>
          <p:cNvPr id="3" name="">
            <a:extLst xmlns:a="http://schemas.openxmlformats.org/drawingml/2006/main">
              <a:ext uri="{FF2B5EF4-FFF2-40B4-BE49-F238E27FC236}">
                <a16:creationId xmlns:a16="http://schemas.microsoft.com/office/drawing/2014/main" id="{DC59B541-61A9-4001-8479-AD20DB3FB332}"/>
              </a:ext>
            </a:extLst>
          </p:cNvPr>
          <p:cNvPicPr>
            <a:picLocks xmlns:a="http://schemas.openxmlformats.org/drawingml/2006/main" noChangeAspect="1"/>
          </p:cNvPicPr>
          <p:nvPr/>
        </p:nvPicPr>
        <p:blipFill>
          <a:blip xmlns:r="http://schemas.openxmlformats.org/officeDocument/2006/relationships" xmlns:a="http://schemas.openxmlformats.org/drawingml/2006/main" r:embed="Re02e86308f5444d7"/>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13C4CAD-C349-4572-9EC6-5DA19BAB1B6B}"/>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Lectura distribuida</a:t>
            </a:r>
          </a:p>
        </p:txBody>
      </p:sp>
      <p:sp>
        <p:nvSpPr>
          <p:cNvPr id="5" name="">
            <a:extLst xmlns:a="http://schemas.openxmlformats.org/drawingml/2006/main">
              <a:ext uri="{FF2B5EF4-FFF2-40B4-BE49-F238E27FC236}">
                <a16:creationId xmlns:a16="http://schemas.microsoft.com/office/drawing/2014/main" id="{5FEF807E-8588-47EC-85AA-918BEAD33B52}"/>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Las tareas leen sus fragmentos de Parquet desde el almacenamiento accesible.</a:t>
            </a:r>
          </a:p>
        </p:txBody>
      </p:sp>
      <p:sp>
        <p:nvSpPr>
          <p:cNvPr id="6" name="">
            <a:extLst xmlns:a="http://schemas.openxmlformats.org/drawingml/2006/main">
              <a:ext uri="{FF2B5EF4-FFF2-40B4-BE49-F238E27FC236}">
                <a16:creationId xmlns:a16="http://schemas.microsoft.com/office/drawing/2014/main" id="{85EB3B0C-70CE-4D10-8F78-07E4890A1137}"/>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Cálculo e intercambio</a:t>
            </a:r>
          </a:p>
        </p:txBody>
      </p:sp>
      <p:sp>
        <p:nvSpPr>
          <p:cNvPr id="7" name="">
            <a:extLst xmlns:a="http://schemas.openxmlformats.org/drawingml/2006/main">
              <a:ext uri="{FF2B5EF4-FFF2-40B4-BE49-F238E27FC236}">
                <a16:creationId xmlns:a16="http://schemas.microsoft.com/office/drawing/2014/main" id="{2A47A5E9-7698-4441-A1A6-7A1C32AF256B}"/>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Cada tarea filtra y agrega su entrada. El shuffle reúne aportes que comparten clave.</a:t>
            </a:r>
          </a:p>
        </p:txBody>
      </p:sp>
      <p:sp>
        <p:nvSpPr>
          <p:cNvPr id="8" name="">
            <a:extLst xmlns:a="http://schemas.openxmlformats.org/drawingml/2006/main">
              <a:ext uri="{FF2B5EF4-FFF2-40B4-BE49-F238E27FC236}">
                <a16:creationId xmlns:a16="http://schemas.microsoft.com/office/drawing/2014/main" id="{D38F22EC-51D6-4F5A-83C5-F5A658D81AC3}"/>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Escritura distribuida</a:t>
            </a:r>
          </a:p>
        </p:txBody>
      </p:sp>
      <p:sp>
        <p:nvSpPr>
          <p:cNvPr id="9" name="">
            <a:extLst xmlns:a="http://schemas.openxmlformats.org/drawingml/2006/main">
              <a:ext uri="{FF2B5EF4-FFF2-40B4-BE49-F238E27FC236}">
                <a16:creationId xmlns:a16="http://schemas.microsoft.com/office/drawing/2014/main" id="{C3A6CF9A-807C-4167-B1B3-8D6EFDD565FA}"/>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Las tareas escriben archivos de salida. La carpeta completa representa el resultado.</a:t>
            </a:r>
          </a:p>
        </p:txBody>
      </p:sp>
      <p:sp>
        <p:nvSpPr>
          <p:cNvPr id="10" name="">
            <a:extLst xmlns:a="http://schemas.openxmlformats.org/drawingml/2006/main">
              <a:ext uri="{FF2B5EF4-FFF2-40B4-BE49-F238E27FC236}">
                <a16:creationId xmlns:a16="http://schemas.microsoft.com/office/drawing/2014/main" id="{93A9EFE3-6684-451E-9AAB-53A5F2ADE70E}"/>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driver coordina. collect() solicita centralizar el resultado en el driver.</a:t>
            </a:r>
          </a:p>
        </p:txBody>
      </p:sp>
      <p:sp>
        <p:nvSpPr>
          <p:cNvPr id="11" name="">
            <a:extLst xmlns:a="http://schemas.openxmlformats.org/drawingml/2006/main">
              <a:ext uri="{FF2B5EF4-FFF2-40B4-BE49-F238E27FC236}">
                <a16:creationId xmlns:a16="http://schemas.microsoft.com/office/drawing/2014/main" id="{2E563BE1-2C8E-4A87-BBE1-A95803F60A6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91DAA6AD-2C02-4A81-9EB1-7D97042C2AFF}"/>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09</a:t>
            </a:r>
          </a:p>
        </p:txBody>
      </p:sp>
    </p:spTree>
    <p:extLst>
      <p:ext uri="{BB962C8B-B14F-4D97-AF65-F5344CB8AC3E}">
        <p14:creationId xmlns:p14="http://schemas.microsoft.com/office/powerpoint/2010/main" val="25284969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56523A9-9C48-4099-A3AB-8BEDACE64986}"/>
              </a:ext>
            </a:extLst>
          </p:cNvPr>
          <p:cNvPicPr>
            <a:picLocks xmlns:a="http://schemas.openxmlformats.org/drawingml/2006/main" noChangeAspect="1"/>
          </p:cNvPicPr>
          <p:nvPr/>
        </p:nvPicPr>
        <p:blipFill>
          <a:blip xmlns:r="http://schemas.openxmlformats.org/officeDocument/2006/relationships" xmlns:a="http://schemas.openxmlformats.org/drawingml/2006/main" r:embed="R8ae4aa179a6c4eb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250EE13A-66A2-4A82-BDFE-ED38FECCB49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Ejecución local y en clúster</a:t>
            </a:r>
          </a:p>
        </p:txBody>
      </p:sp>
      <p:graphicFrame>
        <p:nvGraphicFramePr>
          <p:cNvPr id="3" name="">
            <a:extLst xmlns:a="http://schemas.openxmlformats.org/drawingml/2006/main">
              <a:ext uri="{FF2B5EF4-FFF2-40B4-BE49-F238E27FC236}">
                <a16:creationId xmlns:a16="http://schemas.microsoft.com/office/drawing/2014/main" id="{A71843BA-6DAB-4B70-ACD7-0BB0DF2E015C}"/>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local[2] en el curso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Ejecución en varias máquinas</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Dos hilos de trabajo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Executors usan CPU en los nodos asignados.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Una máquina comparte recursos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Los procesos tienen memoria y discos propios.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Sin gestor externo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Standalone, YARN o Kubernetes asigna recursos.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Los datos están en la máquina</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Todos los executors necesitan acceso a sus entradas.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Shuffle dentro de la máquina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El shuffle puede utilizar red entre nodos.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760C54B4-271D-4D7F-8C35-DAD85124DB39}"/>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local[2] indica dos hilos de trabajo. No significa dos máquinas.</a:t>
            </a:r>
          </a:p>
        </p:txBody>
      </p:sp>
      <p:sp>
        <p:nvSpPr>
          <p:cNvPr id="5" name="">
            <a:extLst xmlns:a="http://schemas.openxmlformats.org/drawingml/2006/main">
              <a:ext uri="{FF2B5EF4-FFF2-40B4-BE49-F238E27FC236}">
                <a16:creationId xmlns:a16="http://schemas.microsoft.com/office/drawing/2014/main" id="{067C90B9-332B-4E25-B541-350BA793709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7D639162-07B7-4CA6-8EF8-FE4FB38FAA5B}"/>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10</a:t>
            </a:r>
          </a:p>
        </p:txBody>
      </p:sp>
    </p:spTree>
    <p:extLst>
      <p:ext uri="{BB962C8B-B14F-4D97-AF65-F5344CB8AC3E}">
        <p14:creationId xmlns:p14="http://schemas.microsoft.com/office/powerpoint/2010/main" val="844123769"/>
      </p:ext>
    </p:extLst>
  </p:cSld>
  <p:transition spd="med" advClick="1">
    <p:fade/>
  </p:transition>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29DC93D-D3E2-4C99-BC5A-199CE2C3EB2B}"/>
              </a:ext>
            </a:extLst>
          </p:cNvPr>
          <p:cNvPicPr>
            <a:picLocks xmlns:a="http://schemas.openxmlformats.org/drawingml/2006/main" noChangeAspect="1"/>
          </p:cNvPicPr>
          <p:nvPr/>
        </p:nvPicPr>
        <p:blipFill>
          <a:blip xmlns:r="http://schemas.openxmlformats.org/officeDocument/2006/relationships" xmlns:a="http://schemas.openxmlformats.org/drawingml/2006/main" r:embed="R3e8ea9ff0b504ac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A9F5620-412A-44BC-9682-2411B8D5CCC5}"/>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Particiones y paralelismo</a:t>
            </a:r>
          </a:p>
        </p:txBody>
      </p:sp>
      <p:graphicFrame>
        <p:nvGraphicFramePr>
          <p:cNvPr id="3" name="">
            <a:extLst xmlns:a="http://schemas.openxmlformats.org/drawingml/2006/main">
              <a:ext uri="{FF2B5EF4-FFF2-40B4-BE49-F238E27FC236}">
                <a16:creationId xmlns:a16="http://schemas.microsoft.com/office/drawing/2014/main" id="{EE862984-F7E9-4378-9D58-C0262D916FB3}"/>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Ejemplo: ocho particiones</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Con dos espacios para ejecutar tareas</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Tanda 1</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T0 procesa P0 y T1 procesa P1.</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Tanda 2</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Al quedar recursos libres, comienzan T2 y T3.</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Tandas 3 y 4</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Continúan T4, T5, T6 y T7.</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Duración ideal</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Si cada tarea tarda 5 s, serían 20 s, sin otros costes.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Límite del ejemplo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Una tarea lenta o costes de E/S aumentan el tiempo.</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89421FD4-F0F7-4085-BBA4-F82CDE9B196A}"/>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Una partición es una unidad lógica de datos. Un archivo puede originar varias particiones.</a:t>
            </a:r>
          </a:p>
        </p:txBody>
      </p:sp>
      <p:sp>
        <p:nvSpPr>
          <p:cNvPr id="5" name="">
            <a:extLst xmlns:a="http://schemas.openxmlformats.org/drawingml/2006/main">
              <a:ext uri="{FF2B5EF4-FFF2-40B4-BE49-F238E27FC236}">
                <a16:creationId xmlns:a16="http://schemas.microsoft.com/office/drawing/2014/main" id="{4D1996D8-EA94-4194-B299-9487D85F525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42B5EF99-C694-450E-A848-E507B1969E4E}"/>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11</a:t>
            </a:r>
          </a:p>
        </p:txBody>
      </p:sp>
    </p:spTree>
    <p:extLst>
      <p:ext uri="{BB962C8B-B14F-4D97-AF65-F5344CB8AC3E}">
        <p14:creationId xmlns:p14="http://schemas.microsoft.com/office/powerpoint/2010/main" val="1528035531"/>
      </p:ext>
    </p:extLst>
  </p:cSld>
  <p:transition spd="med" advClick="1">
    <p:fade/>
  </p:transition>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90B5977-1CBA-4994-ABFE-625D634A1E92}"/>
              </a:ext>
            </a:extLst>
          </p:cNvPr>
          <p:cNvPicPr>
            <a:picLocks xmlns:a="http://schemas.openxmlformats.org/drawingml/2006/main" noChangeAspect="1"/>
          </p:cNvPicPr>
          <p:nvPr/>
        </p:nvPicPr>
        <p:blipFill>
          <a:blip xmlns:r="http://schemas.openxmlformats.org/officeDocument/2006/relationships" xmlns:a="http://schemas.openxmlformats.org/drawingml/2006/main" r:embed="R0bd4a69c14f2420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919673A3-E117-4FB0-B25B-5BEEE23B59E5}"/>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RDD y DataFrame</a:t>
            </a:r>
          </a:p>
        </p:txBody>
      </p:sp>
      <p:graphicFrame>
        <p:nvGraphicFramePr>
          <p:cNvPr id="3" name="">
            <a:extLst xmlns:a="http://schemas.openxmlformats.org/drawingml/2006/main">
              <a:ext uri="{FF2B5EF4-FFF2-40B4-BE49-F238E27FC236}">
                <a16:creationId xmlns:a16="http://schemas.microsoft.com/office/drawing/2014/main" id="{4E5FAF36-9247-4434-B00C-06C02B3A4C77}"/>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Abstracción</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representa y cómo se utiliza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RDD</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Colección distribuida particionada, con operaciones y dependencias para recomputar.</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DataFrame</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Datos distribuidos con columnas y esquema, descritos mediante un plan.</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Operación del curso</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groupBy y sum expresan una agregación que Spark SQL puede optimizar.</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Relación entre ambos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Spark SQL utiliza la infraestructura de ejecución de Spark.</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PySpark</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API Python para expresar el trabajo. Las funciones SQL integradas usan el motor JVM.</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7C971B44-82C1-476C-B96D-646D45B7A46B}"/>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curso usa DataFrames para expresar consultas sobre datos estructurados.</a:t>
            </a:r>
          </a:p>
        </p:txBody>
      </p:sp>
      <p:sp>
        <p:nvSpPr>
          <p:cNvPr id="5" name="">
            <a:extLst xmlns:a="http://schemas.openxmlformats.org/drawingml/2006/main">
              <a:ext uri="{FF2B5EF4-FFF2-40B4-BE49-F238E27FC236}">
                <a16:creationId xmlns:a16="http://schemas.microsoft.com/office/drawing/2014/main" id="{3E54797E-E13F-42FC-8786-F76E734209B0}"/>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0BCD7588-56EC-4915-A137-34975318221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12</a:t>
            </a:r>
          </a:p>
        </p:txBody>
      </p:sp>
    </p:spTree>
    <p:extLst>
      <p:ext uri="{BB962C8B-B14F-4D97-AF65-F5344CB8AC3E}">
        <p14:creationId xmlns:p14="http://schemas.microsoft.com/office/powerpoint/2010/main" val="342146042"/>
      </p:ext>
    </p:extLst>
  </p:cSld>
  <p:transition spd="med" advClick="1">
    <p:fade/>
  </p:transition>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9ECC04D7-A4D4-4460-887B-097C006C2B8B}"/>
              </a:ext>
            </a:extLst>
          </p:cNvPr>
          <p:cNvPicPr>
            <a:picLocks xmlns:a="http://schemas.openxmlformats.org/drawingml/2006/main" noChangeAspect="1"/>
          </p:cNvPicPr>
          <p:nvPr/>
        </p:nvPicPr>
        <p:blipFill>
          <a:blip xmlns:r="http://schemas.openxmlformats.org/officeDocument/2006/relationships" xmlns:a="http://schemas.openxmlformats.org/drawingml/2006/main" r:embed="R4993c7de9783489d"/>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3C712A79-4D56-4388-9FEA-1AE25E58442B}"/>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Transformaciones y acciones</a:t>
            </a:r>
          </a:p>
        </p:txBody>
      </p:sp>
      <p:sp>
        <p:nvSpPr>
          <p:cNvPr id="3" name="">
            <a:extLst xmlns:a="http://schemas.openxmlformats.org/drawingml/2006/main">
              <a:ext uri="{FF2B5EF4-FFF2-40B4-BE49-F238E27FC236}">
                <a16:creationId xmlns:a16="http://schemas.microsoft.com/office/drawing/2014/main" id="{2FF512D6-85E5-447A-A368-F2BB8BEF7256}"/>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datos = spark.read.parquet(str(archivo_eva))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aptos = datos.filter(F.col("apto_rendimiento"))</a:t>
            </a:r>
          </a:p>
          <a:p xmlns:a="http://schemas.openxmlformats.org/drawingml/2006/main">
            <a:r>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Construir el plan.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consulta = aptos.groupBy("cultivo").count()</a:t>
            </a:r>
          </a:p>
          <a:p xmlns:a="http://schemas.openxmlformats.org/drawingml/2006/main">
            <a:r>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Solicitar un resultado.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consulta.show(5)</a:t>
            </a:r>
          </a:p>
        </p:txBody>
      </p:sp>
      <p:sp>
        <p:nvSpPr>
          <p:cNvPr id="4" name="">
            <a:extLst xmlns:a="http://schemas.openxmlformats.org/drawingml/2006/main">
              <a:ext uri="{FF2B5EF4-FFF2-40B4-BE49-F238E27FC236}">
                <a16:creationId xmlns:a16="http://schemas.microsoft.com/office/drawing/2014/main" id="{1BC2B7B2-B6E2-462E-B0DC-FAC3739008A8}"/>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Transformación</a:t>
            </a:r>
          </a:p>
        </p:txBody>
      </p:sp>
      <p:sp>
        <p:nvSpPr>
          <p:cNvPr id="5" name="">
            <a:extLst xmlns:a="http://schemas.openxmlformats.org/drawingml/2006/main">
              <a:ext uri="{FF2B5EF4-FFF2-40B4-BE49-F238E27FC236}">
                <a16:creationId xmlns:a16="http://schemas.microsoft.com/office/drawing/2014/main" id="{B85655CA-5245-4CC5-9F03-3FECDA1E2520}"/>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filter y groupBy describen el cálculo pendiente.</a:t>
            </a:r>
          </a:p>
        </p:txBody>
      </p:sp>
      <p:sp>
        <p:nvSpPr>
          <p:cNvPr id="6" name="">
            <a:extLst xmlns:a="http://schemas.openxmlformats.org/drawingml/2006/main">
              <a:ext uri="{FF2B5EF4-FFF2-40B4-BE49-F238E27FC236}">
                <a16:creationId xmlns:a16="http://schemas.microsoft.com/office/drawing/2014/main" id="{45C28151-389B-4FDC-9C8D-AA90F4BC2E54}"/>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Acción</a:t>
            </a:r>
          </a:p>
        </p:txBody>
      </p:sp>
      <p:sp>
        <p:nvSpPr>
          <p:cNvPr id="7" name="">
            <a:extLst xmlns:a="http://schemas.openxmlformats.org/drawingml/2006/main">
              <a:ext uri="{FF2B5EF4-FFF2-40B4-BE49-F238E27FC236}">
                <a16:creationId xmlns:a16="http://schemas.microsoft.com/office/drawing/2014/main" id="{BADB7E0C-5024-45C2-B759-C81493868D08}"/>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show solicita procesar lo necesario para mostrar filas.</a:t>
            </a:r>
          </a:p>
        </p:txBody>
      </p:sp>
      <p:sp>
        <p:nvSpPr>
          <p:cNvPr id="8" name="">
            <a:extLst xmlns:a="http://schemas.openxmlformats.org/drawingml/2006/main">
              <a:ext uri="{FF2B5EF4-FFF2-40B4-BE49-F238E27FC236}">
                <a16:creationId xmlns:a16="http://schemas.microsoft.com/office/drawing/2014/main" id="{2D6DA836-CD32-4996-96AF-7FC48FBC6BA8}"/>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lectura puede consultar metadatos antes de una acción. Las filas se procesan de forma diferida.</a:t>
            </a:r>
          </a:p>
        </p:txBody>
      </p:sp>
      <p:sp>
        <p:nvSpPr>
          <p:cNvPr id="9" name="">
            <a:extLst xmlns:a="http://schemas.openxmlformats.org/drawingml/2006/main">
              <a:ext uri="{FF2B5EF4-FFF2-40B4-BE49-F238E27FC236}">
                <a16:creationId xmlns:a16="http://schemas.microsoft.com/office/drawing/2014/main" id="{4B788E4D-C1E7-4FC8-8171-E0EEA47B8A82}"/>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13AF3BDB-AED4-45F2-B558-C2F23E5DEA4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13</a:t>
            </a:r>
          </a:p>
        </p:txBody>
      </p:sp>
    </p:spTree>
    <p:extLst>
      <p:ext uri="{BB962C8B-B14F-4D97-AF65-F5344CB8AC3E}">
        <p14:creationId xmlns:p14="http://schemas.microsoft.com/office/powerpoint/2010/main" val="1569672741"/>
      </p:ext>
    </p:extLst>
  </p:cSld>
  <p:transition spd="med" advClick="1">
    <p:fade/>
  </p:transition>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19B4012-85AE-4119-A172-E2003BA4DA64}"/>
              </a:ext>
            </a:extLst>
          </p:cNvPr>
          <p:cNvPicPr>
            <a:picLocks xmlns:a="http://schemas.openxmlformats.org/drawingml/2006/main" noChangeAspect="1"/>
          </p:cNvPicPr>
          <p:nvPr/>
        </p:nvPicPr>
        <p:blipFill>
          <a:blip xmlns:r="http://schemas.openxmlformats.org/officeDocument/2006/relationships" xmlns:a="http://schemas.openxmlformats.org/drawingml/2006/main" r:embed="Rabda3906a1c74c7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9C47115-324A-4453-9931-0AB95474A8BC}"/>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Plan lógico y plan físico</a:t>
            </a:r>
          </a:p>
        </p:txBody>
      </p:sp>
      <p:graphicFrame>
        <p:nvGraphicFramePr>
          <p:cNvPr id="3" name="">
            <a:extLst xmlns:a="http://schemas.openxmlformats.org/drawingml/2006/main">
              <a:ext uri="{FF2B5EF4-FFF2-40B4-BE49-F238E27FC236}">
                <a16:creationId xmlns:a16="http://schemas.microsoft.com/office/drawing/2014/main" id="{051E4079-6F93-4942-AA81-AC7B4A6D6845}"/>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Paso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Aplicación a nuestra agregación</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Expresión del estudiante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Leer, filtrar aptos y sumar producción por clave.</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Plan lógico analizado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Resolver nombres de columnas y comprobar tipos.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Optimización con Catalyst</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Simplificar expresiones y evitar leer columnas innecesarias cuando sea posible.</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Plan físico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Elegir Scan, Filter, agregación parcial, Exchange y agregación final.</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Durante la ejecución</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AQE puede ajustar decisiones con estadísticas reales.</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7BE08326-7E36-44B9-B920-25C7D2338EA5}"/>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El plan lógico expresa la operación. El plan físico selecciona cómo ejecutarla.</a:t>
            </a:r>
          </a:p>
        </p:txBody>
      </p:sp>
      <p:sp>
        <p:nvSpPr>
          <p:cNvPr id="5" name="">
            <a:extLst xmlns:a="http://schemas.openxmlformats.org/drawingml/2006/main">
              <a:ext uri="{FF2B5EF4-FFF2-40B4-BE49-F238E27FC236}">
                <a16:creationId xmlns:a16="http://schemas.microsoft.com/office/drawing/2014/main" id="{565BC954-753C-4E05-9FCD-924FAB6A9061}"/>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D51B2D79-10CE-40AD-8946-41665B0DB9C6}"/>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14</a:t>
            </a:r>
          </a:p>
        </p:txBody>
      </p:sp>
    </p:spTree>
    <p:extLst>
      <p:ext uri="{BB962C8B-B14F-4D97-AF65-F5344CB8AC3E}">
        <p14:creationId xmlns:p14="http://schemas.microsoft.com/office/powerpoint/2010/main" val="951698658"/>
      </p:ext>
    </p:extLst>
  </p:cSld>
  <p:transition spd="med" advClick="1">
    <p:fade/>
  </p:transition>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FC8A246-3E06-471E-B194-C95A7CABC9D7}"/>
              </a:ext>
            </a:extLst>
          </p:cNvPr>
          <p:cNvPicPr>
            <a:picLocks xmlns:a="http://schemas.openxmlformats.org/drawingml/2006/main" noChangeAspect="1"/>
          </p:cNvPicPr>
          <p:nvPr/>
        </p:nvPicPr>
        <p:blipFill>
          <a:blip xmlns:r="http://schemas.openxmlformats.org/officeDocument/2006/relationships" xmlns:a="http://schemas.openxmlformats.org/drawingml/2006/main" r:embed="R4aa567cc5788464e"/>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C49E263-EE7D-4827-BE89-B64C9E95C096}"/>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Jobs, stages y tasks</a:t>
            </a:r>
          </a:p>
        </p:txBody>
      </p:sp>
      <p:pic>
        <p:nvPicPr>
          <p:cNvPr id="3" name="">
            <a:extLst xmlns:a="http://schemas.openxmlformats.org/drawingml/2006/main">
              <a:ext uri="{FF2B5EF4-FFF2-40B4-BE49-F238E27FC236}">
                <a16:creationId xmlns:a16="http://schemas.microsoft.com/office/drawing/2014/main" id="{BE2F3155-5036-4F5E-9191-C47FF458DDBD}"/>
              </a:ext>
            </a:extLst>
          </p:cNvPr>
          <p:cNvPicPr>
            <a:picLocks xmlns:a="http://schemas.openxmlformats.org/drawingml/2006/main" noChangeAspect="1"/>
          </p:cNvPicPr>
          <p:nvPr/>
        </p:nvPicPr>
        <p:blipFill>
          <a:blip xmlns:r="http://schemas.openxmlformats.org/officeDocument/2006/relationships" xmlns:a="http://schemas.openxmlformats.org/drawingml/2006/main" r:embed="R1c65d3e0d0d5418c"/>
          <a:stretch xmlns:a="http://schemas.openxmlformats.org/drawingml/2006/main"/>
        </p:blipFill>
        <p:spPr>
          <a:xfrm xmlns:a="http://schemas.openxmlformats.org/drawingml/2006/main">
            <a:off x="2076470" y="1285875"/>
            <a:ext cx="8039060" cy="45243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3CC042C-2AA6-430F-9D14-CB262D3D02C2}"/>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 job solicita un resultado. Las etapas agrupan tareas. Cada tarea procesa una partición.</a:t>
            </a:r>
          </a:p>
        </p:txBody>
      </p:sp>
      <p:sp>
        <p:nvSpPr>
          <p:cNvPr id="5" name="">
            <a:extLst xmlns:a="http://schemas.openxmlformats.org/drawingml/2006/main">
              <a:ext uri="{FF2B5EF4-FFF2-40B4-BE49-F238E27FC236}">
                <a16:creationId xmlns:a16="http://schemas.microsoft.com/office/drawing/2014/main" id="{AA4E40E3-B458-42AB-9290-98BFFA46598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BE369B32-2DE5-4954-A926-17C788FA2784}"/>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15</a:t>
            </a:r>
          </a:p>
        </p:txBody>
      </p:sp>
    </p:spTree>
    <p:extLst>
      <p:ext uri="{BB962C8B-B14F-4D97-AF65-F5344CB8AC3E}">
        <p14:creationId xmlns:p14="http://schemas.microsoft.com/office/powerpoint/2010/main" val="2144906036"/>
      </p:ext>
    </p:extLst>
  </p:cSld>
  <p:transition spd="med" advClick="1">
    <p:fade/>
  </p:transition>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E448F782-170C-4046-8A11-054B66F6E1E4}"/>
              </a:ext>
            </a:extLst>
          </p:cNvPr>
          <p:cNvPicPr>
            <a:picLocks xmlns:a="http://schemas.openxmlformats.org/drawingml/2006/main" noChangeAspect="1"/>
          </p:cNvPicPr>
          <p:nvPr/>
        </p:nvPicPr>
        <p:blipFill>
          <a:blip xmlns:r="http://schemas.openxmlformats.org/officeDocument/2006/relationships" xmlns:a="http://schemas.openxmlformats.org/drawingml/2006/main" r:embed="R0cc863d11f2f467a"/>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8C43FC-44EB-4AED-A984-23521AE3365E}"/>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Procesamiento dentro de una etapa</a:t>
            </a:r>
          </a:p>
        </p:txBody>
      </p:sp>
      <p:pic>
        <p:nvPicPr>
          <p:cNvPr id="3" name="">
            <a:extLst xmlns:a="http://schemas.openxmlformats.org/drawingml/2006/main">
              <a:ext uri="{FF2B5EF4-FFF2-40B4-BE49-F238E27FC236}">
                <a16:creationId xmlns:a16="http://schemas.microsoft.com/office/drawing/2014/main" id="{38BD4EC4-10F4-4758-AC7E-7FCB2F5ACEB5}"/>
              </a:ext>
            </a:extLst>
          </p:cNvPr>
          <p:cNvPicPr>
            <a:picLocks xmlns:a="http://schemas.openxmlformats.org/drawingml/2006/main" noChangeAspect="1"/>
          </p:cNvPicPr>
          <p:nvPr/>
        </p:nvPicPr>
        <p:blipFill>
          <a:blip xmlns:r="http://schemas.openxmlformats.org/officeDocument/2006/relationships" xmlns:a="http://schemas.openxmlformats.org/drawingml/2006/main" r:embed="Red7ca7bcd2534769"/>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A46E43-EB7D-4A67-A369-FEDF78123EDC}"/>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La tarea recibe una partición</a:t>
            </a:r>
          </a:p>
        </p:txBody>
      </p:sp>
      <p:sp>
        <p:nvSpPr>
          <p:cNvPr id="5" name="">
            <a:extLst xmlns:a="http://schemas.openxmlformats.org/drawingml/2006/main">
              <a:ext uri="{FF2B5EF4-FFF2-40B4-BE49-F238E27FC236}">
                <a16:creationId xmlns:a16="http://schemas.microsoft.com/office/drawing/2014/main" id="{69E81EE1-6DF7-49C7-8936-9BF10C7025A4}"/>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Lee las columnas necesarias para su parte de los archivos.</a:t>
            </a:r>
          </a:p>
        </p:txBody>
      </p:sp>
      <p:sp>
        <p:nvSpPr>
          <p:cNvPr id="6" name="">
            <a:extLst xmlns:a="http://schemas.openxmlformats.org/drawingml/2006/main">
              <a:ext uri="{FF2B5EF4-FFF2-40B4-BE49-F238E27FC236}">
                <a16:creationId xmlns:a16="http://schemas.microsoft.com/office/drawing/2014/main" id="{6B1BAB33-D969-4FDD-88FF-79608E05E3C6}"/>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Encadena operaciones</a:t>
            </a:r>
          </a:p>
        </p:txBody>
      </p:sp>
      <p:sp>
        <p:nvSpPr>
          <p:cNvPr id="7" name="">
            <a:extLst xmlns:a="http://schemas.openxmlformats.org/drawingml/2006/main">
              <a:ext uri="{FF2B5EF4-FFF2-40B4-BE49-F238E27FC236}">
                <a16:creationId xmlns:a16="http://schemas.microsoft.com/office/drawing/2014/main" id="{7DB34FC4-D6D1-408A-9801-752955DA266E}"/>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Descarta filas no aptas y acumula producción y área por clave.</a:t>
            </a:r>
          </a:p>
        </p:txBody>
      </p:sp>
      <p:sp>
        <p:nvSpPr>
          <p:cNvPr id="8" name="">
            <a:extLst xmlns:a="http://schemas.openxmlformats.org/drawingml/2006/main">
              <a:ext uri="{FF2B5EF4-FFF2-40B4-BE49-F238E27FC236}">
                <a16:creationId xmlns:a16="http://schemas.microsoft.com/office/drawing/2014/main" id="{7AD76687-D285-4FF6-93FC-220269636694}"/>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Produce una salida parcial</a:t>
            </a:r>
          </a:p>
        </p:txBody>
      </p:sp>
      <p:sp>
        <p:nvSpPr>
          <p:cNvPr id="9" name="">
            <a:extLst xmlns:a="http://schemas.openxmlformats.org/drawingml/2006/main">
              <a:ext uri="{FF2B5EF4-FFF2-40B4-BE49-F238E27FC236}">
                <a16:creationId xmlns:a16="http://schemas.microsoft.com/office/drawing/2014/main" id="{524D83AC-2B19-4773-BF47-2BFD7BAEAC4A}"/>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Conserva sumas locales. Aún faltan los aportes de otras particiones.</a:t>
            </a:r>
          </a:p>
        </p:txBody>
      </p:sp>
      <p:sp>
        <p:nvSpPr>
          <p:cNvPr id="10" name="">
            <a:extLst xmlns:a="http://schemas.openxmlformats.org/drawingml/2006/main">
              <a:ext uri="{FF2B5EF4-FFF2-40B4-BE49-F238E27FC236}">
                <a16:creationId xmlns:a16="http://schemas.microsoft.com/office/drawing/2014/main" id="{3062B21E-D70D-4BD1-A804-D8F0127BBBEF}"/>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Lectura, filtro y suma parcial pueden formar parte de una misma tarea.</a:t>
            </a:r>
          </a:p>
        </p:txBody>
      </p:sp>
      <p:sp>
        <p:nvSpPr>
          <p:cNvPr id="11" name="">
            <a:extLst xmlns:a="http://schemas.openxmlformats.org/drawingml/2006/main">
              <a:ext uri="{FF2B5EF4-FFF2-40B4-BE49-F238E27FC236}">
                <a16:creationId xmlns:a16="http://schemas.microsoft.com/office/drawing/2014/main" id="{A62E3C3D-9639-4DF2-92C3-DDD8DD65CB42}"/>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5E2734D2-40E5-44C8-B1DC-2AFB1735DC56}"/>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16</a:t>
            </a:r>
          </a:p>
        </p:txBody>
      </p:sp>
    </p:spTree>
    <p:extLst>
      <p:ext uri="{BB962C8B-B14F-4D97-AF65-F5344CB8AC3E}">
        <p14:creationId xmlns:p14="http://schemas.microsoft.com/office/powerpoint/2010/main" val="28719556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7D180A7C-290A-4679-9CBF-B5964CE6D4AA}"/>
              </a:ext>
            </a:extLst>
          </p:cNvPr>
          <p:cNvPicPr>
            <a:picLocks xmlns:a="http://schemas.openxmlformats.org/drawingml/2006/main" noChangeAspect="1"/>
          </p:cNvPicPr>
          <p:nvPr/>
        </p:nvPicPr>
        <p:blipFill>
          <a:blip xmlns:r="http://schemas.openxmlformats.org/officeDocument/2006/relationships" xmlns:a="http://schemas.openxmlformats.org/drawingml/2006/main" r:embed="R1597fc1242254e0f"/>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21F9480-EEE6-4D39-96C8-9A0878E307AD}"/>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Necesidad del shuffle</a:t>
            </a:r>
          </a:p>
        </p:txBody>
      </p:sp>
      <p:pic>
        <p:nvPicPr>
          <p:cNvPr id="3" name="">
            <a:extLst xmlns:a="http://schemas.openxmlformats.org/drawingml/2006/main">
              <a:ext uri="{FF2B5EF4-FFF2-40B4-BE49-F238E27FC236}">
                <a16:creationId xmlns:a16="http://schemas.microsoft.com/office/drawing/2014/main" id="{13D61FE2-BF19-4064-B2DA-1F55BB71C13E}"/>
              </a:ext>
            </a:extLst>
          </p:cNvPr>
          <p:cNvPicPr>
            <a:picLocks xmlns:a="http://schemas.openxmlformats.org/drawingml/2006/main" noChangeAspect="1"/>
          </p:cNvPicPr>
          <p:nvPr/>
        </p:nvPicPr>
        <p:blipFill>
          <a:blip xmlns:r="http://schemas.openxmlformats.org/officeDocument/2006/relationships" xmlns:a="http://schemas.openxmlformats.org/drawingml/2006/main" r:embed="Rfa9eb79ec8de4d70"/>
          <a:stretch xmlns:a="http://schemas.openxmlformats.org/drawingml/2006/main"/>
        </p:blipFill>
        <p:spPr>
          <a:xfrm xmlns:a="http://schemas.openxmlformats.org/drawingml/2006/main">
            <a:off x="812800" y="1409700"/>
            <a:ext cx="584200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517363-C438-4B0B-9118-9ED075338BFE}"/>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Claves repetidas</a:t>
            </a:r>
          </a:p>
        </p:txBody>
      </p:sp>
      <p:sp>
        <p:nvSpPr>
          <p:cNvPr id="5" name="">
            <a:extLst xmlns:a="http://schemas.openxmlformats.org/drawingml/2006/main">
              <a:ext uri="{FF2B5EF4-FFF2-40B4-BE49-F238E27FC236}">
                <a16:creationId xmlns:a16="http://schemas.microsoft.com/office/drawing/2014/main" id="{6E3AED0B-C1B2-4996-B14B-E2ED7A04D432}"/>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Dos particiones contienen registros del mismo municipio y cultivo.</a:t>
            </a:r>
          </a:p>
        </p:txBody>
      </p:sp>
      <p:sp>
        <p:nvSpPr>
          <p:cNvPr id="6" name="">
            <a:extLst xmlns:a="http://schemas.openxmlformats.org/drawingml/2006/main">
              <a:ext uri="{FF2B5EF4-FFF2-40B4-BE49-F238E27FC236}">
                <a16:creationId xmlns:a16="http://schemas.microsoft.com/office/drawing/2014/main" id="{D43B2A61-8F72-4873-A3BB-FD9C185ABC87}"/>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Sumas incompletas</a:t>
            </a:r>
          </a:p>
        </p:txBody>
      </p:sp>
      <p:sp>
        <p:nvSpPr>
          <p:cNvPr id="7" name="">
            <a:extLst xmlns:a="http://schemas.openxmlformats.org/drawingml/2006/main">
              <a:ext uri="{FF2B5EF4-FFF2-40B4-BE49-F238E27FC236}">
                <a16:creationId xmlns:a16="http://schemas.microsoft.com/office/drawing/2014/main" id="{4F349C46-F802-4848-B374-563D4509756D}"/>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Cada tarea puede sumar su entrada, pero desconoce los aportes de las otras.</a:t>
            </a:r>
          </a:p>
        </p:txBody>
      </p:sp>
      <p:sp>
        <p:nvSpPr>
          <p:cNvPr id="8" name="">
            <a:extLst xmlns:a="http://schemas.openxmlformats.org/drawingml/2006/main">
              <a:ext uri="{FF2B5EF4-FFF2-40B4-BE49-F238E27FC236}">
                <a16:creationId xmlns:a16="http://schemas.microsoft.com/office/drawing/2014/main" id="{0B4F18AB-5EDD-443D-98D6-05FAFC6BE1DC}"/>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La clave define un destino</a:t>
            </a:r>
          </a:p>
        </p:txBody>
      </p:sp>
      <p:sp>
        <p:nvSpPr>
          <p:cNvPr id="9" name="">
            <a:extLst xmlns:a="http://schemas.openxmlformats.org/drawingml/2006/main">
              <a:ext uri="{FF2B5EF4-FFF2-40B4-BE49-F238E27FC236}">
                <a16:creationId xmlns:a16="http://schemas.microsoft.com/office/drawing/2014/main" id="{7E9EF1BC-A753-48C5-867C-5AC4911DEDE0}"/>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El intercambio reúne los aportes de esa clave para completar su agregación.</a:t>
            </a:r>
          </a:p>
        </p:txBody>
      </p:sp>
      <p:sp>
        <p:nvSpPr>
          <p:cNvPr id="10" name="">
            <a:extLst xmlns:a="http://schemas.openxmlformats.org/drawingml/2006/main">
              <a:ext uri="{FF2B5EF4-FFF2-40B4-BE49-F238E27FC236}">
                <a16:creationId xmlns:a16="http://schemas.microsoft.com/office/drawing/2014/main" id="{19D303E9-9BAD-473C-A5B7-A39B3D5E82F4}"/>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Redistribuir datos implica serialización, disco y, entre nodos, tráfico de red.</a:t>
            </a:r>
          </a:p>
        </p:txBody>
      </p:sp>
      <p:sp>
        <p:nvSpPr>
          <p:cNvPr id="11" name="">
            <a:extLst xmlns:a="http://schemas.openxmlformats.org/drawingml/2006/main">
              <a:ext uri="{FF2B5EF4-FFF2-40B4-BE49-F238E27FC236}">
                <a16:creationId xmlns:a16="http://schemas.microsoft.com/office/drawing/2014/main" id="{C30475AF-1F53-4D20-B1C3-8F045AB1DB3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0477ADA9-9C51-48F4-A552-751722EA1DB8}"/>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17</a:t>
            </a:r>
          </a:p>
        </p:txBody>
      </p:sp>
    </p:spTree>
    <p:extLst>
      <p:ext uri="{BB962C8B-B14F-4D97-AF65-F5344CB8AC3E}">
        <p14:creationId xmlns:p14="http://schemas.microsoft.com/office/powerpoint/2010/main" val="334550266"/>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CE311890-E0CA-4BE5-A481-3BA5AB3FC4EB}"/>
              </a:ext>
            </a:extLst>
          </p:cNvPr>
          <p:cNvPicPr>
            <a:picLocks xmlns:a="http://schemas.openxmlformats.org/drawingml/2006/main" noChangeAspect="1"/>
          </p:cNvPicPr>
          <p:nvPr/>
        </p:nvPicPr>
        <p:blipFill>
          <a:blip xmlns:r="http://schemas.openxmlformats.org/officeDocument/2006/relationships" xmlns:a="http://schemas.openxmlformats.org/drawingml/2006/main" r:embed="R9119d25995d44ee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F5133B4-CD2C-4787-9E47-FD8724DEF9FB}"/>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Shuffle paso a paso</a:t>
            </a:r>
          </a:p>
        </p:txBody>
      </p:sp>
      <p:graphicFrame>
        <p:nvGraphicFramePr>
          <p:cNvPr id="3" name="">
            <a:extLst xmlns:a="http://schemas.openxmlformats.org/drawingml/2006/main">
              <a:ext uri="{FF2B5EF4-FFF2-40B4-BE49-F238E27FC236}">
                <a16:creationId xmlns:a16="http://schemas.microsoft.com/office/drawing/2014/main" id="{E56D358D-783C-4A70-97DB-802638D66E28}"/>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Momento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Datos del ejemplo: producción en t y área en ha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Entrada P0</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A=(10,2), A=(4,1), B=(9,3).</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Entrada P1</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A=(16,7), B=(3,1).</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Sumas parciales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P0: A=(14,3), B=(9,3). P1: A=(16,7), B=(3,1).</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Intercambio</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Destino A recibe (14,3) y (16,7). Destino B recibe (9,3) y (3,1).</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Resultado final</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A: 30/10 = 3 t/ha. B: 12/4 = 3 t/ha.</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D4B8E3C2-C937-43BD-B769-54B0A5AE627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La suma parcial reduce cinco registros de entrada a cuatro aportes antes del intercambio.</a:t>
            </a:r>
          </a:p>
        </p:txBody>
      </p:sp>
      <p:sp>
        <p:nvSpPr>
          <p:cNvPr id="5" name="">
            <a:extLst xmlns:a="http://schemas.openxmlformats.org/drawingml/2006/main">
              <a:ext uri="{FF2B5EF4-FFF2-40B4-BE49-F238E27FC236}">
                <a16:creationId xmlns:a16="http://schemas.microsoft.com/office/drawing/2014/main" id="{D6B49B54-4C13-4E43-B140-F20EF7A49489}"/>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571B5385-22FE-4EB7-AB56-3E16A124B994}"/>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18</a:t>
            </a:r>
          </a:p>
        </p:txBody>
      </p:sp>
    </p:spTree>
    <p:extLst>
      <p:ext uri="{BB962C8B-B14F-4D97-AF65-F5344CB8AC3E}">
        <p14:creationId xmlns:p14="http://schemas.microsoft.com/office/powerpoint/2010/main" val="319234851"/>
      </p:ext>
    </p:extLst>
  </p:cSld>
  <p:transition spd="med" advClick="1">
    <p:fade/>
  </p:transition>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50ED691F-846C-4CE8-8BC3-488C262EE6D5}"/>
              </a:ext>
            </a:extLst>
          </p:cNvPr>
          <p:cNvPicPr>
            <a:picLocks xmlns:a="http://schemas.openxmlformats.org/drawingml/2006/main" noChangeAspect="1"/>
          </p:cNvPicPr>
          <p:nvPr/>
        </p:nvPicPr>
        <p:blipFill>
          <a:blip xmlns:r="http://schemas.openxmlformats.org/officeDocument/2006/relationships" xmlns:a="http://schemas.openxmlformats.org/drawingml/2006/main" r:embed="R2e24e6137ae04dd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DE95433-AF9D-4BAF-B496-F272788E88F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Memoria, disco y caché</a:t>
            </a:r>
          </a:p>
        </p:txBody>
      </p:sp>
      <p:pic>
        <p:nvPicPr>
          <p:cNvPr id="3" name="">
            <a:extLst xmlns:a="http://schemas.openxmlformats.org/drawingml/2006/main">
              <a:ext uri="{FF2B5EF4-FFF2-40B4-BE49-F238E27FC236}">
                <a16:creationId xmlns:a16="http://schemas.microsoft.com/office/drawing/2014/main" id="{BB64F32A-E67C-424A-9BC6-683525B6AD20}"/>
              </a:ext>
            </a:extLst>
          </p:cNvPr>
          <p:cNvPicPr>
            <a:picLocks xmlns:a="http://schemas.openxmlformats.org/drawingml/2006/main" noChangeAspect="1"/>
          </p:cNvPicPr>
          <p:nvPr/>
        </p:nvPicPr>
        <p:blipFill>
          <a:blip xmlns:r="http://schemas.openxmlformats.org/officeDocument/2006/relationships" xmlns:a="http://schemas.openxmlformats.org/drawingml/2006/main" r:embed="Rcd9ee8037bdd48d9"/>
          <a:stretch xmlns:a="http://schemas.openxmlformats.org/drawingml/2006/main"/>
        </p:blipFill>
        <p:spPr>
          <a:xfrm xmlns:a="http://schemas.openxmlformats.org/drawingml/2006/main">
            <a:off x="447675" y="1409700"/>
            <a:ext cx="657225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A6E1497-D195-4618-961F-1978BA37A22D}"/>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Memoria de ejecución</a:t>
            </a:r>
          </a:p>
        </p:txBody>
      </p:sp>
      <p:sp>
        <p:nvSpPr>
          <p:cNvPr id="5" name="">
            <a:extLst xmlns:a="http://schemas.openxmlformats.org/drawingml/2006/main">
              <a:ext uri="{FF2B5EF4-FFF2-40B4-BE49-F238E27FC236}">
                <a16:creationId xmlns:a16="http://schemas.microsoft.com/office/drawing/2014/main" id="{F965A920-5224-4433-9C27-FEFB8C0D5B99}"/>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Las tareas mantienen estructuras para agregar, ordenar o unir datos.</a:t>
            </a:r>
          </a:p>
        </p:txBody>
      </p:sp>
      <p:sp>
        <p:nvSpPr>
          <p:cNvPr id="6" name="">
            <a:extLst xmlns:a="http://schemas.openxmlformats.org/drawingml/2006/main">
              <a:ext uri="{FF2B5EF4-FFF2-40B4-BE49-F238E27FC236}">
                <a16:creationId xmlns:a16="http://schemas.microsoft.com/office/drawing/2014/main" id="{39BF0810-84B7-4A57-A9F0-6075D54E1CA8}"/>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Descarga a disco</a:t>
            </a:r>
          </a:p>
        </p:txBody>
      </p:sp>
      <p:sp>
        <p:nvSpPr>
          <p:cNvPr id="7" name="">
            <a:extLst xmlns:a="http://schemas.openxmlformats.org/drawingml/2006/main">
              <a:ext uri="{FF2B5EF4-FFF2-40B4-BE49-F238E27FC236}">
                <a16:creationId xmlns:a16="http://schemas.microsoft.com/office/drawing/2014/main" id="{A5358F4C-3D7A-4B83-84C5-19F781F0FBDC}"/>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Algunos operadores pueden hacer spill para continuar, pagando más E/S.</a:t>
            </a:r>
          </a:p>
        </p:txBody>
      </p:sp>
      <p:sp>
        <p:nvSpPr>
          <p:cNvPr id="8" name="">
            <a:extLst xmlns:a="http://schemas.openxmlformats.org/drawingml/2006/main">
              <a:ext uri="{FF2B5EF4-FFF2-40B4-BE49-F238E27FC236}">
                <a16:creationId xmlns:a16="http://schemas.microsoft.com/office/drawing/2014/main" id="{0A68BB05-A9C8-47B5-9837-A6F68129CC6E}"/>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Resultados reutilizables</a:t>
            </a:r>
          </a:p>
        </p:txBody>
      </p:sp>
      <p:sp>
        <p:nvSpPr>
          <p:cNvPr id="9" name="">
            <a:extLst xmlns:a="http://schemas.openxmlformats.org/drawingml/2006/main">
              <a:ext uri="{FF2B5EF4-FFF2-40B4-BE49-F238E27FC236}">
                <a16:creationId xmlns:a16="http://schemas.microsoft.com/office/drawing/2014/main" id="{CB3A174A-51C8-4BC0-BF89-F3F2A78EEF5C}"/>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cache o persist conserva bloques. Una acción materializa lo que se necesita.</a:t>
            </a:r>
          </a:p>
        </p:txBody>
      </p:sp>
      <p:sp>
        <p:nvSpPr>
          <p:cNvPr id="10" name="">
            <a:extLst xmlns:a="http://schemas.openxmlformats.org/drawingml/2006/main">
              <a:ext uri="{FF2B5EF4-FFF2-40B4-BE49-F238E27FC236}">
                <a16:creationId xmlns:a16="http://schemas.microsoft.com/office/drawing/2014/main" id="{381FF63D-1C39-4562-8358-5C1F31D6170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Un dataset mayor que la RAM puede procesarse, pero una tarea o el driver aún pueden agotar memoria.</a:t>
            </a:r>
          </a:p>
        </p:txBody>
      </p:sp>
      <p:sp>
        <p:nvSpPr>
          <p:cNvPr id="11" name="">
            <a:extLst xmlns:a="http://schemas.openxmlformats.org/drawingml/2006/main">
              <a:ext uri="{FF2B5EF4-FFF2-40B4-BE49-F238E27FC236}">
                <a16:creationId xmlns:a16="http://schemas.microsoft.com/office/drawing/2014/main" id="{101DAA94-D963-44E2-ADEE-DB76E5686DF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A762417E-0C9B-49A8-9D28-821BAD3C34C4}"/>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19</a:t>
            </a:r>
          </a:p>
        </p:txBody>
      </p:sp>
    </p:spTree>
    <p:extLst>
      <p:ext uri="{BB962C8B-B14F-4D97-AF65-F5344CB8AC3E}">
        <p14:creationId xmlns:p14="http://schemas.microsoft.com/office/powerpoint/2010/main" val="812418144"/>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CD973940-2A0F-4E80-8CAF-2BD95F841096}"/>
              </a:ext>
            </a:extLst>
          </p:cNvPr>
          <p:cNvPicPr>
            <a:picLocks xmlns:a="http://schemas.openxmlformats.org/drawingml/2006/main" noChangeAspect="1"/>
          </p:cNvPicPr>
          <p:nvPr/>
        </p:nvPicPr>
        <p:blipFill>
          <a:blip xmlns:r="http://schemas.openxmlformats.org/officeDocument/2006/relationships" xmlns:a="http://schemas.openxmlformats.org/drawingml/2006/main" r:embed="R8181592fbb484798"/>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B8AD469-AEA4-4FD2-A1A8-34B00D99ECE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Recuperación ante fallos</a:t>
            </a:r>
          </a:p>
        </p:txBody>
      </p:sp>
      <p:pic>
        <p:nvPicPr>
          <p:cNvPr id="3" name="">
            <a:extLst xmlns:a="http://schemas.openxmlformats.org/drawingml/2006/main">
              <a:ext uri="{FF2B5EF4-FFF2-40B4-BE49-F238E27FC236}">
                <a16:creationId xmlns:a16="http://schemas.microsoft.com/office/drawing/2014/main" id="{057C7E42-6C3B-44D6-81DB-52CCB5A5F797}"/>
              </a:ext>
            </a:extLst>
          </p:cNvPr>
          <p:cNvPicPr>
            <a:picLocks xmlns:a="http://schemas.openxmlformats.org/drawingml/2006/main" noChangeAspect="1"/>
          </p:cNvPicPr>
          <p:nvPr/>
        </p:nvPicPr>
        <p:blipFill>
          <a:blip xmlns:r="http://schemas.openxmlformats.org/officeDocument/2006/relationships" xmlns:a="http://schemas.openxmlformats.org/drawingml/2006/main" r:embed="Rb76a9c13ea114923"/>
          <a:stretch xmlns:a="http://schemas.openxmlformats.org/drawingml/2006/main"/>
        </p:blipFill>
        <p:spPr>
          <a:xfrm xmlns:a="http://schemas.openxmlformats.org/drawingml/2006/main">
            <a:off x="812800" y="1409700"/>
            <a:ext cx="5842000" cy="43815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43706E2C-D049-457E-AC3C-23F8CE16B441}"/>
              </a:ext>
            </a:extLst>
          </p:cNvPr>
          <p:cNvSpPr>
            <a:spLocks xmlns:a="http://schemas.openxmlformats.org/drawingml/2006/main" noGrp="1"/>
          </p:cNvSpPr>
          <p:nvPr/>
        </p:nvSpPr>
        <p:spPr>
          <a:xfrm xmlns:a="http://schemas.openxmlformats.org/drawingml/2006/main">
            <a:off x="7524750" y="15716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Falla una tarea</a:t>
            </a:r>
          </a:p>
        </p:txBody>
      </p:sp>
      <p:sp>
        <p:nvSpPr>
          <p:cNvPr id="5" name="">
            <a:extLst xmlns:a="http://schemas.openxmlformats.org/drawingml/2006/main">
              <a:ext uri="{FF2B5EF4-FFF2-40B4-BE49-F238E27FC236}">
                <a16:creationId xmlns:a16="http://schemas.microsoft.com/office/drawing/2014/main" id="{FFCEE3C8-24D9-4A0E-B648-19C53272A801}"/>
              </a:ext>
            </a:extLst>
          </p:cNvPr>
          <p:cNvSpPr>
            <a:spLocks xmlns:a="http://schemas.openxmlformats.org/drawingml/2006/main" noGrp="1"/>
          </p:cNvSpPr>
          <p:nvPr/>
        </p:nvSpPr>
        <p:spPr>
          <a:xfrm xmlns:a="http://schemas.openxmlformats.org/drawingml/2006/main">
            <a:off x="7524750" y="20097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El scheduler puede repetir el intento en recursos disponibles.</a:t>
            </a:r>
          </a:p>
        </p:txBody>
      </p:sp>
      <p:sp>
        <p:nvSpPr>
          <p:cNvPr id="6" name="">
            <a:extLst xmlns:a="http://schemas.openxmlformats.org/drawingml/2006/main">
              <a:ext uri="{FF2B5EF4-FFF2-40B4-BE49-F238E27FC236}">
                <a16:creationId xmlns:a16="http://schemas.microsoft.com/office/drawing/2014/main" id="{4EC9A1B9-E7CF-495F-80DF-B7626BFC2C32}"/>
              </a:ext>
            </a:extLst>
          </p:cNvPr>
          <p:cNvSpPr>
            <a:spLocks xmlns:a="http://schemas.openxmlformats.org/drawingml/2006/main" noGrp="1"/>
          </p:cNvSpPr>
          <p:nvPr/>
        </p:nvSpPr>
        <p:spPr>
          <a:xfrm xmlns:a="http://schemas.openxmlformats.org/drawingml/2006/main">
            <a:off x="7524750" y="296227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Se pierde un executor</a:t>
            </a:r>
          </a:p>
        </p:txBody>
      </p:sp>
      <p:sp>
        <p:nvSpPr>
          <p:cNvPr id="7" name="">
            <a:extLst xmlns:a="http://schemas.openxmlformats.org/drawingml/2006/main">
              <a:ext uri="{FF2B5EF4-FFF2-40B4-BE49-F238E27FC236}">
                <a16:creationId xmlns:a16="http://schemas.microsoft.com/office/drawing/2014/main" id="{A38D3546-7571-455A-8A57-E740350C8028}"/>
              </a:ext>
            </a:extLst>
          </p:cNvPr>
          <p:cNvSpPr>
            <a:spLocks xmlns:a="http://schemas.openxmlformats.org/drawingml/2006/main" noGrp="1"/>
          </p:cNvSpPr>
          <p:nvPr/>
        </p:nvSpPr>
        <p:spPr>
          <a:xfrm xmlns:a="http://schemas.openxmlformats.org/drawingml/2006/main">
            <a:off x="7524750" y="340042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Si desaparecen bloques necesarios, Spark puede recomputar sus dependencias.</a:t>
            </a:r>
          </a:p>
        </p:txBody>
      </p:sp>
      <p:sp>
        <p:nvSpPr>
          <p:cNvPr id="8" name="">
            <a:extLst xmlns:a="http://schemas.openxmlformats.org/drawingml/2006/main">
              <a:ext uri="{FF2B5EF4-FFF2-40B4-BE49-F238E27FC236}">
                <a16:creationId xmlns:a16="http://schemas.microsoft.com/office/drawing/2014/main" id="{C97C22B2-8BE0-4FA9-8F16-36D2D64B8CCF}"/>
              </a:ext>
            </a:extLst>
          </p:cNvPr>
          <p:cNvSpPr>
            <a:spLocks xmlns:a="http://schemas.openxmlformats.org/drawingml/2006/main" noGrp="1"/>
          </p:cNvSpPr>
          <p:nvPr/>
        </p:nvSpPr>
        <p:spPr>
          <a:xfrm xmlns:a="http://schemas.openxmlformats.org/drawingml/2006/main">
            <a:off x="7524750" y="4352925"/>
            <a:ext cx="4095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Se pierde el driver</a:t>
            </a:r>
          </a:p>
        </p:txBody>
      </p:sp>
      <p:sp>
        <p:nvSpPr>
          <p:cNvPr id="9" name="">
            <a:extLst xmlns:a="http://schemas.openxmlformats.org/drawingml/2006/main">
              <a:ext uri="{FF2B5EF4-FFF2-40B4-BE49-F238E27FC236}">
                <a16:creationId xmlns:a16="http://schemas.microsoft.com/office/drawing/2014/main" id="{059F0D8C-E182-407B-9C98-CA67EF8DE7B2}"/>
              </a:ext>
            </a:extLst>
          </p:cNvPr>
          <p:cNvSpPr>
            <a:spLocks xmlns:a="http://schemas.openxmlformats.org/drawingml/2006/main" noGrp="1"/>
          </p:cNvSpPr>
          <p:nvPr/>
        </p:nvSpPr>
        <p:spPr>
          <a:xfrm xmlns:a="http://schemas.openxmlformats.org/drawingml/2006/main">
            <a:off x="7524750" y="4791075"/>
            <a:ext cx="4095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203B68"/>
                </a:solidFill>
                <a:latin typeface="Calibri"/>
                <a:ea typeface="Calibri"/>
                <a:cs typeface="Calibri"/>
              </a:defRPr>
            </a:defPPr>
          </a:lstStyle>
          <a:p xmlns:a="http://schemas.openxmlformats.org/drawingml/2006/main">
            <a:pPr>
              <a:defRPr sz="1800" b="0">
                <a:solidFill>
                  <a:srgbClr val="203B68"/>
                </a:solidFill>
                <a:latin typeface="Calibri"/>
                <a:ea typeface="Calibri"/>
                <a:cs typeface="Calibri"/>
              </a:defRPr>
            </a:pPr>
            <a:r>
              <a:rPr sz="1800" b="0">
                <a:solidFill>
                  <a:srgbClr val="203B68"/>
                </a:solidFill>
                <a:latin typeface="Calibri"/>
                <a:ea typeface="Calibri"/>
                <a:cs typeface="Calibri"/>
              </a:rPr>
              <a:t>La aplicación necesita recuperación o relanzamiento según su despliegue.</a:t>
            </a:r>
          </a:p>
        </p:txBody>
      </p:sp>
      <p:sp>
        <p:nvSpPr>
          <p:cNvPr id="10" name="">
            <a:extLst xmlns:a="http://schemas.openxmlformats.org/drawingml/2006/main">
              <a:ext uri="{FF2B5EF4-FFF2-40B4-BE49-F238E27FC236}">
                <a16:creationId xmlns:a16="http://schemas.microsoft.com/office/drawing/2014/main" id="{8323515B-70CB-4E45-BD1E-E7E55431FEC5}"/>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Lineage describe cómo volver a calcular datos. Un error determinista también se repite.</a:t>
            </a:r>
          </a:p>
        </p:txBody>
      </p:sp>
      <p:sp>
        <p:nvSpPr>
          <p:cNvPr id="11" name="">
            <a:extLst xmlns:a="http://schemas.openxmlformats.org/drawingml/2006/main">
              <a:ext uri="{FF2B5EF4-FFF2-40B4-BE49-F238E27FC236}">
                <a16:creationId xmlns:a16="http://schemas.microsoft.com/office/drawing/2014/main" id="{BF8D76EE-6CC2-4560-A551-51DF46CE2EBC}"/>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2" name="">
            <a:extLst xmlns:a="http://schemas.openxmlformats.org/drawingml/2006/main">
              <a:ext uri="{FF2B5EF4-FFF2-40B4-BE49-F238E27FC236}">
                <a16:creationId xmlns:a16="http://schemas.microsoft.com/office/drawing/2014/main" id="{79EBAE41-9488-4161-A7BA-34973AFABA5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20</a:t>
            </a:r>
          </a:p>
        </p:txBody>
      </p:sp>
    </p:spTree>
    <p:extLst>
      <p:ext uri="{BB962C8B-B14F-4D97-AF65-F5344CB8AC3E}">
        <p14:creationId xmlns:p14="http://schemas.microsoft.com/office/powerpoint/2010/main" val="1579920499"/>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4"/>
                                        </p:tgtEl>
                                        <p:attrNameLst>
                                          <p:attrName>style.visibility</p:attrName>
                                        </p:attrNameLst>
                                      </p:cBhvr>
                                      <p:to>
                                        <p:strVal val="visible"/>
                                      </p:to>
                                    </p:set>
                                    <p:animEffect transition="in" filter="fade">
                                      <p:cBhvr>
                                        <p:cTn id="7" dur="300"/>
                                        <p:tgtEl>
                                          <p:spTgt spid="4"/>
                                        </p:tgtEl>
                                      </p:cBhvr>
                                    </p:animEffect>
                                  </p:childTnLst>
                                </p:cTn>
                              </p:par>
                              <p:par>
                                <p:cTn id="8" presetID="10" presetClass="entr" presetSubtype="0" fill="hold" nodeType="clickEffect">
                                  <p:stCondLst>
                                    <p:cond delay="0"/>
                                  </p:stCondLst>
                                  <p:childTnLst>
                                    <p:set>
                                      <p:cBhvr>
                                        <p:cTn id="9" dur="1" fill="hold"/>
                                        <p:tgtEl>
                                          <p:spTgt spid="5"/>
                                        </p:tgtEl>
                                        <p:attrNameLst>
                                          <p:attrName>style.visibility</p:attrName>
                                        </p:attrNameLst>
                                      </p:cBhvr>
                                      <p:to>
                                        <p:strVal val="visible"/>
                                      </p:to>
                                    </p:set>
                                    <p:animEffect transition="in" filter="fade">
                                      <p:cBhvr>
                                        <p:cTn id="10" dur="3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6"/>
                                        </p:tgtEl>
                                        <p:attrNameLst>
                                          <p:attrName>style.visibility</p:attrName>
                                        </p:attrNameLst>
                                      </p:cBhvr>
                                      <p:to>
                                        <p:strVal val="visible"/>
                                      </p:to>
                                    </p:set>
                                    <p:animEffect transition="in" filter="fade">
                                      <p:cBhvr>
                                        <p:cTn id="15" dur="300"/>
                                        <p:tgtEl>
                                          <p:spTgt spid="6"/>
                                        </p:tgtEl>
                                      </p:cBhvr>
                                    </p:animEffect>
                                  </p:childTnLst>
                                </p:cTn>
                              </p:par>
                              <p:par>
                                <p:cTn id="16" presetID="10" presetClass="entr" presetSubtype="0" fill="hold" nodeType="clickEffect">
                                  <p:stCondLst>
                                    <p:cond delay="0"/>
                                  </p:stCondLst>
                                  <p:childTnLst>
                                    <p:set>
                                      <p:cBhvr>
                                        <p:cTn id="17" dur="1" fill="hold"/>
                                        <p:tgtEl>
                                          <p:spTgt spid="7"/>
                                        </p:tgtEl>
                                        <p:attrNameLst>
                                          <p:attrName>style.visibility</p:attrName>
                                        </p:attrNameLst>
                                      </p:cBhvr>
                                      <p:to>
                                        <p:strVal val="visible"/>
                                      </p:to>
                                    </p:set>
                                    <p:animEffect transition="in" filter="fade">
                                      <p:cBhvr>
                                        <p:cTn id="18" dur="3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8"/>
                                        </p:tgtEl>
                                        <p:attrNameLst>
                                          <p:attrName>style.visibility</p:attrName>
                                        </p:attrNameLst>
                                      </p:cBhvr>
                                      <p:to>
                                        <p:strVal val="visible"/>
                                      </p:to>
                                    </p:set>
                                    <p:animEffect transition="in" filter="fade">
                                      <p:cBhvr>
                                        <p:cTn id="23" dur="300"/>
                                        <p:tgtEl>
                                          <p:spTgt spid="8"/>
                                        </p:tgtEl>
                                      </p:cBhvr>
                                    </p:animEffect>
                                  </p:childTnLst>
                                </p:cTn>
                              </p:par>
                              <p:par>
                                <p:cTn id="24" presetID="10" presetClass="entr" presetSubtype="0" fill="hold" nodeType="clickEffect">
                                  <p:stCondLst>
                                    <p:cond delay="0"/>
                                  </p:stCondLst>
                                  <p:childTnLst>
                                    <p:set>
                                      <p:cBhvr>
                                        <p:cTn id="25" dur="1" fill="hold"/>
                                        <p:tgtEl>
                                          <p:spTgt spid="9"/>
                                        </p:tgtEl>
                                        <p:attrNameLst>
                                          <p:attrName>style.visibility</p:attrName>
                                        </p:attrNameLst>
                                      </p:cBhvr>
                                      <p:to>
                                        <p:strVal val="visible"/>
                                      </p:to>
                                    </p:set>
                                    <p:animEffect transition="in" filter="fade">
                                      <p:cBhvr>
                                        <p:cTn id="26" dur="3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P spid="7" grpId="0" animBg="1"/>
      <p:bldP spid="8" grpId="0" animBg="1"/>
      <p:bldP spid="9" grpId="0" animBg="1"/>
    </p:bldLst>
  </p:timing>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B894571-511F-4BFF-824E-98A90FC598E9}"/>
              </a:ext>
            </a:extLst>
          </p:cNvPr>
          <p:cNvPicPr>
            <a:picLocks xmlns:a="http://schemas.openxmlformats.org/drawingml/2006/main" noChangeAspect="1"/>
          </p:cNvPicPr>
          <p:nvPr/>
        </p:nvPicPr>
        <p:blipFill>
          <a:blip xmlns:r="http://schemas.openxmlformats.org/officeDocument/2006/relationships" xmlns:a="http://schemas.openxmlformats.org/drawingml/2006/main" r:embed="Rd1dfd632b2d54e77"/>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DE23C7A-83A8-4145-A75D-F313ED3EE868}"/>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Lectura de Spark UI</a:t>
            </a:r>
          </a:p>
        </p:txBody>
      </p:sp>
      <p:graphicFrame>
        <p:nvGraphicFramePr>
          <p:cNvPr id="3" name="">
            <a:extLst xmlns:a="http://schemas.openxmlformats.org/drawingml/2006/main">
              <a:ext uri="{FF2B5EF4-FFF2-40B4-BE49-F238E27FC236}">
                <a16:creationId xmlns:a16="http://schemas.microsoft.com/office/drawing/2014/main" id="{1B4F0B9A-1ECD-4830-A3E0-6A956EE89FCE}"/>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Vista</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Relación con la arquitectura explicada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SQL / DataFrame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Plan de la consulta, operadores y métricas de ejecución.</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Jobs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Trabajos producidos al solicitar resultados.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Stages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Tareas de cada etapa, duraciones, shuffle leído/escrito y spill.</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Executors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Procesos, tareas ejecutadas y uso de recursos.</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Storage</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Bloques conservados mediante cache o persist.</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3285AAB2-A469-48F6-ADBD-54270A9F7200}"/>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Abrir la dirección de spark.sparkContext.uiWebUrl durante la ejecución.</a:t>
            </a:r>
          </a:p>
        </p:txBody>
      </p:sp>
      <p:sp>
        <p:nvSpPr>
          <p:cNvPr id="5" name="">
            <a:extLst xmlns:a="http://schemas.openxmlformats.org/drawingml/2006/main">
              <a:ext uri="{FF2B5EF4-FFF2-40B4-BE49-F238E27FC236}">
                <a16:creationId xmlns:a16="http://schemas.microsoft.com/office/drawing/2014/main" id="{4CA0CC3F-8C42-4D92-8B64-AF7079CE23DD}"/>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3B4E3237-FEBC-4B26-873D-AC2F20FBEFB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21</a:t>
            </a:r>
          </a:p>
        </p:txBody>
      </p:sp>
    </p:spTree>
    <p:extLst>
      <p:ext uri="{BB962C8B-B14F-4D97-AF65-F5344CB8AC3E}">
        <p14:creationId xmlns:p14="http://schemas.microsoft.com/office/powerpoint/2010/main" val="1947209777"/>
      </p:ext>
    </p:extLst>
  </p:cSld>
  <p:transition spd="med" advClick="1">
    <p:fade/>
  </p:transition>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2" name="">
            <a:extLst xmlns:a="http://schemas.openxmlformats.org/drawingml/2006/main">
              <a:ext uri="{FF2B5EF4-FFF2-40B4-BE49-F238E27FC236}">
                <a16:creationId xmlns:a16="http://schemas.microsoft.com/office/drawing/2014/main" id="{5FC36397-FD25-4F8E-B833-3DFD5A6CC2F4}"/>
              </a:ext>
            </a:extLst>
          </p:cNvPr>
          <p:cNvPicPr>
            <a:picLocks xmlns:a="http://schemas.openxmlformats.org/drawingml/2006/main" noChangeAspect="1"/>
          </p:cNvPicPr>
          <p:nvPr/>
        </p:nvPicPr>
        <p:blipFill>
          <a:blip xmlns:r="http://schemas.openxmlformats.org/officeDocument/2006/relationships" xmlns:a="http://schemas.openxmlformats.org/drawingml/2006/main" r:embed="R706b6756fd924f21"/>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78AE314B-8DA8-4E0A-B5CA-BB0A3675C1B1}"/>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1: reconocer la arquitectura</a:t>
            </a:r>
          </a:p>
        </p:txBody>
      </p:sp>
      <p:sp>
        <p:nvSpPr>
          <p:cNvPr id="3" name="">
            <a:extLst xmlns:a="http://schemas.openxmlformats.org/drawingml/2006/main">
              <a:ext uri="{FF2B5EF4-FFF2-40B4-BE49-F238E27FC236}">
                <a16:creationId xmlns:a16="http://schemas.microsoft.com/office/drawing/2014/main" id="{AAD62D04-3C2A-4A06-84D4-DD0C752DD4FC}"/>
              </a:ext>
            </a:extLst>
          </p:cNvPr>
          <p:cNvSpPr>
            <a:spLocks xmlns:a="http://schemas.openxmlformats.org/drawingml/2006/main" noGrp="1"/>
          </p:cNvSpPr>
          <p:nvPr/>
        </p:nvSpPr>
        <p:spPr>
          <a:xfrm xmlns:a="http://schemas.openxmlformats.org/drawingml/2006/main">
            <a:off x="685800" y="15716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5546ED"/>
                </a:solidFill>
                <a:latin typeface="Calibri"/>
                <a:ea typeface="Calibri"/>
                <a:cs typeface="Calibri"/>
              </a:defRPr>
            </a:defPPr>
          </a:lstStyle>
          <a:p xmlns:a="http://schemas.openxmlformats.org/drawingml/2006/main">
            <a:pPr>
              <a:defRPr sz="2025" b="1">
                <a:solidFill>
                  <a:srgbClr val="5546ED"/>
                </a:solidFill>
                <a:latin typeface="Calibri"/>
                <a:ea typeface="Calibri"/>
                <a:cs typeface="Calibri"/>
              </a:defRPr>
            </a:pPr>
            <a:r>
              <a:rPr sz="2025" b="1">
                <a:solidFill>
                  <a:srgbClr val="5546ED"/>
                </a:solidFill>
                <a:latin typeface="Calibri"/>
                <a:ea typeface="Calibri"/>
                <a:cs typeface="Calibri"/>
              </a:rPr>
              <a:t>Problema</a:t>
            </a:r>
          </a:p>
        </p:txBody>
      </p:sp>
      <p:sp>
        <p:nvSpPr>
          <p:cNvPr id="4" name="">
            <a:extLst xmlns:a="http://schemas.openxmlformats.org/drawingml/2006/main">
              <a:ext uri="{FF2B5EF4-FFF2-40B4-BE49-F238E27FC236}">
                <a16:creationId xmlns:a16="http://schemas.microsoft.com/office/drawing/2014/main" id="{19A06755-2395-4B48-9DC6-2E4C836AFEB2}"/>
              </a:ext>
            </a:extLst>
          </p:cNvPr>
          <p:cNvSpPr>
            <a:spLocks xmlns:a="http://schemas.openxmlformats.org/drawingml/2006/main" noGrp="1"/>
          </p:cNvSpPr>
          <p:nvPr/>
        </p:nvSpPr>
        <p:spPr>
          <a:xfrm xmlns:a="http://schemas.openxmlformats.org/drawingml/2006/main">
            <a:off x="685800" y="20097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El notebook usa local[2]. Dibujar dónde corren el programa y las tareas.</a:t>
            </a:r>
          </a:p>
        </p:txBody>
      </p:sp>
      <p:sp>
        <p:nvSpPr>
          <p:cNvPr id="5" name="">
            <a:extLst xmlns:a="http://schemas.openxmlformats.org/drawingml/2006/main">
              <a:ext uri="{FF2B5EF4-FFF2-40B4-BE49-F238E27FC236}">
                <a16:creationId xmlns:a16="http://schemas.microsoft.com/office/drawing/2014/main" id="{A7DC7E08-003C-4C28-B25A-7125C3B4B734}"/>
              </a:ext>
            </a:extLst>
          </p:cNvPr>
          <p:cNvSpPr>
            <a:spLocks xmlns:a="http://schemas.openxmlformats.org/drawingml/2006/main" noGrp="1"/>
          </p:cNvSpPr>
          <p:nvPr/>
        </p:nvSpPr>
        <p:spPr>
          <a:xfrm xmlns:a="http://schemas.openxmlformats.org/drawingml/2006/main">
            <a:off x="685800" y="296227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098F89"/>
                </a:solidFill>
                <a:latin typeface="Calibri"/>
                <a:ea typeface="Calibri"/>
                <a:cs typeface="Calibri"/>
              </a:defRPr>
            </a:defPPr>
          </a:lstStyle>
          <a:p xmlns:a="http://schemas.openxmlformats.org/drawingml/2006/main">
            <a:pPr>
              <a:defRPr sz="2025" b="1">
                <a:solidFill>
                  <a:srgbClr val="098F89"/>
                </a:solidFill>
                <a:latin typeface="Calibri"/>
                <a:ea typeface="Calibri"/>
                <a:cs typeface="Calibri"/>
              </a:defRPr>
            </a:pPr>
            <a:r>
              <a:rPr sz="2025" b="1">
                <a:solidFill>
                  <a:srgbClr val="098F89"/>
                </a:solidFill>
                <a:latin typeface="Calibri"/>
                <a:ea typeface="Calibri"/>
                <a:cs typeface="Calibri"/>
              </a:rPr>
              <a:t>Actividad</a:t>
            </a:r>
          </a:p>
        </p:txBody>
      </p:sp>
      <p:sp>
        <p:nvSpPr>
          <p:cNvPr id="6" name="">
            <a:extLst xmlns:a="http://schemas.openxmlformats.org/drawingml/2006/main">
              <a:ext uri="{FF2B5EF4-FFF2-40B4-BE49-F238E27FC236}">
                <a16:creationId xmlns:a16="http://schemas.microsoft.com/office/drawing/2014/main" id="{F1D87B89-0F13-4E3E-A2D5-414CBC5A925B}"/>
              </a:ext>
            </a:extLst>
          </p:cNvPr>
          <p:cNvSpPr>
            <a:spLocks xmlns:a="http://schemas.openxmlformats.org/drawingml/2006/main" noGrp="1"/>
          </p:cNvSpPr>
          <p:nvPr/>
        </p:nvSpPr>
        <p:spPr>
          <a:xfrm xmlns:a="http://schemas.openxmlformats.org/drawingml/2006/main">
            <a:off x="685800" y="340042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Añadir ocho particiones y marcar cuáles podrían procesarse al mismo tiempo.</a:t>
            </a:r>
          </a:p>
        </p:txBody>
      </p:sp>
      <p:sp>
        <p:nvSpPr>
          <p:cNvPr id="7" name="">
            <a:extLst xmlns:a="http://schemas.openxmlformats.org/drawingml/2006/main">
              <a:ext uri="{FF2B5EF4-FFF2-40B4-BE49-F238E27FC236}">
                <a16:creationId xmlns:a16="http://schemas.microsoft.com/office/drawing/2014/main" id="{4BA33223-6ECD-4D37-9F39-E607DDE666CC}"/>
              </a:ext>
            </a:extLst>
          </p:cNvPr>
          <p:cNvSpPr>
            <a:spLocks xmlns:a="http://schemas.openxmlformats.org/drawingml/2006/main" noGrp="1"/>
          </p:cNvSpPr>
          <p:nvPr/>
        </p:nvSpPr>
        <p:spPr>
          <a:xfrm xmlns:a="http://schemas.openxmlformats.org/drawingml/2006/main">
            <a:off x="685800" y="4352925"/>
            <a:ext cx="10572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025" b="1">
                <a:solidFill>
                  <a:srgbClr val="CE4E47"/>
                </a:solidFill>
                <a:latin typeface="Calibri"/>
                <a:ea typeface="Calibri"/>
                <a:cs typeface="Calibri"/>
              </a:defRPr>
            </a:defPPr>
          </a:lstStyle>
          <a:p xmlns:a="http://schemas.openxmlformats.org/drawingml/2006/main">
            <a:pPr>
              <a:defRPr sz="2025" b="1">
                <a:solidFill>
                  <a:srgbClr val="CE4E47"/>
                </a:solidFill>
                <a:latin typeface="Calibri"/>
                <a:ea typeface="Calibri"/>
                <a:cs typeface="Calibri"/>
              </a:defRPr>
            </a:pPr>
            <a:r>
              <a:rPr sz="2025" b="1">
                <a:solidFill>
                  <a:srgbClr val="CE4E47"/>
                </a:solidFill>
                <a:latin typeface="Calibri"/>
                <a:ea typeface="Calibri"/>
                <a:cs typeface="Calibri"/>
              </a:rPr>
              <a:t>Explicación esperada</a:t>
            </a:r>
          </a:p>
        </p:txBody>
      </p:sp>
      <p:sp>
        <p:nvSpPr>
          <p:cNvPr id="8" name="">
            <a:extLst xmlns:a="http://schemas.openxmlformats.org/drawingml/2006/main">
              <a:ext uri="{FF2B5EF4-FFF2-40B4-BE49-F238E27FC236}">
                <a16:creationId xmlns:a16="http://schemas.microsoft.com/office/drawing/2014/main" id="{D6653C9C-B163-4110-AEA0-508D938AF072}"/>
              </a:ext>
            </a:extLst>
          </p:cNvPr>
          <p:cNvSpPr>
            <a:spLocks xmlns:a="http://schemas.openxmlformats.org/drawingml/2006/main" noGrp="1"/>
          </p:cNvSpPr>
          <p:nvPr/>
        </p:nvSpPr>
        <p:spPr>
          <a:xfrm xmlns:a="http://schemas.openxmlformats.org/drawingml/2006/main">
            <a:off x="685800" y="4791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203B68"/>
                </a:solidFill>
                <a:latin typeface="Calibri"/>
                <a:ea typeface="Calibri"/>
                <a:cs typeface="Calibri"/>
              </a:defRPr>
            </a:defPPr>
          </a:lstStyle>
          <a:p xmlns:a="http://schemas.openxmlformats.org/drawingml/2006/main">
            <a:pPr>
              <a:defRPr sz="2100" b="0">
                <a:solidFill>
                  <a:srgbClr val="203B68"/>
                </a:solidFill>
                <a:latin typeface="Calibri"/>
                <a:ea typeface="Calibri"/>
                <a:cs typeface="Calibri"/>
              </a:defRPr>
            </a:pPr>
            <a:r>
              <a:rPr sz="2100" b="0">
                <a:solidFill>
                  <a:srgbClr val="203B68"/>
                </a:solidFill>
                <a:latin typeface="Calibri"/>
                <a:ea typeface="Calibri"/>
                <a:cs typeface="Calibri"/>
              </a:rPr>
              <a:t>Dos hilos permiten hasta dos tareas simultáneas con la configuración usual. Las demás esperan recursos.</a:t>
            </a:r>
          </a:p>
        </p:txBody>
      </p:sp>
      <p:sp>
        <p:nvSpPr>
          <p:cNvPr id="9" name="">
            <a:extLst xmlns:a="http://schemas.openxmlformats.org/drawingml/2006/main">
              <a:ext uri="{FF2B5EF4-FFF2-40B4-BE49-F238E27FC236}">
                <a16:creationId xmlns:a16="http://schemas.microsoft.com/office/drawing/2014/main" id="{629AF7D6-6E2D-49F8-98A9-9664A74A4E62}"/>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Extensión: redibujar el caso con dos nodos y señalar qué comunicaciones podrían cruzar la red.</a:t>
            </a:r>
          </a:p>
        </p:txBody>
      </p:sp>
      <p:sp>
        <p:nvSpPr>
          <p:cNvPr id="10" name="">
            <a:extLst xmlns:a="http://schemas.openxmlformats.org/drawingml/2006/main">
              <a:ext uri="{FF2B5EF4-FFF2-40B4-BE49-F238E27FC236}">
                <a16:creationId xmlns:a16="http://schemas.microsoft.com/office/drawing/2014/main" id="{D0F6D039-60B9-4F3E-A8F0-7286926D5B3A}"/>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1" name="">
            <a:extLst xmlns:a="http://schemas.openxmlformats.org/drawingml/2006/main">
              <a:ext uri="{FF2B5EF4-FFF2-40B4-BE49-F238E27FC236}">
                <a16:creationId xmlns:a16="http://schemas.microsoft.com/office/drawing/2014/main" id="{109576A9-8AA1-45AC-BF1F-3A5F2B921D9C}"/>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22</a:t>
            </a:r>
          </a:p>
        </p:txBody>
      </p:sp>
    </p:spTree>
    <p:extLst>
      <p:ext uri="{BB962C8B-B14F-4D97-AF65-F5344CB8AC3E}">
        <p14:creationId xmlns:p14="http://schemas.microsoft.com/office/powerpoint/2010/main" val="821635893"/>
      </p:ext>
    </p:extLst>
  </p:cSld>
  <p:transition spd="med" advClick="1">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tgtEl>
                                          <p:spTgt spid="3"/>
                                        </p:tgtEl>
                                        <p:attrNameLst>
                                          <p:attrName>style.visibility</p:attrName>
                                        </p:attrNameLst>
                                      </p:cBhvr>
                                      <p:to>
                                        <p:strVal val="visible"/>
                                      </p:to>
                                    </p:set>
                                    <p:animEffect transition="in" filter="fade">
                                      <p:cBhvr>
                                        <p:cTn id="7" dur="300"/>
                                        <p:tgtEl>
                                          <p:spTgt spid="3"/>
                                        </p:tgtEl>
                                      </p:cBhvr>
                                    </p:animEffect>
                                  </p:childTnLst>
                                </p:cTn>
                              </p:par>
                              <p:par>
                                <p:cTn id="8" presetID="10" presetClass="entr" presetSubtype="0" fill="hold" nodeType="clickEffect">
                                  <p:stCondLst>
                                    <p:cond delay="0"/>
                                  </p:stCondLst>
                                  <p:childTnLst>
                                    <p:set>
                                      <p:cBhvr>
                                        <p:cTn id="9" dur="1" fill="hold"/>
                                        <p:tgtEl>
                                          <p:spTgt spid="4"/>
                                        </p:tgtEl>
                                        <p:attrNameLst>
                                          <p:attrName>style.visibility</p:attrName>
                                        </p:attrNameLst>
                                      </p:cBhvr>
                                      <p:to>
                                        <p:strVal val="visible"/>
                                      </p:to>
                                    </p:set>
                                    <p:animEffect transition="in" filter="fade">
                                      <p:cBhvr>
                                        <p:cTn id="10" dur="3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tgtEl>
                                          <p:spTgt spid="5"/>
                                        </p:tgtEl>
                                        <p:attrNameLst>
                                          <p:attrName>style.visibility</p:attrName>
                                        </p:attrNameLst>
                                      </p:cBhvr>
                                      <p:to>
                                        <p:strVal val="visible"/>
                                      </p:to>
                                    </p:set>
                                    <p:animEffect transition="in" filter="fade">
                                      <p:cBhvr>
                                        <p:cTn id="15" dur="300"/>
                                        <p:tgtEl>
                                          <p:spTgt spid="5"/>
                                        </p:tgtEl>
                                      </p:cBhvr>
                                    </p:animEffect>
                                  </p:childTnLst>
                                </p:cTn>
                              </p:par>
                              <p:par>
                                <p:cTn id="16" presetID="10" presetClass="entr" presetSubtype="0" fill="hold" nodeType="clickEffect">
                                  <p:stCondLst>
                                    <p:cond delay="0"/>
                                  </p:stCondLst>
                                  <p:childTnLst>
                                    <p:set>
                                      <p:cBhvr>
                                        <p:cTn id="17" dur="1" fill="hold"/>
                                        <p:tgtEl>
                                          <p:spTgt spid="6"/>
                                        </p:tgtEl>
                                        <p:attrNameLst>
                                          <p:attrName>style.visibility</p:attrName>
                                        </p:attrNameLst>
                                      </p:cBhvr>
                                      <p:to>
                                        <p:strVal val="visible"/>
                                      </p:to>
                                    </p:set>
                                    <p:animEffect transition="in" filter="fade">
                                      <p:cBhvr>
                                        <p:cTn id="18" dur="3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tgtEl>
                                          <p:spTgt spid="7"/>
                                        </p:tgtEl>
                                        <p:attrNameLst>
                                          <p:attrName>style.visibility</p:attrName>
                                        </p:attrNameLst>
                                      </p:cBhvr>
                                      <p:to>
                                        <p:strVal val="visible"/>
                                      </p:to>
                                    </p:set>
                                    <p:animEffect transition="in" filter="fade">
                                      <p:cBhvr>
                                        <p:cTn id="23" dur="300"/>
                                        <p:tgtEl>
                                          <p:spTgt spid="7"/>
                                        </p:tgtEl>
                                      </p:cBhvr>
                                    </p:animEffect>
                                  </p:childTnLst>
                                </p:cTn>
                              </p:par>
                              <p:par>
                                <p:cTn id="24" presetID="10" presetClass="entr" presetSubtype="0" fill="hold" nodeType="clickEffect">
                                  <p:stCondLst>
                                    <p:cond delay="0"/>
                                  </p:stCondLst>
                                  <p:childTnLst>
                                    <p:set>
                                      <p:cBhvr>
                                        <p:cTn id="25" dur="1" fill="hold"/>
                                        <p:tgtEl>
                                          <p:spTgt spid="8"/>
                                        </p:tgtEl>
                                        <p:attrNameLst>
                                          <p:attrName>style.visibility</p:attrName>
                                        </p:attrNameLst>
                                      </p:cBhvr>
                                      <p:to>
                                        <p:strVal val="visible"/>
                                      </p:to>
                                    </p:set>
                                    <p:animEffect transition="in" filter="fade">
                                      <p:cBhvr>
                                        <p:cTn id="26" dur="3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Lst>
  </p:timing>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85D60ED-F268-48F2-8A6D-E0E35B128D98}"/>
              </a:ext>
            </a:extLst>
          </p:cNvPr>
          <p:cNvPicPr>
            <a:picLocks xmlns:a="http://schemas.openxmlformats.org/drawingml/2006/main" noChangeAspect="1"/>
          </p:cNvPicPr>
          <p:nvPr/>
        </p:nvPicPr>
        <p:blipFill>
          <a:blip xmlns:r="http://schemas.openxmlformats.org/officeDocument/2006/relationships" xmlns:a="http://schemas.openxmlformats.org/drawingml/2006/main" r:embed="Rc2254c9f202e4f66"/>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C3F2E57-70FB-47DF-A18F-2AFEF0E51102}"/>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2: leer y filtrar</a:t>
            </a:r>
          </a:p>
        </p:txBody>
      </p:sp>
      <p:sp>
        <p:nvSpPr>
          <p:cNvPr id="3" name="">
            <a:extLst xmlns:a="http://schemas.openxmlformats.org/drawingml/2006/main">
              <a:ext uri="{FF2B5EF4-FFF2-40B4-BE49-F238E27FC236}">
                <a16:creationId xmlns:a16="http://schemas.microsoft.com/office/drawing/2014/main" id="{92BB2CDB-2793-4ADE-ACC3-2AB11DFF9D42}"/>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eva_spark = spark.read.parquet(str(archivo_eva))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eva_spark.printSchema()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aptos = eva_spark.filter(F.col("apto_rendimiento"))</a:t>
            </a:r>
          </a:p>
          <a:p xmlns:a="http://schemas.openxmlformats.org/drawingml/2006/main">
            <a:r>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aptos.explain("formatted")</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print(eva_spark.rdd.getNumPartitions())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print(aptos.count())</a:t>
            </a:r>
          </a:p>
        </p:txBody>
      </p:sp>
      <p:sp>
        <p:nvSpPr>
          <p:cNvPr id="4" name="">
            <a:extLst xmlns:a="http://schemas.openxmlformats.org/drawingml/2006/main">
              <a:ext uri="{FF2B5EF4-FFF2-40B4-BE49-F238E27FC236}">
                <a16:creationId xmlns:a16="http://schemas.microsoft.com/office/drawing/2014/main" id="{A358CBEE-93EE-4013-9B7E-A3569228A3E3}"/>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Problema</a:t>
            </a:r>
          </a:p>
        </p:txBody>
      </p:sp>
      <p:sp>
        <p:nvSpPr>
          <p:cNvPr id="5" name="">
            <a:extLst xmlns:a="http://schemas.openxmlformats.org/drawingml/2006/main">
              <a:ext uri="{FF2B5EF4-FFF2-40B4-BE49-F238E27FC236}">
                <a16:creationId xmlns:a16="http://schemas.microsoft.com/office/drawing/2014/main" id="{EA57BA4F-E25A-4EA7-B181-A844492828AD}"/>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Seleccionar los registros válidos para calcular rendimiento.</a:t>
            </a:r>
          </a:p>
        </p:txBody>
      </p:sp>
      <p:sp>
        <p:nvSpPr>
          <p:cNvPr id="6" name="">
            <a:extLst xmlns:a="http://schemas.openxmlformats.org/drawingml/2006/main">
              <a:ext uri="{FF2B5EF4-FFF2-40B4-BE49-F238E27FC236}">
                <a16:creationId xmlns:a16="http://schemas.microsoft.com/office/drawing/2014/main" id="{E1E14DE6-EA4A-495F-859E-732031A9FED7}"/>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Observación</a:t>
            </a:r>
          </a:p>
        </p:txBody>
      </p:sp>
      <p:sp>
        <p:nvSpPr>
          <p:cNvPr id="7" name="">
            <a:extLst xmlns:a="http://schemas.openxmlformats.org/drawingml/2006/main">
              <a:ext uri="{FF2B5EF4-FFF2-40B4-BE49-F238E27FC236}">
                <a16:creationId xmlns:a16="http://schemas.microsoft.com/office/drawing/2014/main" id="{C433E531-C78F-4B7F-B555-072605815DDA}"/>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Comparar definir el filtro con ejecutar count(). Explicar qué trabajo solicita cada paso.</a:t>
            </a:r>
          </a:p>
        </p:txBody>
      </p:sp>
      <p:sp>
        <p:nvSpPr>
          <p:cNvPr id="8" name="">
            <a:extLst xmlns:a="http://schemas.openxmlformats.org/drawingml/2006/main">
              <a:ext uri="{FF2B5EF4-FFF2-40B4-BE49-F238E27FC236}">
                <a16:creationId xmlns:a16="http://schemas.microsoft.com/office/drawing/2014/main" id="{2894D542-24D2-43AE-84D4-FDB89FC4BDF1}"/>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Notebook 05, pasos 1–4. Usa archivo_eva, spark y F definidos en sus celdas previas.</a:t>
            </a:r>
          </a:p>
        </p:txBody>
      </p:sp>
      <p:sp>
        <p:nvSpPr>
          <p:cNvPr id="9" name="">
            <a:extLst xmlns:a="http://schemas.openxmlformats.org/drawingml/2006/main">
              <a:ext uri="{FF2B5EF4-FFF2-40B4-BE49-F238E27FC236}">
                <a16:creationId xmlns:a16="http://schemas.microsoft.com/office/drawing/2014/main" id="{EE1E1689-957C-43ED-A7F0-146F1503B07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62574C22-43CC-440D-AE1E-4709187F586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23</a:t>
            </a:r>
          </a:p>
        </p:txBody>
      </p:sp>
    </p:spTree>
    <p:extLst>
      <p:ext uri="{BB962C8B-B14F-4D97-AF65-F5344CB8AC3E}">
        <p14:creationId xmlns:p14="http://schemas.microsoft.com/office/powerpoint/2010/main" val="1398702894"/>
      </p:ext>
    </p:extLst>
  </p:cSld>
  <p:transition spd="med" advClick="1">
    <p:fade/>
  </p:transition>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3E4B986C-DCFE-406A-AE61-F2F4365315D9}"/>
              </a:ext>
            </a:extLst>
          </p:cNvPr>
          <p:cNvPicPr>
            <a:picLocks xmlns:a="http://schemas.openxmlformats.org/drawingml/2006/main" noChangeAspect="1"/>
          </p:cNvPicPr>
          <p:nvPr/>
        </p:nvPicPr>
        <p:blipFill>
          <a:blip xmlns:r="http://schemas.openxmlformats.org/officeDocument/2006/relationships" xmlns:a="http://schemas.openxmlformats.org/drawingml/2006/main" r:embed="Re3f0f66324334dab"/>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5B646B9-F749-4F57-9ED5-B032916F643E}"/>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3: calcular el rendimiento</a:t>
            </a:r>
          </a:p>
        </p:txBody>
      </p:sp>
      <p:sp>
        <p:nvSpPr>
          <p:cNvPr id="3" name="">
            <a:extLst xmlns:a="http://schemas.openxmlformats.org/drawingml/2006/main">
              <a:ext uri="{FF2B5EF4-FFF2-40B4-BE49-F238E27FC236}">
                <a16:creationId xmlns:a16="http://schemas.microsoft.com/office/drawing/2014/main" id="{0AEA0A03-CF5E-4A59-8EFA-EF5B25F8B939}"/>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claves = ["codigo_municipio", "cultivo",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"estado_fisico", "anio"]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rendimiento = (aptos.groupBy(*claves)</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.agg(F.sum("produccion_t").alias("produccion_t"),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F.sum("area_ha").alias("area_ha"))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.withColumn("rendimiento_t_ha",</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F.col("produccion_t") / F.col("area_ha")))</a:t>
            </a:r>
          </a:p>
        </p:txBody>
      </p:sp>
      <p:sp>
        <p:nvSpPr>
          <p:cNvPr id="4" name="">
            <a:extLst xmlns:a="http://schemas.openxmlformats.org/drawingml/2006/main">
              <a:ext uri="{FF2B5EF4-FFF2-40B4-BE49-F238E27FC236}">
                <a16:creationId xmlns:a16="http://schemas.microsoft.com/office/drawing/2014/main" id="{4581F398-87CF-43BC-AF13-E8F3A52B3466}"/>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Problema</a:t>
            </a:r>
          </a:p>
        </p:txBody>
      </p:sp>
      <p:sp>
        <p:nvSpPr>
          <p:cNvPr id="5" name="">
            <a:extLst xmlns:a="http://schemas.openxmlformats.org/drawingml/2006/main">
              <a:ext uri="{FF2B5EF4-FFF2-40B4-BE49-F238E27FC236}">
                <a16:creationId xmlns:a16="http://schemas.microsoft.com/office/drawing/2014/main" id="{848FDCBF-A43C-4184-8897-779B770C29F5}"/>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Obtener una fila por combinación de las cuatro claves.</a:t>
            </a:r>
          </a:p>
        </p:txBody>
      </p:sp>
      <p:sp>
        <p:nvSpPr>
          <p:cNvPr id="6" name="">
            <a:extLst xmlns:a="http://schemas.openxmlformats.org/drawingml/2006/main">
              <a:ext uri="{FF2B5EF4-FFF2-40B4-BE49-F238E27FC236}">
                <a16:creationId xmlns:a16="http://schemas.microsoft.com/office/drawing/2014/main" id="{A9B5BF9C-D25D-4474-8274-4E5A5CF64A40}"/>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Resultado esperado</a:t>
            </a:r>
          </a:p>
        </p:txBody>
      </p:sp>
      <p:sp>
        <p:nvSpPr>
          <p:cNvPr id="7" name="">
            <a:extLst xmlns:a="http://schemas.openxmlformats.org/drawingml/2006/main">
              <a:ext uri="{FF2B5EF4-FFF2-40B4-BE49-F238E27FC236}">
                <a16:creationId xmlns:a16="http://schemas.microsoft.com/office/drawing/2014/main" id="{DD35A836-2137-413A-9BBC-AB79EDCEEAE0}"/>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Sumar producción y área por separado. Dividir sus totales para obtener t/ha.</a:t>
            </a:r>
          </a:p>
        </p:txBody>
      </p:sp>
      <p:sp>
        <p:nvSpPr>
          <p:cNvPr id="8" name="">
            <a:extLst xmlns:a="http://schemas.openxmlformats.org/drawingml/2006/main">
              <a:ext uri="{FF2B5EF4-FFF2-40B4-BE49-F238E27FC236}">
                <a16:creationId xmlns:a16="http://schemas.microsoft.com/office/drawing/2014/main" id="{D5245C45-9FBE-4CE0-B2EC-A8EE64D4FFC7}"/>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Construir este DataFrame describe la consulta. La escritura posterior solicita su ejecución.</a:t>
            </a:r>
          </a:p>
        </p:txBody>
      </p:sp>
      <p:sp>
        <p:nvSpPr>
          <p:cNvPr id="9" name="">
            <a:extLst xmlns:a="http://schemas.openxmlformats.org/drawingml/2006/main">
              <a:ext uri="{FF2B5EF4-FFF2-40B4-BE49-F238E27FC236}">
                <a16:creationId xmlns:a16="http://schemas.microsoft.com/office/drawing/2014/main" id="{D5B36D50-E16F-447D-B73A-44CD60CDDABB}"/>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E8A124E2-FA98-42E1-B45A-CB4FEF2328A4}"/>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24</a:t>
            </a:r>
          </a:p>
        </p:txBody>
      </p:sp>
    </p:spTree>
    <p:extLst>
      <p:ext uri="{BB962C8B-B14F-4D97-AF65-F5344CB8AC3E}">
        <p14:creationId xmlns:p14="http://schemas.microsoft.com/office/powerpoint/2010/main" val="268748519"/>
      </p:ext>
    </p:extLst>
  </p:cSld>
  <p:transition spd="med" advClick="1">
    <p:fade/>
  </p:transition>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CA0EFF74-2621-43D8-BD0D-83E40D2EFA4E}"/>
              </a:ext>
            </a:extLst>
          </p:cNvPr>
          <p:cNvPicPr>
            <a:picLocks xmlns:a="http://schemas.openxmlformats.org/drawingml/2006/main" noChangeAspect="1"/>
          </p:cNvPicPr>
          <p:nvPr/>
        </p:nvPicPr>
        <p:blipFill>
          <a:blip xmlns:r="http://schemas.openxmlformats.org/officeDocument/2006/relationships" xmlns:a="http://schemas.openxmlformats.org/drawingml/2006/main" r:embed="R58b9abbf657042e9"/>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40BD541-054A-4EDD-AAC1-A0F47270D553}"/>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4: explicar el plan</a:t>
            </a:r>
          </a:p>
        </p:txBody>
      </p:sp>
      <p:sp>
        <p:nvSpPr>
          <p:cNvPr id="3" name="">
            <a:extLst xmlns:a="http://schemas.openxmlformats.org/drawingml/2006/main">
              <a:ext uri="{FF2B5EF4-FFF2-40B4-BE49-F238E27FC236}">
                <a16:creationId xmlns:a16="http://schemas.microsoft.com/office/drawing/2014/main" id="{5D1A38E2-05C3-45C7-882B-C22D61ABDC6E}"/>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rendimiento.explain("formatted")</a:t>
            </a:r>
          </a:p>
          <a:p xmlns:a="http://schemas.openxmlformats.org/drawingml/2006/main">
            <a:r>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Localizar en la salida real:</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Scan / lectura 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Filter</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agregación parcial</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Exchange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agregación final</a:t>
            </a:r>
          </a:p>
        </p:txBody>
      </p:sp>
      <p:sp>
        <p:nvSpPr>
          <p:cNvPr id="4" name="">
            <a:extLst xmlns:a="http://schemas.openxmlformats.org/drawingml/2006/main">
              <a:ext uri="{FF2B5EF4-FFF2-40B4-BE49-F238E27FC236}">
                <a16:creationId xmlns:a16="http://schemas.microsoft.com/office/drawing/2014/main" id="{1DBB79D6-A920-427C-87A8-EB4296772BD2}"/>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7CBDF804-5E40-4D1D-8110-1170324904F3}"/>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Marcar entrada, operaciones locales y redistribución.</a:t>
            </a:r>
          </a:p>
        </p:txBody>
      </p:sp>
      <p:sp>
        <p:nvSpPr>
          <p:cNvPr id="6" name="">
            <a:extLst xmlns:a="http://schemas.openxmlformats.org/drawingml/2006/main">
              <a:ext uri="{FF2B5EF4-FFF2-40B4-BE49-F238E27FC236}">
                <a16:creationId xmlns:a16="http://schemas.microsoft.com/office/drawing/2014/main" id="{29E80A18-F340-4B2D-96D2-B5589500854E}"/>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Explicación</a:t>
            </a:r>
          </a:p>
        </p:txBody>
      </p:sp>
      <p:sp>
        <p:nvSpPr>
          <p:cNvPr id="7" name="">
            <a:extLst xmlns:a="http://schemas.openxmlformats.org/drawingml/2006/main">
              <a:ext uri="{FF2B5EF4-FFF2-40B4-BE49-F238E27FC236}">
                <a16:creationId xmlns:a16="http://schemas.microsoft.com/office/drawing/2014/main" id="{DE5C0E45-8640-4A66-A2E1-6B91B34184FC}"/>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Relacionar Exchange con la necesidad de reunir aportes de la misma clave.</a:t>
            </a:r>
          </a:p>
        </p:txBody>
      </p:sp>
      <p:sp>
        <p:nvSpPr>
          <p:cNvPr id="8" name="">
            <a:extLst xmlns:a="http://schemas.openxmlformats.org/drawingml/2006/main">
              <a:ext uri="{FF2B5EF4-FFF2-40B4-BE49-F238E27FC236}">
                <a16:creationId xmlns:a16="http://schemas.microsoft.com/office/drawing/2014/main" id="{8E2FDF1D-73DA-4DE6-A857-9CF0CC4755FB}"/>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Los nombres concretos pueden variar. Leer el flujo de datos desde la entrada hacia el resultado.</a:t>
            </a:r>
          </a:p>
        </p:txBody>
      </p:sp>
      <p:sp>
        <p:nvSpPr>
          <p:cNvPr id="9" name="">
            <a:extLst xmlns:a="http://schemas.openxmlformats.org/drawingml/2006/main">
              <a:ext uri="{FF2B5EF4-FFF2-40B4-BE49-F238E27FC236}">
                <a16:creationId xmlns:a16="http://schemas.microsoft.com/office/drawing/2014/main" id="{CD3FC0E1-3786-4C83-87F2-76DBC2B7808E}"/>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2F4220F5-5F2F-4224-927E-9D76C2FD6300}"/>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25</a:t>
            </a:r>
          </a:p>
        </p:txBody>
      </p:sp>
    </p:spTree>
    <p:extLst>
      <p:ext uri="{BB962C8B-B14F-4D97-AF65-F5344CB8AC3E}">
        <p14:creationId xmlns:p14="http://schemas.microsoft.com/office/powerpoint/2010/main" val="197239185"/>
      </p:ext>
    </p:extLst>
  </p:cSld>
  <p:transition spd="med" advClick="1">
    <p:fade/>
  </p:transition>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88C9B067-90E6-4745-8EE2-92C92DBE1EEF}"/>
              </a:ext>
            </a:extLst>
          </p:cNvPr>
          <p:cNvPicPr>
            <a:picLocks xmlns:a="http://schemas.openxmlformats.org/drawingml/2006/main" noChangeAspect="1"/>
          </p:cNvPicPr>
          <p:nvPr/>
        </p:nvPicPr>
        <p:blipFill>
          <a:blip xmlns:r="http://schemas.openxmlformats.org/officeDocument/2006/relationships" xmlns:a="http://schemas.openxmlformats.org/drawingml/2006/main" r:embed="R2c0b1219ff99466c"/>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6F971F4-C212-43BB-883C-10B4C47BC0B9}"/>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5: observar la ejecución</a:t>
            </a:r>
          </a:p>
        </p:txBody>
      </p:sp>
      <p:sp>
        <p:nvSpPr>
          <p:cNvPr id="3" name="">
            <a:extLst xmlns:a="http://schemas.openxmlformats.org/drawingml/2006/main">
              <a:ext uri="{FF2B5EF4-FFF2-40B4-BE49-F238E27FC236}">
                <a16:creationId xmlns:a16="http://schemas.microsoft.com/office/drawing/2014/main" id="{1A19DFBA-E53A-4495-A707-2593AB5FEA16}"/>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print(spark.sparkContext.uiWebUrl)</a:t>
            </a:r>
          </a:p>
          <a:p xmlns:a="http://schemas.openxmlformats.org/drawingml/2006/main">
            <a:r>
              <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En otra celda del notebook:</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%%time</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rendimiento.write.mode("overwrite").parquet(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str(OUT / "spark_rendimiento")</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a:t>
            </a:r>
          </a:p>
        </p:txBody>
      </p:sp>
      <p:sp>
        <p:nvSpPr>
          <p:cNvPr id="4" name="">
            <a:extLst xmlns:a="http://schemas.openxmlformats.org/drawingml/2006/main">
              <a:ext uri="{FF2B5EF4-FFF2-40B4-BE49-F238E27FC236}">
                <a16:creationId xmlns:a16="http://schemas.microsoft.com/office/drawing/2014/main" id="{5AD4FADD-59D6-42C2-BCC9-C1E96C5F391A}"/>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374C802F-C46B-482B-A846-92BE23A978B8}"/>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Abrir Spark UI y seguir la consulta que escribe el resultado.</a:t>
            </a:r>
          </a:p>
        </p:txBody>
      </p:sp>
      <p:sp>
        <p:nvSpPr>
          <p:cNvPr id="6" name="">
            <a:extLst xmlns:a="http://schemas.openxmlformats.org/drawingml/2006/main">
              <a:ext uri="{FF2B5EF4-FFF2-40B4-BE49-F238E27FC236}">
                <a16:creationId xmlns:a16="http://schemas.microsoft.com/office/drawing/2014/main" id="{3CBCA166-CAA2-458D-814F-B2AD4EE2DBCB}"/>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Evidencia</a:t>
            </a:r>
          </a:p>
        </p:txBody>
      </p:sp>
      <p:sp>
        <p:nvSpPr>
          <p:cNvPr id="7" name="">
            <a:extLst xmlns:a="http://schemas.openxmlformats.org/drawingml/2006/main">
              <a:ext uri="{FF2B5EF4-FFF2-40B4-BE49-F238E27FC236}">
                <a16:creationId xmlns:a16="http://schemas.microsoft.com/office/drawing/2014/main" id="{94CDE7FE-82C9-4F4A-95B2-6CB4B344093B}"/>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Identificar etapas y tareas. Revisar shuffle leído y escrito entre ellas.</a:t>
            </a:r>
          </a:p>
        </p:txBody>
      </p:sp>
      <p:sp>
        <p:nvSpPr>
          <p:cNvPr id="8" name="">
            <a:extLst xmlns:a="http://schemas.openxmlformats.org/drawingml/2006/main">
              <a:ext uri="{FF2B5EF4-FFF2-40B4-BE49-F238E27FC236}">
                <a16:creationId xmlns:a16="http://schemas.microsoft.com/office/drawing/2014/main" id="{BA469BF7-6C61-401A-B3EC-1C85EA40A12F}"/>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%%time debe ir en la primera línea de su propia celda, como en el notebook.</a:t>
            </a:r>
          </a:p>
        </p:txBody>
      </p:sp>
      <p:sp>
        <p:nvSpPr>
          <p:cNvPr id="9" name="">
            <a:extLst xmlns:a="http://schemas.openxmlformats.org/drawingml/2006/main">
              <a:ext uri="{FF2B5EF4-FFF2-40B4-BE49-F238E27FC236}">
                <a16:creationId xmlns:a16="http://schemas.microsoft.com/office/drawing/2014/main" id="{437C1B08-E60A-4048-BD65-923E666834FA}"/>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B1B1D828-80D3-4945-8872-907C3FFB1DF7}"/>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26</a:t>
            </a:r>
          </a:p>
        </p:txBody>
      </p:sp>
    </p:spTree>
    <p:extLst>
      <p:ext uri="{BB962C8B-B14F-4D97-AF65-F5344CB8AC3E}">
        <p14:creationId xmlns:p14="http://schemas.microsoft.com/office/powerpoint/2010/main" val="1778622946"/>
      </p:ext>
    </p:extLst>
  </p:cSld>
  <p:transition spd="med" advClick="1">
    <p:fade/>
  </p:transition>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 name="">
            <a:extLst xmlns:a="http://schemas.openxmlformats.org/drawingml/2006/main">
              <a:ext uri="{FF2B5EF4-FFF2-40B4-BE49-F238E27FC236}">
                <a16:creationId xmlns:a16="http://schemas.microsoft.com/office/drawing/2014/main" id="{B2894D39-B2E3-49F1-8083-294D3D6985CD}"/>
              </a:ext>
            </a:extLst>
          </p:cNvPr>
          <p:cNvPicPr>
            <a:picLocks xmlns:a="http://schemas.openxmlformats.org/drawingml/2006/main" noChangeAspect="1"/>
          </p:cNvPicPr>
          <p:nvPr/>
        </p:nvPicPr>
        <p:blipFill>
          <a:blip xmlns:r="http://schemas.openxmlformats.org/officeDocument/2006/relationships" xmlns:a="http://schemas.openxmlformats.org/drawingml/2006/main" r:embed="R805e20e78e53429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5DCED52-2EA6-4DC2-829C-8C985F2186CD}"/>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6: comparar particiones</a:t>
            </a:r>
          </a:p>
        </p:txBody>
      </p:sp>
      <p:sp>
        <p:nvSpPr>
          <p:cNvPr id="3" name="">
            <a:extLst xmlns:a="http://schemas.openxmlformats.org/drawingml/2006/main">
              <a:ext uri="{FF2B5EF4-FFF2-40B4-BE49-F238E27FC236}">
                <a16:creationId xmlns:a16="http://schemas.microsoft.com/office/drawing/2014/main" id="{FAD768CE-F1E8-49BC-A65C-FC54DE450DDD}"/>
              </a:ext>
            </a:extLst>
          </p:cNvPr>
          <p:cNvSpPr>
            <a:spLocks xmlns:a="http://schemas.openxmlformats.org/drawingml/2006/main" noGrp="1"/>
          </p:cNvSpPr>
          <p:nvPr/>
        </p:nvSpPr>
        <p:spPr>
          <a:xfrm xmlns:a="http://schemas.openxmlformats.org/drawingml/2006/main">
            <a:off x="609600" y="1571625"/>
            <a:ext cx="7239000" cy="404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725" b="0">
                <a:solidFill>
                  <a:srgbClr val="203B68"/>
                </a:solidFill>
                <a:latin typeface="Consolas"/>
                <a:ea typeface="Consolas"/>
                <a:cs typeface="Consolas"/>
              </a:defRPr>
            </a:defPPr>
          </a:lstStyle>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Extensión guiada: reconstruir para cada valor.</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for n in (2, 4):</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spark.conf.set("spark.sql.shuffle.partitions", str(n))</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q = aptos.groupBy(*claves).agg(</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F.sum("produccion_t").alias("produccion_t"))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q.write.mode("overwrite").parquet(</a:t>
            </a:r>
          </a:p>
          <a:p xmlns:a="http://schemas.openxmlformats.org/drawingml/2006/main">
            <a:pPr>
              <a:defRPr sz="1725" b="0">
                <a:solidFill>
                  <a:srgbClr val="203B68"/>
                </a:solidFill>
                <a:latin typeface="Consolas"/>
                <a:ea typeface="Consolas"/>
                <a:cs typeface="Consolas"/>
              </a:defRPr>
            </a:pPr>
            <a:r>
              <a:rPr sz="1725" b="0">
                <a:solidFill>
                  <a:srgbClr val="203B68"/>
                </a:solidFill>
                <a:latin typeface="Consolas"/>
                <a:ea typeface="Consolas"/>
                <a:cs typeface="Consolas"/>
              </a:rPr>
              <a:t>        str(OUT / f"prueba_particiones_{n}"))</a:t>
            </a:r>
          </a:p>
        </p:txBody>
      </p:sp>
      <p:sp>
        <p:nvSpPr>
          <p:cNvPr id="4" name="">
            <a:extLst xmlns:a="http://schemas.openxmlformats.org/drawingml/2006/main">
              <a:ext uri="{FF2B5EF4-FFF2-40B4-BE49-F238E27FC236}">
                <a16:creationId xmlns:a16="http://schemas.microsoft.com/office/drawing/2014/main" id="{6309AA1D-5470-42EA-82F1-658B127B48F4}"/>
              </a:ext>
            </a:extLst>
          </p:cNvPr>
          <p:cNvSpPr>
            <a:spLocks xmlns:a="http://schemas.openxmlformats.org/drawingml/2006/main" noGrp="1"/>
          </p:cNvSpPr>
          <p:nvPr/>
        </p:nvSpPr>
        <p:spPr>
          <a:xfrm xmlns:a="http://schemas.openxmlformats.org/drawingml/2006/main">
            <a:off x="8143875" y="1571625"/>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5546ED"/>
                </a:solidFill>
                <a:latin typeface="Calibri"/>
                <a:ea typeface="Calibri"/>
                <a:cs typeface="Calibri"/>
              </a:defRPr>
            </a:defPPr>
          </a:lstStyle>
          <a:p xmlns:a="http://schemas.openxmlformats.org/drawingml/2006/main">
            <a:pPr>
              <a:defRPr sz="1950" b="1">
                <a:solidFill>
                  <a:srgbClr val="5546ED"/>
                </a:solidFill>
                <a:latin typeface="Calibri"/>
                <a:ea typeface="Calibri"/>
                <a:cs typeface="Calibri"/>
              </a:defRPr>
            </a:pPr>
            <a:r>
              <a:rPr sz="1950" b="1">
                <a:solidFill>
                  <a:srgbClr val="5546ED"/>
                </a:solidFill>
                <a:latin typeface="Calibri"/>
                <a:ea typeface="Calibri"/>
                <a:cs typeface="Calibri"/>
              </a:rPr>
              <a:t>Actividad</a:t>
            </a:r>
          </a:p>
        </p:txBody>
      </p:sp>
      <p:sp>
        <p:nvSpPr>
          <p:cNvPr id="5" name="">
            <a:extLst xmlns:a="http://schemas.openxmlformats.org/drawingml/2006/main">
              <a:ext uri="{FF2B5EF4-FFF2-40B4-BE49-F238E27FC236}">
                <a16:creationId xmlns:a16="http://schemas.microsoft.com/office/drawing/2014/main" id="{8B18038D-B577-4EA5-8E09-3A18219CE0CF}"/>
              </a:ext>
            </a:extLst>
          </p:cNvPr>
          <p:cNvSpPr>
            <a:spLocks xmlns:a="http://schemas.openxmlformats.org/drawingml/2006/main" noGrp="1"/>
          </p:cNvSpPr>
          <p:nvPr/>
        </p:nvSpPr>
        <p:spPr>
          <a:xfrm xmlns:a="http://schemas.openxmlformats.org/drawingml/2006/main">
            <a:off x="8143875" y="2057400"/>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Comparar tareas, shuffle y duración de las dos ejecuciones.</a:t>
            </a:r>
          </a:p>
        </p:txBody>
      </p:sp>
      <p:sp>
        <p:nvSpPr>
          <p:cNvPr id="6" name="">
            <a:extLst xmlns:a="http://schemas.openxmlformats.org/drawingml/2006/main">
              <a:ext uri="{FF2B5EF4-FFF2-40B4-BE49-F238E27FC236}">
                <a16:creationId xmlns:a16="http://schemas.microsoft.com/office/drawing/2014/main" id="{089FBA0E-4983-4163-85B1-1FC2A4265F09}"/>
              </a:ext>
            </a:extLst>
          </p:cNvPr>
          <p:cNvSpPr>
            <a:spLocks xmlns:a="http://schemas.openxmlformats.org/drawingml/2006/main" noGrp="1"/>
          </p:cNvSpPr>
          <p:nvPr/>
        </p:nvSpPr>
        <p:spPr>
          <a:xfrm xmlns:a="http://schemas.openxmlformats.org/drawingml/2006/main">
            <a:off x="8143875" y="3543300"/>
            <a:ext cx="333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1">
                <a:solidFill>
                  <a:srgbClr val="098F89"/>
                </a:solidFill>
                <a:latin typeface="Calibri"/>
                <a:ea typeface="Calibri"/>
                <a:cs typeface="Calibri"/>
              </a:defRPr>
            </a:defPPr>
          </a:lstStyle>
          <a:p xmlns:a="http://schemas.openxmlformats.org/drawingml/2006/main">
            <a:pPr>
              <a:defRPr sz="1950" b="1">
                <a:solidFill>
                  <a:srgbClr val="098F89"/>
                </a:solidFill>
                <a:latin typeface="Calibri"/>
                <a:ea typeface="Calibri"/>
                <a:cs typeface="Calibri"/>
              </a:defRPr>
            </a:pPr>
            <a:r>
              <a:rPr sz="1950" b="1">
                <a:solidFill>
                  <a:srgbClr val="098F89"/>
                </a:solidFill>
                <a:latin typeface="Calibri"/>
                <a:ea typeface="Calibri"/>
                <a:cs typeface="Calibri"/>
              </a:rPr>
              <a:t>Interpretación</a:t>
            </a:r>
          </a:p>
        </p:txBody>
      </p:sp>
      <p:sp>
        <p:nvSpPr>
          <p:cNvPr id="7" name="">
            <a:extLst xmlns:a="http://schemas.openxmlformats.org/drawingml/2006/main">
              <a:ext uri="{FF2B5EF4-FFF2-40B4-BE49-F238E27FC236}">
                <a16:creationId xmlns:a16="http://schemas.microsoft.com/office/drawing/2014/main" id="{74002E6A-47D2-4E6F-8C19-2A90B92C1E96}"/>
              </a:ext>
            </a:extLst>
          </p:cNvPr>
          <p:cNvSpPr>
            <a:spLocks xmlns:a="http://schemas.openxmlformats.org/drawingml/2006/main" noGrp="1"/>
          </p:cNvSpPr>
          <p:nvPr/>
        </p:nvSpPr>
        <p:spPr>
          <a:xfrm xmlns:a="http://schemas.openxmlformats.org/drawingml/2006/main">
            <a:off x="8143875" y="4029075"/>
            <a:ext cx="333375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75" b="0">
                <a:solidFill>
                  <a:srgbClr val="203B68"/>
                </a:solidFill>
                <a:latin typeface="Calibri"/>
                <a:ea typeface="Calibri"/>
                <a:cs typeface="Calibri"/>
              </a:defRPr>
            </a:defPPr>
          </a:lstStyle>
          <a:p xmlns:a="http://schemas.openxmlformats.org/drawingml/2006/main">
            <a:pPr>
              <a:defRPr sz="1875" b="0">
                <a:solidFill>
                  <a:srgbClr val="203B68"/>
                </a:solidFill>
                <a:latin typeface="Calibri"/>
                <a:ea typeface="Calibri"/>
                <a:cs typeface="Calibri"/>
              </a:defRPr>
            </a:pPr>
            <a:r>
              <a:rPr sz="1875" b="0">
                <a:solidFill>
                  <a:srgbClr val="203B68"/>
                </a:solidFill>
                <a:latin typeface="Calibri"/>
                <a:ea typeface="Calibri"/>
                <a:cs typeface="Calibri"/>
              </a:rPr>
              <a:t>Revisar AQE y el plan final. Un número configurado no garantiza igual número de archivos.</a:t>
            </a:r>
          </a:p>
        </p:txBody>
      </p:sp>
      <p:sp>
        <p:nvSpPr>
          <p:cNvPr id="8" name="">
            <a:extLst xmlns:a="http://schemas.openxmlformats.org/drawingml/2006/main">
              <a:ext uri="{FF2B5EF4-FFF2-40B4-BE49-F238E27FC236}">
                <a16:creationId xmlns:a16="http://schemas.microsoft.com/office/drawing/2014/main" id="{693A5285-DE54-461A-BA92-31BED80ED0C5}"/>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Extensión didáctica de E07. Mantener la consulta comparable y restaurar la configuración a 4.</a:t>
            </a:r>
          </a:p>
        </p:txBody>
      </p:sp>
      <p:sp>
        <p:nvSpPr>
          <p:cNvPr id="9" name="">
            <a:extLst xmlns:a="http://schemas.openxmlformats.org/drawingml/2006/main">
              <a:ext uri="{FF2B5EF4-FFF2-40B4-BE49-F238E27FC236}">
                <a16:creationId xmlns:a16="http://schemas.microsoft.com/office/drawing/2014/main" id="{8DADFFBA-ABBF-4455-8CFE-D6C056CABF5F}"/>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10" name="">
            <a:extLst xmlns:a="http://schemas.openxmlformats.org/drawingml/2006/main">
              <a:ext uri="{FF2B5EF4-FFF2-40B4-BE49-F238E27FC236}">
                <a16:creationId xmlns:a16="http://schemas.microsoft.com/office/drawing/2014/main" id="{FC0C9B2D-D51C-4B27-96E4-6E68D8B4B6BA}"/>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27</a:t>
            </a:r>
          </a:p>
        </p:txBody>
      </p:sp>
    </p:spTree>
    <p:extLst>
      <p:ext uri="{BB962C8B-B14F-4D97-AF65-F5344CB8AC3E}">
        <p14:creationId xmlns:p14="http://schemas.microsoft.com/office/powerpoint/2010/main" val="1576519799"/>
      </p:ext>
    </p:extLst>
  </p:cSld>
  <p:transition spd="med" advClick="1">
    <p:fade/>
  </p:transition>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1A9DB3E-4009-4B47-8108-D661E662A659}"/>
              </a:ext>
            </a:extLst>
          </p:cNvPr>
          <p:cNvPicPr>
            <a:picLocks xmlns:a="http://schemas.openxmlformats.org/drawingml/2006/main" noChangeAspect="1"/>
          </p:cNvPicPr>
          <p:nvPr/>
        </p:nvPicPr>
        <p:blipFill>
          <a:blip xmlns:r="http://schemas.openxmlformats.org/officeDocument/2006/relationships" xmlns:a="http://schemas.openxmlformats.org/drawingml/2006/main" r:embed="R92411d15118d4432"/>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CE135AAF-A422-4348-9DC0-A5EC42259764}"/>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Ejercicio 7: guardar y verificar</a:t>
            </a:r>
          </a:p>
        </p:txBody>
      </p:sp>
      <p:graphicFrame>
        <p:nvGraphicFramePr>
          <p:cNvPr id="3" name="">
            <a:extLst xmlns:a="http://schemas.openxmlformats.org/drawingml/2006/main">
              <a:ext uri="{FF2B5EF4-FFF2-40B4-BE49-F238E27FC236}">
                <a16:creationId xmlns:a16="http://schemas.microsoft.com/office/drawing/2014/main" id="{9CB934F5-B68C-4359-BBB7-573703457A1F}"/>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Actividad</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Evidencia del resultado</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Leer la carpeta completa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spark.read.parquet(str(OUT / "spark_rendimiento")).</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Verificar la unidad de análisis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Las cuatro claves identifican cada grupo de forma única.</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Comparar con DuckDB</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Misma entrada, filtro, claves y cociente de sumas.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Comprobar las medidas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Producción, área y rendimiento. Tolerancia absoluta: 1e-6.</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Guardar el control</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control_spark.json, generado por el notebook.</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11880FB3-9E25-48AC-9026-41AB504D74F3}"/>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Referencia del corte docente: 107 620 grupos. Igual cantidad de filas no demuestra equivalencia.</a:t>
            </a:r>
          </a:p>
        </p:txBody>
      </p:sp>
      <p:sp>
        <p:nvSpPr>
          <p:cNvPr id="5" name="">
            <a:extLst xmlns:a="http://schemas.openxmlformats.org/drawingml/2006/main">
              <a:ext uri="{FF2B5EF4-FFF2-40B4-BE49-F238E27FC236}">
                <a16:creationId xmlns:a16="http://schemas.microsoft.com/office/drawing/2014/main" id="{512BF745-FAE9-4462-A611-091D74275794}"/>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34C31FC8-17BA-4629-A199-651397BD5303}"/>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28</a:t>
            </a:r>
          </a:p>
        </p:txBody>
      </p:sp>
    </p:spTree>
    <p:extLst>
      <p:ext uri="{BB962C8B-B14F-4D97-AF65-F5344CB8AC3E}">
        <p14:creationId xmlns:p14="http://schemas.microsoft.com/office/powerpoint/2010/main" val="487466325"/>
      </p:ext>
    </p:extLst>
  </p:cSld>
  <p:transition spd="med" advClick="1">
    <p:fade/>
  </p:transition>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6DE64A0-A069-428A-834E-FE1B3553F371}"/>
              </a:ext>
            </a:extLst>
          </p:cNvPr>
          <p:cNvPicPr>
            <a:picLocks xmlns:a="http://schemas.openxmlformats.org/drawingml/2006/main" noChangeAspect="1"/>
          </p:cNvPicPr>
          <p:nvPr/>
        </p:nvPicPr>
        <p:blipFill>
          <a:blip xmlns:r="http://schemas.openxmlformats.org/officeDocument/2006/relationships" xmlns:a="http://schemas.openxmlformats.org/drawingml/2006/main" r:embed="R21aa49fc18de4d93"/>
          <a:stretch xmlns:a="http://schemas.openxmlformats.org/drawingml/2006/main"/>
        </p:blipFill>
        <p:spPr>
          <a:xfrm xmlns:a="http://schemas.openxmlformats.org/drawingml/2006/main">
            <a:off x="0" y="0"/>
            <a:ext cx="12192000" cy="1143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ADC100E-45D8-4CC6-97D1-387C2EBBEFE7}"/>
              </a:ext>
            </a:extLst>
          </p:cNvPr>
          <p:cNvSpPr>
            <a:spLocks xmlns:a="http://schemas.openxmlformats.org/drawingml/2006/main" noGrp="1"/>
          </p:cNvSpPr>
          <p:nvPr/>
        </p:nvSpPr>
        <p:spPr>
          <a:xfrm xmlns:a="http://schemas.openxmlformats.org/drawingml/2006/main">
            <a:off x="1638300" y="295275"/>
            <a:ext cx="1009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1">
                <a:solidFill>
                  <a:srgbClr val="5546ED"/>
                </a:solidFill>
                <a:latin typeface="Calibri"/>
                <a:ea typeface="Calibri"/>
                <a:cs typeface="Calibri"/>
              </a:defRPr>
            </a:defPPr>
          </a:lstStyle>
          <a:p xmlns:a="http://schemas.openxmlformats.org/drawingml/2006/main">
            <a:pPr>
              <a:defRPr sz="2850" b="1">
                <a:solidFill>
                  <a:srgbClr val="5546ED"/>
                </a:solidFill>
                <a:latin typeface="Calibri"/>
                <a:ea typeface="Calibri"/>
                <a:cs typeface="Calibri"/>
              </a:defRPr>
            </a:pPr>
            <a:r>
              <a:rPr sz="2850" b="1">
                <a:solidFill>
                  <a:srgbClr val="5546ED"/>
                </a:solidFill>
                <a:latin typeface="Calibri"/>
                <a:ea typeface="Calibri"/>
                <a:cs typeface="Calibri"/>
              </a:rPr>
              <a:t>Discusión: el mismo ejercicio a escala TB</a:t>
            </a:r>
          </a:p>
        </p:txBody>
      </p:sp>
      <p:graphicFrame>
        <p:nvGraphicFramePr>
          <p:cNvPr id="3" name="">
            <a:extLst xmlns:a="http://schemas.openxmlformats.org/drawingml/2006/main">
              <a:ext uri="{FF2B5EF4-FFF2-40B4-BE49-F238E27FC236}">
                <a16:creationId xmlns:a16="http://schemas.microsoft.com/office/drawing/2014/main" id="{09E4F53A-535A-48FD-BD49-F1CD4659A29E}"/>
              </a:ext>
            </a:extLst>
          </p:cNvPr>
          <p:cNvGraphicFramePr/>
          <p:nvPr/>
        </p:nvGraphicFramePr>
        <p:xfrm>
          <a:off xmlns:a="http://schemas.openxmlformats.org/drawingml/2006/main" x="609600" y="1466850"/>
          <a:ext xmlns:a="http://schemas.openxmlformats.org/drawingml/2006/main" cx="10972800" cy="4191000"/>
        </p:xfrm>
        <a:graphic xmlns:a="http://schemas.openxmlformats.org/drawingml/2006/main">
          <a:graphicData uri="http://schemas.openxmlformats.org/drawingml/2006/table">
            <a:tbl>
              <a:tblPr/>
              <a:tblGrid>
                <a:gridCol w="4143375"/>
                <a:gridCol w="6829425"/>
              </a:tblGrid>
              <a:tr h="698500">
                <a:tc>
                  <a:txBody>
                    <a:bodyPr/>
                    <a:lstStyle/>
                    <a:p>
                      <a:r>
                        <a:rPr sz="1800" b="1">
                          <a:solidFill>
                            <a:srgbClr val="FFFFFF"/>
                          </a:solidFill>
                          <a:latin typeface="Calibri"/>
                          <a:ea typeface="Calibri"/>
                          <a:cs typeface="Calibri"/>
                        </a:rPr>
                        <a:t>Cambio observado</a:t>
                      </a:r>
                    </a:p>
                  </a:txBody>
                  <a:tcPr marL="91440" marR="91440" marT="45720" marB="45720">
                    <a:lnL w="9525">
                      <a:solidFill>
                        <a:srgbClr val="C8D8DE"/>
                      </a:solidFill>
                    </a:lnL>
                    <a:lnR w="9525">
                      <a:solidFill>
                        <a:srgbClr val="C8D8DE"/>
                      </a:solidFill>
                    </a:lnR>
                    <a:lnT w="9525">
                      <a:solidFill>
                        <a:srgbClr val="C8D8DE"/>
                      </a:solidFill>
                    </a:lnT>
                    <a:lnB w="9525">
                      <a:solidFill>
                        <a:srgbClr val="C8D8DE"/>
                      </a:solidFill>
                    </a:lnB>
                    <a:solidFill>
                      <a:srgbClr val="4237BF"/>
                    </a:solidFill>
                  </a:tcPr>
                </a:tc>
                <a:tc>
                  <a:txBody>
                    <a:bodyPr/>
                    <a:lstStyle/>
                    <a:p>
                      <a:r>
                        <a:rPr sz="1800" b="1">
                          <a:solidFill>
                            <a:srgbClr val="FFFFFF"/>
                          </a:solidFill>
                          <a:latin typeface="Calibri"/>
                          <a:ea typeface="Calibri"/>
                          <a:cs typeface="Calibri"/>
                        </a:rPr>
                        <a:t>Qué debemos explicar con la arquitectura</a:t>
                      </a:r>
                    </a:p>
                  </a:txBody>
                  <a:tcPr marL="91440" marR="91440" marT="45720" marB="45720">
                    <a:lnR w="9525">
                      <a:solidFill>
                        <a:srgbClr val="C8D8DE"/>
                      </a:solidFill>
                    </a:lnR>
                    <a:lnT w="9525">
                      <a:solidFill>
                        <a:srgbClr val="C8D8DE"/>
                      </a:solidFill>
                    </a:lnT>
                    <a:lnB w="9525">
                      <a:solidFill>
                        <a:srgbClr val="C8D8DE"/>
                      </a:solidFill>
                    </a:lnB>
                    <a:solidFill>
                      <a:srgbClr val="4237BF"/>
                    </a:solidFill>
                  </a:tcPr>
                </a:tc>
              </a:tr>
              <a:tr h="698500">
                <a:tc>
                  <a:txBody>
                    <a:bodyPr/>
                    <a:lstStyle/>
                    <a:p>
                      <a:r>
                        <a:rPr sz="1800" b="0">
                          <a:solidFill>
                            <a:srgbClr val="203B68"/>
                          </a:solidFill>
                          <a:latin typeface="Calibri"/>
                          <a:ea typeface="Calibri"/>
                          <a:cs typeface="Calibri"/>
                        </a:rPr>
                        <a:t>Más datos de entrada</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Lectura distribuida y cantidad de particiones.</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Más grupos o más columnas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Estructuras de agregación, memoria por tarea y spill.</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Una clave concentra los datos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Sesgo: una tarea puede retrasar la etapa completa.</a:t>
                      </a:r>
                    </a:p>
                  </a:txBody>
                  <a:tcPr marL="91440" marR="91440" marT="45720" marB="45720">
                    <a:lnR w="9525">
                      <a:solidFill>
                        <a:srgbClr val="C8D8DE"/>
                      </a:solidFill>
                    </a:lnR>
                    <a:lnB w="9525">
                      <a:solidFill>
                        <a:srgbClr val="C8D8DE"/>
                      </a:solidFill>
                    </a:lnB>
                    <a:solidFill>
                      <a:srgbClr val="F4F8F8"/>
                    </a:solidFill>
                  </a:tcPr>
                </a:tc>
              </a:tr>
              <a:tr h="698500">
                <a:tc>
                  <a:txBody>
                    <a:bodyPr/>
                    <a:lstStyle/>
                    <a:p>
                      <a:r>
                        <a:rPr sz="1800" b="0">
                          <a:solidFill>
                            <a:srgbClr val="203B68"/>
                          </a:solidFill>
                          <a:latin typeface="Calibri"/>
                          <a:ea typeface="Calibri"/>
                          <a:cs typeface="Calibri"/>
                        </a:rPr>
                        <a:t>Executors en distintas máquinas</a:t>
                      </a:r>
                    </a:p>
                  </a:txBody>
                  <a:tcPr marL="91440" marR="91440" marT="45720" marB="45720">
                    <a:lnL w="9525">
                      <a:solidFill>
                        <a:srgbClr val="C8D8DE"/>
                      </a:solidFill>
                    </a:lnL>
                    <a:lnR w="9525">
                      <a:solidFill>
                        <a:srgbClr val="C8D8DE"/>
                      </a:solidFill>
                    </a:lnR>
                    <a:lnB w="9525">
                      <a:solidFill>
                        <a:srgbClr val="C8D8DE"/>
                      </a:solidFill>
                    </a:lnB>
                    <a:solidFill>
                      <a:srgbClr val="E9F0F1"/>
                    </a:solidFill>
                  </a:tcPr>
                </a:tc>
                <a:tc>
                  <a:txBody>
                    <a:bodyPr/>
                    <a:lstStyle/>
                    <a:p>
                      <a:r>
                        <a:rPr sz="1800" b="0">
                          <a:solidFill>
                            <a:srgbClr val="203B68"/>
                          </a:solidFill>
                          <a:latin typeface="Calibri"/>
                          <a:ea typeface="Calibri"/>
                          <a:cs typeface="Calibri"/>
                        </a:rPr>
                        <a:t>Coste de red y disco durante el shuffle.</a:t>
                      </a:r>
                    </a:p>
                  </a:txBody>
                  <a:tcPr marL="91440" marR="91440" marT="45720" marB="45720">
                    <a:lnR w="9525">
                      <a:solidFill>
                        <a:srgbClr val="C8D8DE"/>
                      </a:solidFill>
                    </a:lnR>
                    <a:lnB w="9525">
                      <a:solidFill>
                        <a:srgbClr val="C8D8DE"/>
                      </a:solidFill>
                    </a:lnB>
                    <a:solidFill>
                      <a:srgbClr val="E9F0F1"/>
                    </a:solidFill>
                  </a:tcPr>
                </a:tc>
              </a:tr>
              <a:tr h="698500">
                <a:tc>
                  <a:txBody>
                    <a:bodyPr/>
                    <a:lstStyle/>
                    <a:p>
                      <a:r>
                        <a:rPr sz="1800" b="0">
                          <a:solidFill>
                            <a:srgbClr val="203B68"/>
                          </a:solidFill>
                          <a:latin typeface="Calibri"/>
                          <a:ea typeface="Calibri"/>
                          <a:cs typeface="Calibri"/>
                        </a:rPr>
                        <a:t>Más recursos disponibles</a:t>
                      </a:r>
                    </a:p>
                  </a:txBody>
                  <a:tcPr marL="91440" marR="91440" marT="45720" marB="45720">
                    <a:lnL w="9525">
                      <a:solidFill>
                        <a:srgbClr val="C8D8DE"/>
                      </a:solidFill>
                    </a:lnL>
                    <a:lnR w="9525">
                      <a:solidFill>
                        <a:srgbClr val="C8D8DE"/>
                      </a:solidFill>
                    </a:lnR>
                    <a:lnB w="9525">
                      <a:solidFill>
                        <a:srgbClr val="C8D8DE"/>
                      </a:solidFill>
                    </a:lnB>
                    <a:solidFill>
                      <a:srgbClr val="F4F8F8"/>
                    </a:solidFill>
                  </a:tcPr>
                </a:tc>
                <a:tc>
                  <a:txBody>
                    <a:bodyPr/>
                    <a:lstStyle/>
                    <a:p>
                      <a:r>
                        <a:rPr sz="1800" b="0">
                          <a:solidFill>
                            <a:srgbClr val="203B68"/>
                          </a:solidFill>
                          <a:latin typeface="Calibri"/>
                          <a:ea typeface="Calibri"/>
                          <a:cs typeface="Calibri"/>
                        </a:rPr>
                        <a:t>Cuánto trabajo puede repartirse y qué dependencias lo limitan.</a:t>
                      </a:r>
                    </a:p>
                  </a:txBody>
                  <a:tcPr marL="91440" marR="91440" marT="45720" marB="45720">
                    <a:lnR w="9525">
                      <a:solidFill>
                        <a:srgbClr val="C8D8DE"/>
                      </a:solidFill>
                    </a:lnR>
                    <a:lnB w="9525">
                      <a:solidFill>
                        <a:srgbClr val="C8D8DE"/>
                      </a:solidFill>
                    </a:lnB>
                    <a:solidFill>
                      <a:srgbClr val="F4F8F8"/>
                    </a:solidFill>
                  </a:tcPr>
                </a:tc>
              </a:tr>
            </a:tbl>
          </a:graphicData>
        </a:graphic>
      </p:graphicFrame>
      <p:sp>
        <p:nvSpPr>
          <p:cNvPr id="4" name="">
            <a:extLst xmlns:a="http://schemas.openxmlformats.org/drawingml/2006/main">
              <a:ext uri="{FF2B5EF4-FFF2-40B4-BE49-F238E27FC236}">
                <a16:creationId xmlns:a16="http://schemas.microsoft.com/office/drawing/2014/main" id="{032547BD-711D-4A34-8DBF-387E5033BC22}"/>
              </a:ext>
            </a:extLst>
          </p:cNvPr>
          <p:cNvSpPr>
            <a:spLocks xmlns:a="http://schemas.openxmlformats.org/drawingml/2006/main" noGrp="1"/>
          </p:cNvSpPr>
          <p:nvPr/>
        </p:nvSpPr>
        <p:spPr>
          <a:xfrm xmlns:a="http://schemas.openxmlformats.org/drawingml/2006/main">
            <a:off x="609600" y="5934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500" b="0">
                <a:solidFill>
                  <a:srgbClr val="203B68"/>
                </a:solidFill>
                <a:latin typeface="Calibri"/>
                <a:ea typeface="Calibri"/>
                <a:cs typeface="Calibri"/>
              </a:defRPr>
            </a:defPPr>
          </a:lstStyle>
          <a:p xmlns:a="http://schemas.openxmlformats.org/drawingml/2006/main">
            <a:pPr>
              <a:defRPr sz="1500" b="0">
                <a:solidFill>
                  <a:srgbClr val="203B68"/>
                </a:solidFill>
                <a:latin typeface="Calibri"/>
                <a:ea typeface="Calibri"/>
                <a:cs typeface="Calibri"/>
              </a:defRPr>
            </a:pPr>
            <a:r>
              <a:rPr sz="1500" b="0">
                <a:solidFill>
                  <a:srgbClr val="203B68"/>
                </a:solidFill>
                <a:latin typeface="Calibri"/>
                <a:ea typeface="Calibri"/>
                <a:cs typeface="Calibri"/>
              </a:rPr>
              <a:t>Pregunta final: ¿qué componente o intercambio limita el tiempo y qué evidencia lo demuestra?</a:t>
            </a:r>
          </a:p>
        </p:txBody>
      </p:sp>
      <p:sp>
        <p:nvSpPr>
          <p:cNvPr id="5" name="">
            <a:extLst xmlns:a="http://schemas.openxmlformats.org/drawingml/2006/main">
              <a:ext uri="{FF2B5EF4-FFF2-40B4-BE49-F238E27FC236}">
                <a16:creationId xmlns:a16="http://schemas.microsoft.com/office/drawing/2014/main" id="{91A5ACA3-A6F8-4691-9261-E5B230A76568}"/>
              </a:ext>
            </a:extLst>
          </p:cNvPr>
          <p:cNvSpPr>
            <a:spLocks xmlns:a="http://schemas.openxmlformats.org/drawingml/2006/main" noGrp="1"/>
          </p:cNvSpPr>
          <p:nvPr/>
        </p:nvSpPr>
        <p:spPr>
          <a:xfrm xmlns:a="http://schemas.openxmlformats.org/drawingml/2006/main">
            <a:off x="609600" y="6448425"/>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Curso de Postgrado: BigData, Especialización en Bases de datos</a:t>
            </a:r>
          </a:p>
        </p:txBody>
      </p:sp>
      <p:sp>
        <p:nvSpPr>
          <p:cNvPr id="6" name="">
            <a:extLst xmlns:a="http://schemas.openxmlformats.org/drawingml/2006/main">
              <a:ext uri="{FF2B5EF4-FFF2-40B4-BE49-F238E27FC236}">
                <a16:creationId xmlns:a16="http://schemas.microsoft.com/office/drawing/2014/main" id="{087E63A6-6C59-4E82-BA6D-D919055C77F1}"/>
              </a:ext>
            </a:extLst>
          </p:cNvPr>
          <p:cNvSpPr>
            <a:spLocks xmlns:a="http://schemas.openxmlformats.org/drawingml/2006/main" noGrp="1"/>
          </p:cNvSpPr>
          <p:nvPr/>
        </p:nvSpPr>
        <p:spPr>
          <a:xfrm xmlns:a="http://schemas.openxmlformats.org/drawingml/2006/main">
            <a:off x="11001375" y="64484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200" b="0">
                <a:solidFill>
                  <a:srgbClr val="4239C8"/>
                </a:solidFill>
                <a:latin typeface="Calibri"/>
                <a:ea typeface="Calibri"/>
                <a:cs typeface="Calibri"/>
              </a:defRPr>
            </a:defPPr>
          </a:lstStyle>
          <a:p xmlns:a="http://schemas.openxmlformats.org/drawingml/2006/main">
            <a:pPr>
              <a:defRPr sz="1200" b="0">
                <a:solidFill>
                  <a:srgbClr val="4239C8"/>
                </a:solidFill>
                <a:latin typeface="Calibri"/>
                <a:ea typeface="Calibri"/>
                <a:cs typeface="Calibri"/>
              </a:defRPr>
            </a:pPr>
            <a:r>
              <a:rPr sz="1200" b="0">
                <a:solidFill>
                  <a:srgbClr val="4239C8"/>
                </a:solidFill>
                <a:latin typeface="Calibri"/>
                <a:ea typeface="Calibri"/>
                <a:cs typeface="Calibri"/>
              </a:rPr>
              <a:t>29</a:t>
            </a:r>
          </a:p>
        </p:txBody>
      </p:sp>
    </p:spTree>
    <p:extLst>
      <p:ext uri="{BB962C8B-B14F-4D97-AF65-F5344CB8AC3E}">
        <p14:creationId xmlns:p14="http://schemas.microsoft.com/office/powerpoint/2010/main" val="284930975"/>
      </p:ext>
    </p:extLst>
  </p:cSld>
  <p:transition spd="med" advClick="1">
    <p:fade/>
  </p:transition>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2026-10-16T22:56:33.4200000Z</dcterms:created>
  <dcterms:modified xsi:type="dcterms:W3CDTF">2026-10-16T22:56:33.4200000Z</dcterms:modified>
</coreProperties>
</file>