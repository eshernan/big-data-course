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1.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4cd59a773eb46de" /><Relationship Type="http://schemas.openxmlformats.org/officeDocument/2006/relationships/extended-properties" Target="/docProps/app.xml" Id="Raafce78425a84b75" /><Relationship Type="http://schemas.openxmlformats.org/officeDocument/2006/relationships/officeDocument" Target="/ppt/presentation.xml" Id="R9a4be79e4a914f58" /></Relationships>
</file>

<file path=ppt/presentation.xml><?xml version="1.0" encoding="utf-8"?>
<p:presentation xmlns:p="http://schemas.openxmlformats.org/presentationml/2006/main">
  <p:sldMasterIdLst>
    <p:sldMasterId xmlns:r="http://schemas.openxmlformats.org/officeDocument/2006/relationships" id="2147483648" r:id="R2335ab86ffcf453f"/>
  </p:sldMasterIdLst>
  <p:notesMasterIdLst>
    <p:notesMasterId xmlns:r="http://schemas.openxmlformats.org/officeDocument/2006/relationships" r:id="R1df691ab1bfd4449"/>
  </p:notesMasterIdLst>
  <p:sldIdLst>
    <p:sldId xmlns:r="http://schemas.openxmlformats.org/officeDocument/2006/relationships" id="256" r:id="Rc1224a99faaf4b42"/>
    <p:sldId xmlns:r="http://schemas.openxmlformats.org/officeDocument/2006/relationships" id="257" r:id="R281cbf8a860d4645"/>
    <p:sldId xmlns:r="http://schemas.openxmlformats.org/officeDocument/2006/relationships" id="258" r:id="Rd14d61f9d890454d"/>
    <p:sldId xmlns:r="http://schemas.openxmlformats.org/officeDocument/2006/relationships" id="259" r:id="R2a9f567f3c9a48d2"/>
    <p:sldId xmlns:r="http://schemas.openxmlformats.org/officeDocument/2006/relationships" id="260" r:id="Rf899242dc7cd4f56"/>
    <p:sldId xmlns:r="http://schemas.openxmlformats.org/officeDocument/2006/relationships" id="261" r:id="R85d13a08dae744eb"/>
    <p:sldId xmlns:r="http://schemas.openxmlformats.org/officeDocument/2006/relationships" id="262" r:id="Rbb1f2dd775684997"/>
    <p:sldId xmlns:r="http://schemas.openxmlformats.org/officeDocument/2006/relationships" id="263" r:id="Rb2be7e73a98b457e"/>
    <p:sldId xmlns:r="http://schemas.openxmlformats.org/officeDocument/2006/relationships" id="264" r:id="Rf28b704f20fa4284"/>
    <p:sldId xmlns:r="http://schemas.openxmlformats.org/officeDocument/2006/relationships" id="265" r:id="Ree133e1c0737400a"/>
    <p:sldId xmlns:r="http://schemas.openxmlformats.org/officeDocument/2006/relationships" id="266" r:id="R77931a5ae83246fb"/>
    <p:sldId xmlns:r="http://schemas.openxmlformats.org/officeDocument/2006/relationships" id="267" r:id="R9f30aa6108d84362"/>
    <p:sldId xmlns:r="http://schemas.openxmlformats.org/officeDocument/2006/relationships" id="268" r:id="Rd0c2b8f95c0c4fd6"/>
    <p:sldId xmlns:r="http://schemas.openxmlformats.org/officeDocument/2006/relationships" id="269" r:id="R85a222181c4442a2"/>
    <p:sldId xmlns:r="http://schemas.openxmlformats.org/officeDocument/2006/relationships" id="270" r:id="R5c0a4aed621d4439"/>
    <p:sldId xmlns:r="http://schemas.openxmlformats.org/officeDocument/2006/relationships" id="271" r:id="Rff8138c32f8c4eb2"/>
    <p:sldId xmlns:r="http://schemas.openxmlformats.org/officeDocument/2006/relationships" id="272" r:id="Re9e9631d84c44464"/>
    <p:sldId xmlns:r="http://schemas.openxmlformats.org/officeDocument/2006/relationships" id="273" r:id="R705328b9bdc3440e"/>
    <p:sldId xmlns:r="http://schemas.openxmlformats.org/officeDocument/2006/relationships" id="274" r:id="R6c8f5065ccea4688"/>
    <p:sldId xmlns:r="http://schemas.openxmlformats.org/officeDocument/2006/relationships" id="275" r:id="R29ed1eb87eb84e18"/>
    <p:sldId xmlns:r="http://schemas.openxmlformats.org/officeDocument/2006/relationships" id="276" r:id="Rc43be5f8d5654527"/>
    <p:sldId xmlns:r="http://schemas.openxmlformats.org/officeDocument/2006/relationships" id="277" r:id="Ra20ffd70af1d430a"/>
    <p:sldId xmlns:r="http://schemas.openxmlformats.org/officeDocument/2006/relationships" id="278" r:id="Read7e949519f4fd6"/>
    <p:sldId xmlns:r="http://schemas.openxmlformats.org/officeDocument/2006/relationships" id="279" r:id="R0a904c7d115c43c0"/>
    <p:sldId xmlns:r="http://schemas.openxmlformats.org/officeDocument/2006/relationships" id="280" r:id="R9d92854efe804aec"/>
    <p:sldId xmlns:r="http://schemas.openxmlformats.org/officeDocument/2006/relationships" id="281" r:id="Rb2601bae10644d55"/>
    <p:sldId xmlns:r="http://schemas.openxmlformats.org/officeDocument/2006/relationships" id="282" r:id="Ra20ac8e5c0f94f3a"/>
    <p:sldId xmlns:r="http://schemas.openxmlformats.org/officeDocument/2006/relationships" id="283" r:id="Rac7188c39ee74d91"/>
    <p:sldId xmlns:r="http://schemas.openxmlformats.org/officeDocument/2006/relationships" id="284" r:id="Re65d3eddbe8c48ad"/>
    <p:sldId xmlns:r="http://schemas.openxmlformats.org/officeDocument/2006/relationships" id="285" r:id="R51bde5356c124a13"/>
    <p:sldId xmlns:r="http://schemas.openxmlformats.org/officeDocument/2006/relationships" id="286" r:id="Raf62fe6ff3eb4eeb"/>
    <p:sldId xmlns:r="http://schemas.openxmlformats.org/officeDocument/2006/relationships" id="287" r:id="R2c20edb522184c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284dd625af4a1f" /><Relationship Type="http://schemas.openxmlformats.org/officeDocument/2006/relationships/slideMaster" Target="/ppt/slideMasters/slideMaster1.xml" Id="R2335ab86ffcf453f" /><Relationship Type="http://schemas.openxmlformats.org/officeDocument/2006/relationships/notesMaster" Target="/ppt/notesMasters/notesMaster1.xml" Id="R1df691ab1bfd4449" /><Relationship Type="http://schemas.openxmlformats.org/officeDocument/2006/relationships/presProps" Target="/ppt/presProps.xml" Id="Rc3ea6d96ba9b4bcb" /><Relationship Type="http://schemas.openxmlformats.org/officeDocument/2006/relationships/tableStyles" Target="/ppt/tableStyles.xml" Id="Rdca37cf32bf44797" /><Relationship Type="http://schemas.openxmlformats.org/officeDocument/2006/relationships/slide" Target="/ppt/slides/slide1.xml" Id="Rc1224a99faaf4b42" /><Relationship Type="http://schemas.openxmlformats.org/officeDocument/2006/relationships/slide" Target="/ppt/slides/slide2.xml" Id="R281cbf8a860d4645" /><Relationship Type="http://schemas.openxmlformats.org/officeDocument/2006/relationships/slide" Target="/ppt/slides/slide3.xml" Id="Rd14d61f9d890454d" /><Relationship Type="http://schemas.openxmlformats.org/officeDocument/2006/relationships/slide" Target="/ppt/slides/slide4.xml" Id="R2a9f567f3c9a48d2" /><Relationship Type="http://schemas.openxmlformats.org/officeDocument/2006/relationships/slide" Target="/ppt/slides/slide5.xml" Id="Rf899242dc7cd4f56" /><Relationship Type="http://schemas.openxmlformats.org/officeDocument/2006/relationships/slide" Target="/ppt/slides/slide6.xml" Id="R85d13a08dae744eb" /><Relationship Type="http://schemas.openxmlformats.org/officeDocument/2006/relationships/slide" Target="/ppt/slides/slide7.xml" Id="Rbb1f2dd775684997" /><Relationship Type="http://schemas.openxmlformats.org/officeDocument/2006/relationships/slide" Target="/ppt/slides/slide8.xml" Id="Rb2be7e73a98b457e" /><Relationship Type="http://schemas.openxmlformats.org/officeDocument/2006/relationships/slide" Target="/ppt/slides/slide9.xml" Id="Rf28b704f20fa4284" /><Relationship Type="http://schemas.openxmlformats.org/officeDocument/2006/relationships/slide" Target="/ppt/slides/slide10.xml" Id="Ree133e1c0737400a" /><Relationship Type="http://schemas.openxmlformats.org/officeDocument/2006/relationships/slide" Target="/ppt/slides/slide11.xml" Id="R77931a5ae83246fb" /><Relationship Type="http://schemas.openxmlformats.org/officeDocument/2006/relationships/slide" Target="/ppt/slides/slide12.xml" Id="R9f30aa6108d84362" /><Relationship Type="http://schemas.openxmlformats.org/officeDocument/2006/relationships/slide" Target="/ppt/slides/slide13.xml" Id="Rd0c2b8f95c0c4fd6" /><Relationship Type="http://schemas.openxmlformats.org/officeDocument/2006/relationships/slide" Target="/ppt/slides/slide14.xml" Id="R85a222181c4442a2" /><Relationship Type="http://schemas.openxmlformats.org/officeDocument/2006/relationships/slide" Target="/ppt/slides/slide15.xml" Id="R5c0a4aed621d4439" /><Relationship Type="http://schemas.openxmlformats.org/officeDocument/2006/relationships/slide" Target="/ppt/slides/slide16.xml" Id="Rff8138c32f8c4eb2" /><Relationship Type="http://schemas.openxmlformats.org/officeDocument/2006/relationships/slide" Target="/ppt/slides/slide17.xml" Id="Re9e9631d84c44464" /><Relationship Type="http://schemas.openxmlformats.org/officeDocument/2006/relationships/slide" Target="/ppt/slides/slide18.xml" Id="R705328b9bdc3440e" /><Relationship Type="http://schemas.openxmlformats.org/officeDocument/2006/relationships/slide" Target="/ppt/slides/slide19.xml" Id="R6c8f5065ccea4688" /><Relationship Type="http://schemas.openxmlformats.org/officeDocument/2006/relationships/slide" Target="/ppt/slides/slide20.xml" Id="R29ed1eb87eb84e18" /><Relationship Type="http://schemas.openxmlformats.org/officeDocument/2006/relationships/slide" Target="/ppt/slides/slide21.xml" Id="Rc43be5f8d5654527" /><Relationship Type="http://schemas.openxmlformats.org/officeDocument/2006/relationships/slide" Target="/ppt/slides/slide22.xml" Id="Ra20ffd70af1d430a" /><Relationship Type="http://schemas.openxmlformats.org/officeDocument/2006/relationships/slide" Target="/ppt/slides/slide23.xml" Id="Read7e949519f4fd6" /><Relationship Type="http://schemas.openxmlformats.org/officeDocument/2006/relationships/slide" Target="/ppt/slides/slide24.xml" Id="R0a904c7d115c43c0" /><Relationship Type="http://schemas.openxmlformats.org/officeDocument/2006/relationships/slide" Target="/ppt/slides/slide25.xml" Id="R9d92854efe804aec" /><Relationship Type="http://schemas.openxmlformats.org/officeDocument/2006/relationships/slide" Target="/ppt/slides/slide26.xml" Id="Rb2601bae10644d55" /><Relationship Type="http://schemas.openxmlformats.org/officeDocument/2006/relationships/slide" Target="/ppt/slides/slide27.xml" Id="Ra20ac8e5c0f94f3a" /><Relationship Type="http://schemas.openxmlformats.org/officeDocument/2006/relationships/slide" Target="/ppt/slides/slide28.xml" Id="Rac7188c39ee74d91" /><Relationship Type="http://schemas.openxmlformats.org/officeDocument/2006/relationships/slide" Target="/ppt/slides/slide29.xml" Id="Re65d3eddbe8c48ad" /><Relationship Type="http://schemas.openxmlformats.org/officeDocument/2006/relationships/slide" Target="/ppt/slides/slide30.xml" Id="R51bde5356c124a13" /><Relationship Type="http://schemas.openxmlformats.org/officeDocument/2006/relationships/slide" Target="/ppt/slides/slide31.xml" Id="Raf62fe6ff3eb4eeb" /><Relationship Type="http://schemas.openxmlformats.org/officeDocument/2006/relationships/slide" Target="/ppt/slides/slide32.xml" Id="R2c20edb522184c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be7fac05ae48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04c9bf741444a2" /><Relationship Type="http://schemas.openxmlformats.org/officeDocument/2006/relationships/notesMaster" Target="/ppt/notesMasters/notesMaster1.xml" Id="R1178b9fae48547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b5c3f8f47e4314" /><Relationship Type="http://schemas.openxmlformats.org/officeDocument/2006/relationships/notesMaster" Target="/ppt/notesMasters/notesMaster1.xml" Id="R2252eb97d0084f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fc3d632ce44f56" /><Relationship Type="http://schemas.openxmlformats.org/officeDocument/2006/relationships/notesMaster" Target="/ppt/notesMasters/notesMaster1.xml" Id="R87ce713b9dd64a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b274345cea4fa7" /><Relationship Type="http://schemas.openxmlformats.org/officeDocument/2006/relationships/notesMaster" Target="/ppt/notesMasters/notesMaster1.xml" Id="Rcac42b87732a45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51600de08649e7" /><Relationship Type="http://schemas.openxmlformats.org/officeDocument/2006/relationships/notesMaster" Target="/ppt/notesMasters/notesMaster1.xml" Id="R6ef2cbe48d9c41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12a5c2c3da49f6" /><Relationship Type="http://schemas.openxmlformats.org/officeDocument/2006/relationships/notesMaster" Target="/ppt/notesMasters/notesMaster1.xml" Id="R763a12b711b54c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a21209852148a1" /><Relationship Type="http://schemas.openxmlformats.org/officeDocument/2006/relationships/notesMaster" Target="/ppt/notesMasters/notesMaster1.xml" Id="R8bdaf46f6e6240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42df2be88647c3" /><Relationship Type="http://schemas.openxmlformats.org/officeDocument/2006/relationships/notesMaster" Target="/ppt/notesMasters/notesMaster1.xml" Id="Raa0ed513c1004030"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d47b92c2fe4166" /><Relationship Type="http://schemas.openxmlformats.org/officeDocument/2006/relationships/notesMaster" Target="/ppt/notesMasters/notesMaster1.xml" Id="R6300a0dc1b8c4a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4bf8e52b6fa4f23" /><Relationship Type="http://schemas.openxmlformats.org/officeDocument/2006/relationships/notesMaster" Target="/ppt/notesMasters/notesMaster1.xml" Id="Rc2a0eb26ed074c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57516aab09f4351" /><Relationship Type="http://schemas.openxmlformats.org/officeDocument/2006/relationships/notesMaster" Target="/ppt/notesMasters/notesMaster1.xml" Id="R23483c828b4c4b3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3ae054c2104b1e" /><Relationship Type="http://schemas.openxmlformats.org/officeDocument/2006/relationships/notesMaster" Target="/ppt/notesMasters/notesMaster1.xml" Id="R5cb108425d32485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7dfe89e5d72478b" /><Relationship Type="http://schemas.openxmlformats.org/officeDocument/2006/relationships/notesMaster" Target="/ppt/notesMasters/notesMaster1.xml" Id="R9e312e837edb44c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47305602c8a4fd6" /><Relationship Type="http://schemas.openxmlformats.org/officeDocument/2006/relationships/notesMaster" Target="/ppt/notesMasters/notesMaster1.xml" Id="R3c182cd2fd9a461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539695ba0634fb7" /><Relationship Type="http://schemas.openxmlformats.org/officeDocument/2006/relationships/notesMaster" Target="/ppt/notesMasters/notesMaster1.xml" Id="Rf0d8ca1e06cf49a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a2bf5c86cef4136" /><Relationship Type="http://schemas.openxmlformats.org/officeDocument/2006/relationships/notesMaster" Target="/ppt/notesMasters/notesMaster1.xml" Id="R633e86aa67234d1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017e7a53cf74c9b" /><Relationship Type="http://schemas.openxmlformats.org/officeDocument/2006/relationships/notesMaster" Target="/ppt/notesMasters/notesMaster1.xml" Id="Rc0e5edb1765341e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de94d08ef2f42fb" /><Relationship Type="http://schemas.openxmlformats.org/officeDocument/2006/relationships/notesMaster" Target="/ppt/notesMasters/notesMaster1.xml" Id="R8a9d6e4b0c4b4a2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015aab8431944f5" /><Relationship Type="http://schemas.openxmlformats.org/officeDocument/2006/relationships/notesMaster" Target="/ppt/notesMasters/notesMaster1.xml" Id="R94fa47ef5ce444b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c2ea494c4a14c85" /><Relationship Type="http://schemas.openxmlformats.org/officeDocument/2006/relationships/notesMaster" Target="/ppt/notesMasters/notesMaster1.xml" Id="R5db11ff61734484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9b151fe0e3447db" /><Relationship Type="http://schemas.openxmlformats.org/officeDocument/2006/relationships/notesMaster" Target="/ppt/notesMasters/notesMaster1.xml" Id="Rd9a921564b7f465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e60e5d076784746" /><Relationship Type="http://schemas.openxmlformats.org/officeDocument/2006/relationships/notesMaster" Target="/ppt/notesMasters/notesMaster1.xml" Id="R54d23b3251e2408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1757ac90db94f2b" /><Relationship Type="http://schemas.openxmlformats.org/officeDocument/2006/relationships/notesMaster" Target="/ppt/notesMasters/notesMaster1.xml" Id="Rbc10478f1c8347d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07e272f761842c2" /><Relationship Type="http://schemas.openxmlformats.org/officeDocument/2006/relationships/notesMaster" Target="/ppt/notesMasters/notesMaster1.xml" Id="R96763d1685324ac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8ddfec5b4f24aca" /><Relationship Type="http://schemas.openxmlformats.org/officeDocument/2006/relationships/notesMaster" Target="/ppt/notesMasters/notesMaster1.xml" Id="R0fb1814ed1b3488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a508ee3bfdb446f" /><Relationship Type="http://schemas.openxmlformats.org/officeDocument/2006/relationships/notesMaster" Target="/ppt/notesMasters/notesMaster1.xml" Id="R87f6f861b232426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32e9db47efd48a3" /><Relationship Type="http://schemas.openxmlformats.org/officeDocument/2006/relationships/notesMaster" Target="/ppt/notesMasters/notesMaster1.xml" Id="R0e79f351df7b425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1ec5be8093b452a" /><Relationship Type="http://schemas.openxmlformats.org/officeDocument/2006/relationships/notesMaster" Target="/ppt/notesMasters/notesMaster1.xml" Id="R8473047bcfca40f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61c3906902f469c" /><Relationship Type="http://schemas.openxmlformats.org/officeDocument/2006/relationships/notesMaster" Target="/ppt/notesMasters/notesMaster1.xml" Id="R4eb6aa478b8c4bf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878d73e6fae4b65" /><Relationship Type="http://schemas.openxmlformats.org/officeDocument/2006/relationships/notesMaster" Target="/ppt/notesMasters/notesMaster1.xml" Id="R4fd6efc38616473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0880658ad1b4599" /><Relationship Type="http://schemas.openxmlformats.org/officeDocument/2006/relationships/notesMaster" Target="/ppt/notesMasters/notesMaster1.xml" Id="R2d4e7b7173fa4c3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968800a673f49c4" /><Relationship Type="http://schemas.openxmlformats.org/officeDocument/2006/relationships/notesMaster" Target="/ppt/notesMasters/notesMaster1.xml" Id="Rd308f6916d8346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docs/calendario.md y docs/instalacion-wsl.md. 64 horas efectivas en 12 encuentros. Ampliación autónoma opcional. Un solo entorno en la raíz: uv venv --python 3.12 --seed .venv. Ejecutar en Ubuntu-26.04 sobre WSL.</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Agenda alineada con lo acordado. E05 y E06 ocupan bloques de 90 minutos, cada uno con 20 de explicación y 70 de ejecución. P03 calidad ocupa 60 minutos con 15 de explicación y 45 de ejecución. Sus consultas continúan en el bloque siguiente. Auditoría 75 minutos con 15 de orientación y 60 de práctica. No duplicar los tiempos de los ejercicios.</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productos proceden de dos rutas independientes. Los registros de salud y las muestras de suelo no se unen entre sí. Reutilizar las salidas PQRS del viernes.</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calendario contractual y mapa de ejercicios.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kit/fuentes.json y talleres.py calidad. Aunque el ejercicio inicial estudia suelos, el script calidad carga agrosavia.csv, divipola.csv y eva.csv. Las tres entradas son necesarias desde el comienzo. El tamaño de Parquet PQRS depende del bloque y del corte, por lo que se muestra como salida de P02. No se requieren shapes ni rasters para estos talleres.</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de referencia:</a:t>
            </a:r>
          </a:p>
          <a:p xmlns:a="http://schemas.openxmlformats.org/drawingml/2006/main">
            <a:r>
              <a:t>Conciliación del corte</a:t>
            </a:r>
          </a:p>
          <a:p xmlns:a="http://schemas.openxmlformats.org/drawingml/2006/main">
            <a:r>
              <a:t>92.738 = 0 + 92.727 + 11</a:t>
            </a:r>
          </a:p>
          <a:p xmlns:a="http://schemas.openxmlformats.org/drawingml/2006/main">
            <a:r>
              <a:t>Originales = duplicados exactos + aptos para pH + revisión.</a:t>
            </a:r>
          </a:p>
          <a:p xmlns:a="http://schemas.openxmlformats.org/drawingml/2006/main">
            <a:r>
              <a:t>Big Data · caso agroambiental · Sesión 4</a:t>
            </a:r>
          </a:p>
          <a:p xmlns:a="http://schemas.openxmlformats.org/drawingml/2006/main">
            <a:r>
              <a:t>04</a:t>
            </a:r>
          </a:p>
          <a:p xmlns:a="http://schemas.openxmlformats.org/drawingml/2006/main">
            <a:r>
              <a:t>Ilustración conceptual generada con ImageGen. No representa una medición ni una fotografía documental.</a:t>
            </a:r>
          </a:p>
          <a:p xmlns:a="http://schemas.openxmlformats.org/drawingml/2006/main">
            <a:r>
              <a:t>Prompt: Create one educational hand-drawn SKETCH illustration for a postgraduate BigData course in a Database specialization. Horizontal 3:2 composition on pure white background. Navy #203B68 ink, visibly irregular pen outlines and colored-pencil hatching. Bright violet #5546ED, turquoise #16B8AD, amber #FFBF47, coral #F26A61 accents. Clear large symbols, spacious, no photorealism, no 3D rendering, no gradients. NO TEXT, NO LETTERS, NO NUMBERS unless explicitly requested. No logo, border or watermark. One original archive box on left fans into exactly THREE clearly separate output trays on right: duplicates tray with overlapping pages, accepted tray with checkmark, review tray with magnifying glass. All three linked from the original, no discards or trash bins. Use purple, turquoise, amber. No numbers or text.</a:t>
            </a:r>
          </a:p>
          <a:p xmlns:a="http://schemas.openxmlformats.org/drawingml/2006/main">
            <a:r>
              <a:t>La ilustración apoya una explicación por clic. Conservar los límites y supuestos expresados en la diapositiva.</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ampliado de referencia:</a:t>
            </a:r>
          </a:p>
          <a:p xmlns:a="http://schemas.openxmlformats.org/drawingml/2006/main">
            <a:r>
              <a:t>Reglas de calidad</a:t>
            </a:r>
          </a:p>
          <a:p xmlns:a="http://schemas.openxmlformats.org/drawingml/2006/main">
            <a:r>
              <a:t>Caso</a:t>
            </a:r>
          </a:p>
          <a:p xmlns:a="http://schemas.openxmlformats.org/drawingml/2006/main">
            <a:r>
              <a:t>Tratamiento</a:t>
            </a:r>
          </a:p>
          <a:p xmlns:a="http://schemas.openxmlformats.org/drawingml/2006/main">
            <a:r>
              <a:t>ND o pH vacío</a:t>
            </a:r>
          </a:p>
          <a:p xmlns:a="http://schemas.openxmlformats.org/drawingml/2006/main">
            <a:r>
              <a:t>Ausencia; no convertir en cero</a:t>
            </a:r>
          </a:p>
          <a:p xmlns:a="http://schemas.openxmlformats.org/drawingml/2006/main">
            <a:r>
              <a:t>pH fuera de 0–14</a:t>
            </a:r>
          </a:p>
          <a:p xmlns:a="http://schemas.openxmlformats.org/drawingml/2006/main">
            <a:r>
              <a:t>Revisión del dominio físico</a:t>
            </a:r>
          </a:p>
          <a:p xmlns:a="http://schemas.openxmlformats.org/drawingml/2006/main">
            <a:r>
              <a:t>ID conflictivo</a:t>
            </a:r>
          </a:p>
          <a:p xmlns:a="http://schemas.openxmlformats.org/drawingml/2006/main">
            <a:r>
              <a:t>Conservar y revisar</a:t>
            </a:r>
          </a:p>
          <a:p xmlns:a="http://schemas.openxmlformats.org/drawingml/2006/main">
            <a:r>
              <a:t>Municipio sin cruce</a:t>
            </a:r>
          </a:p>
          <a:p xmlns:a="http://schemas.openxmlformats.org/drawingml/2006/main">
            <a:r>
              <a:t>Mantener como no enlazado</a:t>
            </a:r>
          </a:p>
          <a:p xmlns:a="http://schemas.openxmlformats.org/drawingml/2006/main">
            <a:r>
              <a:t>Big Data · caso agroambiental · Sesión 4</a:t>
            </a:r>
          </a:p>
          <a:p xmlns:a="http://schemas.openxmlformats.org/drawingml/2006/main">
            <a:r>
              <a:t>05</a:t>
            </a:r>
          </a:p>
          <a:p xmlns:a="http://schemas.openxmlformats.org/drawingml/2006/main">
            <a:r>
              <a:t>Prompt visual: Use case: scientific-educational. A clean educational SKETCH diagram illustration for postgraduate Big Data, white background, horizontal 3:2. Navy #203B68 irregular ink strokes, pencil hatching, lively violet #5546ED, turquoise #16B8AD, amber #FFBF47, coral #F26A61 marker accents. Large legible objects, restrained details, no title, no logo, no watermark. Strictly hand-drawn pen and colored-pencil style, visibly sketchy lines and hatching, no photorealism, no polished 3D renders, no gradients. A central data inspection gate with magnifying glass. Incoming violet records on left split into two clearly distinct output folders on right, upper turquoise folder with checkmark, lower amber folder with question mark. Keep original source archive with lock beneath the input, unchanged. Arrows unambiguous: both good and questionable records retained. No text.</a:t>
            </a:r>
          </a:p>
          <a:p xmlns:a="http://schemas.openxmlformats.org/drawingml/2006/main">
            <a:r>
              <a:t>Ilustración conceptual generada con ImageGen para esta clase. No representa una medición ni una fotografía documental.</a:t>
            </a:r>
          </a:p>
          <a:p xmlns:a="http://schemas.openxmlformats.org/drawingml/2006/main">
            <a:r>
              <a:t>Secuencia docente: observar primero el esquema y revelar cada explicación con clic.</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de referencia:</a:t>
            </a:r>
          </a:p>
          <a:p xmlns:a="http://schemas.openxmlformats.org/drawingml/2006/main">
            <a:r>
              <a:t>Unidad y escala</a:t>
            </a:r>
          </a:p>
          <a:p xmlns:a="http://schemas.openxmlformats.org/drawingml/2006/main">
            <a:r>
              <a:t>AGROSAVIA</a:t>
            </a:r>
          </a:p>
          <a:p xmlns:a="http://schemas.openxmlformats.org/drawingml/2006/main">
            <a:r>
              <a:t>Análisis de laboratorio por fecha; evaluar representatividad y método.</a:t>
            </a:r>
          </a:p>
          <a:p xmlns:a="http://schemas.openxmlformats.org/drawingml/2006/main">
            <a:r>
              <a:t>EVA</a:t>
            </a:r>
          </a:p>
          <a:p xmlns:a="http://schemas.openxmlformats.org/drawingml/2006/main">
            <a:r>
              <a:t>Cultivo, municipio y período; mantener el estado físico del producto.</a:t>
            </a:r>
          </a:p>
          <a:p xmlns:a="http://schemas.openxmlformats.org/drawingml/2006/main">
            <a:r>
              <a:t>Big Data · caso agroambiental · Sesión 4</a:t>
            </a:r>
          </a:p>
          <a:p xmlns:a="http://schemas.openxmlformats.org/drawingml/2006/main">
            <a:r>
              <a:t>07</a:t>
            </a:r>
          </a:p>
          <a:p xmlns:a="http://schemas.openxmlformats.org/drawingml/2006/main">
            <a:r>
              <a:t>Ilustración conceptual generada con ImageGen. No representa una medición ni una fotografía documental.</a:t>
            </a:r>
          </a:p>
          <a:p xmlns:a="http://schemas.openxmlformats.org/drawingml/2006/main">
            <a:r>
              <a:t>Prompt: Create one educational hand-drawn SKETCH illustration for a postgraduate BigData course in a Database specialization. Horizontal 3:2 composition on pure white background. Navy #203B68 ink, visibly irregular pen outlines and colored-pencil hatching. Bright violet #5546ED, turquoise #16B8AD, amber #FFBF47, coral #F26A61 accents. Clear large symbols, spacious, no photorealism, no 3D rendering, no gradients. NO TEXT, NO LETTERS, NO NUMBERS unless explicitly requested. No logo, border or watermark. A magnified laboratory soil sample with a test vial on left, and an entire agricultural municipality landscape with several crop fields and a calendar on right. A thin dashed scale bridge between them signals different observational units, not direct equivalence. No exact real map, no text.</a:t>
            </a:r>
          </a:p>
          <a:p xmlns:a="http://schemas.openxmlformats.org/drawingml/2006/main">
            <a:r>
              <a:t>La ilustración apoya una explicación por clic. Conservar los límites y supuestos expresados en la diapositiva.</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Guía E05. Ejecutar talleres.py calidad una vez disponibles AGROSAVIA, DIVIPOLA y EVA. Aptitud para pH no significa suelo de buena calidad ni registro apto para cualquier análisis. La calidad territorial es independiente del estado de pH. Mostrar controles de referencia después de ejecutar, como conciliación, no como resultados a copiar.</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comando de descarga no sobrescribe entradas existentes. Si hay una nueva versión, revisar antes de sustituir el corte docente. --verificar exige las 12 fuentes del kit y puede ser incompleto si solo se descargaron las de este fin de semana. Calidad necesita las tres fuentes agro y genera EVA Parquet para E06.</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talleres/P03.md, pqrs_talleres.py calidad y pqrs_fuentes.json. El campo id_afec no identifica necesariamente un reclamo único. La proyección de 16 campos no permite comprobar duplicados exactos de todos los 38 campos originales. Los conteos administrativos no miden prevalencia ni riesgo clínico.</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Terminal: salidas/pqrs/control_calidad_pqrs.json. Notebook: salidas/notebooks/control_calidad_pqrs.json. El notebook reconstruye formatos para que pueda ejecutarse de forma independiente. Mantener la misma ruta para las consultas posteriores. Las 3.000 muestras tienen 3.000 claves candidatas, 41 edades mayores de 90 y 3 ubicaciones de peticionario vacías. DIVIPOLA ya fue preparado en E05. Revisar código del afectado y peticionario por separado.</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Notebooks/03_Calidad_y_consulta.ipynb. Polars filtra anio=2024, agrupa por corte_archivo y mes_num y cuenta reportes. DuckDB ejecuta la misma consulta sobre el mismo Parquet. La equivalencia de tablas no requiere que ambos motores usen los mismos tipos internos. Elegir un motor según operaciones, recursos y facilidad de reproducción. Sin afirmaciones nuevas de rendimiento.</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del notebook 03_Calidad_y_consulta.ipynb. a.out se define en la celda de preparación y no debe redefinirse a mitad del ejercicio. 2.000 es el conteo de 2024 en las muestras docentes. El resultado agregado tiene varias filas por mes y corte, cuya suma es 2.000. No confundir suma de reportes con cantidad de grupos.</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Continuación del bloque 11:05–12:00, sin tiempo adicional. El notebook aplica reset_index(drop=True) antes de comparar; Polars devuelve un índice secuencial en to_pandas y DuckDB devuelve un RangeIndex, por lo que este fragmento conserva la equivalencia. Verificar sum(reportes)=2.000 y explicar cualquier diferencia. Los conteos se recalculan para otro corte.</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ampliado de referencia:</a:t>
            </a:r>
          </a:p>
          <a:p xmlns:a="http://schemas.openxmlformats.org/drawingml/2006/main">
            <a:r>
              <a:t>Rendimiento agrícola</a:t>
            </a:r>
          </a:p>
          <a:p xmlns:a="http://schemas.openxmlformats.org/drawingml/2006/main">
            <a:r>
              <a:t>R = Σ producción / Σ área</a:t>
            </a:r>
          </a:p>
          <a:p xmlns:a="http://schemas.openxmlformats.org/drawingml/2006/main">
            <a:r>
              <a:t>Toneladas por hectárea. Agrupar por municipio, cultivo, estado físico y año.</a:t>
            </a:r>
          </a:p>
          <a:p xmlns:a="http://schemas.openxmlformats.org/drawingml/2006/main">
            <a:r>
              <a:t>Big Data · caso agroambiental · Sesión 4</a:t>
            </a:r>
          </a:p>
          <a:p xmlns:a="http://schemas.openxmlformats.org/drawingml/2006/main">
            <a:r>
              <a:t>14</a:t>
            </a:r>
          </a:p>
          <a:p xmlns:a="http://schemas.openxmlformats.org/drawingml/2006/main">
            <a:r>
              <a:t>Prompt visual: Use case: scientific-educational. A clean educational SKETCH diagram illustration for postgraduate Big Data, white background, horizontal 3:2. Navy #203B68 irregular ink strokes, pencil hatching, lively violet #5546ED, turquoise #16B8AD, amber #FFBF47, coral #F26A61 marker accents. Large legible objects, restrained details, no title, no logo, no watermark. Strictly hand-drawn pen and colored-pencil style, visibly sketchy lines and hatching, no photorealism, no polished 3D renders, no gradients. Two agricultural plots side by side: a small one-hectare square plot with two wheat sacks, and a nine-times-larger rectangular plot with a stack representing ninety sacks simplified as many sacks. Beneath each show the exact labels '1 ha · 2 t' and '9 ha · 90 t'. A large hand-drawn bracket joins the plots beneath, with exact equation '92 t / 10 ha = 9,2 t/ha'. Wide roomy readable composition. No other text. Conceptual illustration, example numbers.</a:t>
            </a:r>
          </a:p>
          <a:p xmlns:a="http://schemas.openxmlformats.org/drawingml/2006/main">
            <a:r>
              <a:t>Ilustración conceptual generada con ImageGen para esta clase. No representa una medición ni una fotografía documental.</a:t>
            </a:r>
          </a:p>
          <a:p xmlns:a="http://schemas.openxmlformats.org/drawingml/2006/main">
            <a:r>
              <a:t>Secuencia docente: observar primero el esquema y revelar cada explicación con clic.</a:t>
            </a:r>
          </a:p>
          <a:p xmlns:a="http://schemas.openxmlformats.org/drawingml/2006/main">
            <a:r>
              <a:t>Ejemplo hipotético: 2/1=2 t/ha y90/9=10 t/ha. Media simple6, razón agregada92/10=9,2. El tamaño de los dibujos y el número de sacos son simbólicos.</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Guía E06. Calidad genera suelos_ph.parquet, eva.parquet y dim_municipio.parquet. Consultas crea salidas/suelo_sabio.duckdb, rendimiento.parquet e integracion_exploratoria.parquet. En el corte docente: 159.616 filas EVA aptas, 107.620 grupos y 55.498 grupos con pH agregado. La clave de rendimiento contiene municipio, cultivo, estado físico y año.</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13:20–14:30. En terminal desde kit/: python talleres.py consultas. Después, en Python: import duckdb; con = duckdb.connect("salidas/suelo_sabio.duckdb"); print(con.sql("SELECT count(*) FROM rendimiento")); con.close(). El archivo solo existe después de ejecutar consultas.</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de referencia:</a:t>
            </a:r>
          </a:p>
          <a:p xmlns:a="http://schemas.openxmlformats.org/drawingml/2006/main">
            <a:r>
              <a:t>Mediana del pH por territorio</a:t>
            </a:r>
          </a:p>
          <a:p xmlns:a="http://schemas.openxmlformats.org/drawingml/2006/main">
            <a:r>
              <a:t>SELECT codigo_municipio, anio, count(*) AS muestras,</a:t>
            </a:r>
          </a:p>
          <a:p xmlns:a="http://schemas.openxmlformats.org/drawingml/2006/main">
            <a:r>
              <a:t>       median(ph) AS mediana_ph</a:t>
            </a:r>
          </a:p>
          <a:p xmlns:a="http://schemas.openxmlformats.org/drawingml/2006/main">
            <a:r>
              <a:t>FROM suelos</a:t>
            </a:r>
          </a:p>
          <a:p xmlns:a="http://schemas.openxmlformats.org/drawingml/2006/main">
            <a:r>
              <a:t>WHERE codigo_municipio IS NOT NULL AND anio IS NOT NULL</a:t>
            </a:r>
          </a:p>
          <a:p xmlns:a="http://schemas.openxmlformats.org/drawingml/2006/main">
            <a:r>
              <a:t>GROUP BY codigo_municipio, anio;</a:t>
            </a:r>
          </a:p>
          <a:p xmlns:a="http://schemas.openxmlformats.org/drawingml/2006/main">
            <a:r>
              <a:t>Publicar el número de muestras junto al resumen.</a:t>
            </a:r>
          </a:p>
          <a:p xmlns:a="http://schemas.openxmlformats.org/drawingml/2006/main">
            <a:r>
              <a:t>Big Data · caso agroambiental · Sesión 4</a:t>
            </a:r>
          </a:p>
          <a:p xmlns:a="http://schemas.openxmlformats.org/drawingml/2006/main">
            <a:r>
              <a:t>17</a:t>
            </a:r>
          </a:p>
          <a:p xmlns:a="http://schemas.openxmlformats.org/drawingml/2006/main">
            <a:r>
              <a:t>Ilustración conceptual generada con ImageGen. No representa una medición ni una fotografía documental.</a:t>
            </a:r>
          </a:p>
          <a:p xmlns:a="http://schemas.openxmlformats.org/drawingml/2006/main">
            <a:r>
              <a:t>Prompt: Create one educational hand-drawn SKETCH illustration for a postgraduate BigData course in a Database specialization. Horizontal 3:2 composition on pure white background. Navy #203B68 ink, visibly irregular pen outlines and colored-pencil hatching. Bright violet #5546ED, turquoise #16B8AD, amber #FFBF47, coral #F26A61 accents. Clear large symbols, spacious, no photorealism, no 3D rendering, no gradients. NO TEXT, NO LETTERS, NO NUMBERS unless explicitly requested. No logo, border or watermark. Seven simple vertical sample stems ordered from shortest to tallest along a baseline. The fourth middle stem is highlighted coral and circled, the other six are turquoise. Show exactly seven stems, clear increasing order, no axis numbers or measurements. A small sample tray nearby indicates a sample summary, not a population.</a:t>
            </a:r>
          </a:p>
          <a:p xmlns:a="http://schemas.openxmlformats.org/drawingml/2006/main">
            <a:r>
              <a:t>La ilustración apoya una explicación por clic. Conservar los límites y supuestos expresados en la diapositiva.</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ampliado de referencia:</a:t>
            </a:r>
          </a:p>
          <a:p xmlns:a="http://schemas.openxmlformats.org/drawingml/2006/main">
            <a:r>
              <a:t>Evitar multiplicar observaciones</a:t>
            </a:r>
          </a:p>
          <a:p xmlns:a="http://schemas.openxmlformats.org/drawingml/2006/main">
            <a:r>
              <a:t>Antes del cruce</a:t>
            </a:r>
          </a:p>
          <a:p xmlns:a="http://schemas.openxmlformats.org/drawingml/2006/main">
            <a:r>
              <a:t>Agregar muestras por municipio y año; EVA conserva cultivo y estado físico.</a:t>
            </a:r>
          </a:p>
          <a:p xmlns:a="http://schemas.openxmlformats.org/drawingml/2006/main">
            <a:r>
              <a:t>Después del cruce</a:t>
            </a:r>
          </a:p>
          <a:p xmlns:a="http://schemas.openxmlformats.org/drawingml/2006/main">
            <a:r>
              <a:t>Comprobar filas y cobertura. La relación es exploratoria y agregada.</a:t>
            </a:r>
          </a:p>
          <a:p xmlns:a="http://schemas.openxmlformats.org/drawingml/2006/main">
            <a:r>
              <a:t>Big Data · caso agroambiental · Sesión 4</a:t>
            </a:r>
          </a:p>
          <a:p xmlns:a="http://schemas.openxmlformats.org/drawingml/2006/main">
            <a:r>
              <a:t>19</a:t>
            </a:r>
          </a:p>
          <a:p xmlns:a="http://schemas.openxmlformats.org/drawingml/2006/main">
            <a:r>
              <a:t>Prompt visual: Use case: scientific-educational. A clean educational SKETCH diagram illustration for postgraduate Big Data, white background, horizontal 3:2. Navy #203B68 irregular ink strokes, pencil hatching, lively violet #5546ED, turquoise #16B8AD, amber #FFBF47, coral #F26A61 marker accents. Large legible objects, restrained details, no title, no logo, no watermark. Strictly hand-drawn pen and colored-pencil style, visibly sketchy lines and hatching, no photorealism, no polished 3D renders, no gradients. Two data flows from left converge on a join at right. Upper source has multiple soil-sample cards, passing through a funnel into ONE summary card; lower source has multiple crop cards that remain separate. Each lower crop card connects to the SAME one upper summary card through one clear shared key token. Shows many crop records to one municipality-year soil summary. Use three crop cards and one soil summary. No text.</a:t>
            </a:r>
          </a:p>
          <a:p xmlns:a="http://schemas.openxmlformats.org/drawingml/2006/main">
            <a:r>
              <a:t>Ilustración conceptual generada con ImageGen para esta clase. No representa una medición ni una fotografía documental.</a:t>
            </a:r>
          </a:p>
          <a:p xmlns:a="http://schemas.openxmlformats.org/drawingml/2006/main">
            <a:r>
              <a:t>Secuencia docente: observar primero el esquema y revelar cada explicación con clic.</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tabla de pH se agrega antes de unir. No unir cada muestra con cada fila de producción. Mostrar la diferencia entre pérdida de grupos con INNER JOIN y conservación con LEFT JOIN. Fuentes: talleres.py consultas, talleres/E06.md. 107.620 − 55.498 = 52.122. Cobertura 55.498 / 107.620 = 51,56848 %. La ausencia de pH no implica pH cero.</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Cálculo: 55498/107620=51,56848 %. Sin resumen=107620-55498=52122. Categorías mutuamente excluyentes para este cruce.</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Orientación 15 minutos y trabajo entre pares 60 minutos, incluidos en el bloque contractual. Auditoría de las rutas agro y PQRS por separado. No sumar otros 75 minutos para el laboratorio de la siguiente diapositiva. Explicar que una relación municipal agregada no identifica efectos causales ni representa parcelas emparejadas.</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ampliado de referencia:</a:t>
            </a:r>
          </a:p>
          <a:p xmlns:a="http://schemas.openxmlformats.org/drawingml/2006/main">
            <a:r>
              <a:t>Cobertura y sesgo</a:t>
            </a:r>
          </a:p>
          <a:p xmlns:a="http://schemas.openxmlformats.org/drawingml/2006/main">
            <a:r>
              <a:t>¿Por qué la mediana del pH de las muestras disponibles no representa necesariamente todo un municipio?</a:t>
            </a:r>
          </a:p>
          <a:p xmlns:a="http://schemas.openxmlformats.org/drawingml/2006/main">
            <a:r>
              <a:t>Respuesta individual y discusión en grupo</a:t>
            </a:r>
          </a:p>
          <a:p xmlns:a="http://schemas.openxmlformats.org/drawingml/2006/main">
            <a:r>
              <a:t>Big Data · caso agroambiental · Sesión 4</a:t>
            </a:r>
          </a:p>
          <a:p xmlns:a="http://schemas.openxmlformats.org/drawingml/2006/main">
            <a:r>
              <a:t>12</a:t>
            </a:r>
          </a:p>
          <a:p xmlns:a="http://schemas.openxmlformats.org/drawingml/2006/main">
            <a:r>
              <a:t>Prompt visual: Use case: scientific-educational. A clean educational SKETCH diagram illustration for postgraduate Big Data, white background, horizontal 3:2. Navy #203B68 irregular ink strokes, pencil hatching, lively violet #5546ED, turquoise #16B8AD, amber #FFBF47, coral #F26A61 marker accents. Large legible objects, restrained details, no title, no logo, no watermark. Strictly hand-drawn pen and colored-pencil style, visibly sketchy lines and hatching, no photorealism, no polished 3D renders, no gradients. An imaginary irregular geographic region (NOT an actual map) with farms scattered throughout, and ALL sampling dots densely clustered in a small accessible corner beside a road. Magnifying glass over that sampled corner. Rest of region mostly unsampled and lightly hatched. Navy outline, turquoise land, coral sample dots, violet road. No text or numbers. Demonstrate spatial sampling bias accurately.</a:t>
            </a:r>
          </a:p>
          <a:p xmlns:a="http://schemas.openxmlformats.org/drawingml/2006/main">
            <a:r>
              <a:t>Ilustración conceptual generada con ImageGen para esta clase. No representa una medición ni una fotografía documental.</a:t>
            </a:r>
          </a:p>
          <a:p xmlns:a="http://schemas.openxmlformats.org/drawingml/2006/main">
            <a:r>
              <a:t>Secuencia docente: observar primero el esquema y revelar cada explicación con clic.</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15:30–16:30. Esta diapositiva guía la entrega dentro de la auditoría y no agrega tiempo. Comparar entradas, exclusiones y salidas. Registrar causas de falta de correspondencia.</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Cierre 30 minutos. La instalación ya se introdujo en la sesión 2. No introducir procesamiento distribuido como taller adicional hoy. La próxima sesión de Spark es el viernes 16 de octubre de 2026, 18:00–21:15.</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[["08:00–09:30","E05: calidad de suelos y conciliación"],["09:30–09:45","Receso de la mañana"],["09:45–10:45","09:45–10:00 orientación; 10:00–10:20 E04/P02 propios; 10:20–10:45 P03 calidad"],["10:45–12:00","Consulta diferida Polars/DuckDB y selección de motores"],["12:00–13:00","Almuerzo"],["13:00–14:30","E06: EVA, rendimiento t/ha e integración SQL"],["14:30–15:00","Cobertura y cardinalidad de las uniones"],["15:00–15:15","Receso de la tarde"],["15:15–16:30","Auditoría, cobertura y revisión de controles"],["16:30–17:00","16:30–16:45 entrega única E04–E06/P02–P03; 16:45–17:00 preparación de Spark"]]</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020c0103a246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5d6584f14c4ca1" /><Relationship Type="http://schemas.openxmlformats.org/officeDocument/2006/relationships/slideLayout" Target="/ppt/slideLayouts/slideLayout1.xml" Id="R49b28dc9b4cb41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b28dc9b4cb41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53b0227c6146ff" /><Relationship Type="http://schemas.openxmlformats.org/officeDocument/2006/relationships/image" Target="/ppt/media/image.png" Id="R85dafd769902411a" /><Relationship Type="http://schemas.openxmlformats.org/officeDocument/2006/relationships/image" Target="/ppt/media/image2.png" Id="R01888c1126bd47b6" /><Relationship Type="http://schemas.openxmlformats.org/officeDocument/2006/relationships/notesSlide" Target="/ppt/notesSlides/notesSlide1.xml" Id="R8a5abd7e3f534c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77e9d1e1c17488e" /><Relationship Type="http://schemas.openxmlformats.org/officeDocument/2006/relationships/image" Target="/ppt/media/image3.png" Id="Rebc55c925f4b44b5" /><Relationship Type="http://schemas.openxmlformats.org/officeDocument/2006/relationships/notesSlide" Target="/ppt/notesSlides/notesSlide2.xml" Id="Rc9107082888f46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397d13bc9194452" /><Relationship Type="http://schemas.openxmlformats.org/officeDocument/2006/relationships/image" Target="/ppt/media/image4.png" Id="R9f815ffbf65b4d62" /><Relationship Type="http://schemas.openxmlformats.org/officeDocument/2006/relationships/notesSlide" Target="/ppt/notesSlides/notesSlide3.xml" Id="Rb4070a87dfdf45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cec5bfef56e4491" /><Relationship Type="http://schemas.openxmlformats.org/officeDocument/2006/relationships/image" Target="/ppt/media/image5.png" Id="Rda17739a342b4d0b" /><Relationship Type="http://schemas.openxmlformats.org/officeDocument/2006/relationships/notesSlide" Target="/ppt/notesSlides/notesSlide4.xml" Id="R082b4bddeac946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a2056d3b632432f" /><Relationship Type="http://schemas.openxmlformats.org/officeDocument/2006/relationships/image" Target="/ppt/media/image6.png" Id="Rc3d7ae66c5ab4e55" /><Relationship Type="http://schemas.openxmlformats.org/officeDocument/2006/relationships/notesSlide" Target="/ppt/notesSlides/notesSlide5.xml" Id="R360ff8a07cab4d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7768be0d6c54ebb" /><Relationship Type="http://schemas.openxmlformats.org/officeDocument/2006/relationships/image" Target="/ppt/media/image7.png" Id="Rc619c1b0a4f6419f" /><Relationship Type="http://schemas.openxmlformats.org/officeDocument/2006/relationships/image" Target="/ppt/media/image8.png" Id="Rc4f0afc25d7e4822" /><Relationship Type="http://schemas.openxmlformats.org/officeDocument/2006/relationships/notesSlide" Target="/ppt/notesSlides/notesSlide6.xml" Id="R5ef07b4cc6d449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f0eb6077d034b47" /><Relationship Type="http://schemas.openxmlformats.org/officeDocument/2006/relationships/image" Target="/ppt/media/image9.png" Id="R9b9771a3c8b1499a" /><Relationship Type="http://schemas.openxmlformats.org/officeDocument/2006/relationships/image" Target="/ppt/media/image10.png" Id="Rd2c5c46fa22f4ecc" /><Relationship Type="http://schemas.openxmlformats.org/officeDocument/2006/relationships/notesSlide" Target="/ppt/notesSlides/notesSlide7.xml" Id="R10c3569fe7554b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58280506b3a46a2" /><Relationship Type="http://schemas.openxmlformats.org/officeDocument/2006/relationships/image" Target="/ppt/media/image11.png" Id="R5dd36c63e51d41fc" /><Relationship Type="http://schemas.openxmlformats.org/officeDocument/2006/relationships/image" Target="/ppt/media/image12.png" Id="R2dd2201ca87a4078" /><Relationship Type="http://schemas.openxmlformats.org/officeDocument/2006/relationships/notesSlide" Target="/ppt/notesSlides/notesSlide8.xml" Id="Rb61786bf8c28447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babc5b641114251" /><Relationship Type="http://schemas.openxmlformats.org/officeDocument/2006/relationships/image" Target="/ppt/media/image13.png" Id="R8e7a90b69e9f4794" /><Relationship Type="http://schemas.openxmlformats.org/officeDocument/2006/relationships/notesSlide" Target="/ppt/notesSlides/notesSlide9.xml" Id="Ra765fd35dadf4b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5a3dff4883f4400" /><Relationship Type="http://schemas.openxmlformats.org/officeDocument/2006/relationships/image" Target="/ppt/media/image14.png" Id="Rf18397b9b4a546a0" /><Relationship Type="http://schemas.openxmlformats.org/officeDocument/2006/relationships/notesSlide" Target="/ppt/notesSlides/notesSlide10.xml" Id="R29885e24d00c4c2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81489b25b1e4c32" /><Relationship Type="http://schemas.openxmlformats.org/officeDocument/2006/relationships/image" Target="/ppt/media/image15.png" Id="R69bdc46654c24c63" /><Relationship Type="http://schemas.openxmlformats.org/officeDocument/2006/relationships/notesSlide" Target="/ppt/notesSlides/notesSlide11.xml" Id="Rcf93cc2266e44d4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3e1ed8754c84766" /><Relationship Type="http://schemas.openxmlformats.org/officeDocument/2006/relationships/image" Target="/ppt/media/image16.png" Id="R377ebbcfdc57433b" /><Relationship Type="http://schemas.openxmlformats.org/officeDocument/2006/relationships/notesSlide" Target="/ppt/notesSlides/notesSlide12.xml" Id="R4f6faa32f0874bb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ef9ce24064b4f39" /><Relationship Type="http://schemas.openxmlformats.org/officeDocument/2006/relationships/image" Target="/ppt/media/image17.png" Id="R6f9db573d74d4d82" /><Relationship Type="http://schemas.openxmlformats.org/officeDocument/2006/relationships/notesSlide" Target="/ppt/notesSlides/notesSlide13.xml" Id="R0adc464048874fb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869ba6ed3144eee" /><Relationship Type="http://schemas.openxmlformats.org/officeDocument/2006/relationships/image" Target="/ppt/media/image18.png" Id="R87c8ce825f9646b7" /><Relationship Type="http://schemas.openxmlformats.org/officeDocument/2006/relationships/notesSlide" Target="/ppt/notesSlides/notesSlide14.xml" Id="Rf78b6b2a7a9f431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6f886c5ecba4b99" /><Relationship Type="http://schemas.openxmlformats.org/officeDocument/2006/relationships/image" Target="/ppt/media/image19.png" Id="R38457d15349846b4" /><Relationship Type="http://schemas.openxmlformats.org/officeDocument/2006/relationships/notesSlide" Target="/ppt/notesSlides/notesSlide15.xml" Id="Re7f7967ecf9740e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5c53e5c80aa4a4b" /><Relationship Type="http://schemas.openxmlformats.org/officeDocument/2006/relationships/image" Target="/ppt/media/image20.png" Id="Rd527168941864765" /><Relationship Type="http://schemas.openxmlformats.org/officeDocument/2006/relationships/notesSlide" Target="/ppt/notesSlides/notesSlide16.xml" Id="R1545b2249019452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7b5111b89034624" /><Relationship Type="http://schemas.openxmlformats.org/officeDocument/2006/relationships/image" Target="/ppt/media/image21.png" Id="R59479c6423ed492c" /><Relationship Type="http://schemas.openxmlformats.org/officeDocument/2006/relationships/notesSlide" Target="/ppt/notesSlides/notesSlide17.xml" Id="R0ee97f06d98d41f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59fa75710a2475a" /><Relationship Type="http://schemas.openxmlformats.org/officeDocument/2006/relationships/image" Target="/ppt/media/image22.png" Id="R1dd562f446404a16" /><Relationship Type="http://schemas.openxmlformats.org/officeDocument/2006/relationships/notesSlide" Target="/ppt/notesSlides/notesSlide18.xml" Id="Rec74b6a0d47d451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4cd987d7c0849ce" /><Relationship Type="http://schemas.openxmlformats.org/officeDocument/2006/relationships/image" Target="/ppt/media/image23.png" Id="Rf3dbbf2c23304078" /><Relationship Type="http://schemas.openxmlformats.org/officeDocument/2006/relationships/notesSlide" Target="/ppt/notesSlides/notesSlide19.xml" Id="R51e8a0e9181a486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a65a41d7f7f4f38" /><Relationship Type="http://schemas.openxmlformats.org/officeDocument/2006/relationships/image" Target="/ppt/media/image24.png" Id="R00961f653e32448d" /><Relationship Type="http://schemas.openxmlformats.org/officeDocument/2006/relationships/image" Target="/ppt/media/image25.png" Id="R62817b4163804d1e" /><Relationship Type="http://schemas.openxmlformats.org/officeDocument/2006/relationships/notesSlide" Target="/ppt/notesSlides/notesSlide20.xml" Id="Rbeb4c01b5477488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08292f6967a465f" /><Relationship Type="http://schemas.openxmlformats.org/officeDocument/2006/relationships/image" Target="/ppt/media/image26.png" Id="Rec0d6db0cb2e4c95" /><Relationship Type="http://schemas.openxmlformats.org/officeDocument/2006/relationships/notesSlide" Target="/ppt/notesSlides/notesSlide21.xml" Id="R8387079ba6d94d1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262349452604ebf" /><Relationship Type="http://schemas.openxmlformats.org/officeDocument/2006/relationships/image" Target="/ppt/media/image27.png" Id="Rc9e98cbb0ce24175" /><Relationship Type="http://schemas.openxmlformats.org/officeDocument/2006/relationships/image" Target="/ppt/media/image28.png" Id="Re4ada9a79c4441bb" /><Relationship Type="http://schemas.openxmlformats.org/officeDocument/2006/relationships/notesSlide" Target="/ppt/notesSlides/notesSlide22.xml" Id="Rbafc7eb29d754fb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060405cb6b24984" /><Relationship Type="http://schemas.openxmlformats.org/officeDocument/2006/relationships/image" Target="/ppt/media/image29.png" Id="R347fe50273dc415b" /><Relationship Type="http://schemas.openxmlformats.org/officeDocument/2006/relationships/notesSlide" Target="/ppt/notesSlides/notesSlide23.xml" Id="Re8a6779010284d6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cbbbc9f356546e4" /><Relationship Type="http://schemas.openxmlformats.org/officeDocument/2006/relationships/image" Target="/ppt/media/image30.png" Id="R944f5fbae828432b" /><Relationship Type="http://schemas.openxmlformats.org/officeDocument/2006/relationships/image" Target="/ppt/media/image31.png" Id="R7e995bf974274370" /><Relationship Type="http://schemas.openxmlformats.org/officeDocument/2006/relationships/notesSlide" Target="/ppt/notesSlides/notesSlide24.xml" Id="R318ccf3b7a3a46e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c6f1a45bb7d4a68" /><Relationship Type="http://schemas.openxmlformats.org/officeDocument/2006/relationships/image" Target="/ppt/media/image32.png" Id="Re9d6786a69e141ae" /><Relationship Type="http://schemas.openxmlformats.org/officeDocument/2006/relationships/image" Target="/ppt/media/image33.png" Id="R06973842628349d1" /><Relationship Type="http://schemas.openxmlformats.org/officeDocument/2006/relationships/notesSlide" Target="/ppt/notesSlides/notesSlide25.xml" Id="R1db0b5a58ba7466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e5c78e578ef44ec" /><Relationship Type="http://schemas.openxmlformats.org/officeDocument/2006/relationships/image" Target="/ppt/media/image34.png" Id="R239e22a82b204e2e" /><Relationship Type="http://schemas.openxmlformats.org/officeDocument/2006/relationships/notesSlide" Target="/ppt/notesSlides/notesSlide26.xml" Id="R395119b005d0447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8f9689e3caf4f69" /><Relationship Type="http://schemas.openxmlformats.org/officeDocument/2006/relationships/image" Target="/ppt/media/image35.png" Id="R1dc5f3e9c5f34f5a" /><Relationship Type="http://schemas.openxmlformats.org/officeDocument/2006/relationships/chart" Target="/ppt/slides/charts/chart1.xml" Id="R62e76e6f5ae04009" /><Relationship Type="http://schemas.openxmlformats.org/officeDocument/2006/relationships/notesSlide" Target="/ppt/notesSlides/notesSlide27.xml" Id="Rc85a99681cee4d2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94c8dc7bf454f55" /><Relationship Type="http://schemas.openxmlformats.org/officeDocument/2006/relationships/image" Target="/ppt/media/image36.png" Id="Rc77b265730bb4546" /><Relationship Type="http://schemas.openxmlformats.org/officeDocument/2006/relationships/notesSlide" Target="/ppt/notesSlides/notesSlide28.xml" Id="R5724928bd3ce424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02803b3ae8a4747" /><Relationship Type="http://schemas.openxmlformats.org/officeDocument/2006/relationships/image" Target="/ppt/media/image37.png" Id="R9791d9c218914746" /><Relationship Type="http://schemas.openxmlformats.org/officeDocument/2006/relationships/notesSlide" Target="/ppt/notesSlides/notesSlide29.xml" Id="Rae8a1b9c7a85497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fdef40a395f4e9b" /><Relationship Type="http://schemas.openxmlformats.org/officeDocument/2006/relationships/image" Target="/ppt/media/image38.png" Id="R19063e2940a64c02" /><Relationship Type="http://schemas.openxmlformats.org/officeDocument/2006/relationships/image" Target="/ppt/media/image39.png" Id="Reef548dca7664a24" /><Relationship Type="http://schemas.openxmlformats.org/officeDocument/2006/relationships/notesSlide" Target="/ppt/notesSlides/notesSlide30.xml" Id="R3f7a4b28b0af462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81561949e744722" /><Relationship Type="http://schemas.openxmlformats.org/officeDocument/2006/relationships/image" Target="/ppt/media/image40.png" Id="R7330cdc6fea044fa" /><Relationship Type="http://schemas.openxmlformats.org/officeDocument/2006/relationships/notesSlide" Target="/ppt/notesSlides/notesSlide31.xml" Id="R15df73f6fec147c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05cef3528194df3" /><Relationship Type="http://schemas.openxmlformats.org/officeDocument/2006/relationships/image" Target="/ppt/media/image41.png" Id="R3abe346b9c914038" /><Relationship Type="http://schemas.openxmlformats.org/officeDocument/2006/relationships/notesSlide" Target="/ppt/notesSlides/notesSlide32.xml" Id="Raaaa2de7cd4a4bf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Número de grupos</c:v>
          </c:tx>
          <c:spPr>
            <ns0:pattFill xmlns:ns0="http://schemas.openxmlformats.org/drawingml/2006/main" prst="ltDnDiag">
              <ns0:fgClr>
                <ns0:srgbClr val="18B8AC"/>
              </ns0:fgClr>
              <ns0:bgClr>
                <ns0:srgbClr val="F5FAFD"/>
              </ns0:bgClr>
            </ns0:pattFill>
            <a:ln xmlns:a="http://schemas.openxmlformats.org/drawingml/2006/main" w="19050">
              <a:solidFill>
                <a:srgbClr val="203B68"/>
              </a:solidFill>
            </a:ln>
          </c:spPr>
          <c:dPt>
            <c:idx val="0"/>
            <c:invertIfNegative val="0"/>
            <c:spPr>
              <ns0:pattFill xmlns:ns0="http://schemas.openxmlformats.org/drawingml/2006/main" prst="ltDnDiag">
                <ns0:fgClr>
                  <ns0:srgbClr val="18B8AC"/>
                </ns0:fgClr>
                <ns0:bgClr>
                  <ns0:srgbClr val="F5FAFD"/>
                </ns0:bgClr>
              </ns0:pattFill>
              <a:ln xmlns:a="http://schemas.openxmlformats.org/drawingml/2006/main" w="19050">
                <a:solidFill>
                  <a:srgbClr val="203B68"/>
                </a:solidFill>
              </a:ln>
            </c:spPr>
          </c:dPt>
          <c:dPt>
            <c:idx val="1"/>
            <c:invertIfNegative val="0"/>
            <c:spPr>
              <ns0:pattFill xmlns:ns0="http://schemas.openxmlformats.org/drawingml/2006/main" prst="ltDnDiag">
                <ns0:fgClr>
                  <ns0:srgbClr val="7662EE"/>
                </ns0:fgClr>
                <ns0:bgClr>
                  <ns0:srgbClr val="F5FAFD"/>
                </ns0:bgClr>
              </ns0:pattFill>
              <a:ln xmlns:a="http://schemas.openxmlformats.org/drawingml/2006/main" w="19050">
                <a:solidFill>
                  <a:srgbClr val="203B68"/>
                </a:solidFill>
              </a:ln>
            </c:spPr>
          </c:dPt>
          <c:dLbls>
            <c:dLbl>
              <c:idx val="0"/>
              <c:tx>
                <c:rich>
                  <a:bodyPr xmlns:a="http://schemas.openxmlformats.org/drawingml/2006/main"/>
                  <a:lstStyle xmlns:a="http://schemas.openxmlformats.org/drawingml/2006/main"/>
                  <a:p xmlns:a="http://schemas.openxmlformats.org/drawingml/2006/main">
                    <a:r>
                      <a:rPr/>
                      <a:t>55.498</a:t>
                    </a:r>
                  </a:p>
                </c:rich>
              </c:tx>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a:t>52.122</a:t>
                    </a:r>
                  </a:p>
                </c:rich>
              </c:tx>
              <c:dLblPos val="outEnd"/>
              <c:showLegendKey val="0"/>
              <c:showVal val="0"/>
              <c:showCatName val="0"/>
              <c:showSerName val="0"/>
              <c:showPercent val="0"/>
              <c:showBubbleSize val="0"/>
            </c:dLbl>
          </c:dLbls>
          <c:cat>
            <c:strRef>
              <c:f>'Chart Data'!$A$2:$A$3</c:f>
              <c:strCache>
                <c:ptCount val="2"/>
                <c:pt idx="0">
                  <c:v>Con resumen de pH</c:v>
                </c:pt>
                <c:pt idx="1">
                  <c:v>Sin resumen de pH</c:v>
                </c:pt>
              </c:strCache>
            </c:strRef>
          </c:cat>
          <c:val>
            <c:numRef>
              <c:f>'Chart Data'!$B$2:$B$3</c:f>
              <c:numCache>
                <c:formatCode>0</c:formatCode>
                <c:ptCount val="2"/>
                <c:pt idx="0">
                  <c:v>55498</c:v>
                </c:pt>
                <c:pt idx="1">
                  <c:v>52122</c:v>
                </c:pt>
              </c:numCache>
            </c:numRef>
          </c:val>
        </c:ser>
        <c:dLbls>
          <c:txPr>
            <a:bodyPr xmlns:a="http://schemas.openxmlformats.org/drawingml/2006/main" anchorCtr="1"/>
            <a:lstStyle xmlns:a="http://schemas.openxmlformats.org/drawingml/2006/main"/>
            <a:p xmlns:a="http://schemas.openxmlformats.org/drawingml/2006/main">
              <a:pPr>
                <a:defRPr sz="1650">
                  <a:solidFill>
                    <a:srgbClr val="203B68"/>
                  </a:solidFill>
                  <a:latin typeface="Calibri"/>
                  <a:ea typeface="Calibri"/>
                  <a:cs typeface="Calibri"/>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Calibri"/>
                    <a:ea typeface="Calibri"/>
                    <a:cs typeface="Calibri"/>
                  </a:rPr>
                  <a:t>Grupos EVA</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03B68"/>
                </a:solidFill>
                <a:latin typeface="Calibri"/>
                <a:ea typeface="Calibri"/>
                <a:cs typeface="Calibri"/>
              </a:defRPr>
            </a:pPr>
          </a:p>
        </c:txPr>
        <c:crossAx val="48672768"/>
      </c:catAx>
      <c:valAx>
        <c:axId val="48672768"/>
        <c:scaling>
          <c:orientation val="minMax"/>
          <c:min val="0"/>
        </c:scaling>
        <c:delete val="0"/>
        <c:axPos val="l"/>
        <c:title>
          <c:tx>
            <c:rich>
              <a:bodyPr xmlns:a="http://schemas.openxmlformats.org/drawingml/2006/main"/>
              <a:lstStyle xmlns:a="http://schemas.openxmlformats.org/drawingml/2006/main"/>
              <a:p xmlns:a="http://schemas.openxmlformats.org/drawingml/2006/main">
                <a:r>
                  <a:rPr>
                    <a:latin typeface="Calibri"/>
                    <a:ea typeface="Calibri"/>
                    <a:cs typeface="Calibri"/>
                  </a:rPr>
                  <a:t>Número de grupos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03B68"/>
                </a:solidFill>
                <a:latin typeface="Calibri"/>
                <a:ea typeface="Calibri"/>
                <a:cs typeface="Calibri"/>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ns1:solidFill xmlns:ns1="http://schemas.openxmlformats.org/drawingml/2006/main">
          <ns1:srgbClr val="FFFFFF"/>
        </ns1:solidFill>
        <ns2:effectLst xmlns:ns2="http://schemas.openxmlformats.org/drawingml/2006/main"/>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5dafd769902411a"/>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1888c1126bd47b6"/>
          <a:stretch xmlns:a="http://schemas.openxmlformats.org/drawingml/2006/main"/>
        </p:blipFill>
        <p:spPr>
          <a:xfrm xmlns:a="http://schemas.openxmlformats.org/drawingml/2006/main">
            <a:off x="6667500" y="1833563"/>
            <a:ext cx="5143500" cy="3429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0E8B0DA-9BC0-4669-8EAF-EAEF4FC8AEA4}"/>
              </a:ext>
            </a:extLst>
          </p:cNvPr>
          <p:cNvSpPr>
            <a:spLocks xmlns:a="http://schemas.openxmlformats.org/drawingml/2006/main" noGrp="1"/>
          </p:cNvSpPr>
          <p:nvPr/>
        </p:nvSpPr>
        <p:spPr>
          <a:xfrm xmlns:a="http://schemas.openxmlformats.org/drawingml/2006/main">
            <a:off x="609600" y="1476375"/>
            <a:ext cx="590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Curso de Postgrado:</a:t>
            </a:r>
          </a:p>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BigData</a:t>
            </a:r>
          </a:p>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Especialización en</a:t>
            </a:r>
          </a:p>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Bases de datos</a:t>
            </a:r>
          </a:p>
        </p:txBody>
      </p:sp>
      <p:sp>
        <p:nvSpPr>
          <p:cNvPr id="3" name="">
            <a:extLst xmlns:a="http://schemas.openxmlformats.org/drawingml/2006/main">
              <a:ext uri="{FF2B5EF4-FFF2-40B4-BE49-F238E27FC236}">
                <a16:creationId xmlns:a16="http://schemas.microsoft.com/office/drawing/2014/main" id="{B48AC7B8-8D2D-45BC-9A23-A76268696826}"/>
              </a:ext>
            </a:extLst>
          </p:cNvPr>
          <p:cNvSpPr>
            <a:spLocks xmlns:a="http://schemas.openxmlformats.org/drawingml/2006/main" noGrp="1"/>
          </p:cNvSpPr>
          <p:nvPr/>
        </p:nvSpPr>
        <p:spPr>
          <a:xfrm xmlns:a="http://schemas.openxmlformats.org/drawingml/2006/main">
            <a:off x="609600" y="3857625"/>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5546ED"/>
                </a:solidFill>
                <a:latin typeface="Calibri"/>
                <a:ea typeface="Calibri"/>
                <a:cs typeface="Calibri"/>
              </a:defRPr>
            </a:pPr>
            <a:r>
              <a:rPr sz="2700" b="1">
                <a:solidFill>
                  <a:srgbClr val="5546ED"/>
                </a:solidFill>
                <a:latin typeface="Calibri"/>
                <a:ea typeface="Calibri"/>
                <a:cs typeface="Calibri"/>
              </a:rPr>
              <a:t>Calidad</a:t>
            </a:r>
          </a:p>
          <a:p xmlns:a="http://schemas.openxmlformats.org/drawingml/2006/main">
            <a:pPr>
              <a:buNone/>
              <a:defRPr sz="2700" b="1">
                <a:solidFill>
                  <a:srgbClr val="5546ED"/>
                </a:solidFill>
                <a:latin typeface="Calibri"/>
                <a:ea typeface="Calibri"/>
                <a:cs typeface="Calibri"/>
              </a:defRPr>
            </a:pPr>
            <a:r>
              <a:rPr sz="2700" b="1">
                <a:solidFill>
                  <a:srgbClr val="5546ED"/>
                </a:solidFill>
                <a:latin typeface="Calibri"/>
                <a:ea typeface="Calibri"/>
                <a:cs typeface="Calibri"/>
              </a:rPr>
              <a:t>e integración</a:t>
            </a:r>
          </a:p>
        </p:txBody>
      </p:sp>
      <p:sp>
        <p:nvSpPr>
          <p:cNvPr id="5" name="">
            <a:extLst xmlns:a="http://schemas.openxmlformats.org/drawingml/2006/main">
              <a:ext uri="{FF2B5EF4-FFF2-40B4-BE49-F238E27FC236}">
                <a16:creationId xmlns:a16="http://schemas.microsoft.com/office/drawing/2014/main" id="{FEB3DB02-71E3-4A6B-ADC5-65F58BDE481E}"/>
              </a:ext>
            </a:extLst>
          </p:cNvPr>
          <p:cNvSpPr>
            <a:spLocks xmlns:a="http://schemas.openxmlformats.org/drawingml/2006/main" noGrp="1"/>
          </p:cNvSpPr>
          <p:nvPr/>
        </p:nvSpPr>
        <p:spPr>
          <a:xfrm xmlns:a="http://schemas.openxmlformats.org/drawingml/2006/main">
            <a:off x="609600" y="52482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Sesión 04 · Sábado 10 de octubre de 2026</a:t>
            </a:r>
          </a:p>
        </p:txBody>
      </p:sp>
      <p:sp>
        <p:nvSpPr>
          <p:cNvPr id="6" name="">
            <a:extLst xmlns:a="http://schemas.openxmlformats.org/drawingml/2006/main">
              <a:ext uri="{FF2B5EF4-FFF2-40B4-BE49-F238E27FC236}">
                <a16:creationId xmlns:a16="http://schemas.microsoft.com/office/drawing/2014/main" id="{63B5C1F0-3D99-4A1A-B0E1-0E38666DE19A}"/>
              </a:ext>
            </a:extLst>
          </p:cNvPr>
          <p:cNvSpPr>
            <a:spLocks xmlns:a="http://schemas.openxmlformats.org/drawingml/2006/main" noGrp="1"/>
          </p:cNvSpPr>
          <p:nvPr/>
        </p:nvSpPr>
        <p:spPr>
          <a:xfrm xmlns:a="http://schemas.openxmlformats.org/drawingml/2006/main">
            <a:off x="609600" y="57340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08:00–17:00 · Esteban Hernández, PhD</a:t>
            </a:r>
          </a:p>
        </p:txBody>
      </p:sp>
      <p:sp>
        <p:nvSpPr>
          <p:cNvPr id="9" name="">
            <a:extLst xmlns:a="http://schemas.openxmlformats.org/drawingml/2006/main">
              <a:ext uri="{FF2B5EF4-FFF2-40B4-BE49-F238E27FC236}">
                <a16:creationId xmlns:a16="http://schemas.microsoft.com/office/drawing/2014/main" id="{CF85DC94-D330-4B8B-B1B4-0B2F9ECB338D}"/>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1D6EE18E-0E91-4C4E-8457-11217AE39AAF}"/>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1" name="">
            <a:extLst xmlns:a="http://schemas.openxmlformats.org/drawingml/2006/main">
              <a:ext uri="{FF2B5EF4-FFF2-40B4-BE49-F238E27FC236}">
                <a16:creationId xmlns:a16="http://schemas.microsoft.com/office/drawing/2014/main" id="{0BB0579A-496F-44E4-8E8D-3107A31B25C9}"/>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2" name="">
            <a:extLst xmlns:a="http://schemas.openxmlformats.org/drawingml/2006/main">
              <a:ext uri="{FF2B5EF4-FFF2-40B4-BE49-F238E27FC236}">
                <a16:creationId xmlns:a16="http://schemas.microsoft.com/office/drawing/2014/main" id="{BADDE595-24A4-4811-91DD-CE4723944A2D}"/>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01</a:t>
            </a:r>
          </a:p>
        </p:txBody>
      </p:sp>
    </p:spTree>
    <p:extLst>
      <p:ext uri="{BB962C8B-B14F-4D97-AF65-F5344CB8AC3E}">
        <p14:creationId xmlns:p14="http://schemas.microsoft.com/office/powerpoint/2010/main" val="776549689"/>
      </p:ext>
    </p:extLst>
  </p:cSld>
  <p:transition spd="med" advClick="1">
    <p:fade/>
  </p:transition>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bc55c925f4b44b5"/>
          <a:stretch xmlns:a="http://schemas.openxmlformats.org/drawingml/2006/main"/>
        </p:blipFill>
        <p:spPr>
          <a:xfrm xmlns:a="http://schemas.openxmlformats.org/drawingml/2006/main">
            <a:off x="0" y="0"/>
            <a:ext cx="12192000" cy="1143000"/>
          </a:xfrm>
          <a:prstGeom xmlns:a="http://schemas.openxmlformats.org/drawingml/2006/main" prst="rect">
            <a:avLst/>
          </a:prstGeom>
        </p:spPr>
      </p:pic>
      <p:graphicFrame>
        <p:nvGraphicFramePr>
          <p:cNvPr id="12" name=""/>
          <p:cNvGraphicFramePr/>
          <p:nvPr/>
        </p:nvGraphicFramePr>
        <p:xfrm>
          <a:off xmlns:a="http://schemas.openxmlformats.org/drawingml/2006/main" x="609600" y="1428750"/>
          <a:ext xmlns:a="http://schemas.openxmlformats.org/drawingml/2006/main" cx="10972800" cy="4333875"/>
        </p:xfrm>
        <a:graphic xmlns:a="http://schemas.openxmlformats.org/drawingml/2006/main">
          <a:graphicData uri="http://schemas.openxmlformats.org/drawingml/2006/table">
            <a:tbl>
              <a:tblPr/>
              <a:tblGrid>
                <a:gridCol w="2286000"/>
                <a:gridCol w="8686800"/>
              </a:tblGrid>
              <a:tr h="393989">
                <a:tc>
                  <a:txBody>
                    <a:bodyPr/>
                    <a:lstStyle/>
                    <a:p>
                      <a:r>
                        <a:rPr sz="1500" b="1">
                          <a:solidFill>
                            <a:srgbClr val="FFFFFF"/>
                          </a:solidFill>
                          <a:latin typeface="Calibri"/>
                          <a:ea typeface="Calibri"/>
                          <a:cs typeface="Calibri"/>
                        </a:rPr>
                        <a:t>Horario</a:t>
                      </a:r>
                    </a:p>
                  </a:txBody>
                  <a:tcPr marL="91440" marR="91440" marT="45720" marB="45720">
                    <a:solidFill>
                      <a:srgbClr val="4237BF"/>
                    </a:solidFill>
                  </a:tcPr>
                </a:tc>
                <a:tc>
                  <a:txBody>
                    <a:bodyPr/>
                    <a:lstStyle/>
                    <a:p>
                      <a:r>
                        <a:rPr sz="1500" b="1">
                          <a:solidFill>
                            <a:srgbClr val="FFFFFF"/>
                          </a:solidFill>
                          <a:latin typeface="Calibri"/>
                          <a:ea typeface="Calibri"/>
                          <a:cs typeface="Calibri"/>
                        </a:rPr>
                        <a:t>Tema y actividad</a:t>
                      </a:r>
                    </a:p>
                  </a:txBody>
                  <a:tcPr marL="91440" marR="91440" marT="45720" marB="45720">
                    <a:solidFill>
                      <a:srgbClr val="4237BF"/>
                    </a:solidFill>
                  </a:tcPr>
                </a:tc>
              </a:tr>
              <a:tr h="393989">
                <a:tc>
                  <a:txBody>
                    <a:bodyPr/>
                    <a:lstStyle/>
                    <a:p>
                      <a:r>
                        <a:rPr sz="1500" b="0">
                          <a:solidFill>
                            <a:srgbClr val="203B68"/>
                          </a:solidFill>
                          <a:latin typeface="Calibri"/>
                          <a:ea typeface="Calibri"/>
                          <a:cs typeface="Calibri"/>
                        </a:rPr>
                        <a:t>08:00–09:30</a:t>
                      </a:r>
                    </a:p>
                  </a:txBody>
                  <a:tcPr marL="91440" marR="91440" marT="45720" marB="45720">
                    <a:solidFill>
                      <a:srgbClr val="F4F8F8"/>
                    </a:solidFill>
                  </a:tcPr>
                </a:tc>
                <a:tc>
                  <a:txBody>
                    <a:bodyPr/>
                    <a:lstStyle/>
                    <a:p>
                      <a:r>
                        <a:rPr sz="1500" b="0">
                          <a:solidFill>
                            <a:srgbClr val="203B68"/>
                          </a:solidFill>
                          <a:latin typeface="Calibri"/>
                          <a:ea typeface="Calibri"/>
                          <a:cs typeface="Calibri"/>
                        </a:rPr>
                        <a:t>E05: calidad de suelos y conciliación</a:t>
                      </a:r>
                    </a:p>
                  </a:txBody>
                  <a:tcPr marL="91440" marR="91440" marT="45720" marB="45720">
                    <a:solidFill>
                      <a:srgbClr val="F4F8F8"/>
                    </a:solidFill>
                  </a:tcPr>
                </a:tc>
              </a:tr>
              <a:tr h="393989">
                <a:tc>
                  <a:txBody>
                    <a:bodyPr/>
                    <a:lstStyle/>
                    <a:p>
                      <a:r>
                        <a:rPr sz="1500" b="0">
                          <a:solidFill>
                            <a:srgbClr val="203B68"/>
                          </a:solidFill>
                          <a:latin typeface="Calibri"/>
                          <a:ea typeface="Calibri"/>
                          <a:cs typeface="Calibri"/>
                        </a:rPr>
                        <a:t>09:30–09:45</a:t>
                      </a:r>
                    </a:p>
                  </a:txBody>
                  <a:tcPr marL="91440" marR="91440" marT="45720" marB="45720">
                    <a:solidFill>
                      <a:srgbClr val="E9F0F1"/>
                    </a:solidFill>
                  </a:tcPr>
                </a:tc>
                <a:tc>
                  <a:txBody>
                    <a:bodyPr/>
                    <a:lstStyle/>
                    <a:p>
                      <a:r>
                        <a:rPr sz="1500" b="0">
                          <a:solidFill>
                            <a:srgbClr val="203B68"/>
                          </a:solidFill>
                          <a:latin typeface="Calibri"/>
                          <a:ea typeface="Calibri"/>
                          <a:cs typeface="Calibri"/>
                        </a:rPr>
                        <a:t>Receso de la mañana</a:t>
                      </a:r>
                    </a:p>
                  </a:txBody>
                  <a:tcPr marL="91440" marR="91440" marT="45720" marB="45720">
                    <a:solidFill>
                      <a:srgbClr val="E9F0F1"/>
                    </a:solidFill>
                  </a:tcPr>
                </a:tc>
              </a:tr>
              <a:tr h="393989">
                <a:tc>
                  <a:txBody>
                    <a:bodyPr/>
                    <a:lstStyle/>
                    <a:p>
                      <a:r>
                        <a:rPr sz="1500" b="0">
                          <a:solidFill>
                            <a:srgbClr val="203B68"/>
                          </a:solidFill>
                          <a:latin typeface="Calibri"/>
                          <a:ea typeface="Calibri"/>
                          <a:cs typeface="Calibri"/>
                        </a:rPr>
                        <a:t>09:45–10:45</a:t>
                      </a:r>
                    </a:p>
                  </a:txBody>
                  <a:tcPr marL="91440" marR="91440" marT="45720" marB="45720">
                    <a:solidFill>
                      <a:srgbClr val="F4F8F8"/>
                    </a:solidFill>
                  </a:tcPr>
                </a:tc>
                <a:tc>
                  <a:txBody>
                    <a:bodyPr/>
                    <a:lstStyle/>
                    <a:p>
                      <a:r>
                        <a:rPr sz="1500" b="0">
                          <a:solidFill>
                            <a:srgbClr val="203B68"/>
                          </a:solidFill>
                          <a:latin typeface="Calibri"/>
                          <a:ea typeface="Calibri"/>
                          <a:cs typeface="Calibri"/>
                        </a:rPr>
                        <a:t>09:45–10:00 orientación; 10:00–10:20 E04/P02 propios; 10:20–10:45 P03 calidad</a:t>
                      </a:r>
                    </a:p>
                  </a:txBody>
                  <a:tcPr marL="91440" marR="91440" marT="45720" marB="45720">
                    <a:solidFill>
                      <a:srgbClr val="F4F8F8"/>
                    </a:solidFill>
                  </a:tcPr>
                </a:tc>
              </a:tr>
              <a:tr h="393989">
                <a:tc>
                  <a:txBody>
                    <a:bodyPr/>
                    <a:lstStyle/>
                    <a:p>
                      <a:r>
                        <a:rPr sz="1500" b="0">
                          <a:solidFill>
                            <a:srgbClr val="203B68"/>
                          </a:solidFill>
                          <a:latin typeface="Calibri"/>
                          <a:ea typeface="Calibri"/>
                          <a:cs typeface="Calibri"/>
                        </a:rPr>
                        <a:t>10:45–12:00</a:t>
                      </a:r>
                    </a:p>
                  </a:txBody>
                  <a:tcPr marL="91440" marR="91440" marT="45720" marB="45720">
                    <a:solidFill>
                      <a:srgbClr val="E9F0F1"/>
                    </a:solidFill>
                  </a:tcPr>
                </a:tc>
                <a:tc>
                  <a:txBody>
                    <a:bodyPr/>
                    <a:lstStyle/>
                    <a:p>
                      <a:r>
                        <a:rPr sz="1500" b="0">
                          <a:solidFill>
                            <a:srgbClr val="203B68"/>
                          </a:solidFill>
                          <a:latin typeface="Calibri"/>
                          <a:ea typeface="Calibri"/>
                          <a:cs typeface="Calibri"/>
                        </a:rPr>
                        <a:t>Consulta diferida Polars/DuckDB y selección de motores</a:t>
                      </a:r>
                    </a:p>
                  </a:txBody>
                  <a:tcPr marL="91440" marR="91440" marT="45720" marB="45720">
                    <a:solidFill>
                      <a:srgbClr val="E9F0F1"/>
                    </a:solidFill>
                  </a:tcPr>
                </a:tc>
              </a:tr>
              <a:tr h="393989">
                <a:tc>
                  <a:txBody>
                    <a:bodyPr/>
                    <a:lstStyle/>
                    <a:p>
                      <a:r>
                        <a:rPr sz="1500" b="0">
                          <a:solidFill>
                            <a:srgbClr val="203B68"/>
                          </a:solidFill>
                          <a:latin typeface="Calibri"/>
                          <a:ea typeface="Calibri"/>
                          <a:cs typeface="Calibri"/>
                        </a:rPr>
                        <a:t>12:00–13:00</a:t>
                      </a:r>
                    </a:p>
                  </a:txBody>
                  <a:tcPr marL="91440" marR="91440" marT="45720" marB="45720">
                    <a:solidFill>
                      <a:srgbClr val="F4F8F8"/>
                    </a:solidFill>
                  </a:tcPr>
                </a:tc>
                <a:tc>
                  <a:txBody>
                    <a:bodyPr/>
                    <a:lstStyle/>
                    <a:p>
                      <a:r>
                        <a:rPr sz="1500" b="0">
                          <a:solidFill>
                            <a:srgbClr val="203B68"/>
                          </a:solidFill>
                          <a:latin typeface="Calibri"/>
                          <a:ea typeface="Calibri"/>
                          <a:cs typeface="Calibri"/>
                        </a:rPr>
                        <a:t>Almuerzo</a:t>
                      </a:r>
                    </a:p>
                  </a:txBody>
                  <a:tcPr marL="91440" marR="91440" marT="45720" marB="45720">
                    <a:solidFill>
                      <a:srgbClr val="F4F8F8"/>
                    </a:solidFill>
                  </a:tcPr>
                </a:tc>
              </a:tr>
              <a:tr h="393989">
                <a:tc>
                  <a:txBody>
                    <a:bodyPr/>
                    <a:lstStyle/>
                    <a:p>
                      <a:r>
                        <a:rPr sz="1500" b="0">
                          <a:solidFill>
                            <a:srgbClr val="203B68"/>
                          </a:solidFill>
                          <a:latin typeface="Calibri"/>
                          <a:ea typeface="Calibri"/>
                          <a:cs typeface="Calibri"/>
                        </a:rPr>
                        <a:t>13:00–14:30</a:t>
                      </a:r>
                    </a:p>
                  </a:txBody>
                  <a:tcPr marL="91440" marR="91440" marT="45720" marB="45720">
                    <a:solidFill>
                      <a:srgbClr val="E9F0F1"/>
                    </a:solidFill>
                  </a:tcPr>
                </a:tc>
                <a:tc>
                  <a:txBody>
                    <a:bodyPr/>
                    <a:lstStyle/>
                    <a:p>
                      <a:r>
                        <a:rPr sz="1500" b="0">
                          <a:solidFill>
                            <a:srgbClr val="203B68"/>
                          </a:solidFill>
                          <a:latin typeface="Calibri"/>
                          <a:ea typeface="Calibri"/>
                          <a:cs typeface="Calibri"/>
                        </a:rPr>
                        <a:t>E06: EVA, rendimiento t/ha e integración SQL</a:t>
                      </a:r>
                    </a:p>
                  </a:txBody>
                  <a:tcPr marL="91440" marR="91440" marT="45720" marB="45720">
                    <a:solidFill>
                      <a:srgbClr val="E9F0F1"/>
                    </a:solidFill>
                  </a:tcPr>
                </a:tc>
              </a:tr>
              <a:tr h="393989">
                <a:tc>
                  <a:txBody>
                    <a:bodyPr/>
                    <a:lstStyle/>
                    <a:p>
                      <a:r>
                        <a:rPr sz="1500" b="0">
                          <a:solidFill>
                            <a:srgbClr val="203B68"/>
                          </a:solidFill>
                          <a:latin typeface="Calibri"/>
                          <a:ea typeface="Calibri"/>
                          <a:cs typeface="Calibri"/>
                        </a:rPr>
                        <a:t>14:30–15:00</a:t>
                      </a:r>
                    </a:p>
                  </a:txBody>
                  <a:tcPr marL="91440" marR="91440" marT="45720" marB="45720">
                    <a:solidFill>
                      <a:srgbClr val="F4F8F8"/>
                    </a:solidFill>
                  </a:tcPr>
                </a:tc>
                <a:tc>
                  <a:txBody>
                    <a:bodyPr/>
                    <a:lstStyle/>
                    <a:p>
                      <a:r>
                        <a:rPr sz="1500" b="0">
                          <a:solidFill>
                            <a:srgbClr val="203B68"/>
                          </a:solidFill>
                          <a:latin typeface="Calibri"/>
                          <a:ea typeface="Calibri"/>
                          <a:cs typeface="Calibri"/>
                        </a:rPr>
                        <a:t>Cobertura y cardinalidad de las uniones</a:t>
                      </a:r>
                    </a:p>
                  </a:txBody>
                  <a:tcPr marL="91440" marR="91440" marT="45720" marB="45720">
                    <a:solidFill>
                      <a:srgbClr val="F4F8F8"/>
                    </a:solidFill>
                  </a:tcPr>
                </a:tc>
              </a:tr>
              <a:tr h="393989">
                <a:tc>
                  <a:txBody>
                    <a:bodyPr/>
                    <a:lstStyle/>
                    <a:p>
                      <a:r>
                        <a:rPr sz="1500" b="0">
                          <a:solidFill>
                            <a:srgbClr val="203B68"/>
                          </a:solidFill>
                          <a:latin typeface="Calibri"/>
                          <a:ea typeface="Calibri"/>
                          <a:cs typeface="Calibri"/>
                        </a:rPr>
                        <a:t>15:00–15:15</a:t>
                      </a:r>
                    </a:p>
                  </a:txBody>
                  <a:tcPr marL="91440" marR="91440" marT="45720" marB="45720">
                    <a:solidFill>
                      <a:srgbClr val="E9F0F1"/>
                    </a:solidFill>
                  </a:tcPr>
                </a:tc>
                <a:tc>
                  <a:txBody>
                    <a:bodyPr/>
                    <a:lstStyle/>
                    <a:p>
                      <a:r>
                        <a:rPr sz="1500" b="0">
                          <a:solidFill>
                            <a:srgbClr val="203B68"/>
                          </a:solidFill>
                          <a:latin typeface="Calibri"/>
                          <a:ea typeface="Calibri"/>
                          <a:cs typeface="Calibri"/>
                        </a:rPr>
                        <a:t>Receso de la tarde</a:t>
                      </a:r>
                    </a:p>
                  </a:txBody>
                  <a:tcPr marL="91440" marR="91440" marT="45720" marB="45720">
                    <a:solidFill>
                      <a:srgbClr val="E9F0F1"/>
                    </a:solidFill>
                  </a:tcPr>
                </a:tc>
              </a:tr>
              <a:tr h="393989">
                <a:tc>
                  <a:txBody>
                    <a:bodyPr/>
                    <a:lstStyle/>
                    <a:p>
                      <a:r>
                        <a:rPr sz="1500" b="0">
                          <a:solidFill>
                            <a:srgbClr val="203B68"/>
                          </a:solidFill>
                          <a:latin typeface="Calibri"/>
                          <a:ea typeface="Calibri"/>
                          <a:cs typeface="Calibri"/>
                        </a:rPr>
                        <a:t>15:15–16:30</a:t>
                      </a:r>
                    </a:p>
                  </a:txBody>
                  <a:tcPr marL="91440" marR="91440" marT="45720" marB="45720">
                    <a:solidFill>
                      <a:srgbClr val="F4F8F8"/>
                    </a:solidFill>
                  </a:tcPr>
                </a:tc>
                <a:tc>
                  <a:txBody>
                    <a:bodyPr/>
                    <a:lstStyle/>
                    <a:p>
                      <a:r>
                        <a:rPr sz="1500" b="0">
                          <a:solidFill>
                            <a:srgbClr val="203B68"/>
                          </a:solidFill>
                          <a:latin typeface="Calibri"/>
                          <a:ea typeface="Calibri"/>
                          <a:cs typeface="Calibri"/>
                        </a:rPr>
                        <a:t>Auditoría, cobertura y revisión de controles</a:t>
                      </a:r>
                    </a:p>
                  </a:txBody>
                  <a:tcPr marL="91440" marR="91440" marT="45720" marB="45720">
                    <a:solidFill>
                      <a:srgbClr val="F4F8F8"/>
                    </a:solidFill>
                  </a:tcPr>
                </a:tc>
              </a:tr>
              <a:tr h="393989">
                <a:tc>
                  <a:txBody>
                    <a:bodyPr/>
                    <a:lstStyle/>
                    <a:p>
                      <a:r>
                        <a:rPr sz="1500" b="0">
                          <a:solidFill>
                            <a:srgbClr val="203B68"/>
                          </a:solidFill>
                          <a:latin typeface="Calibri"/>
                          <a:ea typeface="Calibri"/>
                          <a:cs typeface="Calibri"/>
                        </a:rPr>
                        <a:t>16:30–17:00</a:t>
                      </a:r>
                    </a:p>
                  </a:txBody>
                  <a:tcPr marL="91440" marR="91440" marT="45720" marB="45720">
                    <a:solidFill>
                      <a:srgbClr val="E9F0F1"/>
                    </a:solidFill>
                  </a:tcPr>
                </a:tc>
                <a:tc>
                  <a:txBody>
                    <a:bodyPr/>
                    <a:lstStyle/>
                    <a:p>
                      <a:r>
                        <a:rPr sz="1500" b="0">
                          <a:solidFill>
                            <a:srgbClr val="203B68"/>
                          </a:solidFill>
                          <a:latin typeface="Calibri"/>
                          <a:ea typeface="Calibri"/>
                          <a:cs typeface="Calibri"/>
                        </a:rPr>
                        <a:t>16:30–16:45 entrega única E04–E06/P02–P03; 16:45–17:00 preparación de Spark</a:t>
                      </a:r>
                    </a:p>
                  </a:txBody>
                  <a:tcPr marL="91440" marR="91440" marT="45720" marB="45720">
                    <a:solidFill>
                      <a:srgbClr val="E9F0F1"/>
                    </a:solidFill>
                  </a:tcPr>
                </a:tc>
              </a:tr>
            </a:tbl>
          </a:graphicData>
        </a:graphic>
      </p:graphicFrame>
      <p:sp>
        <p:nvSpPr>
          <p:cNvPr id="2" name="">
            <a:extLst xmlns:a="http://schemas.openxmlformats.org/drawingml/2006/main">
              <a:ext uri="{FF2B5EF4-FFF2-40B4-BE49-F238E27FC236}">
                <a16:creationId xmlns:a16="http://schemas.microsoft.com/office/drawing/2014/main" id="{02D3C6D1-961B-44A7-B785-EF9AAC0C4C4F}"/>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Agenda de la sesión</a:t>
            </a:r>
          </a:p>
        </p:txBody>
      </p:sp>
      <p:sp>
        <p:nvSpPr>
          <p:cNvPr id="3" name="">
            <a:extLst xmlns:a="http://schemas.openxmlformats.org/drawingml/2006/main">
              <a:ext uri="{FF2B5EF4-FFF2-40B4-BE49-F238E27FC236}">
                <a16:creationId xmlns:a16="http://schemas.microsoft.com/office/drawing/2014/main" id="{54E1C8E0-0C7A-4D75-A295-940412CADB21}"/>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Sábado 10/10/2026 · 450 min efectivos · Entrega durante la clase</a:t>
            </a:r>
          </a:p>
        </p:txBody>
      </p:sp>
      <p:sp>
        <p:nvSpPr>
          <p:cNvPr id="5" name="">
            <a:extLst xmlns:a="http://schemas.openxmlformats.org/drawingml/2006/main">
              <a:ext uri="{FF2B5EF4-FFF2-40B4-BE49-F238E27FC236}">
                <a16:creationId xmlns:a16="http://schemas.microsoft.com/office/drawing/2014/main" id="{D2BC676F-83F8-4FF5-B8BD-1E0FD84789B0}"/>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6" name="">
            <a:extLst xmlns:a="http://schemas.openxmlformats.org/drawingml/2006/main">
              <a:ext uri="{FF2B5EF4-FFF2-40B4-BE49-F238E27FC236}">
                <a16:creationId xmlns:a16="http://schemas.microsoft.com/office/drawing/2014/main" id="{C29D2C90-1724-4D69-824F-793718D3C8CA}"/>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975" b="1">
                <a:solidFill>
                  <a:srgbClr val="4239C8"/>
                </a:solidFill>
                <a:latin typeface="Calibri"/>
                <a:ea typeface="Calibri"/>
                <a:cs typeface="Calibri"/>
              </a:defRPr>
            </a:pPr>
            <a:r>
              <a:rPr sz="975" b="1">
                <a:solidFill>
                  <a:srgbClr val="4239C8"/>
                </a:solidFill>
                <a:latin typeface="Calibri"/>
                <a:ea typeface="Calibri"/>
                <a:cs typeface="Calibri"/>
              </a:rPr>
              <a:t>E04 — Ejercicio 04: Formatos y contrato de datos  |  E05 — Ejercicio 05: Calidad de análisis de suelo  |  E06 — Ejercicio 06: Rendimiento agrícola e integración SQL  |  P02 — Práctica PQRS 02: Parquet, contrato y reejecución  |  P03 — Práctica PQRS 03: Calidad de reportes y consulta diferida</a:t>
            </a:r>
          </a:p>
        </p:txBody>
      </p:sp>
      <p:sp>
        <p:nvSpPr>
          <p:cNvPr id="7" name="">
            <a:extLst xmlns:a="http://schemas.openxmlformats.org/drawingml/2006/main">
              <a:ext uri="{FF2B5EF4-FFF2-40B4-BE49-F238E27FC236}">
                <a16:creationId xmlns:a16="http://schemas.microsoft.com/office/drawing/2014/main" id="{78A923A0-FA2F-4676-83A8-784F6450E1E8}"/>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8" name="">
            <a:extLst xmlns:a="http://schemas.openxmlformats.org/drawingml/2006/main">
              <a:ext uri="{FF2B5EF4-FFF2-40B4-BE49-F238E27FC236}">
                <a16:creationId xmlns:a16="http://schemas.microsoft.com/office/drawing/2014/main" id="{17D29CB0-9731-4E3C-9AE8-7807E3B56E4E}"/>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02</a:t>
            </a:r>
          </a:p>
        </p:txBody>
      </p:sp>
    </p:spTree>
    <p:extLst>
      <p:ext uri="{BB962C8B-B14F-4D97-AF65-F5344CB8AC3E}">
        <p14:creationId xmlns:p14="http://schemas.microsoft.com/office/powerpoint/2010/main" val="743071577"/>
      </p:ext>
    </p:extLst>
  </p:cSld>
  <p:transition spd="med" advClick="1">
    <p:fade/>
  </p:transition>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f815ffbf65b4d62"/>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8195B11-F553-4803-9BD7-11BD917142CD}"/>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Entrega única del sábado 10 de octubre</a:t>
            </a:r>
          </a:p>
        </p:txBody>
      </p:sp>
      <p:sp>
        <p:nvSpPr>
          <p:cNvPr id="3" name="">
            <a:extLst xmlns:a="http://schemas.openxmlformats.org/drawingml/2006/main">
              <a:ext uri="{FF2B5EF4-FFF2-40B4-BE49-F238E27FC236}">
                <a16:creationId xmlns:a16="http://schemas.microsoft.com/office/drawing/2014/main" id="{913379A2-F368-402F-A3F1-EF75BE775C72}"/>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E04 / P02: contrato y transformación</a:t>
            </a:r>
          </a:p>
        </p:txBody>
      </p:sp>
      <p:sp>
        <p:nvSpPr>
          <p:cNvPr id="4" name="">
            <a:extLst xmlns:a="http://schemas.openxmlformats.org/drawingml/2006/main">
              <a:ext uri="{FF2B5EF4-FFF2-40B4-BE49-F238E27FC236}">
                <a16:creationId xmlns:a16="http://schemas.microsoft.com/office/drawing/2014/main" id="{520B47C5-B723-4501-987F-F7A787B83D37}"/>
              </a:ext>
            </a:extLst>
          </p:cNvPr>
          <p:cNvSpPr>
            <a:spLocks xmlns:a="http://schemas.openxmlformats.org/drawingml/2006/main" noGrp="1"/>
          </p:cNvSpPr>
          <p:nvPr/>
        </p:nvSpPr>
        <p:spPr>
          <a:xfrm xmlns:a="http://schemas.openxmlformats.org/drawingml/2006/main">
            <a:off x="685800" y="19526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Su propio contrato, Parquet y evidencia de fallo controlado y reejecución.</a:t>
            </a:r>
          </a:p>
        </p:txBody>
      </p:sp>
      <p:sp>
        <p:nvSpPr>
          <p:cNvPr id="5" name="">
            <a:extLst xmlns:a="http://schemas.openxmlformats.org/drawingml/2006/main">
              <a:ext uri="{FF2B5EF4-FFF2-40B4-BE49-F238E27FC236}">
                <a16:creationId xmlns:a16="http://schemas.microsoft.com/office/drawing/2014/main" id="{7A9A7FB1-56FF-47C5-A85D-FF43CAEFAB2D}"/>
              </a:ext>
            </a:extLst>
          </p:cNvPr>
          <p:cNvSpPr>
            <a:spLocks xmlns:a="http://schemas.openxmlformats.org/drawingml/2006/main" noGrp="1"/>
          </p:cNvSpPr>
          <p:nvPr/>
        </p:nvSpPr>
        <p:spPr>
          <a:xfrm xmlns:a="http://schemas.openxmlformats.org/drawingml/2006/main">
            <a:off x="685800" y="28860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E05 / P03: calidad y consultas</a:t>
            </a:r>
          </a:p>
        </p:txBody>
      </p:sp>
      <p:sp>
        <p:nvSpPr>
          <p:cNvPr id="6" name="">
            <a:extLst xmlns:a="http://schemas.openxmlformats.org/drawingml/2006/main">
              <a:ext uri="{FF2B5EF4-FFF2-40B4-BE49-F238E27FC236}">
                <a16:creationId xmlns:a16="http://schemas.microsoft.com/office/drawing/2014/main" id="{0740EAFD-FE47-438E-9F2F-B63B80DF87F2}"/>
              </a:ext>
            </a:extLst>
          </p:cNvPr>
          <p:cNvSpPr>
            <a:spLocks xmlns:a="http://schemas.openxmlformats.org/drawingml/2006/main" noGrp="1"/>
          </p:cNvSpPr>
          <p:nvPr/>
        </p:nvSpPr>
        <p:spPr>
          <a:xfrm xmlns:a="http://schemas.openxmlformats.org/drawingml/2006/main">
            <a:off x="685800" y="333375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Controles conciliados de suelo y PQRS; consulta equivalente en Polars y DuckDB.</a:t>
            </a:r>
          </a:p>
        </p:txBody>
      </p:sp>
      <p:sp>
        <p:nvSpPr>
          <p:cNvPr id="7" name="">
            <a:extLst xmlns:a="http://schemas.openxmlformats.org/drawingml/2006/main">
              <a:ext uri="{FF2B5EF4-FFF2-40B4-BE49-F238E27FC236}">
                <a16:creationId xmlns:a16="http://schemas.microsoft.com/office/drawing/2014/main" id="{DFC663A7-6AC0-4480-8277-2D31DF299AE6}"/>
              </a:ext>
            </a:extLst>
          </p:cNvPr>
          <p:cNvSpPr>
            <a:spLocks xmlns:a="http://schemas.openxmlformats.org/drawingml/2006/main" noGrp="1"/>
          </p:cNvSpPr>
          <p:nvPr/>
        </p:nvSpPr>
        <p:spPr>
          <a:xfrm xmlns:a="http://schemas.openxmlformats.org/drawingml/2006/main">
            <a:off x="685800" y="42672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E06: rendimiento e integración</a:t>
            </a:r>
          </a:p>
        </p:txBody>
      </p:sp>
      <p:sp>
        <p:nvSpPr>
          <p:cNvPr id="8" name="">
            <a:extLst xmlns:a="http://schemas.openxmlformats.org/drawingml/2006/main">
              <a:ext uri="{FF2B5EF4-FFF2-40B4-BE49-F238E27FC236}">
                <a16:creationId xmlns:a16="http://schemas.microsoft.com/office/drawing/2014/main" id="{F2E67355-ADCC-4B07-B005-BA9C28FAF900}"/>
              </a:ext>
            </a:extLst>
          </p:cNvPr>
          <p:cNvSpPr>
            <a:spLocks xmlns:a="http://schemas.openxmlformats.org/drawingml/2006/main" noGrp="1"/>
          </p:cNvSpPr>
          <p:nvPr/>
        </p:nvSpPr>
        <p:spPr>
          <a:xfrm xmlns:a="http://schemas.openxmlformats.org/drawingml/2006/main">
            <a:off x="685800" y="471487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SQL, unidades, cobertura y auditoría. Entrega: 16:30–16:45; peso 10 %.</a:t>
            </a:r>
          </a:p>
        </p:txBody>
      </p:sp>
      <p:sp>
        <p:nvSpPr>
          <p:cNvPr id="9" name="">
            <a:extLst xmlns:a="http://schemas.openxmlformats.org/drawingml/2006/main">
              <a:ext uri="{FF2B5EF4-FFF2-40B4-BE49-F238E27FC236}">
                <a16:creationId xmlns:a16="http://schemas.microsoft.com/office/drawing/2014/main" id="{AF4CDC91-B881-4F98-B1BC-25C66B9BF4F7}"/>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No hay una entrega adicional por cada bloque; los archivos parciales forman el paquete único.</a:t>
            </a:r>
          </a:p>
        </p:txBody>
      </p:sp>
      <p:sp>
        <p:nvSpPr>
          <p:cNvPr id="10" name="">
            <a:extLst xmlns:a="http://schemas.openxmlformats.org/drawingml/2006/main">
              <a:ext uri="{FF2B5EF4-FFF2-40B4-BE49-F238E27FC236}">
                <a16:creationId xmlns:a16="http://schemas.microsoft.com/office/drawing/2014/main" id="{381CFCB7-27FD-4235-AF11-558F2736FC54}"/>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29366C9B-8EB9-42B4-A81B-51DC5EB76FBD}"/>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975" b="1">
                <a:solidFill>
                  <a:srgbClr val="4239C8"/>
                </a:solidFill>
                <a:latin typeface="Calibri"/>
                <a:ea typeface="Calibri"/>
                <a:cs typeface="Calibri"/>
              </a:defRPr>
            </a:pPr>
            <a:r>
              <a:rPr sz="975" b="1">
                <a:solidFill>
                  <a:srgbClr val="4239C8"/>
                </a:solidFill>
                <a:latin typeface="Calibri"/>
                <a:ea typeface="Calibri"/>
                <a:cs typeface="Calibri"/>
              </a:rPr>
              <a:t>E04 — Ejercicio 04: Formatos y contrato de datos  |  E05 — Ejercicio 05: Calidad de análisis de suelo  |  E06 — Ejercicio 06: Rendimiento agrícola e integración SQL  |  P02 — Práctica PQRS 02: Parquet, contrato y reejecución  |  P03 — Práctica PQRS 03: Calidad de reportes y consulta diferida</a:t>
            </a:r>
          </a:p>
        </p:txBody>
      </p:sp>
      <p:sp>
        <p:nvSpPr>
          <p:cNvPr id="12" name="">
            <a:extLst xmlns:a="http://schemas.openxmlformats.org/drawingml/2006/main">
              <a:ext uri="{FF2B5EF4-FFF2-40B4-BE49-F238E27FC236}">
                <a16:creationId xmlns:a16="http://schemas.microsoft.com/office/drawing/2014/main" id="{9547A49B-EF3C-4DF3-9AD3-91B94E93390A}"/>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3" name="">
            <a:extLst xmlns:a="http://schemas.openxmlformats.org/drawingml/2006/main">
              <a:ext uri="{FF2B5EF4-FFF2-40B4-BE49-F238E27FC236}">
                <a16:creationId xmlns:a16="http://schemas.microsoft.com/office/drawing/2014/main" id="{D8008B9D-E216-48E0-BD7A-D8ED4F670ACD}"/>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03</a:t>
            </a:r>
          </a:p>
        </p:txBody>
      </p:sp>
    </p:spTree>
    <p:extLst>
      <p:ext uri="{BB962C8B-B14F-4D97-AF65-F5344CB8AC3E}">
        <p14:creationId xmlns:p14="http://schemas.microsoft.com/office/powerpoint/2010/main" val="197050161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a17739a342b4d0b"/>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E55C502-646A-4006-B207-87B5E42D409B}"/>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Del ejemplo docente a la ejecución propia</a:t>
            </a:r>
          </a:p>
        </p:txBody>
      </p:sp>
      <p:sp>
        <p:nvSpPr>
          <p:cNvPr id="3" name="">
            <a:extLst xmlns:a="http://schemas.openxmlformats.org/drawingml/2006/main">
              <a:ext uri="{FF2B5EF4-FFF2-40B4-BE49-F238E27FC236}">
                <a16:creationId xmlns:a16="http://schemas.microsoft.com/office/drawing/2014/main" id="{AA803BB4-28FB-4B35-BFFB-A8AA9165F8AB}"/>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10:00–10:20: contrato y Parquet propios</a:t>
            </a:r>
          </a:p>
        </p:txBody>
      </p:sp>
      <p:sp>
        <p:nvSpPr>
          <p:cNvPr id="4" name="">
            <a:extLst xmlns:a="http://schemas.openxmlformats.org/drawingml/2006/main">
              <a:ext uri="{FF2B5EF4-FFF2-40B4-BE49-F238E27FC236}">
                <a16:creationId xmlns:a16="http://schemas.microsoft.com/office/drawing/2014/main" id="{BD8CCA00-02A6-47CE-9EEE-6AFB32A35AB9}"/>
              </a:ext>
            </a:extLst>
          </p:cNvPr>
          <p:cNvSpPr>
            <a:spLocks xmlns:a="http://schemas.openxmlformats.org/drawingml/2006/main" noGrp="1"/>
          </p:cNvSpPr>
          <p:nvPr/>
        </p:nvSpPr>
        <p:spPr>
          <a:xfrm xmlns:a="http://schemas.openxmlformats.org/drawingml/2006/main">
            <a:off x="685800" y="19526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E04/P02: completar el contrato, ejecutar formatos, probar fallo en memoria y comparar reejecución.</a:t>
            </a:r>
          </a:p>
        </p:txBody>
      </p:sp>
      <p:sp>
        <p:nvSpPr>
          <p:cNvPr id="5" name="">
            <a:extLst xmlns:a="http://schemas.openxmlformats.org/drawingml/2006/main">
              <a:ext uri="{FF2B5EF4-FFF2-40B4-BE49-F238E27FC236}">
                <a16:creationId xmlns:a16="http://schemas.microsoft.com/office/drawing/2014/main" id="{17056CAA-F8CE-488A-8A30-838B8F79EEC2}"/>
              </a:ext>
            </a:extLst>
          </p:cNvPr>
          <p:cNvSpPr>
            <a:spLocks xmlns:a="http://schemas.openxmlformats.org/drawingml/2006/main" noGrp="1"/>
          </p:cNvSpPr>
          <p:nvPr/>
        </p:nvSpPr>
        <p:spPr>
          <a:xfrm xmlns:a="http://schemas.openxmlformats.org/drawingml/2006/main">
            <a:off x="685800" y="28860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10:20–10:45: controles PQRS</a:t>
            </a:r>
          </a:p>
        </p:txBody>
      </p:sp>
      <p:sp>
        <p:nvSpPr>
          <p:cNvPr id="6" name="">
            <a:extLst xmlns:a="http://schemas.openxmlformats.org/drawingml/2006/main">
              <a:ext uri="{FF2B5EF4-FFF2-40B4-BE49-F238E27FC236}">
                <a16:creationId xmlns:a16="http://schemas.microsoft.com/office/drawing/2014/main" id="{BF8F7D2B-651C-4A1C-BF79-FABFFB8D14FC}"/>
              </a:ext>
            </a:extLst>
          </p:cNvPr>
          <p:cNvSpPr>
            <a:spLocks xmlns:a="http://schemas.openxmlformats.org/drawingml/2006/main" noGrp="1"/>
          </p:cNvSpPr>
          <p:nvPr/>
        </p:nvSpPr>
        <p:spPr>
          <a:xfrm xmlns:a="http://schemas.openxmlformats.org/drawingml/2006/main">
            <a:off x="685800" y="333375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P03: ejecutar calidad sobre su propio Parquet; después contrastar Polars y DuckDB.</a:t>
            </a:r>
          </a:p>
        </p:txBody>
      </p:sp>
      <p:sp>
        <p:nvSpPr>
          <p:cNvPr id="7" name="">
            <a:extLst xmlns:a="http://schemas.openxmlformats.org/drawingml/2006/main">
              <a:ext uri="{FF2B5EF4-FFF2-40B4-BE49-F238E27FC236}">
                <a16:creationId xmlns:a16="http://schemas.microsoft.com/office/drawing/2014/main" id="{53D98585-FF9E-4659-BFCA-7583973A0005}"/>
              </a:ext>
            </a:extLst>
          </p:cNvPr>
          <p:cNvSpPr>
            <a:spLocks xmlns:a="http://schemas.openxmlformats.org/drawingml/2006/main" noGrp="1"/>
          </p:cNvSpPr>
          <p:nvPr/>
        </p:nvSpPr>
        <p:spPr>
          <a:xfrm xmlns:a="http://schemas.openxmlformats.org/drawingml/2006/main">
            <a:off x="685800" y="42672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16:30–16:45: una entrega</a:t>
            </a:r>
          </a:p>
        </p:txBody>
      </p:sp>
      <p:sp>
        <p:nvSpPr>
          <p:cNvPr id="8" name="">
            <a:extLst xmlns:a="http://schemas.openxmlformats.org/drawingml/2006/main">
              <a:ext uri="{FF2B5EF4-FFF2-40B4-BE49-F238E27FC236}">
                <a16:creationId xmlns:a16="http://schemas.microsoft.com/office/drawing/2014/main" id="{F65F804D-2E82-4B13-9F3A-83EE79E8FCAD}"/>
              </a:ext>
            </a:extLst>
          </p:cNvPr>
          <p:cNvSpPr>
            <a:spLocks xmlns:a="http://schemas.openxmlformats.org/drawingml/2006/main" noGrp="1"/>
          </p:cNvSpPr>
          <p:nvPr/>
        </p:nvSpPr>
        <p:spPr>
          <a:xfrm xmlns:a="http://schemas.openxmlformats.org/drawingml/2006/main">
            <a:off x="685800" y="471487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E04–E06/P02–P03: contrato, controles, consultas y cobertura. Peso: 10 %.</a:t>
            </a:r>
          </a:p>
        </p:txBody>
      </p:sp>
      <p:sp>
        <p:nvSpPr>
          <p:cNvPr id="9" name="">
            <a:extLst xmlns:a="http://schemas.openxmlformats.org/drawingml/2006/main">
              <a:ext uri="{FF2B5EF4-FFF2-40B4-BE49-F238E27FC236}">
                <a16:creationId xmlns:a16="http://schemas.microsoft.com/office/drawing/2014/main" id="{FD647B7C-21A9-4190-A861-559E78F4BC10}"/>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Actividad del sábado incluida en los bloques de la agenda; sin añadir horas.</a:t>
            </a:r>
          </a:p>
        </p:txBody>
      </p:sp>
      <p:sp>
        <p:nvSpPr>
          <p:cNvPr id="10" name="">
            <a:extLst xmlns:a="http://schemas.openxmlformats.org/drawingml/2006/main">
              <a:ext uri="{FF2B5EF4-FFF2-40B4-BE49-F238E27FC236}">
                <a16:creationId xmlns:a16="http://schemas.microsoft.com/office/drawing/2014/main" id="{2C489615-B739-4CDE-830A-5828652598D7}"/>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C52CF7C5-EBE4-4AED-AE6D-1E288F3E49DB}"/>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975" b="1">
                <a:solidFill>
                  <a:srgbClr val="4239C8"/>
                </a:solidFill>
                <a:latin typeface="Calibri"/>
                <a:ea typeface="Calibri"/>
                <a:cs typeface="Calibri"/>
              </a:defRPr>
            </a:pPr>
            <a:r>
              <a:rPr sz="975" b="1">
                <a:solidFill>
                  <a:srgbClr val="4239C8"/>
                </a:solidFill>
                <a:latin typeface="Calibri"/>
                <a:ea typeface="Calibri"/>
                <a:cs typeface="Calibri"/>
              </a:rPr>
              <a:t>E04 — Ejercicio 04: Formatos y contrato de datos  |  E05 — Ejercicio 05: Calidad de análisis de suelo  |  E06 — Ejercicio 06: Rendimiento agrícola e integración SQL  |  P02 — Práctica PQRS 02: Parquet, contrato y reejecución  |  P03 — Práctica PQRS 03: Calidad de reportes y consulta diferida</a:t>
            </a:r>
          </a:p>
        </p:txBody>
      </p:sp>
      <p:sp>
        <p:nvSpPr>
          <p:cNvPr id="12" name="">
            <a:extLst xmlns:a="http://schemas.openxmlformats.org/drawingml/2006/main">
              <a:ext uri="{FF2B5EF4-FFF2-40B4-BE49-F238E27FC236}">
                <a16:creationId xmlns:a16="http://schemas.microsoft.com/office/drawing/2014/main" id="{0A1ED7B8-8657-43C7-91E4-F12A86DEC944}"/>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3" name="">
            <a:extLst xmlns:a="http://schemas.openxmlformats.org/drawingml/2006/main">
              <a:ext uri="{FF2B5EF4-FFF2-40B4-BE49-F238E27FC236}">
                <a16:creationId xmlns:a16="http://schemas.microsoft.com/office/drawing/2014/main" id="{C58D8FBD-1234-4715-8941-004D0D2AF6B0}"/>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04</a:t>
            </a:r>
          </a:p>
        </p:txBody>
      </p:sp>
    </p:spTree>
    <p:extLst>
      <p:ext uri="{BB962C8B-B14F-4D97-AF65-F5344CB8AC3E}">
        <p14:creationId xmlns:p14="http://schemas.microsoft.com/office/powerpoint/2010/main" val="4773687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3d7ae66c5ab4e55"/>
          <a:stretch xmlns:a="http://schemas.openxmlformats.org/drawingml/2006/main"/>
        </p:blipFill>
        <p:spPr>
          <a:xfrm xmlns:a="http://schemas.openxmlformats.org/drawingml/2006/main">
            <a:off x="0" y="0"/>
            <a:ext cx="12192000" cy="1143000"/>
          </a:xfrm>
          <a:prstGeom xmlns:a="http://schemas.openxmlformats.org/drawingml/2006/main" prst="rect">
            <a:avLst/>
          </a:prstGeom>
        </p:spPr>
      </p:pic>
      <p:graphicFrame>
        <p:nvGraphicFramePr>
          <p:cNvPr id="16" name=""/>
          <p:cNvGraphicFramePr/>
          <p:nvPr/>
        </p:nvGraphicFramePr>
        <p:xfrm>
          <a:off xmlns:a="http://schemas.openxmlformats.org/drawingml/2006/main" x="609600" y="1476375"/>
          <a:ext xmlns:a="http://schemas.openxmlformats.org/drawingml/2006/main" cx="10972800" cy="4286250"/>
        </p:xfrm>
        <a:graphic xmlns:a="http://schemas.openxmlformats.org/drawingml/2006/main">
          <a:graphicData uri="http://schemas.openxmlformats.org/drawingml/2006/table">
            <a:tbl>
              <a:tblPr/>
              <a:tblGrid>
                <a:gridCol w="2476500"/>
                <a:gridCol w="2095500"/>
                <a:gridCol w="6400800"/>
              </a:tblGrid>
              <a:tr h="857250">
                <a:tc>
                  <a:txBody>
                    <a:bodyPr/>
                    <a:lstStyle/>
                    <a:p>
                      <a:r>
                        <a:rPr sz="1800" b="1">
                          <a:solidFill>
                            <a:srgbClr val="FFFFFF"/>
                          </a:solidFill>
                          <a:latin typeface="Calibri"/>
                          <a:ea typeface="Calibri"/>
                          <a:cs typeface="Calibri"/>
                        </a:rPr>
                        <a:t>Entrada</a:t>
                      </a:r>
                    </a:p>
                  </a:txBody>
                  <a:tcPr marL="91440" marR="91440" marT="45720" marB="45720">
                    <a:solidFill>
                      <a:srgbClr val="4237BF"/>
                    </a:solidFill>
                  </a:tcPr>
                </a:tc>
                <a:tc>
                  <a:txBody>
                    <a:bodyPr/>
                    <a:lstStyle/>
                    <a:p>
                      <a:r>
                        <a:rPr sz="1800" b="1">
                          <a:solidFill>
                            <a:srgbClr val="FFFFFF"/>
                          </a:solidFill>
                          <a:latin typeface="Calibri"/>
                          <a:ea typeface="Calibri"/>
                          <a:cs typeface="Calibri"/>
                        </a:rPr>
                        <a:t>Tamaño</a:t>
                      </a:r>
                    </a:p>
                  </a:txBody>
                  <a:tcPr marL="91440" marR="91440" marT="45720" marB="45720">
                    <a:solidFill>
                      <a:srgbClr val="4237BF"/>
                    </a:solidFill>
                  </a:tcPr>
                </a:tc>
                <a:tc>
                  <a:txBody>
                    <a:bodyPr/>
                    <a:lstStyle/>
                    <a:p>
                      <a:r>
                        <a:rPr sz="1800" b="1">
                          <a:solidFill>
                            <a:srgbClr val="FFFFFF"/>
                          </a:solidFill>
                          <a:latin typeface="Calibri"/>
                          <a:ea typeface="Calibri"/>
                          <a:cs typeface="Calibri"/>
                        </a:rPr>
                        <a:t>Propósito</a:t>
                      </a:r>
                    </a:p>
                  </a:txBody>
                  <a:tcPr marL="91440" marR="91440" marT="45720" marB="45720">
                    <a:solidFill>
                      <a:srgbClr val="4237BF"/>
                    </a:solidFill>
                  </a:tcPr>
                </a:tc>
              </a:tr>
              <a:tr h="857250">
                <a:tc>
                  <a:txBody>
                    <a:bodyPr/>
                    <a:lstStyle/>
                    <a:p>
                      <a:r>
                        <a:rPr sz="1800" b="0">
                          <a:solidFill>
                            <a:srgbClr val="203B68"/>
                          </a:solidFill>
                          <a:latin typeface="Calibri"/>
                          <a:ea typeface="Calibri"/>
                          <a:cs typeface="Calibri"/>
                        </a:rPr>
                        <a:t>AGROSAVIA</a:t>
                      </a:r>
                    </a:p>
                  </a:txBody>
                  <a:tcPr marL="91440" marR="91440" marT="45720" marB="45720">
                    <a:solidFill>
                      <a:srgbClr val="F4F8F8"/>
                    </a:solidFill>
                  </a:tcPr>
                </a:tc>
                <a:tc>
                  <a:txBody>
                    <a:bodyPr/>
                    <a:lstStyle/>
                    <a:p>
                      <a:r>
                        <a:rPr sz="1800" b="0">
                          <a:solidFill>
                            <a:srgbClr val="203B68"/>
                          </a:solidFill>
                          <a:latin typeface="Calibri"/>
                          <a:ea typeface="Calibri"/>
                          <a:cs typeface="Calibri"/>
                        </a:rPr>
                        <a:t>20,38 MB</a:t>
                      </a:r>
                    </a:p>
                  </a:txBody>
                  <a:tcPr marL="91440" marR="91440" marT="45720" marB="45720">
                    <a:solidFill>
                      <a:srgbClr val="F4F8F8"/>
                    </a:solidFill>
                  </a:tcPr>
                </a:tc>
                <a:tc>
                  <a:txBody>
                    <a:bodyPr/>
                    <a:lstStyle/>
                    <a:p>
                      <a:r>
                        <a:rPr sz="1800" b="0">
                          <a:solidFill>
                            <a:srgbClr val="203B68"/>
                          </a:solidFill>
                          <a:latin typeface="Calibri"/>
                          <a:ea typeface="Calibri"/>
                          <a:cs typeface="Calibri"/>
                        </a:rPr>
                        <a:t>E05: calidad de pH y correspondencia territorial</a:t>
                      </a:r>
                    </a:p>
                  </a:txBody>
                  <a:tcPr marL="91440" marR="91440" marT="45720" marB="45720">
                    <a:solidFill>
                      <a:srgbClr val="F4F8F8"/>
                    </a:solidFill>
                  </a:tcPr>
                </a:tc>
              </a:tr>
              <a:tr h="857250">
                <a:tc>
                  <a:txBody>
                    <a:bodyPr/>
                    <a:lstStyle/>
                    <a:p>
                      <a:r>
                        <a:rPr sz="1800" b="0">
                          <a:solidFill>
                            <a:srgbClr val="203B68"/>
                          </a:solidFill>
                          <a:latin typeface="Calibri"/>
                          <a:ea typeface="Calibri"/>
                          <a:cs typeface="Calibri"/>
                        </a:rPr>
                        <a:t>DIVIPOLA</a:t>
                      </a:r>
                    </a:p>
                  </a:txBody>
                  <a:tcPr marL="91440" marR="91440" marT="45720" marB="45720">
                    <a:solidFill>
                      <a:srgbClr val="E9F0F1"/>
                    </a:solidFill>
                  </a:tcPr>
                </a:tc>
                <a:tc>
                  <a:txBody>
                    <a:bodyPr/>
                    <a:lstStyle/>
                    <a:p>
                      <a:r>
                        <a:rPr sz="1800" b="0">
                          <a:solidFill>
                            <a:srgbClr val="203B68"/>
                          </a:solidFill>
                          <a:latin typeface="Calibri"/>
                          <a:ea typeface="Calibri"/>
                          <a:cs typeface="Calibri"/>
                        </a:rPr>
                        <a:t>0,071 MB</a:t>
                      </a:r>
                    </a:p>
                  </a:txBody>
                  <a:tcPr marL="91440" marR="91440" marT="45720" marB="45720">
                    <a:solidFill>
                      <a:srgbClr val="E9F0F1"/>
                    </a:solidFill>
                  </a:tcPr>
                </a:tc>
                <a:tc>
                  <a:txBody>
                    <a:bodyPr/>
                    <a:lstStyle/>
                    <a:p>
                      <a:r>
                        <a:rPr sz="1800" b="0">
                          <a:solidFill>
                            <a:srgbClr val="203B68"/>
                          </a:solidFill>
                          <a:latin typeface="Calibri"/>
                          <a:ea typeface="Calibri"/>
                          <a:cs typeface="Calibri"/>
                        </a:rPr>
                        <a:t>E05, P03 y E06: catálogo municipal</a:t>
                      </a:r>
                    </a:p>
                  </a:txBody>
                  <a:tcPr marL="91440" marR="91440" marT="45720" marB="45720">
                    <a:solidFill>
                      <a:srgbClr val="E9F0F1"/>
                    </a:solidFill>
                  </a:tcPr>
                </a:tc>
              </a:tr>
              <a:tr h="857250">
                <a:tc>
                  <a:txBody>
                    <a:bodyPr/>
                    <a:lstStyle/>
                    <a:p>
                      <a:r>
                        <a:rPr sz="1800" b="0">
                          <a:solidFill>
                            <a:srgbClr val="203B68"/>
                          </a:solidFill>
                          <a:latin typeface="Calibri"/>
                          <a:ea typeface="Calibri"/>
                          <a:cs typeface="Calibri"/>
                        </a:rPr>
                        <a:t>EVA</a:t>
                      </a:r>
                    </a:p>
                  </a:txBody>
                  <a:tcPr marL="91440" marR="91440" marT="45720" marB="45720">
                    <a:solidFill>
                      <a:srgbClr val="F4F8F8"/>
                    </a:solidFill>
                  </a:tcPr>
                </a:tc>
                <a:tc>
                  <a:txBody>
                    <a:bodyPr/>
                    <a:lstStyle/>
                    <a:p>
                      <a:r>
                        <a:rPr sz="1800" b="0">
                          <a:solidFill>
                            <a:srgbClr val="203B68"/>
                          </a:solidFill>
                          <a:latin typeface="Calibri"/>
                          <a:ea typeface="Calibri"/>
                          <a:cs typeface="Calibri"/>
                        </a:rPr>
                        <a:t>27,49 MB</a:t>
                      </a:r>
                    </a:p>
                  </a:txBody>
                  <a:tcPr marL="91440" marR="91440" marT="45720" marB="45720">
                    <a:solidFill>
                      <a:srgbClr val="F4F8F8"/>
                    </a:solidFill>
                  </a:tcPr>
                </a:tc>
                <a:tc>
                  <a:txBody>
                    <a:bodyPr/>
                    <a:lstStyle/>
                    <a:p>
                      <a:r>
                        <a:rPr sz="1800" b="0">
                          <a:solidFill>
                            <a:srgbClr val="203B68"/>
                          </a:solidFill>
                          <a:latin typeface="Calibri"/>
                          <a:ea typeface="Calibri"/>
                          <a:cs typeface="Calibri"/>
                        </a:rPr>
                        <a:t>E05 prepara EVA. E06 calcula rendimiento</a:t>
                      </a:r>
                    </a:p>
                  </a:txBody>
                  <a:tcPr marL="91440" marR="91440" marT="45720" marB="45720">
                    <a:solidFill>
                      <a:srgbClr val="F4F8F8"/>
                    </a:solidFill>
                  </a:tcPr>
                </a:tc>
              </a:tr>
              <a:tr h="857250">
                <a:tc>
                  <a:txBody>
                    <a:bodyPr/>
                    <a:lstStyle/>
                    <a:p>
                      <a:r>
                        <a:rPr sz="1800" b="0">
                          <a:solidFill>
                            <a:srgbClr val="203B68"/>
                          </a:solidFill>
                          <a:latin typeface="Calibri"/>
                          <a:ea typeface="Calibri"/>
                          <a:cs typeface="Calibri"/>
                        </a:rPr>
                        <a:t>Parquet PQRS</a:t>
                      </a:r>
                    </a:p>
                  </a:txBody>
                  <a:tcPr marL="91440" marR="91440" marT="45720" marB="45720">
                    <a:solidFill>
                      <a:srgbClr val="E9F0F1"/>
                    </a:solidFill>
                  </a:tcPr>
                </a:tc>
                <a:tc>
                  <a:txBody>
                    <a:bodyPr/>
                    <a:lstStyle/>
                    <a:p>
                      <a:r>
                        <a:rPr sz="1800" b="0">
                          <a:solidFill>
                            <a:srgbClr val="203B68"/>
                          </a:solidFill>
                          <a:latin typeface="Calibri"/>
                          <a:ea typeface="Calibri"/>
                          <a:cs typeface="Calibri"/>
                        </a:rPr>
                        <a:t>Salida de P02</a:t>
                      </a:r>
                    </a:p>
                  </a:txBody>
                  <a:tcPr marL="91440" marR="91440" marT="45720" marB="45720">
                    <a:solidFill>
                      <a:srgbClr val="E9F0F1"/>
                    </a:solidFill>
                  </a:tcPr>
                </a:tc>
                <a:tc>
                  <a:txBody>
                    <a:bodyPr/>
                    <a:lstStyle/>
                    <a:p>
                      <a:r>
                        <a:rPr sz="1800" b="0">
                          <a:solidFill>
                            <a:srgbClr val="203B68"/>
                          </a:solidFill>
                          <a:latin typeface="Calibri"/>
                          <a:ea typeface="Calibri"/>
                          <a:cs typeface="Calibri"/>
                        </a:rPr>
                        <a:t>P03: calidad y equivalencia de consultas</a:t>
                      </a:r>
                    </a:p>
                  </a:txBody>
                  <a:tcPr marL="91440" marR="91440" marT="45720" marB="45720">
                    <a:solidFill>
                      <a:srgbClr val="E9F0F1"/>
                    </a:solidFill>
                  </a:tcPr>
                </a:tc>
              </a:tr>
            </a:tbl>
          </a:graphicData>
        </a:graphic>
      </p:graphicFrame>
      <p:sp>
        <p:nvSpPr>
          <p:cNvPr id="2" name="">
            <a:extLst xmlns:a="http://schemas.openxmlformats.org/drawingml/2006/main">
              <a:ext uri="{FF2B5EF4-FFF2-40B4-BE49-F238E27FC236}">
                <a16:creationId xmlns:a16="http://schemas.microsoft.com/office/drawing/2014/main" id="{D728AAD4-2835-4BD6-8222-382ED5021441}"/>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Datos y dependencias del sábado</a:t>
            </a:r>
          </a:p>
        </p:txBody>
      </p:sp>
      <p:sp>
        <p:nvSpPr>
          <p:cNvPr id="4" name="">
            <a:extLst xmlns:a="http://schemas.openxmlformats.org/drawingml/2006/main">
              <a:ext uri="{FF2B5EF4-FFF2-40B4-BE49-F238E27FC236}">
                <a16:creationId xmlns:a16="http://schemas.microsoft.com/office/drawing/2014/main" id="{35C6A09D-A9F6-48E2-8134-C348B9816E53}"/>
              </a:ext>
            </a:extLst>
          </p:cNvPr>
          <p:cNvSpPr>
            <a:spLocks xmlns:a="http://schemas.openxmlformats.org/drawingml/2006/main" noGrp="1"/>
          </p:cNvSpPr>
          <p:nvPr/>
        </p:nvSpPr>
        <p:spPr>
          <a:xfrm xmlns:a="http://schemas.openxmlformats.org/drawingml/2006/main">
            <a:off x="609600" y="59531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Verificar las tres fuentes agro antes de E05. Calidad también prepara EVA.</a:t>
            </a:r>
          </a:p>
        </p:txBody>
      </p:sp>
      <p:sp>
        <p:nvSpPr>
          <p:cNvPr id="9" name="">
            <a:extLst xmlns:a="http://schemas.openxmlformats.org/drawingml/2006/main">
              <a:ext uri="{FF2B5EF4-FFF2-40B4-BE49-F238E27FC236}">
                <a16:creationId xmlns:a16="http://schemas.microsoft.com/office/drawing/2014/main" id="{561C0525-C5E2-469F-B4C2-8FE6FE247F6C}"/>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C7C81174-E438-4EF5-8CED-251D929F1CAA}"/>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975" b="1">
                <a:solidFill>
                  <a:srgbClr val="4239C8"/>
                </a:solidFill>
                <a:latin typeface="Calibri"/>
                <a:ea typeface="Calibri"/>
                <a:cs typeface="Calibri"/>
              </a:defRPr>
            </a:pPr>
            <a:r>
              <a:rPr sz="975" b="1">
                <a:solidFill>
                  <a:srgbClr val="4239C8"/>
                </a:solidFill>
                <a:latin typeface="Calibri"/>
                <a:ea typeface="Calibri"/>
                <a:cs typeface="Calibri"/>
              </a:rPr>
              <a:t>E05 — Ejercicio 05: Calidad de análisis de suelo  |  E06 — Ejercicio 06: Rendimiento agrícola e integración SQL  |  P02 — Práctica PQRS 02: Parquet, contrato y reejecución  |  P03 — Práctica PQRS 03: Calidad de reportes y consulta diferida</a:t>
            </a:r>
          </a:p>
        </p:txBody>
      </p:sp>
      <p:sp>
        <p:nvSpPr>
          <p:cNvPr id="11" name="">
            <a:extLst xmlns:a="http://schemas.openxmlformats.org/drawingml/2006/main">
              <a:ext uri="{FF2B5EF4-FFF2-40B4-BE49-F238E27FC236}">
                <a16:creationId xmlns:a16="http://schemas.microsoft.com/office/drawing/2014/main" id="{D844BECB-CD9F-4ADF-A245-B428824E2D4F}"/>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2" name="">
            <a:extLst xmlns:a="http://schemas.openxmlformats.org/drawingml/2006/main">
              <a:ext uri="{FF2B5EF4-FFF2-40B4-BE49-F238E27FC236}">
                <a16:creationId xmlns:a16="http://schemas.microsoft.com/office/drawing/2014/main" id="{953927F1-28F9-471D-BAF2-FBD6E5E63F86}"/>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05</a:t>
            </a:r>
          </a:p>
        </p:txBody>
      </p:sp>
    </p:spTree>
    <p:extLst>
      <p:ext uri="{BB962C8B-B14F-4D97-AF65-F5344CB8AC3E}">
        <p14:creationId xmlns:p14="http://schemas.microsoft.com/office/powerpoint/2010/main" val="670126570"/>
      </p:ext>
    </p:extLst>
  </p:cSld>
  <p:transition spd="med" advClick="1">
    <p:fade/>
  </p:transition>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c619c1b0a4f6419f"/>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c4f0afc25d7e4822"/>
          <a:stretch xmlns:a="http://schemas.openxmlformats.org/drawingml/2006/main"/>
        </p:blipFill>
        <p:spPr>
          <a:xfrm xmlns:a="http://schemas.openxmlformats.org/drawingml/2006/main">
            <a:off x="5067300" y="1412875"/>
            <a:ext cx="6705600" cy="4470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41E5FCA-80DC-4DCC-A5EA-4BE6C33108D3}"/>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Conciliación del corte</a:t>
            </a:r>
          </a:p>
        </p:txBody>
      </p:sp>
      <p:sp>
        <p:nvSpPr>
          <p:cNvPr id="9" name="">
            <a:extLst xmlns:a="http://schemas.openxmlformats.org/drawingml/2006/main">
              <a:ext uri="{FF2B5EF4-FFF2-40B4-BE49-F238E27FC236}">
                <a16:creationId xmlns:a16="http://schemas.microsoft.com/office/drawing/2014/main" id="{E5E9DB75-2266-4769-8F30-4CC9D43380AD}"/>
              </a:ext>
            </a:extLst>
          </p:cNvPr>
          <p:cNvSpPr>
            <a:spLocks xmlns:a="http://schemas.openxmlformats.org/drawingml/2006/main" noGrp="1"/>
          </p:cNvSpPr>
          <p:nvPr/>
        </p:nvSpPr>
        <p:spPr>
          <a:xfrm xmlns:a="http://schemas.openxmlformats.org/drawingml/2006/main">
            <a:off x="609600" y="167640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Originales: 92.738</a:t>
            </a:r>
          </a:p>
        </p:txBody>
      </p:sp>
      <p:sp>
        <p:nvSpPr>
          <p:cNvPr id="10" name="">
            <a:extLst xmlns:a="http://schemas.openxmlformats.org/drawingml/2006/main">
              <a:ext uri="{FF2B5EF4-FFF2-40B4-BE49-F238E27FC236}">
                <a16:creationId xmlns:a16="http://schemas.microsoft.com/office/drawing/2014/main" id="{D6E9BA23-111C-4EE1-B34D-EC2AAB0E5500}"/>
              </a:ext>
            </a:extLst>
          </p:cNvPr>
          <p:cNvSpPr>
            <a:spLocks xmlns:a="http://schemas.openxmlformats.org/drawingml/2006/main" noGrp="1"/>
          </p:cNvSpPr>
          <p:nvPr/>
        </p:nvSpPr>
        <p:spPr>
          <a:xfrm xmlns:a="http://schemas.openxmlformats.org/drawingml/2006/main">
            <a:off x="609600" y="208597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El corte debe conciliar con sus salidas.</a:t>
            </a:r>
          </a:p>
        </p:txBody>
      </p:sp>
      <p:sp>
        <p:nvSpPr>
          <p:cNvPr id="11" name="">
            <a:extLst xmlns:a="http://schemas.openxmlformats.org/drawingml/2006/main">
              <a:ext uri="{FF2B5EF4-FFF2-40B4-BE49-F238E27FC236}">
                <a16:creationId xmlns:a16="http://schemas.microsoft.com/office/drawing/2014/main" id="{44AF32C6-B565-4C0E-9899-58020ACD1297}"/>
              </a:ext>
            </a:extLst>
          </p:cNvPr>
          <p:cNvSpPr>
            <a:spLocks xmlns:a="http://schemas.openxmlformats.org/drawingml/2006/main" noGrp="1"/>
          </p:cNvSpPr>
          <p:nvPr/>
        </p:nvSpPr>
        <p:spPr>
          <a:xfrm xmlns:a="http://schemas.openxmlformats.org/drawingml/2006/main">
            <a:off x="609600" y="3076575"/>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C948B"/>
                </a:solidFill>
                <a:latin typeface="Calibri"/>
                <a:ea typeface="Calibri"/>
                <a:cs typeface="Calibri"/>
              </a:defRPr>
            </a:pPr>
            <a:r>
              <a:rPr sz="2025" b="1">
                <a:solidFill>
                  <a:srgbClr val="0C948B"/>
                </a:solidFill>
                <a:latin typeface="Calibri"/>
                <a:ea typeface="Calibri"/>
                <a:cs typeface="Calibri"/>
              </a:rPr>
              <a:t>Clasificación del pH</a:t>
            </a:r>
          </a:p>
        </p:txBody>
      </p:sp>
      <p:sp>
        <p:nvSpPr>
          <p:cNvPr id="12" name="">
            <a:extLst xmlns:a="http://schemas.openxmlformats.org/drawingml/2006/main">
              <a:ext uri="{FF2B5EF4-FFF2-40B4-BE49-F238E27FC236}">
                <a16:creationId xmlns:a16="http://schemas.microsoft.com/office/drawing/2014/main" id="{5342C26E-5AD6-400A-8371-65E0B8718D83}"/>
              </a:ext>
            </a:extLst>
          </p:cNvPr>
          <p:cNvSpPr>
            <a:spLocks xmlns:a="http://schemas.openxmlformats.org/drawingml/2006/main" noGrp="1"/>
          </p:cNvSpPr>
          <p:nvPr/>
        </p:nvSpPr>
        <p:spPr>
          <a:xfrm xmlns:a="http://schemas.openxmlformats.org/drawingml/2006/main">
            <a:off x="609600" y="3486150"/>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0 duplicados exactos + 92.727 aptos + 11 en revisión.</a:t>
            </a:r>
          </a:p>
        </p:txBody>
      </p:sp>
      <p:sp>
        <p:nvSpPr>
          <p:cNvPr id="13" name="">
            <a:extLst xmlns:a="http://schemas.openxmlformats.org/drawingml/2006/main">
              <a:ext uri="{FF2B5EF4-FFF2-40B4-BE49-F238E27FC236}">
                <a16:creationId xmlns:a16="http://schemas.microsoft.com/office/drawing/2014/main" id="{4C471773-DC2F-4ACA-828D-431D6C56E123}"/>
              </a:ext>
            </a:extLst>
          </p:cNvPr>
          <p:cNvSpPr>
            <a:spLocks xmlns:a="http://schemas.openxmlformats.org/drawingml/2006/main" noGrp="1"/>
          </p:cNvSpPr>
          <p:nvPr/>
        </p:nvSpPr>
        <p:spPr>
          <a:xfrm xmlns:a="http://schemas.openxmlformats.org/drawingml/2006/main">
            <a:off x="609600" y="447675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F4E48"/>
                </a:solidFill>
                <a:latin typeface="Calibri"/>
                <a:ea typeface="Calibri"/>
                <a:cs typeface="Calibri"/>
              </a:defRPr>
            </a:pPr>
            <a:r>
              <a:rPr sz="2025" b="1">
                <a:solidFill>
                  <a:srgbClr val="CF4E48"/>
                </a:solidFill>
                <a:latin typeface="Calibri"/>
                <a:ea typeface="Calibri"/>
                <a:cs typeface="Calibri"/>
              </a:rPr>
              <a:t>Evidencia</a:t>
            </a:r>
          </a:p>
        </p:txBody>
      </p:sp>
      <p:sp>
        <p:nvSpPr>
          <p:cNvPr id="14" name="">
            <a:extLst xmlns:a="http://schemas.openxmlformats.org/drawingml/2006/main">
              <a:ext uri="{FF2B5EF4-FFF2-40B4-BE49-F238E27FC236}">
                <a16:creationId xmlns:a16="http://schemas.microsoft.com/office/drawing/2014/main" id="{60DB58C5-8A1A-4B6B-BFDD-9201A5BDBEA8}"/>
              </a:ext>
            </a:extLst>
          </p:cNvPr>
          <p:cNvSpPr>
            <a:spLocks xmlns:a="http://schemas.openxmlformats.org/drawingml/2006/main" noGrp="1"/>
          </p:cNvSpPr>
          <p:nvPr/>
        </p:nvSpPr>
        <p:spPr>
          <a:xfrm xmlns:a="http://schemas.openxmlformats.org/drawingml/2006/main">
            <a:off x="609600" y="488632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Conservar las filas pendientes y explicar cada exclusión.</a:t>
            </a:r>
          </a:p>
        </p:txBody>
      </p:sp>
      <p:sp>
        <p:nvSpPr>
          <p:cNvPr id="15" name="">
            <a:extLst xmlns:a="http://schemas.openxmlformats.org/drawingml/2006/main">
              <a:ext uri="{FF2B5EF4-FFF2-40B4-BE49-F238E27FC236}">
                <a16:creationId xmlns:a16="http://schemas.microsoft.com/office/drawing/2014/main" id="{8E42D32B-530E-43B4-9DFD-A030BB1231BC}"/>
              </a:ext>
            </a:extLst>
          </p:cNvPr>
          <p:cNvSpPr>
            <a:spLocks xmlns:a="http://schemas.openxmlformats.org/drawingml/2006/main" noGrp="1"/>
          </p:cNvSpPr>
          <p:nvPr/>
        </p:nvSpPr>
        <p:spPr>
          <a:xfrm xmlns:a="http://schemas.openxmlformats.org/drawingml/2006/main">
            <a:off x="609600" y="5972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92.738 = 0 + 92.727 + 11. Conteos del corte docente</a:t>
            </a:r>
          </a:p>
        </p:txBody>
      </p:sp>
      <p:sp>
        <p:nvSpPr>
          <p:cNvPr id="34" name="">
            <a:extLst xmlns:a="http://schemas.openxmlformats.org/drawingml/2006/main">
              <a:ext uri="{FF2B5EF4-FFF2-40B4-BE49-F238E27FC236}">
                <a16:creationId xmlns:a16="http://schemas.microsoft.com/office/drawing/2014/main" id="{E6E92328-843E-428B-85AE-BF15B137ADDD}"/>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5" name="">
            <a:extLst xmlns:a="http://schemas.openxmlformats.org/drawingml/2006/main">
              <a:ext uri="{FF2B5EF4-FFF2-40B4-BE49-F238E27FC236}">
                <a16:creationId xmlns:a16="http://schemas.microsoft.com/office/drawing/2014/main" id="{BB88DAC1-795C-4241-872E-E1F9A542BF7E}"/>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6" name="">
            <a:extLst xmlns:a="http://schemas.openxmlformats.org/drawingml/2006/main">
              <a:ext uri="{FF2B5EF4-FFF2-40B4-BE49-F238E27FC236}">
                <a16:creationId xmlns:a16="http://schemas.microsoft.com/office/drawing/2014/main" id="{CFA81425-E17D-442D-B708-D7F98EA5B520}"/>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37" name="">
            <a:extLst xmlns:a="http://schemas.openxmlformats.org/drawingml/2006/main">
              <a:ext uri="{FF2B5EF4-FFF2-40B4-BE49-F238E27FC236}">
                <a16:creationId xmlns:a16="http://schemas.microsoft.com/office/drawing/2014/main" id="{92068710-26C5-456B-9CD3-B82B7C468B03}"/>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06</a:t>
            </a:r>
          </a:p>
        </p:txBody>
      </p:sp>
    </p:spTree>
    <p:extLst>
      <p:ext uri="{BB962C8B-B14F-4D97-AF65-F5344CB8AC3E}">
        <p14:creationId xmlns:p14="http://schemas.microsoft.com/office/powerpoint/2010/main" val="161681905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nodeType="clickEffect">
                                  <p:stCondLst>
                                    <p:cond delay="0"/>
                                  </p:stCondLst>
                                  <p:childTnLst>
                                    <p:set>
                                      <p:cBhvr>
                                        <p:cTn id="9" dur="1" fill="hold"/>
                                        <p:tgtEl>
                                          <p:spTgt spid="10"/>
                                        </p:tgtEl>
                                        <p:attrNameLst>
                                          <p:attrName>style.visibility</p:attrName>
                                        </p:attrNameLst>
                                      </p:cBhvr>
                                      <p:to>
                                        <p:strVal val="visible"/>
                                      </p:to>
                                    </p:set>
                                    <p:animEffect transition="in" filter="fade">
                                      <p:cBhvr>
                                        <p:cTn id="10" dur="3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1"/>
                                        </p:tgtEl>
                                        <p:attrNameLst>
                                          <p:attrName>style.visibility</p:attrName>
                                        </p:attrNameLst>
                                      </p:cBhvr>
                                      <p:to>
                                        <p:strVal val="visible"/>
                                      </p:to>
                                    </p:set>
                                    <p:animEffect transition="in" filter="fade">
                                      <p:cBhvr>
                                        <p:cTn id="15" dur="300"/>
                                        <p:tgtEl>
                                          <p:spTgt spid="11"/>
                                        </p:tgtEl>
                                      </p:cBhvr>
                                    </p:animEffect>
                                  </p:childTnLst>
                                </p:cTn>
                              </p:par>
                              <p:par>
                                <p:cTn id="16" presetID="10" presetClass="entr" presetSubtype="0" fill="hold" nodeType="clickEffect">
                                  <p:stCondLst>
                                    <p:cond delay="0"/>
                                  </p:stCondLst>
                                  <p:childTnLst>
                                    <p:set>
                                      <p:cBhvr>
                                        <p:cTn id="17" dur="1" fill="hold"/>
                                        <p:tgtEl>
                                          <p:spTgt spid="12"/>
                                        </p:tgtEl>
                                        <p:attrNameLst>
                                          <p:attrName>style.visibility</p:attrName>
                                        </p:attrNameLst>
                                      </p:cBhvr>
                                      <p:to>
                                        <p:strVal val="visible"/>
                                      </p:to>
                                    </p:set>
                                    <p:animEffect transition="in" filter="fade">
                                      <p:cBhvr>
                                        <p:cTn id="18" dur="3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3"/>
                                        </p:tgtEl>
                                        <p:attrNameLst>
                                          <p:attrName>style.visibility</p:attrName>
                                        </p:attrNameLst>
                                      </p:cBhvr>
                                      <p:to>
                                        <p:strVal val="visible"/>
                                      </p:to>
                                    </p:set>
                                    <p:animEffect transition="in" filter="fade">
                                      <p:cBhvr>
                                        <p:cTn id="23" dur="300"/>
                                        <p:tgtEl>
                                          <p:spTgt spid="13"/>
                                        </p:tgtEl>
                                      </p:cBhvr>
                                    </p:animEffect>
                                  </p:childTnLst>
                                </p:cTn>
                              </p:par>
                              <p:par>
                                <p:cTn id="24" presetID="10" presetClass="entr" presetSubtype="0" fill="hold" nodeType="clickEffect">
                                  <p:stCondLst>
                                    <p:cond delay="0"/>
                                  </p:stCondLst>
                                  <p:childTnLst>
                                    <p:set>
                                      <p:cBhvr>
                                        <p:cTn id="25" dur="1" fill="hold"/>
                                        <p:tgtEl>
                                          <p:spTgt spid="14"/>
                                        </p:tgtEl>
                                        <p:attrNameLst>
                                          <p:attrName>style.visibility</p:attrName>
                                        </p:attrNameLst>
                                      </p:cBhvr>
                                      <p:to>
                                        <p:strVal val="visible"/>
                                      </p:to>
                                    </p:set>
                                    <p:animEffect transition="in" filter="fade">
                                      <p:cBhvr>
                                        <p:cTn id="26"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9b9771a3c8b1499a"/>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d2c5c46fa22f4ecc"/>
          <a:stretch xmlns:a="http://schemas.openxmlformats.org/drawingml/2006/main"/>
        </p:blipFill>
        <p:spPr>
          <a:xfrm xmlns:a="http://schemas.openxmlformats.org/drawingml/2006/main">
            <a:off x="5053013" y="1447800"/>
            <a:ext cx="6715125" cy="4476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B9C6B43-947A-4A57-B792-E21AD5E11373}"/>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Reglas de calidad</a:t>
            </a:r>
          </a:p>
        </p:txBody>
      </p:sp>
      <p:sp>
        <p:nvSpPr>
          <p:cNvPr id="9" name="">
            <a:extLst xmlns:a="http://schemas.openxmlformats.org/drawingml/2006/main">
              <a:ext uri="{FF2B5EF4-FFF2-40B4-BE49-F238E27FC236}">
                <a16:creationId xmlns:a16="http://schemas.microsoft.com/office/drawing/2014/main" id="{06D62083-25C3-4A69-9B9A-930D88AD4325}"/>
              </a:ext>
            </a:extLst>
          </p:cNvPr>
          <p:cNvSpPr>
            <a:spLocks xmlns:a="http://schemas.openxmlformats.org/drawingml/2006/main" noGrp="1"/>
          </p:cNvSpPr>
          <p:nvPr/>
        </p:nvSpPr>
        <p:spPr>
          <a:xfrm xmlns:a="http://schemas.openxmlformats.org/drawingml/2006/main">
            <a:off x="609600" y="166687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5546ED"/>
                </a:solidFill>
                <a:latin typeface="Calibri"/>
                <a:ea typeface="Calibri"/>
                <a:cs typeface="Calibri"/>
              </a:defRPr>
            </a:pPr>
            <a:r>
              <a:rPr sz="2100" b="1">
                <a:solidFill>
                  <a:srgbClr val="5546ED"/>
                </a:solidFill>
                <a:latin typeface="Calibri"/>
                <a:ea typeface="Calibri"/>
                <a:cs typeface="Calibri"/>
              </a:rPr>
              <a:t>Ausencias</a:t>
            </a:r>
          </a:p>
        </p:txBody>
      </p:sp>
      <p:sp>
        <p:nvSpPr>
          <p:cNvPr id="10" name="">
            <a:extLst xmlns:a="http://schemas.openxmlformats.org/drawingml/2006/main">
              <a:ext uri="{FF2B5EF4-FFF2-40B4-BE49-F238E27FC236}">
                <a16:creationId xmlns:a16="http://schemas.microsoft.com/office/drawing/2014/main" id="{49CF6785-23AF-4E42-95FE-FEB7AA8FE1CB}"/>
              </a:ext>
            </a:extLst>
          </p:cNvPr>
          <p:cNvSpPr>
            <a:spLocks xmlns:a="http://schemas.openxmlformats.org/drawingml/2006/main" noGrp="1"/>
          </p:cNvSpPr>
          <p:nvPr/>
        </p:nvSpPr>
        <p:spPr>
          <a:xfrm xmlns:a="http://schemas.openxmlformats.org/drawingml/2006/main">
            <a:off x="609600" y="2114550"/>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ND o vacío se conservan como ausencia. No equivalen a cero.</a:t>
            </a:r>
          </a:p>
        </p:txBody>
      </p:sp>
      <p:sp>
        <p:nvSpPr>
          <p:cNvPr id="11" name="">
            <a:extLst xmlns:a="http://schemas.openxmlformats.org/drawingml/2006/main">
              <a:ext uri="{FF2B5EF4-FFF2-40B4-BE49-F238E27FC236}">
                <a16:creationId xmlns:a16="http://schemas.microsoft.com/office/drawing/2014/main" id="{636D50D1-9569-42F5-838F-D65399C64739}"/>
              </a:ext>
            </a:extLst>
          </p:cNvPr>
          <p:cNvSpPr>
            <a:spLocks xmlns:a="http://schemas.openxmlformats.org/drawingml/2006/main" noGrp="1"/>
          </p:cNvSpPr>
          <p:nvPr/>
        </p:nvSpPr>
        <p:spPr>
          <a:xfrm xmlns:a="http://schemas.openxmlformats.org/drawingml/2006/main">
            <a:off x="609600" y="30670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C948B"/>
                </a:solidFill>
                <a:latin typeface="Calibri"/>
                <a:ea typeface="Calibri"/>
                <a:cs typeface="Calibri"/>
              </a:defRPr>
            </a:pPr>
            <a:r>
              <a:rPr sz="2100" b="1">
                <a:solidFill>
                  <a:srgbClr val="0C948B"/>
                </a:solidFill>
                <a:latin typeface="Calibri"/>
                <a:ea typeface="Calibri"/>
                <a:cs typeface="Calibri"/>
              </a:rPr>
              <a:t>Casos por revisar</a:t>
            </a:r>
          </a:p>
        </p:txBody>
      </p:sp>
      <p:sp>
        <p:nvSpPr>
          <p:cNvPr id="12" name="">
            <a:extLst xmlns:a="http://schemas.openxmlformats.org/drawingml/2006/main">
              <a:ext uri="{FF2B5EF4-FFF2-40B4-BE49-F238E27FC236}">
                <a16:creationId xmlns:a16="http://schemas.microsoft.com/office/drawing/2014/main" id="{56EE6F69-0DC2-42E6-9019-67D146530201}"/>
              </a:ext>
            </a:extLst>
          </p:cNvPr>
          <p:cNvSpPr>
            <a:spLocks xmlns:a="http://schemas.openxmlformats.org/drawingml/2006/main" noGrp="1"/>
          </p:cNvSpPr>
          <p:nvPr/>
        </p:nvSpPr>
        <p:spPr>
          <a:xfrm xmlns:a="http://schemas.openxmlformats.org/drawingml/2006/main">
            <a:off x="609600" y="3514725"/>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pH fuera de 0–14 o identificador conflictivo.</a:t>
            </a:r>
          </a:p>
        </p:txBody>
      </p:sp>
      <p:sp>
        <p:nvSpPr>
          <p:cNvPr id="13" name="">
            <a:extLst xmlns:a="http://schemas.openxmlformats.org/drawingml/2006/main">
              <a:ext uri="{FF2B5EF4-FFF2-40B4-BE49-F238E27FC236}">
                <a16:creationId xmlns:a16="http://schemas.microsoft.com/office/drawing/2014/main" id="{8C1A6EBC-0F08-4FCB-92E3-86F6AB3B782F}"/>
              </a:ext>
            </a:extLst>
          </p:cNvPr>
          <p:cNvSpPr>
            <a:spLocks xmlns:a="http://schemas.openxmlformats.org/drawingml/2006/main" noGrp="1"/>
          </p:cNvSpPr>
          <p:nvPr/>
        </p:nvSpPr>
        <p:spPr>
          <a:xfrm xmlns:a="http://schemas.openxmlformats.org/drawingml/2006/main">
            <a:off x="609600" y="446722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CF4E48"/>
                </a:solidFill>
                <a:latin typeface="Calibri"/>
                <a:ea typeface="Calibri"/>
                <a:cs typeface="Calibri"/>
              </a:defRPr>
            </a:pPr>
            <a:r>
              <a:rPr sz="2100" b="1">
                <a:solidFill>
                  <a:srgbClr val="CF4E48"/>
                </a:solidFill>
                <a:latin typeface="Calibri"/>
                <a:ea typeface="Calibri"/>
                <a:cs typeface="Calibri"/>
              </a:rPr>
              <a:t>Control territorial</a:t>
            </a:r>
          </a:p>
        </p:txBody>
      </p:sp>
      <p:sp>
        <p:nvSpPr>
          <p:cNvPr id="14" name="">
            <a:extLst xmlns:a="http://schemas.openxmlformats.org/drawingml/2006/main">
              <a:ext uri="{FF2B5EF4-FFF2-40B4-BE49-F238E27FC236}">
                <a16:creationId xmlns:a16="http://schemas.microsoft.com/office/drawing/2014/main" id="{0D3F9F92-53FC-42B9-ADA7-F2EF23604EDF}"/>
              </a:ext>
            </a:extLst>
          </p:cNvPr>
          <p:cNvSpPr>
            <a:spLocks xmlns:a="http://schemas.openxmlformats.org/drawingml/2006/main" noGrp="1"/>
          </p:cNvSpPr>
          <p:nvPr/>
        </p:nvSpPr>
        <p:spPr>
          <a:xfrm xmlns:a="http://schemas.openxmlformats.org/drawingml/2006/main">
            <a:off x="609600" y="4914900"/>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Sin cruce municipal: conservar como no enlazado.</a:t>
            </a:r>
          </a:p>
        </p:txBody>
      </p:sp>
      <p:sp>
        <p:nvSpPr>
          <p:cNvPr id="15" name="">
            <a:extLst xmlns:a="http://schemas.openxmlformats.org/drawingml/2006/main">
              <a:ext uri="{FF2B5EF4-FFF2-40B4-BE49-F238E27FC236}">
                <a16:creationId xmlns:a16="http://schemas.microsoft.com/office/drawing/2014/main" id="{8832D887-6984-4601-8600-10A9E6518EF2}"/>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Mantener originales, clasificar salidas y registrar el motivo</a:t>
            </a:r>
          </a:p>
        </p:txBody>
      </p:sp>
      <p:sp>
        <p:nvSpPr>
          <p:cNvPr id="34" name="">
            <a:extLst xmlns:a="http://schemas.openxmlformats.org/drawingml/2006/main">
              <a:ext uri="{FF2B5EF4-FFF2-40B4-BE49-F238E27FC236}">
                <a16:creationId xmlns:a16="http://schemas.microsoft.com/office/drawing/2014/main" id="{BCFEB2D6-7807-4A8A-86E5-226515C6E726}"/>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5" name="">
            <a:extLst xmlns:a="http://schemas.openxmlformats.org/drawingml/2006/main">
              <a:ext uri="{FF2B5EF4-FFF2-40B4-BE49-F238E27FC236}">
                <a16:creationId xmlns:a16="http://schemas.microsoft.com/office/drawing/2014/main" id="{E6E849F0-8AD3-4CE5-B008-47F5CF0F238F}"/>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6" name="">
            <a:extLst xmlns:a="http://schemas.openxmlformats.org/drawingml/2006/main">
              <a:ext uri="{FF2B5EF4-FFF2-40B4-BE49-F238E27FC236}">
                <a16:creationId xmlns:a16="http://schemas.microsoft.com/office/drawing/2014/main" id="{3AA07919-4FBB-4387-80B5-2526CDD508DF}"/>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37" name="">
            <a:extLst xmlns:a="http://schemas.openxmlformats.org/drawingml/2006/main">
              <a:ext uri="{FF2B5EF4-FFF2-40B4-BE49-F238E27FC236}">
                <a16:creationId xmlns:a16="http://schemas.microsoft.com/office/drawing/2014/main" id="{F15E64A7-E4DC-458E-ADEC-91EA3476F10B}"/>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07</a:t>
            </a:r>
          </a:p>
        </p:txBody>
      </p:sp>
    </p:spTree>
    <p:extLst>
      <p:ext uri="{BB962C8B-B14F-4D97-AF65-F5344CB8AC3E}">
        <p14:creationId xmlns:p14="http://schemas.microsoft.com/office/powerpoint/2010/main" val="27926298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nodeType="clickEffect">
                                  <p:stCondLst>
                                    <p:cond delay="0"/>
                                  </p:stCondLst>
                                  <p:childTnLst>
                                    <p:set>
                                      <p:cBhvr>
                                        <p:cTn id="9" dur="1" fill="hold"/>
                                        <p:tgtEl>
                                          <p:spTgt spid="10"/>
                                        </p:tgtEl>
                                        <p:attrNameLst>
                                          <p:attrName>style.visibility</p:attrName>
                                        </p:attrNameLst>
                                      </p:cBhvr>
                                      <p:to>
                                        <p:strVal val="visible"/>
                                      </p:to>
                                    </p:set>
                                    <p:animEffect transition="in" filter="fade">
                                      <p:cBhvr>
                                        <p:cTn id="10" dur="3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1"/>
                                        </p:tgtEl>
                                        <p:attrNameLst>
                                          <p:attrName>style.visibility</p:attrName>
                                        </p:attrNameLst>
                                      </p:cBhvr>
                                      <p:to>
                                        <p:strVal val="visible"/>
                                      </p:to>
                                    </p:set>
                                    <p:animEffect transition="in" filter="fade">
                                      <p:cBhvr>
                                        <p:cTn id="15" dur="300"/>
                                        <p:tgtEl>
                                          <p:spTgt spid="11"/>
                                        </p:tgtEl>
                                      </p:cBhvr>
                                    </p:animEffect>
                                  </p:childTnLst>
                                </p:cTn>
                              </p:par>
                              <p:par>
                                <p:cTn id="16" presetID="10" presetClass="entr" presetSubtype="0" fill="hold" nodeType="clickEffect">
                                  <p:stCondLst>
                                    <p:cond delay="0"/>
                                  </p:stCondLst>
                                  <p:childTnLst>
                                    <p:set>
                                      <p:cBhvr>
                                        <p:cTn id="17" dur="1" fill="hold"/>
                                        <p:tgtEl>
                                          <p:spTgt spid="12"/>
                                        </p:tgtEl>
                                        <p:attrNameLst>
                                          <p:attrName>style.visibility</p:attrName>
                                        </p:attrNameLst>
                                      </p:cBhvr>
                                      <p:to>
                                        <p:strVal val="visible"/>
                                      </p:to>
                                    </p:set>
                                    <p:animEffect transition="in" filter="fade">
                                      <p:cBhvr>
                                        <p:cTn id="18" dur="3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3"/>
                                        </p:tgtEl>
                                        <p:attrNameLst>
                                          <p:attrName>style.visibility</p:attrName>
                                        </p:attrNameLst>
                                      </p:cBhvr>
                                      <p:to>
                                        <p:strVal val="visible"/>
                                      </p:to>
                                    </p:set>
                                    <p:animEffect transition="in" filter="fade">
                                      <p:cBhvr>
                                        <p:cTn id="23" dur="300"/>
                                        <p:tgtEl>
                                          <p:spTgt spid="13"/>
                                        </p:tgtEl>
                                      </p:cBhvr>
                                    </p:animEffect>
                                  </p:childTnLst>
                                </p:cTn>
                              </p:par>
                              <p:par>
                                <p:cTn id="24" presetID="10" presetClass="entr" presetSubtype="0" fill="hold" nodeType="clickEffect">
                                  <p:stCondLst>
                                    <p:cond delay="0"/>
                                  </p:stCondLst>
                                  <p:childTnLst>
                                    <p:set>
                                      <p:cBhvr>
                                        <p:cTn id="25" dur="1" fill="hold"/>
                                        <p:tgtEl>
                                          <p:spTgt spid="14"/>
                                        </p:tgtEl>
                                        <p:attrNameLst>
                                          <p:attrName>style.visibility</p:attrName>
                                        </p:attrNameLst>
                                      </p:cBhvr>
                                      <p:to>
                                        <p:strVal val="visible"/>
                                      </p:to>
                                    </p:set>
                                    <p:animEffect transition="in" filter="fade">
                                      <p:cBhvr>
                                        <p:cTn id="26"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5dd36c63e51d41fc"/>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2dd2201ca87a4078"/>
          <a:stretch xmlns:a="http://schemas.openxmlformats.org/drawingml/2006/main"/>
        </p:blipFill>
        <p:spPr>
          <a:xfrm xmlns:a="http://schemas.openxmlformats.org/drawingml/2006/main">
            <a:off x="400050" y="1412875"/>
            <a:ext cx="6705600" cy="4470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BD6F3AB-0476-4CB8-B13E-143B5B0C3609}"/>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Unidad y escala</a:t>
            </a:r>
          </a:p>
        </p:txBody>
      </p:sp>
      <p:sp>
        <p:nvSpPr>
          <p:cNvPr id="11" name="">
            <a:extLst xmlns:a="http://schemas.openxmlformats.org/drawingml/2006/main">
              <a:ext uri="{FF2B5EF4-FFF2-40B4-BE49-F238E27FC236}">
                <a16:creationId xmlns:a16="http://schemas.microsoft.com/office/drawing/2014/main" id="{00AA3F2C-0855-460B-8908-58006E1C0604}"/>
              </a:ext>
            </a:extLst>
          </p:cNvPr>
          <p:cNvSpPr>
            <a:spLocks xmlns:a="http://schemas.openxmlformats.org/drawingml/2006/main" noGrp="1"/>
          </p:cNvSpPr>
          <p:nvPr/>
        </p:nvSpPr>
        <p:spPr>
          <a:xfrm xmlns:a="http://schemas.openxmlformats.org/drawingml/2006/main">
            <a:off x="7620000" y="167640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Muestra de suelo</a:t>
            </a:r>
          </a:p>
        </p:txBody>
      </p:sp>
      <p:sp>
        <p:nvSpPr>
          <p:cNvPr id="12" name="">
            <a:extLst xmlns:a="http://schemas.openxmlformats.org/drawingml/2006/main">
              <a:ext uri="{FF2B5EF4-FFF2-40B4-BE49-F238E27FC236}">
                <a16:creationId xmlns:a16="http://schemas.microsoft.com/office/drawing/2014/main" id="{90D37605-5B41-4E7B-9665-F9C1F4880FEF}"/>
              </a:ext>
            </a:extLst>
          </p:cNvPr>
          <p:cNvSpPr>
            <a:spLocks xmlns:a="http://schemas.openxmlformats.org/drawingml/2006/main" noGrp="1"/>
          </p:cNvSpPr>
          <p:nvPr/>
        </p:nvSpPr>
        <p:spPr>
          <a:xfrm xmlns:a="http://schemas.openxmlformats.org/drawingml/2006/main">
            <a:off x="7620000" y="208597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Análisis de laboratorio con fecha, método y profundidad.</a:t>
            </a:r>
          </a:p>
        </p:txBody>
      </p:sp>
      <p:sp>
        <p:nvSpPr>
          <p:cNvPr id="13" name="">
            <a:extLst xmlns:a="http://schemas.openxmlformats.org/drawingml/2006/main">
              <a:ext uri="{FF2B5EF4-FFF2-40B4-BE49-F238E27FC236}">
                <a16:creationId xmlns:a16="http://schemas.microsoft.com/office/drawing/2014/main" id="{4D2ACEB7-DCCB-4AE0-8ABD-8472EF7FA0A0}"/>
              </a:ext>
            </a:extLst>
          </p:cNvPr>
          <p:cNvSpPr>
            <a:spLocks xmlns:a="http://schemas.openxmlformats.org/drawingml/2006/main" noGrp="1"/>
          </p:cNvSpPr>
          <p:nvPr/>
        </p:nvSpPr>
        <p:spPr>
          <a:xfrm xmlns:a="http://schemas.openxmlformats.org/drawingml/2006/main">
            <a:off x="7620000" y="3076575"/>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C948B"/>
                </a:solidFill>
                <a:latin typeface="Calibri"/>
                <a:ea typeface="Calibri"/>
                <a:cs typeface="Calibri"/>
              </a:defRPr>
            </a:pPr>
            <a:r>
              <a:rPr sz="2025" b="1">
                <a:solidFill>
                  <a:srgbClr val="0C948B"/>
                </a:solidFill>
                <a:latin typeface="Calibri"/>
                <a:ea typeface="Calibri"/>
                <a:cs typeface="Calibri"/>
              </a:rPr>
              <a:t>Producción agrícola</a:t>
            </a:r>
          </a:p>
        </p:txBody>
      </p:sp>
      <p:sp>
        <p:nvSpPr>
          <p:cNvPr id="14" name="">
            <a:extLst xmlns:a="http://schemas.openxmlformats.org/drawingml/2006/main">
              <a:ext uri="{FF2B5EF4-FFF2-40B4-BE49-F238E27FC236}">
                <a16:creationId xmlns:a16="http://schemas.microsoft.com/office/drawing/2014/main" id="{FD5E066A-EDD6-4686-9BAD-59F9CB4DE84B}"/>
              </a:ext>
            </a:extLst>
          </p:cNvPr>
          <p:cNvSpPr>
            <a:spLocks xmlns:a="http://schemas.openxmlformats.org/drawingml/2006/main" noGrp="1"/>
          </p:cNvSpPr>
          <p:nvPr/>
        </p:nvSpPr>
        <p:spPr>
          <a:xfrm xmlns:a="http://schemas.openxmlformats.org/drawingml/2006/main">
            <a:off x="7620000" y="3486150"/>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Cultivo, municipio y período. Conservar estado físico.</a:t>
            </a:r>
          </a:p>
        </p:txBody>
      </p:sp>
      <p:sp>
        <p:nvSpPr>
          <p:cNvPr id="15" name="">
            <a:extLst xmlns:a="http://schemas.openxmlformats.org/drawingml/2006/main">
              <a:ext uri="{FF2B5EF4-FFF2-40B4-BE49-F238E27FC236}">
                <a16:creationId xmlns:a16="http://schemas.microsoft.com/office/drawing/2014/main" id="{112A1F9D-954D-4DDE-97DB-F14C2DF7F385}"/>
              </a:ext>
            </a:extLst>
          </p:cNvPr>
          <p:cNvSpPr>
            <a:spLocks xmlns:a="http://schemas.openxmlformats.org/drawingml/2006/main" noGrp="1"/>
          </p:cNvSpPr>
          <p:nvPr/>
        </p:nvSpPr>
        <p:spPr>
          <a:xfrm xmlns:a="http://schemas.openxmlformats.org/drawingml/2006/main">
            <a:off x="7620000" y="447675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F4E48"/>
                </a:solidFill>
                <a:latin typeface="Calibri"/>
                <a:ea typeface="Calibri"/>
                <a:cs typeface="Calibri"/>
              </a:defRPr>
            </a:pPr>
            <a:r>
              <a:rPr sz="2025" b="1">
                <a:solidFill>
                  <a:srgbClr val="CF4E48"/>
                </a:solidFill>
                <a:latin typeface="Calibri"/>
                <a:ea typeface="Calibri"/>
                <a:cs typeface="Calibri"/>
              </a:rPr>
              <a:t>Escalas diferentes</a:t>
            </a:r>
          </a:p>
        </p:txBody>
      </p:sp>
      <p:sp>
        <p:nvSpPr>
          <p:cNvPr id="16" name="">
            <a:extLst xmlns:a="http://schemas.openxmlformats.org/drawingml/2006/main">
              <a:ext uri="{FF2B5EF4-FFF2-40B4-BE49-F238E27FC236}">
                <a16:creationId xmlns:a16="http://schemas.microsoft.com/office/drawing/2014/main" id="{85635C70-DB3C-4D47-8530-11C03C7D1E56}"/>
              </a:ext>
            </a:extLst>
          </p:cNvPr>
          <p:cNvSpPr>
            <a:spLocks xmlns:a="http://schemas.openxmlformats.org/drawingml/2006/main" noGrp="1"/>
          </p:cNvSpPr>
          <p:nvPr/>
        </p:nvSpPr>
        <p:spPr>
          <a:xfrm xmlns:a="http://schemas.openxmlformats.org/drawingml/2006/main">
            <a:off x="7620000" y="488632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Revisar representatividad antes de interpretar una relación.</a:t>
            </a:r>
          </a:p>
        </p:txBody>
      </p:sp>
      <p:sp>
        <p:nvSpPr>
          <p:cNvPr id="17" name="">
            <a:extLst xmlns:a="http://schemas.openxmlformats.org/drawingml/2006/main">
              <a:ext uri="{FF2B5EF4-FFF2-40B4-BE49-F238E27FC236}">
                <a16:creationId xmlns:a16="http://schemas.microsoft.com/office/drawing/2014/main" id="{896A9879-9BBF-4C2F-B005-84D3F52F717A}"/>
              </a:ext>
            </a:extLst>
          </p:cNvPr>
          <p:cNvSpPr>
            <a:spLocks xmlns:a="http://schemas.openxmlformats.org/drawingml/2006/main" noGrp="1"/>
          </p:cNvSpPr>
          <p:nvPr/>
        </p:nvSpPr>
        <p:spPr>
          <a:xfrm xmlns:a="http://schemas.openxmlformats.org/drawingml/2006/main">
            <a:off x="609600" y="5972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Caso aplicado: una muestra de laboratorio no representa automáticamente un municipio</a:t>
            </a:r>
          </a:p>
        </p:txBody>
      </p:sp>
      <p:sp>
        <p:nvSpPr>
          <p:cNvPr id="36" name="">
            <a:extLst xmlns:a="http://schemas.openxmlformats.org/drawingml/2006/main">
              <a:ext uri="{FF2B5EF4-FFF2-40B4-BE49-F238E27FC236}">
                <a16:creationId xmlns:a16="http://schemas.microsoft.com/office/drawing/2014/main" id="{53983ACD-3A69-4DD1-A522-F888E69EC2BD}"/>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7" name="">
            <a:extLst xmlns:a="http://schemas.openxmlformats.org/drawingml/2006/main">
              <a:ext uri="{FF2B5EF4-FFF2-40B4-BE49-F238E27FC236}">
                <a16:creationId xmlns:a16="http://schemas.microsoft.com/office/drawing/2014/main" id="{B4F9900F-7CB9-4C8B-8F44-6AE80653B69D}"/>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8" name="">
            <a:extLst xmlns:a="http://schemas.openxmlformats.org/drawingml/2006/main">
              <a:ext uri="{FF2B5EF4-FFF2-40B4-BE49-F238E27FC236}">
                <a16:creationId xmlns:a16="http://schemas.microsoft.com/office/drawing/2014/main" id="{EB24A564-504E-4E70-BD48-AFC037EDAD94}"/>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39" name="">
            <a:extLst xmlns:a="http://schemas.openxmlformats.org/drawingml/2006/main">
              <a:ext uri="{FF2B5EF4-FFF2-40B4-BE49-F238E27FC236}">
                <a16:creationId xmlns:a16="http://schemas.microsoft.com/office/drawing/2014/main" id="{67E37F29-88DB-4132-BFB9-AA8F8381563F}"/>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08</a:t>
            </a:r>
          </a:p>
        </p:txBody>
      </p:sp>
    </p:spTree>
    <p:extLst>
      <p:ext uri="{BB962C8B-B14F-4D97-AF65-F5344CB8AC3E}">
        <p14:creationId xmlns:p14="http://schemas.microsoft.com/office/powerpoint/2010/main" val="183152349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1"/>
                                        </p:tgtEl>
                                        <p:attrNameLst>
                                          <p:attrName>style.visibility</p:attrName>
                                        </p:attrNameLst>
                                      </p:cBhvr>
                                      <p:to>
                                        <p:strVal val="visible"/>
                                      </p:to>
                                    </p:set>
                                    <p:animEffect transition="in" filter="fade">
                                      <p:cBhvr>
                                        <p:cTn id="7" dur="300"/>
                                        <p:tgtEl>
                                          <p:spTgt spid="11"/>
                                        </p:tgtEl>
                                      </p:cBhvr>
                                    </p:animEffect>
                                  </p:childTnLst>
                                </p:cTn>
                              </p:par>
                              <p:par>
                                <p:cTn id="8" presetID="10" presetClass="entr" presetSubtype="0" fill="hold" nodeType="clickEffect">
                                  <p:stCondLst>
                                    <p:cond delay="0"/>
                                  </p:stCondLst>
                                  <p:childTnLst>
                                    <p:set>
                                      <p:cBhvr>
                                        <p:cTn id="9" dur="1" fill="hold"/>
                                        <p:tgtEl>
                                          <p:spTgt spid="12"/>
                                        </p:tgtEl>
                                        <p:attrNameLst>
                                          <p:attrName>style.visibility</p:attrName>
                                        </p:attrNameLst>
                                      </p:cBhvr>
                                      <p:to>
                                        <p:strVal val="visible"/>
                                      </p:to>
                                    </p:set>
                                    <p:animEffect transition="in" filter="fade">
                                      <p:cBhvr>
                                        <p:cTn id="10" dur="3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3"/>
                                        </p:tgtEl>
                                        <p:attrNameLst>
                                          <p:attrName>style.visibility</p:attrName>
                                        </p:attrNameLst>
                                      </p:cBhvr>
                                      <p:to>
                                        <p:strVal val="visible"/>
                                      </p:to>
                                    </p:set>
                                    <p:animEffect transition="in" filter="fade">
                                      <p:cBhvr>
                                        <p:cTn id="15" dur="300"/>
                                        <p:tgtEl>
                                          <p:spTgt spid="13"/>
                                        </p:tgtEl>
                                      </p:cBhvr>
                                    </p:animEffect>
                                  </p:childTnLst>
                                </p:cTn>
                              </p:par>
                              <p:par>
                                <p:cTn id="16" presetID="10" presetClass="entr" presetSubtype="0" fill="hold" nodeType="clickEffect">
                                  <p:stCondLst>
                                    <p:cond delay="0"/>
                                  </p:stCondLst>
                                  <p:childTnLst>
                                    <p:set>
                                      <p:cBhvr>
                                        <p:cTn id="17" dur="1" fill="hold"/>
                                        <p:tgtEl>
                                          <p:spTgt spid="14"/>
                                        </p:tgtEl>
                                        <p:attrNameLst>
                                          <p:attrName>style.visibility</p:attrName>
                                        </p:attrNameLst>
                                      </p:cBhvr>
                                      <p:to>
                                        <p:strVal val="visible"/>
                                      </p:to>
                                    </p:set>
                                    <p:animEffect transition="in" filter="fade">
                                      <p:cBhvr>
                                        <p:cTn id="18" dur="3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5"/>
                                        </p:tgtEl>
                                        <p:attrNameLst>
                                          <p:attrName>style.visibility</p:attrName>
                                        </p:attrNameLst>
                                      </p:cBhvr>
                                      <p:to>
                                        <p:strVal val="visible"/>
                                      </p:to>
                                    </p:set>
                                    <p:animEffect transition="in" filter="fade">
                                      <p:cBhvr>
                                        <p:cTn id="23" dur="300"/>
                                        <p:tgtEl>
                                          <p:spTgt spid="15"/>
                                        </p:tgtEl>
                                      </p:cBhvr>
                                    </p:animEffect>
                                  </p:childTnLst>
                                </p:cTn>
                              </p:par>
                              <p:par>
                                <p:cTn id="24" presetID="10" presetClass="entr" presetSubtype="0" fill="hold" nodeType="clickEffect">
                                  <p:stCondLst>
                                    <p:cond delay="0"/>
                                  </p:stCondLst>
                                  <p:childTnLst>
                                    <p:set>
                                      <p:cBhvr>
                                        <p:cTn id="25" dur="1" fill="hold"/>
                                        <p:tgtEl>
                                          <p:spTgt spid="16"/>
                                        </p:tgtEl>
                                        <p:attrNameLst>
                                          <p:attrName>style.visibility</p:attrName>
                                        </p:attrNameLst>
                                      </p:cBhvr>
                                      <p:to>
                                        <p:strVal val="visible"/>
                                      </p:to>
                                    </p:set>
                                    <p:animEffect transition="in" filter="fade">
                                      <p:cBhvr>
                                        <p:cTn id="26"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e7a90b69e9f4794"/>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6491B18-526E-4CD5-AF41-21D62B1D7D45}"/>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E05: calidad de análisis de suelo</a:t>
            </a:r>
          </a:p>
        </p:txBody>
      </p:sp>
      <p:sp>
        <p:nvSpPr>
          <p:cNvPr id="3" name="">
            <a:extLst xmlns:a="http://schemas.openxmlformats.org/drawingml/2006/main">
              <a:ext uri="{FF2B5EF4-FFF2-40B4-BE49-F238E27FC236}">
                <a16:creationId xmlns:a16="http://schemas.microsoft.com/office/drawing/2014/main" id="{D0EBE720-780C-4D5C-8460-4D28B8912DA6}"/>
              </a:ext>
            </a:extLst>
          </p:cNvPr>
          <p:cNvSpPr>
            <a:spLocks xmlns:a="http://schemas.openxmlformats.org/drawingml/2006/main" noGrp="1"/>
          </p:cNvSpPr>
          <p:nvPr/>
        </p:nvSpPr>
        <p:spPr>
          <a:xfrm xmlns:a="http://schemas.openxmlformats.org/drawingml/2006/main">
            <a:off x="685800" y="15240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08:00–08:20. Explicación</a:t>
            </a:r>
          </a:p>
        </p:txBody>
      </p:sp>
      <p:sp>
        <p:nvSpPr>
          <p:cNvPr id="4" name="">
            <a:extLst xmlns:a="http://schemas.openxmlformats.org/drawingml/2006/main">
              <a:ext uri="{FF2B5EF4-FFF2-40B4-BE49-F238E27FC236}">
                <a16:creationId xmlns:a16="http://schemas.microsoft.com/office/drawing/2014/main" id="{16F16650-E791-4524-AF20-EEF8206E0CE3}"/>
              </a:ext>
            </a:extLst>
          </p:cNvPr>
          <p:cNvSpPr>
            <a:spLocks xmlns:a="http://schemas.openxmlformats.org/drawingml/2006/main" noGrp="1"/>
          </p:cNvSpPr>
          <p:nvPr/>
        </p:nvSpPr>
        <p:spPr>
          <a:xfrm xmlns:a="http://schemas.openxmlformats.org/drawingml/2006/main">
            <a:off x="685800" y="197167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Completitud, validez, unicidad y trazabilidad. Diferenciar calidad del dato y condición del suelo.</a:t>
            </a:r>
          </a:p>
        </p:txBody>
      </p:sp>
      <p:sp>
        <p:nvSpPr>
          <p:cNvPr id="5" name="">
            <a:extLst xmlns:a="http://schemas.openxmlformats.org/drawingml/2006/main">
              <a:ext uri="{FF2B5EF4-FFF2-40B4-BE49-F238E27FC236}">
                <a16:creationId xmlns:a16="http://schemas.microsoft.com/office/drawing/2014/main" id="{E3E0309B-0C26-40D1-9764-6ADB9764F55F}"/>
              </a:ext>
            </a:extLst>
          </p:cNvPr>
          <p:cNvSpPr>
            <a:spLocks xmlns:a="http://schemas.openxmlformats.org/drawingml/2006/main" noGrp="1"/>
          </p:cNvSpPr>
          <p:nvPr/>
        </p:nvSpPr>
        <p:spPr>
          <a:xfrm xmlns:a="http://schemas.openxmlformats.org/drawingml/2006/main">
            <a:off x="685800" y="29146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08:20–09:30. Ejecución: 70 min</a:t>
            </a:r>
          </a:p>
        </p:txBody>
      </p:sp>
      <p:sp>
        <p:nvSpPr>
          <p:cNvPr id="6" name="">
            <a:extLst xmlns:a="http://schemas.openxmlformats.org/drawingml/2006/main">
              <a:ext uri="{FF2B5EF4-FFF2-40B4-BE49-F238E27FC236}">
                <a16:creationId xmlns:a16="http://schemas.microsoft.com/office/drawing/2014/main" id="{DB47897D-9D23-4E74-B685-2B756C5B1598}"/>
              </a:ext>
            </a:extLst>
          </p:cNvPr>
          <p:cNvSpPr>
            <a:spLocks xmlns:a="http://schemas.openxmlformats.org/drawingml/2006/main" noGrp="1"/>
          </p:cNvSpPr>
          <p:nvPr/>
        </p:nvSpPr>
        <p:spPr>
          <a:xfrm xmlns:a="http://schemas.openxmlformats.org/drawingml/2006/main">
            <a:off x="685800" y="336232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Clasificar pH, conciliar originales y revisar enlaces territoriales.</a:t>
            </a:r>
          </a:p>
        </p:txBody>
      </p:sp>
      <p:sp>
        <p:nvSpPr>
          <p:cNvPr id="7" name="">
            <a:extLst xmlns:a="http://schemas.openxmlformats.org/drawingml/2006/main">
              <a:ext uri="{FF2B5EF4-FFF2-40B4-BE49-F238E27FC236}">
                <a16:creationId xmlns:a16="http://schemas.microsoft.com/office/drawing/2014/main" id="{3E9FBD75-5C55-44AA-8D90-1730BCE135E4}"/>
              </a:ext>
            </a:extLst>
          </p:cNvPr>
          <p:cNvSpPr>
            <a:spLocks xmlns:a="http://schemas.openxmlformats.org/drawingml/2006/main" noGrp="1"/>
          </p:cNvSpPr>
          <p:nvPr/>
        </p:nvSpPr>
        <p:spPr>
          <a:xfrm xmlns:a="http://schemas.openxmlformats.org/drawingml/2006/main">
            <a:off x="685800" y="43053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Entrega del bloque</a:t>
            </a:r>
          </a:p>
        </p:txBody>
      </p:sp>
      <p:sp>
        <p:nvSpPr>
          <p:cNvPr id="8" name="">
            <a:extLst xmlns:a="http://schemas.openxmlformats.org/drawingml/2006/main">
              <a:ext uri="{FF2B5EF4-FFF2-40B4-BE49-F238E27FC236}">
                <a16:creationId xmlns:a16="http://schemas.microsoft.com/office/drawing/2014/main" id="{1A36563E-5870-46B4-A6ED-46C97B0BC5A0}"/>
              </a:ext>
            </a:extLst>
          </p:cNvPr>
          <p:cNvSpPr>
            <a:spLocks xmlns:a="http://schemas.openxmlformats.org/drawingml/2006/main" noGrp="1"/>
          </p:cNvSpPr>
          <p:nvPr/>
        </p:nvSpPr>
        <p:spPr>
          <a:xfrm xmlns:a="http://schemas.openxmlformats.org/drawingml/2006/main">
            <a:off x="685800" y="475297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Reglas de calidad, conteos conciliados y dos registros comentados.</a:t>
            </a:r>
          </a:p>
        </p:txBody>
      </p:sp>
      <p:sp>
        <p:nvSpPr>
          <p:cNvPr id="9" name="">
            <a:extLst xmlns:a="http://schemas.openxmlformats.org/drawingml/2006/main">
              <a:ext uri="{FF2B5EF4-FFF2-40B4-BE49-F238E27FC236}">
                <a16:creationId xmlns:a16="http://schemas.microsoft.com/office/drawing/2014/main" id="{10BB1626-D97B-4473-B4A8-B1CCDC8D113A}"/>
              </a:ext>
            </a:extLst>
          </p:cNvPr>
          <p:cNvSpPr>
            <a:spLocks xmlns:a="http://schemas.openxmlformats.org/drawingml/2006/main" noGrp="1"/>
          </p:cNvSpPr>
          <p:nvPr/>
        </p:nvSpPr>
        <p:spPr>
          <a:xfrm xmlns:a="http://schemas.openxmlformats.org/drawingml/2006/main">
            <a:off x="609600" y="59531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Bloque total: 90 min. Las 11 filas pendientes pertenecen al corte docente.</a:t>
            </a:r>
          </a:p>
        </p:txBody>
      </p:sp>
      <p:sp>
        <p:nvSpPr>
          <p:cNvPr id="13" name="">
            <a:extLst xmlns:a="http://schemas.openxmlformats.org/drawingml/2006/main">
              <a:ext uri="{FF2B5EF4-FFF2-40B4-BE49-F238E27FC236}">
                <a16:creationId xmlns:a16="http://schemas.microsoft.com/office/drawing/2014/main" id="{6B9FAD11-90B3-4373-B7F2-BCED91A87CFD}"/>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E12AD714-2C73-449F-9718-845359B82C42}"/>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E05 — Ejercicio 05: Calidad de análisis de suelo</a:t>
            </a:r>
          </a:p>
        </p:txBody>
      </p:sp>
      <p:sp>
        <p:nvSpPr>
          <p:cNvPr id="15" name="">
            <a:extLst xmlns:a="http://schemas.openxmlformats.org/drawingml/2006/main">
              <a:ext uri="{FF2B5EF4-FFF2-40B4-BE49-F238E27FC236}">
                <a16:creationId xmlns:a16="http://schemas.microsoft.com/office/drawing/2014/main" id="{B239B8E8-BEA2-457A-8C1C-F0A2DFFCFD1A}"/>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6" name="">
            <a:extLst xmlns:a="http://schemas.openxmlformats.org/drawingml/2006/main">
              <a:ext uri="{FF2B5EF4-FFF2-40B4-BE49-F238E27FC236}">
                <a16:creationId xmlns:a16="http://schemas.microsoft.com/office/drawing/2014/main" id="{39202BDD-C11C-4D49-BF49-36E486AF2B47}"/>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09</a:t>
            </a:r>
          </a:p>
        </p:txBody>
      </p:sp>
    </p:spTree>
    <p:extLst>
      <p:ext uri="{BB962C8B-B14F-4D97-AF65-F5344CB8AC3E}">
        <p14:creationId xmlns:p14="http://schemas.microsoft.com/office/powerpoint/2010/main" val="207158598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18397b9b4a546a0"/>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59BAC1B-862C-4FFC-85BA-DE79D91F58B8}"/>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E05: ejecución y archivos de control</a:t>
            </a:r>
          </a:p>
        </p:txBody>
      </p:sp>
      <p:sp>
        <p:nvSpPr>
          <p:cNvPr id="3" name="">
            <a:extLst xmlns:a="http://schemas.openxmlformats.org/drawingml/2006/main">
              <a:ext uri="{FF2B5EF4-FFF2-40B4-BE49-F238E27FC236}">
                <a16:creationId xmlns:a16="http://schemas.microsoft.com/office/drawing/2014/main" id="{7DF6BFB6-0A7E-491C-8A7D-84730070E7C0}"/>
              </a:ext>
            </a:extLst>
          </p:cNvPr>
          <p:cNvSpPr>
            <a:spLocks xmlns:a="http://schemas.openxmlformats.org/drawingml/2006/main" noGrp="1"/>
          </p:cNvSpPr>
          <p:nvPr/>
        </p:nvSpPr>
        <p:spPr>
          <a:xfrm xmlns:a="http://schemas.openxmlformats.org/drawingml/2006/main">
            <a:off x="685800" y="1524000"/>
            <a:ext cx="1082040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Desde kit/, con el entorno activo</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python 00_datos.py --descargar agrosavia divipola eva</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python talleres.py calidad</a:t>
            </a:r>
          </a:p>
          <a:p xmlns:a="http://schemas.openxmlformats.org/drawingml/2006/main">
            <a:r>
              <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Salidas para revisar durante E05:</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salidas/controles.json</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salidas/revision_ph.csv</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salidas/territorios_por_revisar.csv</a:t>
            </a:r>
          </a:p>
        </p:txBody>
      </p:sp>
      <p:sp>
        <p:nvSpPr>
          <p:cNvPr id="4" name="">
            <a:extLst xmlns:a="http://schemas.openxmlformats.org/drawingml/2006/main">
              <a:ext uri="{FF2B5EF4-FFF2-40B4-BE49-F238E27FC236}">
                <a16:creationId xmlns:a16="http://schemas.microsoft.com/office/drawing/2014/main" id="{AD811093-302E-405A-85AC-987105F38C27}"/>
              </a:ext>
            </a:extLst>
          </p:cNvPr>
          <p:cNvSpPr>
            <a:spLocks xmlns:a="http://schemas.openxmlformats.org/drawingml/2006/main" noGrp="1"/>
          </p:cNvSpPr>
          <p:nvPr/>
        </p:nvSpPr>
        <p:spPr>
          <a:xfrm xmlns:a="http://schemas.openxmlformats.org/drawingml/2006/main">
            <a:off x="609600" y="59531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Ejecutar 08:20–09:30. Conservar originales y justificar los casos en revisión.</a:t>
            </a:r>
          </a:p>
        </p:txBody>
      </p:sp>
      <p:sp>
        <p:nvSpPr>
          <p:cNvPr id="8" name="">
            <a:extLst xmlns:a="http://schemas.openxmlformats.org/drawingml/2006/main">
              <a:ext uri="{FF2B5EF4-FFF2-40B4-BE49-F238E27FC236}">
                <a16:creationId xmlns:a16="http://schemas.microsoft.com/office/drawing/2014/main" id="{11B25DCF-17F4-4DC6-8F5E-5667CD66FDBF}"/>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550DC5B8-7A91-431C-9FE2-2B52A2B927C5}"/>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E05 — Ejercicio 05: Calidad de análisis de suelo</a:t>
            </a:r>
          </a:p>
        </p:txBody>
      </p:sp>
      <p:sp>
        <p:nvSpPr>
          <p:cNvPr id="10" name="">
            <a:extLst xmlns:a="http://schemas.openxmlformats.org/drawingml/2006/main">
              <a:ext uri="{FF2B5EF4-FFF2-40B4-BE49-F238E27FC236}">
                <a16:creationId xmlns:a16="http://schemas.microsoft.com/office/drawing/2014/main" id="{71FB9E01-6236-48C1-A260-D68EE74634B0}"/>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1" name="">
            <a:extLst xmlns:a="http://schemas.openxmlformats.org/drawingml/2006/main">
              <a:ext uri="{FF2B5EF4-FFF2-40B4-BE49-F238E27FC236}">
                <a16:creationId xmlns:a16="http://schemas.microsoft.com/office/drawing/2014/main" id="{A6816B7D-C4C3-4030-869C-BBB497A5475B}"/>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10</a:t>
            </a:r>
          </a:p>
        </p:txBody>
      </p:sp>
    </p:spTree>
    <p:extLst>
      <p:ext uri="{BB962C8B-B14F-4D97-AF65-F5344CB8AC3E}">
        <p14:creationId xmlns:p14="http://schemas.microsoft.com/office/powerpoint/2010/main" val="732345526"/>
      </p:ext>
    </p:extLst>
  </p:cSld>
  <p:transition spd="med" advClick="1">
    <p:fade/>
  </p:transition>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9bdc46654c24c63"/>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95342E2-F88F-40B0-81D4-840E3DDB2DE6}"/>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Inspeccionar los controles</a:t>
            </a:r>
          </a:p>
        </p:txBody>
      </p:sp>
      <p:sp>
        <p:nvSpPr>
          <p:cNvPr id="2" name="">
            <a:extLst xmlns:a="http://schemas.openxmlformats.org/drawingml/2006/main">
              <a:ext uri="{FF2B5EF4-FFF2-40B4-BE49-F238E27FC236}">
                <a16:creationId xmlns:a16="http://schemas.microsoft.com/office/drawing/2014/main" id="{701469F8-0757-4C21-8B5F-6838A19D7AE5}"/>
              </a:ext>
            </a:extLst>
          </p:cNvPr>
          <p:cNvSpPr>
            <a:spLocks xmlns:a="http://schemas.openxmlformats.org/drawingml/2006/main" noGrp="1"/>
          </p:cNvSpPr>
          <p:nvPr/>
        </p:nvSpPr>
        <p:spPr>
          <a:xfrm xmlns:a="http://schemas.openxmlformats.org/drawingml/2006/main">
            <a:off x="609600" y="1952625"/>
            <a:ext cx="10953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F3864"/>
                </a:solidFill>
                <a:latin typeface="Menlo"/>
                <a:ea typeface="Menlo"/>
                <a:cs typeface="Menlo"/>
              </a:defRPr>
            </a:pPr>
            <a:r>
              <a:rPr sz="1875" b="0">
                <a:solidFill>
                  <a:srgbClr val="1F3864"/>
                </a:solidFill>
                <a:latin typeface="Menlo"/>
                <a:ea typeface="Menlo"/>
                <a:cs typeface="Menlo"/>
              </a:rPr>
              <a:t>import json, pandas as pd</a:t>
            </a:r>
          </a:p>
          <a:p xmlns:a="http://schemas.openxmlformats.org/drawingml/2006/main">
            <a:pPr>
              <a:buNone/>
              <a:defRPr sz="1875" b="0">
                <a:solidFill>
                  <a:srgbClr val="1F3864"/>
                </a:solidFill>
                <a:latin typeface="Menlo"/>
                <a:ea typeface="Menlo"/>
                <a:cs typeface="Menlo"/>
              </a:defRPr>
            </a:pPr>
            <a:r>
              <a:rPr sz="1875" b="0">
                <a:solidFill>
                  <a:srgbClr val="1F3864"/>
                </a:solidFill>
                <a:latin typeface="Menlo"/>
                <a:ea typeface="Menlo"/>
                <a:cs typeface="Menlo"/>
              </a:rPr>
              <a:t>c = json.load(open("salidas/controles.json"))</a:t>
            </a:r>
          </a:p>
          <a:p xmlns:a="http://schemas.openxmlformats.org/drawingml/2006/main">
            <a:pPr>
              <a:buNone/>
              <a:defRPr sz="1875" b="0">
                <a:solidFill>
                  <a:srgbClr val="1F3864"/>
                </a:solidFill>
                <a:latin typeface="Menlo"/>
                <a:ea typeface="Menlo"/>
                <a:cs typeface="Menlo"/>
              </a:defRPr>
            </a:pPr>
            <a:r>
              <a:rPr sz="1875" b="0">
                <a:solidFill>
                  <a:srgbClr val="1F3864"/>
                </a:solidFill>
                <a:latin typeface="Menlo"/>
                <a:ea typeface="Menlo"/>
                <a:cs typeface="Menlo"/>
              </a:rPr>
              <a:t>print(c)</a:t>
            </a:r>
          </a:p>
          <a:p xmlns:a="http://schemas.openxmlformats.org/drawingml/2006/main">
            <a:pPr>
              <a:buNone/>
              <a:defRPr sz="1875" b="0">
                <a:solidFill>
                  <a:srgbClr val="1F3864"/>
                </a:solidFill>
                <a:latin typeface="Menlo"/>
                <a:ea typeface="Menlo"/>
                <a:cs typeface="Menlo"/>
              </a:defRPr>
            </a:pPr>
            <a:r>
              <a:rPr sz="1875" b="0">
                <a:solidFill>
                  <a:srgbClr val="1F3864"/>
                </a:solidFill>
                <a:latin typeface="Menlo"/>
                <a:ea typeface="Menlo"/>
                <a:cs typeface="Menlo"/>
              </a:rPr>
              <a:t>s = pd.read_parquet("salidas/suelos_clasificados.parquet")</a:t>
            </a:r>
          </a:p>
          <a:p xmlns:a="http://schemas.openxmlformats.org/drawingml/2006/main">
            <a:pPr>
              <a:buNone/>
              <a:defRPr sz="1875" b="0">
                <a:solidFill>
                  <a:srgbClr val="1F3864"/>
                </a:solidFill>
                <a:latin typeface="Menlo"/>
                <a:ea typeface="Menlo"/>
                <a:cs typeface="Menlo"/>
              </a:defRPr>
            </a:pPr>
            <a:r>
              <a:rPr sz="1875" b="0">
                <a:solidFill>
                  <a:srgbClr val="1F3864"/>
                </a:solidFill>
                <a:latin typeface="Menlo"/>
                <a:ea typeface="Menlo"/>
                <a:cs typeface="Menlo"/>
              </a:rPr>
              <a:t>print(s["estado_ph"].value_counts())</a:t>
            </a:r>
          </a:p>
        </p:txBody>
      </p:sp>
      <p:sp>
        <p:nvSpPr>
          <p:cNvPr id="3" name="">
            <a:extLst xmlns:a="http://schemas.openxmlformats.org/drawingml/2006/main">
              <a:ext uri="{FF2B5EF4-FFF2-40B4-BE49-F238E27FC236}">
                <a16:creationId xmlns:a16="http://schemas.microsoft.com/office/drawing/2014/main" id="{38C2C831-9790-4F8C-9128-3705CBA598ED}"/>
              </a:ext>
            </a:extLst>
          </p:cNvPr>
          <p:cNvSpPr>
            <a:spLocks xmlns:a="http://schemas.openxmlformats.org/drawingml/2006/main" noGrp="1"/>
          </p:cNvSpPr>
          <p:nvPr/>
        </p:nvSpPr>
        <p:spPr>
          <a:xfrm xmlns:a="http://schemas.openxmlformats.org/drawingml/2006/main">
            <a:off x="609600" y="5657850"/>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F3864"/>
                </a:solidFill>
                <a:latin typeface="Helvetica Neue"/>
                <a:ea typeface="Helvetica Neue"/>
                <a:cs typeface="Helvetica Neue"/>
              </a:defRPr>
            </a:pPr>
            <a:r>
              <a:rPr sz="1875" b="0">
                <a:solidFill>
                  <a:srgbClr val="1F3864"/>
                </a:solidFill>
                <a:latin typeface="Helvetica Neue"/>
                <a:ea typeface="Helvetica Neue"/>
                <a:cs typeface="Helvetica Neue"/>
              </a:rPr>
              <a:t>Conservar originales y filas pendientes; documentar motivos.</a:t>
            </a:r>
          </a:p>
        </p:txBody>
      </p:sp>
      <p:sp>
        <p:nvSpPr>
          <p:cNvPr id="20" name="">
            <a:extLst xmlns:a="http://schemas.openxmlformats.org/drawingml/2006/main">
              <a:ext uri="{FF2B5EF4-FFF2-40B4-BE49-F238E27FC236}">
                <a16:creationId xmlns:a16="http://schemas.microsoft.com/office/drawing/2014/main" id="{F1878601-B2F6-434C-A7BF-49348B8734DD}"/>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1" name="">
            <a:extLst xmlns:a="http://schemas.openxmlformats.org/drawingml/2006/main">
              <a:ext uri="{FF2B5EF4-FFF2-40B4-BE49-F238E27FC236}">
                <a16:creationId xmlns:a16="http://schemas.microsoft.com/office/drawing/2014/main" id="{C42C2AB7-903D-4010-B6CC-C12B6D004D96}"/>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2" name="">
            <a:extLst xmlns:a="http://schemas.openxmlformats.org/drawingml/2006/main">
              <a:ext uri="{FF2B5EF4-FFF2-40B4-BE49-F238E27FC236}">
                <a16:creationId xmlns:a16="http://schemas.microsoft.com/office/drawing/2014/main" id="{E21EE7CE-7A1B-4F14-9CB9-65C37AC95D5B}"/>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23" name="">
            <a:extLst xmlns:a="http://schemas.openxmlformats.org/drawingml/2006/main">
              <a:ext uri="{FF2B5EF4-FFF2-40B4-BE49-F238E27FC236}">
                <a16:creationId xmlns:a16="http://schemas.microsoft.com/office/drawing/2014/main" id="{C1798767-BF8A-4733-AA62-D8BBFDD0138D}"/>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11</a:t>
            </a:r>
          </a:p>
        </p:txBody>
      </p:sp>
    </p:spTree>
    <p:extLst>
      <p:ext uri="{BB962C8B-B14F-4D97-AF65-F5344CB8AC3E}">
        <p14:creationId xmlns:p14="http://schemas.microsoft.com/office/powerpoint/2010/main" val="740233533"/>
      </p:ext>
    </p:extLst>
  </p:cSld>
  <p:transition spd="med" advClick="1">
    <p:fade/>
  </p:transition>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30" name=""/>
          <p:cNvGraphicFramePr/>
          <p:nvPr/>
        </p:nvGraphicFramePr>
        <p:xfrm>
          <a:off xmlns:a="http://schemas.openxmlformats.org/drawingml/2006/main" x="609600" y="1809750"/>
          <a:ext xmlns:a="http://schemas.openxmlformats.org/drawingml/2006/main" cx="10972800" cy="3714750"/>
        </p:xfrm>
        <a:graphic xmlns:a="http://schemas.openxmlformats.org/drawingml/2006/main">
          <a:graphicData uri="http://schemas.openxmlformats.org/drawingml/2006/table">
            <a:tbl>
              <a:tblPr/>
              <a:tblGrid>
                <a:gridCol w="7900416"/>
                <a:gridCol w="3072384"/>
              </a:tblGrid>
              <a:tr h="619125">
                <a:tc>
                  <a:txBody>
                    <a:bodyPr/>
                    <a:lstStyle/>
                    <a:p>
                      <a:r>
                        <a:rPr sz="1725" b="1">
                          <a:solidFill>
                            <a:srgbClr val="FFFFFF"/>
                          </a:solidFill>
                          <a:latin typeface="Helvetica Neue"/>
                          <a:ea typeface="Helvetica Neue"/>
                          <a:cs typeface="Helvetica Neue"/>
                        </a:rPr>
                        <a:t>Control</a:t>
                      </a:r>
                    </a:p>
                  </a:txBody>
                  <a:tcPr marL="152400" marR="152400" marT="95250" marB="95250" anchor="ctr">
                    <a:solidFill>
                      <a:srgbClr val="4239C8"/>
                    </a:solidFill>
                  </a:tcPr>
                </a:tc>
                <a:tc>
                  <a:txBody>
                    <a:bodyPr/>
                    <a:lstStyle/>
                    <a:p>
                      <a:r>
                        <a:rPr sz="1725" b="1">
                          <a:solidFill>
                            <a:srgbClr val="FFFFFF"/>
                          </a:solidFill>
                          <a:latin typeface="Helvetica Neue"/>
                          <a:ea typeface="Helvetica Neue"/>
                          <a:cs typeface="Helvetica Neue"/>
                        </a:rPr>
                        <a:t>Resultado</a:t>
                      </a:r>
                    </a:p>
                  </a:txBody>
                  <a:tcPr marL="152400" marR="152400" marT="95250" marB="95250" anchor="ctr">
                    <a:solidFill>
                      <a:srgbClr val="4239C8"/>
                    </a:solidFill>
                  </a:tcPr>
                </a:tc>
              </a:tr>
              <a:tr h="619125">
                <a:tc>
                  <a:txBody>
                    <a:bodyPr/>
                    <a:lstStyle/>
                    <a:p>
                      <a:r>
                        <a:rPr sz="1875" b="0">
                          <a:solidFill>
                            <a:srgbClr val="13262C"/>
                          </a:solidFill>
                          <a:latin typeface="Helvetica Neue"/>
                          <a:ea typeface="Helvetica Neue"/>
                          <a:cs typeface="Helvetica Neue"/>
                        </a:rPr>
                        <a:t>Suelos aptos para pH</a:t>
                      </a:r>
                    </a:p>
                  </a:txBody>
                  <a:tcPr marL="152400" marR="152400" marT="95250" marB="95250" anchor="ctr">
                    <a:solidFill>
                      <a:srgbClr val="F5F7F6"/>
                    </a:solidFill>
                  </a:tcPr>
                </a:tc>
                <a:tc>
                  <a:txBody>
                    <a:bodyPr/>
                    <a:lstStyle/>
                    <a:p>
                      <a:r>
                        <a:rPr sz="1875" b="0">
                          <a:solidFill>
                            <a:srgbClr val="13262C"/>
                          </a:solidFill>
                          <a:latin typeface="Helvetica Neue"/>
                          <a:ea typeface="Helvetica Neue"/>
                          <a:cs typeface="Helvetica Neue"/>
                        </a:rPr>
                        <a:t>92.727</a:t>
                      </a:r>
                    </a:p>
                  </a:txBody>
                  <a:tcPr marL="152400" marR="152400" marT="95250" marB="95250" anchor="ctr">
                    <a:solidFill>
                      <a:srgbClr val="F5F7F6"/>
                    </a:solidFill>
                  </a:tcPr>
                </a:tc>
              </a:tr>
              <a:tr h="619125">
                <a:tc>
                  <a:txBody>
                    <a:bodyPr/>
                    <a:lstStyle/>
                    <a:p>
                      <a:r>
                        <a:rPr sz="1875" b="0">
                          <a:solidFill>
                            <a:srgbClr val="13262C"/>
                          </a:solidFill>
                          <a:latin typeface="Helvetica Neue"/>
                          <a:ea typeface="Helvetica Neue"/>
                          <a:cs typeface="Helvetica Neue"/>
                        </a:rPr>
                        <a:t>Suelos pendientes por pH</a:t>
                      </a:r>
                    </a:p>
                  </a:txBody>
                  <a:tcPr marL="152400" marR="152400" marT="95250" marB="95250" anchor="ctr">
                    <a:solidFill>
                      <a:srgbClr val="EBF1EF"/>
                    </a:solidFill>
                  </a:tcPr>
                </a:tc>
                <a:tc>
                  <a:txBody>
                    <a:bodyPr/>
                    <a:lstStyle/>
                    <a:p>
                      <a:r>
                        <a:rPr sz="1875" b="0">
                          <a:solidFill>
                            <a:srgbClr val="13262C"/>
                          </a:solidFill>
                          <a:latin typeface="Helvetica Neue"/>
                          <a:ea typeface="Helvetica Neue"/>
                          <a:cs typeface="Helvetica Neue"/>
                        </a:rPr>
                        <a:t>11</a:t>
                      </a:r>
                    </a:p>
                  </a:txBody>
                  <a:tcPr marL="152400" marR="152400" marT="95250" marB="95250" anchor="ctr">
                    <a:solidFill>
                      <a:srgbClr val="EBF1EF"/>
                    </a:solidFill>
                  </a:tcPr>
                </a:tc>
              </a:tr>
              <a:tr h="619125">
                <a:tc>
                  <a:txBody>
                    <a:bodyPr/>
                    <a:lstStyle/>
                    <a:p>
                      <a:r>
                        <a:rPr sz="1875" b="0">
                          <a:solidFill>
                            <a:srgbClr val="13262C"/>
                          </a:solidFill>
                          <a:latin typeface="Helvetica Neue"/>
                          <a:ea typeface="Helvetica Neue"/>
                          <a:cs typeface="Helvetica Neue"/>
                        </a:rPr>
                        <a:t>Sin enlace territorial</a:t>
                      </a:r>
                    </a:p>
                  </a:txBody>
                  <a:tcPr marL="152400" marR="152400" marT="95250" marB="95250" anchor="ctr">
                    <a:solidFill>
                      <a:srgbClr val="F5F7F6"/>
                    </a:solidFill>
                  </a:tcPr>
                </a:tc>
                <a:tc>
                  <a:txBody>
                    <a:bodyPr/>
                    <a:lstStyle/>
                    <a:p>
                      <a:r>
                        <a:rPr sz="1875" b="0">
                          <a:solidFill>
                            <a:srgbClr val="13262C"/>
                          </a:solidFill>
                          <a:latin typeface="Helvetica Neue"/>
                          <a:ea typeface="Helvetica Neue"/>
                          <a:cs typeface="Helvetica Neue"/>
                        </a:rPr>
                        <a:t>2.138</a:t>
                      </a:r>
                    </a:p>
                  </a:txBody>
                  <a:tcPr marL="152400" marR="152400" marT="95250" marB="95250" anchor="ctr">
                    <a:solidFill>
                      <a:srgbClr val="F5F7F6"/>
                    </a:solidFill>
                  </a:tcPr>
                </a:tc>
              </a:tr>
              <a:tr h="619125">
                <a:tc>
                  <a:txBody>
                    <a:bodyPr/>
                    <a:lstStyle/>
                    <a:p>
                      <a:r>
                        <a:rPr sz="1875" b="0">
                          <a:solidFill>
                            <a:srgbClr val="13262C"/>
                          </a:solidFill>
                          <a:latin typeface="Helvetica Neue"/>
                          <a:ea typeface="Helvetica Neue"/>
                          <a:cs typeface="Helvetica Neue"/>
                        </a:rPr>
                        <a:t>EVA aptos para rendimiento</a:t>
                      </a:r>
                    </a:p>
                  </a:txBody>
                  <a:tcPr marL="152400" marR="152400" marT="95250" marB="95250" anchor="ctr">
                    <a:solidFill>
                      <a:srgbClr val="EBF1EF"/>
                    </a:solidFill>
                  </a:tcPr>
                </a:tc>
                <a:tc>
                  <a:txBody>
                    <a:bodyPr/>
                    <a:lstStyle/>
                    <a:p>
                      <a:r>
                        <a:rPr sz="1875" b="0">
                          <a:solidFill>
                            <a:srgbClr val="13262C"/>
                          </a:solidFill>
                          <a:latin typeface="Helvetica Neue"/>
                          <a:ea typeface="Helvetica Neue"/>
                          <a:cs typeface="Helvetica Neue"/>
                        </a:rPr>
                        <a:t>159.616</a:t>
                      </a:r>
                    </a:p>
                  </a:txBody>
                  <a:tcPr marL="152400" marR="152400" marT="95250" marB="95250" anchor="ctr">
                    <a:solidFill>
                      <a:srgbClr val="EBF1EF"/>
                    </a:solidFill>
                  </a:tcPr>
                </a:tc>
              </a:tr>
              <a:tr h="619125">
                <a:tc>
                  <a:txBody>
                    <a:bodyPr/>
                    <a:lstStyle/>
                    <a:p>
                      <a:r>
                        <a:rPr sz="1875" b="0">
                          <a:solidFill>
                            <a:srgbClr val="13262C"/>
                          </a:solidFill>
                          <a:latin typeface="Helvetica Neue"/>
                          <a:ea typeface="Helvetica Neue"/>
                          <a:cs typeface="Helvetica Neue"/>
                        </a:rPr>
                        <a:t>Códigos EVA sin DIVIPOLA</a:t>
                      </a:r>
                    </a:p>
                  </a:txBody>
                  <a:tcPr marL="152400" marR="152400" marT="95250" marB="95250" anchor="ctr">
                    <a:solidFill>
                      <a:srgbClr val="F5F7F6"/>
                    </a:solidFill>
                  </a:tcPr>
                </a:tc>
                <a:tc>
                  <a:txBody>
                    <a:bodyPr/>
                    <a:lstStyle/>
                    <a:p>
                      <a:r>
                        <a:rPr sz="1875" b="0">
                          <a:solidFill>
                            <a:srgbClr val="13262C"/>
                          </a:solidFill>
                          <a:latin typeface="Helvetica Neue"/>
                          <a:ea typeface="Helvetica Neue"/>
                          <a:cs typeface="Helvetica Neue"/>
                        </a:rPr>
                        <a:t>0</a:t>
                      </a:r>
                    </a:p>
                  </a:txBody>
                  <a:tcPr marL="152400" marR="152400" marT="95250" marB="95250" anchor="ctr">
                    <a:solidFill>
                      <a:srgbClr val="F5F7F6"/>
                    </a:solidFill>
                  </a:tcPr>
                </a:tc>
              </a:tr>
            </a:tbl>
          </a:graphicData>
        </a:graphic>
      </p:graphicFrame>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377ebbcfdc57433b"/>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A8B2A37-CCF6-4158-A51A-A9F45257D83B}"/>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Resultados de referencia</a:t>
            </a:r>
          </a:p>
        </p:txBody>
      </p:sp>
      <p:sp>
        <p:nvSpPr>
          <p:cNvPr id="24" name="">
            <a:extLst xmlns:a="http://schemas.openxmlformats.org/drawingml/2006/main">
              <a:ext uri="{FF2B5EF4-FFF2-40B4-BE49-F238E27FC236}">
                <a16:creationId xmlns:a16="http://schemas.microsoft.com/office/drawing/2014/main" id="{F2B41DAB-098B-4D2F-A846-7B44C4D0CB5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5" name="">
            <a:extLst xmlns:a="http://schemas.openxmlformats.org/drawingml/2006/main">
              <a:ext uri="{FF2B5EF4-FFF2-40B4-BE49-F238E27FC236}">
                <a16:creationId xmlns:a16="http://schemas.microsoft.com/office/drawing/2014/main" id="{8C9E1133-77C1-4FDE-83BD-76BD51BA31AC}"/>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6" name="">
            <a:extLst xmlns:a="http://schemas.openxmlformats.org/drawingml/2006/main">
              <a:ext uri="{FF2B5EF4-FFF2-40B4-BE49-F238E27FC236}">
                <a16:creationId xmlns:a16="http://schemas.microsoft.com/office/drawing/2014/main" id="{877043E9-7507-4617-A30B-8CA714A51773}"/>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27" name="">
            <a:extLst xmlns:a="http://schemas.openxmlformats.org/drawingml/2006/main">
              <a:ext uri="{FF2B5EF4-FFF2-40B4-BE49-F238E27FC236}">
                <a16:creationId xmlns:a16="http://schemas.microsoft.com/office/drawing/2014/main" id="{3A6FC6DF-99C8-44C3-B351-B6B7D6197B57}"/>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12</a:t>
            </a:r>
          </a:p>
        </p:txBody>
      </p:sp>
    </p:spTree>
    <p:extLst>
      <p:ext uri="{BB962C8B-B14F-4D97-AF65-F5344CB8AC3E}">
        <p14:creationId xmlns:p14="http://schemas.microsoft.com/office/powerpoint/2010/main" val="1137810472"/>
      </p:ext>
    </p:extLst>
  </p:cSld>
  <p:transition spd="med" advClick="1">
    <p:fade/>
  </p:transition>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f9db573d74d4d82"/>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F9E37D3-AF9E-4AAC-9374-36652B69EC54}"/>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Receso de la mañana</a:t>
            </a:r>
          </a:p>
        </p:txBody>
      </p:sp>
      <p:sp>
        <p:nvSpPr>
          <p:cNvPr id="2" name="">
            <a:extLst xmlns:a="http://schemas.openxmlformats.org/drawingml/2006/main">
              <a:ext uri="{FF2B5EF4-FFF2-40B4-BE49-F238E27FC236}">
                <a16:creationId xmlns:a16="http://schemas.microsoft.com/office/drawing/2014/main" id="{75734F0F-D645-457D-AECA-337B6E1AF5B0}"/>
              </a:ext>
            </a:extLst>
          </p:cNvPr>
          <p:cNvSpPr>
            <a:spLocks xmlns:a="http://schemas.openxmlformats.org/drawingml/2006/main" noGrp="1"/>
          </p:cNvSpPr>
          <p:nvPr/>
        </p:nvSpPr>
        <p:spPr>
          <a:xfrm xmlns:a="http://schemas.openxmlformats.org/drawingml/2006/main">
            <a:off x="609600" y="27146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5850" b="1">
                <a:solidFill>
                  <a:srgbClr val="1F3864"/>
                </a:solidFill>
                <a:latin typeface="Helvetica Neue"/>
                <a:ea typeface="Helvetica Neue"/>
                <a:cs typeface="Helvetica Neue"/>
              </a:defRPr>
            </a:pPr>
            <a:r>
              <a:rPr sz="5850" b="1">
                <a:solidFill>
                  <a:srgbClr val="1F3864"/>
                </a:solidFill>
                <a:latin typeface="Helvetica Neue"/>
                <a:ea typeface="Helvetica Neue"/>
                <a:cs typeface="Helvetica Neue"/>
              </a:rPr>
              <a:t>09:30–09:45</a:t>
            </a:r>
          </a:p>
        </p:txBody>
      </p:sp>
      <p:sp>
        <p:nvSpPr>
          <p:cNvPr id="3" name="">
            <a:extLst xmlns:a="http://schemas.openxmlformats.org/drawingml/2006/main">
              <a:ext uri="{FF2B5EF4-FFF2-40B4-BE49-F238E27FC236}">
                <a16:creationId xmlns:a16="http://schemas.microsoft.com/office/drawing/2014/main" id="{47C88EDD-1B48-42CD-997A-0453AD7E0372}"/>
              </a:ext>
            </a:extLst>
          </p:cNvPr>
          <p:cNvSpPr>
            <a:spLocks xmlns:a="http://schemas.openxmlformats.org/drawingml/2006/main" noGrp="1"/>
          </p:cNvSpPr>
          <p:nvPr/>
        </p:nvSpPr>
        <p:spPr>
          <a:xfrm xmlns:a="http://schemas.openxmlformats.org/drawingml/2006/main">
            <a:off x="609600" y="4524375"/>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1F3864"/>
                </a:solidFill>
                <a:latin typeface="Helvetica Neue"/>
                <a:ea typeface="Helvetica Neue"/>
                <a:cs typeface="Helvetica Neue"/>
              </a:defRPr>
            </a:pPr>
            <a:r>
              <a:rPr sz="2400" b="0">
                <a:solidFill>
                  <a:srgbClr val="1F3864"/>
                </a:solidFill>
                <a:latin typeface="Helvetica Neue"/>
                <a:ea typeface="Helvetica Neue"/>
                <a:cs typeface="Helvetica Neue"/>
              </a:rPr>
              <a:t>Retomamos a la hora indicada.</a:t>
            </a:r>
          </a:p>
        </p:txBody>
      </p:sp>
      <p:sp>
        <p:nvSpPr>
          <p:cNvPr id="20" name="">
            <a:extLst xmlns:a="http://schemas.openxmlformats.org/drawingml/2006/main">
              <a:ext uri="{FF2B5EF4-FFF2-40B4-BE49-F238E27FC236}">
                <a16:creationId xmlns:a16="http://schemas.microsoft.com/office/drawing/2014/main" id="{5656166E-CB09-40E5-A9CD-FFA555EB3BC9}"/>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1" name="">
            <a:extLst xmlns:a="http://schemas.openxmlformats.org/drawingml/2006/main">
              <a:ext uri="{FF2B5EF4-FFF2-40B4-BE49-F238E27FC236}">
                <a16:creationId xmlns:a16="http://schemas.microsoft.com/office/drawing/2014/main" id="{071D81E3-9125-4396-8436-61A94E879F45}"/>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2" name="">
            <a:extLst xmlns:a="http://schemas.openxmlformats.org/drawingml/2006/main">
              <a:ext uri="{FF2B5EF4-FFF2-40B4-BE49-F238E27FC236}">
                <a16:creationId xmlns:a16="http://schemas.microsoft.com/office/drawing/2014/main" id="{D8FFE9B3-439C-4DFD-AB6D-BBF2252963C9}"/>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23" name="">
            <a:extLst xmlns:a="http://schemas.openxmlformats.org/drawingml/2006/main">
              <a:ext uri="{FF2B5EF4-FFF2-40B4-BE49-F238E27FC236}">
                <a16:creationId xmlns:a16="http://schemas.microsoft.com/office/drawing/2014/main" id="{DD31D438-AE13-4729-BB47-89E551400B98}"/>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13</a:t>
            </a:r>
          </a:p>
        </p:txBody>
      </p:sp>
    </p:spTree>
    <p:extLst>
      <p:ext uri="{BB962C8B-B14F-4D97-AF65-F5344CB8AC3E}">
        <p14:creationId xmlns:p14="http://schemas.microsoft.com/office/powerpoint/2010/main" val="1239214622"/>
      </p:ext>
    </p:extLst>
  </p:cSld>
  <p:transition spd="med" advClick="1">
    <p:fade/>
  </p:transition>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7c8ce825f9646b7"/>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4E4695B-3407-49A7-BA28-E8DE70699AF4}"/>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P03: criterios de calidad de reportes</a:t>
            </a:r>
          </a:p>
        </p:txBody>
      </p:sp>
      <p:sp>
        <p:nvSpPr>
          <p:cNvPr id="3" name="">
            <a:extLst xmlns:a="http://schemas.openxmlformats.org/drawingml/2006/main">
              <a:ext uri="{FF2B5EF4-FFF2-40B4-BE49-F238E27FC236}">
                <a16:creationId xmlns:a16="http://schemas.microsoft.com/office/drawing/2014/main" id="{5CFD0586-9C9A-467E-AC1D-63DFAA05DB59}"/>
              </a:ext>
            </a:extLst>
          </p:cNvPr>
          <p:cNvSpPr>
            <a:spLocks xmlns:a="http://schemas.openxmlformats.org/drawingml/2006/main" noGrp="1"/>
          </p:cNvSpPr>
          <p:nvPr/>
        </p:nvSpPr>
        <p:spPr>
          <a:xfrm xmlns:a="http://schemas.openxmlformats.org/drawingml/2006/main">
            <a:off x="685800" y="15240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09:45–10:00. Explicación: 15 min</a:t>
            </a:r>
          </a:p>
        </p:txBody>
      </p:sp>
      <p:sp>
        <p:nvSpPr>
          <p:cNvPr id="4" name="">
            <a:extLst xmlns:a="http://schemas.openxmlformats.org/drawingml/2006/main">
              <a:ext uri="{FF2B5EF4-FFF2-40B4-BE49-F238E27FC236}">
                <a16:creationId xmlns:a16="http://schemas.microsoft.com/office/drawing/2014/main" id="{E2849558-90B1-447A-A6EE-30F4ECE81C9A}"/>
              </a:ext>
            </a:extLst>
          </p:cNvPr>
          <p:cNvSpPr>
            <a:spLocks xmlns:a="http://schemas.openxmlformats.org/drawingml/2006/main" noGrp="1"/>
          </p:cNvSpPr>
          <p:nvPr/>
        </p:nvSpPr>
        <p:spPr>
          <a:xfrm xmlns:a="http://schemas.openxmlformats.org/drawingml/2006/main">
            <a:off x="685800" y="197167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Revisar claves, fechas y edades. Clave candidata: corte_archivo y OBJECTID.</a:t>
            </a:r>
          </a:p>
        </p:txBody>
      </p:sp>
      <p:sp>
        <p:nvSpPr>
          <p:cNvPr id="5" name="">
            <a:extLst xmlns:a="http://schemas.openxmlformats.org/drawingml/2006/main">
              <a:ext uri="{FF2B5EF4-FFF2-40B4-BE49-F238E27FC236}">
                <a16:creationId xmlns:a16="http://schemas.microsoft.com/office/drawing/2014/main" id="{BE65CF90-AE4D-4A5A-AAFF-536C8E5044BE}"/>
              </a:ext>
            </a:extLst>
          </p:cNvPr>
          <p:cNvSpPr>
            <a:spLocks xmlns:a="http://schemas.openxmlformats.org/drawingml/2006/main" noGrp="1"/>
          </p:cNvSpPr>
          <p:nvPr/>
        </p:nvSpPr>
        <p:spPr>
          <a:xfrm xmlns:a="http://schemas.openxmlformats.org/drawingml/2006/main">
            <a:off x="685800" y="29146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Ubicaciones separadas</a:t>
            </a:r>
          </a:p>
        </p:txBody>
      </p:sp>
      <p:sp>
        <p:nvSpPr>
          <p:cNvPr id="6" name="">
            <a:extLst xmlns:a="http://schemas.openxmlformats.org/drawingml/2006/main">
              <a:ext uri="{FF2B5EF4-FFF2-40B4-BE49-F238E27FC236}">
                <a16:creationId xmlns:a16="http://schemas.microsoft.com/office/drawing/2014/main" id="{D178195A-FB5A-45FF-9050-9954B72CF41F}"/>
              </a:ext>
            </a:extLst>
          </p:cNvPr>
          <p:cNvSpPr>
            <a:spLocks xmlns:a="http://schemas.openxmlformats.org/drawingml/2006/main" noGrp="1"/>
          </p:cNvSpPr>
          <p:nvPr/>
        </p:nvSpPr>
        <p:spPr>
          <a:xfrm xmlns:a="http://schemas.openxmlformats.org/drawingml/2006/main">
            <a:off x="685800" y="336232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Conservar municipio del afectado y del peticionario. Clasificar los códigos sin DIVIPOLA.</a:t>
            </a:r>
          </a:p>
        </p:txBody>
      </p:sp>
      <p:sp>
        <p:nvSpPr>
          <p:cNvPr id="7" name="">
            <a:extLst xmlns:a="http://schemas.openxmlformats.org/drawingml/2006/main">
              <a:ext uri="{FF2B5EF4-FFF2-40B4-BE49-F238E27FC236}">
                <a16:creationId xmlns:a16="http://schemas.microsoft.com/office/drawing/2014/main" id="{22CD80D7-8FA0-4B46-BF81-4D2809F791B5}"/>
              </a:ext>
            </a:extLst>
          </p:cNvPr>
          <p:cNvSpPr>
            <a:spLocks xmlns:a="http://schemas.openxmlformats.org/drawingml/2006/main" noGrp="1"/>
          </p:cNvSpPr>
          <p:nvPr/>
        </p:nvSpPr>
        <p:spPr>
          <a:xfrm xmlns:a="http://schemas.openxmlformats.org/drawingml/2006/main">
            <a:off x="685800" y="43053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Decisión con evidencia</a:t>
            </a:r>
          </a:p>
        </p:txBody>
      </p:sp>
      <p:sp>
        <p:nvSpPr>
          <p:cNvPr id="8" name="">
            <a:extLst xmlns:a="http://schemas.openxmlformats.org/drawingml/2006/main">
              <a:ext uri="{FF2B5EF4-FFF2-40B4-BE49-F238E27FC236}">
                <a16:creationId xmlns:a16="http://schemas.microsoft.com/office/drawing/2014/main" id="{056CB20C-F4BD-4DC7-9B6B-872A5A3E4CF1}"/>
              </a:ext>
            </a:extLst>
          </p:cNvPr>
          <p:cNvSpPr>
            <a:spLocks xmlns:a="http://schemas.openxmlformats.org/drawingml/2006/main" noGrp="1"/>
          </p:cNvSpPr>
          <p:nvPr/>
        </p:nvSpPr>
        <p:spPr>
          <a:xfrm xmlns:a="http://schemas.openxmlformats.org/drawingml/2006/main">
            <a:off x="685800" y="475297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Edad mayor de 90 requiere revisión. Un valor atípico no justifica exclusión automática.</a:t>
            </a:r>
          </a:p>
        </p:txBody>
      </p:sp>
      <p:sp>
        <p:nvSpPr>
          <p:cNvPr id="9" name="">
            <a:extLst xmlns:a="http://schemas.openxmlformats.org/drawingml/2006/main">
              <a:ext uri="{FF2B5EF4-FFF2-40B4-BE49-F238E27FC236}">
                <a16:creationId xmlns:a16="http://schemas.microsoft.com/office/drawing/2014/main" id="{4F6859B7-176D-4164-AC1E-4CCD2BEA1A09}"/>
              </a:ext>
            </a:extLst>
          </p:cNvPr>
          <p:cNvSpPr>
            <a:spLocks xmlns:a="http://schemas.openxmlformats.org/drawingml/2006/main" noGrp="1"/>
          </p:cNvSpPr>
          <p:nvPr/>
        </p:nvSpPr>
        <p:spPr>
          <a:xfrm xmlns:a="http://schemas.openxmlformats.org/drawingml/2006/main">
            <a:off x="609600" y="59531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P03 mantiene los registros y documenta publicar, revisar o detener.</a:t>
            </a:r>
          </a:p>
        </p:txBody>
      </p:sp>
      <p:sp>
        <p:nvSpPr>
          <p:cNvPr id="13" name="">
            <a:extLst xmlns:a="http://schemas.openxmlformats.org/drawingml/2006/main">
              <a:ext uri="{FF2B5EF4-FFF2-40B4-BE49-F238E27FC236}">
                <a16:creationId xmlns:a16="http://schemas.microsoft.com/office/drawing/2014/main" id="{3C6A3C83-712F-4EA2-8DF6-96B9BE9886C2}"/>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5135178A-F358-42DF-92E8-767CC81C8315}"/>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P03 — Práctica PQRS 03: Calidad de reportes y consulta diferida</a:t>
            </a:r>
          </a:p>
        </p:txBody>
      </p:sp>
      <p:sp>
        <p:nvSpPr>
          <p:cNvPr id="15" name="">
            <a:extLst xmlns:a="http://schemas.openxmlformats.org/drawingml/2006/main">
              <a:ext uri="{FF2B5EF4-FFF2-40B4-BE49-F238E27FC236}">
                <a16:creationId xmlns:a16="http://schemas.microsoft.com/office/drawing/2014/main" id="{09DBA980-75A6-431C-A8BD-A62909C60B82}"/>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6" name="">
            <a:extLst xmlns:a="http://schemas.openxmlformats.org/drawingml/2006/main">
              <a:ext uri="{FF2B5EF4-FFF2-40B4-BE49-F238E27FC236}">
                <a16:creationId xmlns:a16="http://schemas.microsoft.com/office/drawing/2014/main" id="{C731D42B-DCFA-4A53-9369-758E367414BE}"/>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14</a:t>
            </a:r>
          </a:p>
        </p:txBody>
      </p:sp>
    </p:spTree>
    <p:extLst>
      <p:ext uri="{BB962C8B-B14F-4D97-AF65-F5344CB8AC3E}">
        <p14:creationId xmlns:p14="http://schemas.microsoft.com/office/powerpoint/2010/main" val="17655774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8457d15349846b4"/>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3B55E-E674-4198-AD3E-1E4216E58F3D}"/>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P03: ejecución de controles PQRS</a:t>
            </a:r>
          </a:p>
        </p:txBody>
      </p:sp>
      <p:sp>
        <p:nvSpPr>
          <p:cNvPr id="3" name="">
            <a:extLst xmlns:a="http://schemas.openxmlformats.org/drawingml/2006/main">
              <a:ext uri="{FF2B5EF4-FFF2-40B4-BE49-F238E27FC236}">
                <a16:creationId xmlns:a16="http://schemas.microsoft.com/office/drawing/2014/main" id="{2B147E4E-0C9C-4FFE-8E87-D48E11670701}"/>
              </a:ext>
            </a:extLst>
          </p:cNvPr>
          <p:cNvSpPr>
            <a:spLocks xmlns:a="http://schemas.openxmlformats.org/drawingml/2006/main" noGrp="1"/>
          </p:cNvSpPr>
          <p:nvPr/>
        </p:nvSpPr>
        <p:spPr>
          <a:xfrm xmlns:a="http://schemas.openxmlformats.org/drawingml/2006/main">
            <a:off x="685800" y="1524000"/>
            <a:ext cx="1082040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10:20–10:45. Desde kit/</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python pqrs_talleres.py calidad</a:t>
            </a:r>
          </a:p>
          <a:p xmlns:a="http://schemas.openxmlformats.org/drawingml/2006/main">
            <a:r>
              <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Abrir Notebooks/03_Calidad_y_consulta.ipynb</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Ejecutar preparación y la celda de lab.calidad(a)</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Revisar control_calidad_pqrs.json</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Clasificar hallazgos y justificar el tratamiento</a:t>
            </a:r>
          </a:p>
        </p:txBody>
      </p:sp>
      <p:sp>
        <p:nvSpPr>
          <p:cNvPr id="4" name="">
            <a:extLst xmlns:a="http://schemas.openxmlformats.org/drawingml/2006/main">
              <a:ext uri="{FF2B5EF4-FFF2-40B4-BE49-F238E27FC236}">
                <a16:creationId xmlns:a16="http://schemas.microsoft.com/office/drawing/2014/main" id="{8197758C-C570-4EB8-9DAE-952D4D76C1BF}"/>
              </a:ext>
            </a:extLst>
          </p:cNvPr>
          <p:cNvSpPr>
            <a:spLocks xmlns:a="http://schemas.openxmlformats.org/drawingml/2006/main" noGrp="1"/>
          </p:cNvSpPr>
          <p:nvPr/>
        </p:nvSpPr>
        <p:spPr>
          <a:xfrm xmlns:a="http://schemas.openxmlformats.org/drawingml/2006/main">
            <a:off x="609600" y="59531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25 min de controles. P02 propio se ejecuta de 10:00 a 10:20.</a:t>
            </a:r>
          </a:p>
        </p:txBody>
      </p:sp>
      <p:sp>
        <p:nvSpPr>
          <p:cNvPr id="8" name="">
            <a:extLst xmlns:a="http://schemas.openxmlformats.org/drawingml/2006/main">
              <a:ext uri="{FF2B5EF4-FFF2-40B4-BE49-F238E27FC236}">
                <a16:creationId xmlns:a16="http://schemas.microsoft.com/office/drawing/2014/main" id="{D2E5F903-2D54-4C6A-8423-0C993B7DAB70}"/>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A821DA92-8589-46C4-8F03-C89ECBB12CBC}"/>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P02 — Práctica PQRS 02: Parquet, contrato y reejecución  |  P03 — Práctica PQRS 03: Calidad de reportes y consulta diferida</a:t>
            </a:r>
          </a:p>
        </p:txBody>
      </p:sp>
      <p:sp>
        <p:nvSpPr>
          <p:cNvPr id="10" name="">
            <a:extLst xmlns:a="http://schemas.openxmlformats.org/drawingml/2006/main">
              <a:ext uri="{FF2B5EF4-FFF2-40B4-BE49-F238E27FC236}">
                <a16:creationId xmlns:a16="http://schemas.microsoft.com/office/drawing/2014/main" id="{A7E87473-0BC5-4B31-B3E5-EB519ACC4F68}"/>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1" name="">
            <a:extLst xmlns:a="http://schemas.openxmlformats.org/drawingml/2006/main">
              <a:ext uri="{FF2B5EF4-FFF2-40B4-BE49-F238E27FC236}">
                <a16:creationId xmlns:a16="http://schemas.microsoft.com/office/drawing/2014/main" id="{26F22E0E-86DC-4508-ADB6-0A6167D78800}"/>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15</a:t>
            </a:r>
          </a:p>
        </p:txBody>
      </p:sp>
    </p:spTree>
    <p:extLst>
      <p:ext uri="{BB962C8B-B14F-4D97-AF65-F5344CB8AC3E}">
        <p14:creationId xmlns:p14="http://schemas.microsoft.com/office/powerpoint/2010/main" val="1914569350"/>
      </p:ext>
    </p:extLst>
  </p:cSld>
  <p:transition spd="med" advClick="1">
    <p:fade/>
  </p:transition>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527168941864765"/>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2C25BC0-7075-43C8-9521-7A9CFBA625A9}"/>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Consulta diferida y selección del motor</a:t>
            </a:r>
          </a:p>
        </p:txBody>
      </p:sp>
      <p:sp>
        <p:nvSpPr>
          <p:cNvPr id="3" name="">
            <a:extLst xmlns:a="http://schemas.openxmlformats.org/drawingml/2006/main">
              <a:ext uri="{FF2B5EF4-FFF2-40B4-BE49-F238E27FC236}">
                <a16:creationId xmlns:a16="http://schemas.microsoft.com/office/drawing/2014/main" id="{FBA26907-EDBC-41C9-925E-27703957CDF1}"/>
              </a:ext>
            </a:extLst>
          </p:cNvPr>
          <p:cNvSpPr>
            <a:spLocks xmlns:a="http://schemas.openxmlformats.org/drawingml/2006/main" noGrp="1"/>
          </p:cNvSpPr>
          <p:nvPr/>
        </p:nvSpPr>
        <p:spPr>
          <a:xfrm xmlns:a="http://schemas.openxmlformats.org/drawingml/2006/main">
            <a:off x="685800" y="15240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10:45–11:05. Explicación: 20 min</a:t>
            </a:r>
          </a:p>
        </p:txBody>
      </p:sp>
      <p:sp>
        <p:nvSpPr>
          <p:cNvPr id="4" name="">
            <a:extLst xmlns:a="http://schemas.openxmlformats.org/drawingml/2006/main">
              <a:ext uri="{FF2B5EF4-FFF2-40B4-BE49-F238E27FC236}">
                <a16:creationId xmlns:a16="http://schemas.microsoft.com/office/drawing/2014/main" id="{0E5D09C1-25DD-48FB-B8CF-A79CF52DB59C}"/>
              </a:ext>
            </a:extLst>
          </p:cNvPr>
          <p:cNvSpPr>
            <a:spLocks xmlns:a="http://schemas.openxmlformats.org/drawingml/2006/main" noGrp="1"/>
          </p:cNvSpPr>
          <p:nvPr/>
        </p:nvSpPr>
        <p:spPr>
          <a:xfrm xmlns:a="http://schemas.openxmlformats.org/drawingml/2006/main">
            <a:off x="685800" y="197167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Polars describe un plan con scan_parquet. DuckDB expresa la consulta en SQL.</a:t>
            </a:r>
          </a:p>
        </p:txBody>
      </p:sp>
      <p:sp>
        <p:nvSpPr>
          <p:cNvPr id="5" name="">
            <a:extLst xmlns:a="http://schemas.openxmlformats.org/drawingml/2006/main">
              <a:ext uri="{FF2B5EF4-FFF2-40B4-BE49-F238E27FC236}">
                <a16:creationId xmlns:a16="http://schemas.microsoft.com/office/drawing/2014/main" id="{4F277F45-8920-46D7-9CA9-BD8B4BC48D1E}"/>
              </a:ext>
            </a:extLst>
          </p:cNvPr>
          <p:cNvSpPr>
            <a:spLocks xmlns:a="http://schemas.openxmlformats.org/drawingml/2006/main" noGrp="1"/>
          </p:cNvSpPr>
          <p:nvPr/>
        </p:nvSpPr>
        <p:spPr>
          <a:xfrm xmlns:a="http://schemas.openxmlformats.org/drawingml/2006/main">
            <a:off x="685800" y="29146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Lectura y ejecución</a:t>
            </a:r>
          </a:p>
        </p:txBody>
      </p:sp>
      <p:sp>
        <p:nvSpPr>
          <p:cNvPr id="6" name="">
            <a:extLst xmlns:a="http://schemas.openxmlformats.org/drawingml/2006/main">
              <a:ext uri="{FF2B5EF4-FFF2-40B4-BE49-F238E27FC236}">
                <a16:creationId xmlns:a16="http://schemas.microsoft.com/office/drawing/2014/main" id="{23E69BA5-4B19-4632-8D7C-167E767BA3BF}"/>
              </a:ext>
            </a:extLst>
          </p:cNvPr>
          <p:cNvSpPr>
            <a:spLocks xmlns:a="http://schemas.openxmlformats.org/drawingml/2006/main" noGrp="1"/>
          </p:cNvSpPr>
          <p:nvPr/>
        </p:nvSpPr>
        <p:spPr>
          <a:xfrm xmlns:a="http://schemas.openxmlformats.org/drawingml/2006/main">
            <a:off x="685800" y="336232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Proyectar columnas y filtrar antes de materializar. Observar el plan con explain.</a:t>
            </a:r>
          </a:p>
        </p:txBody>
      </p:sp>
      <p:sp>
        <p:nvSpPr>
          <p:cNvPr id="7" name="">
            <a:extLst xmlns:a="http://schemas.openxmlformats.org/drawingml/2006/main">
              <a:ext uri="{FF2B5EF4-FFF2-40B4-BE49-F238E27FC236}">
                <a16:creationId xmlns:a16="http://schemas.microsoft.com/office/drawing/2014/main" id="{35966343-49E0-4B04-A494-C40A1E0F30FB}"/>
              </a:ext>
            </a:extLst>
          </p:cNvPr>
          <p:cNvSpPr>
            <a:spLocks xmlns:a="http://schemas.openxmlformats.org/drawingml/2006/main" noGrp="1"/>
          </p:cNvSpPr>
          <p:nvPr/>
        </p:nvSpPr>
        <p:spPr>
          <a:xfrm xmlns:a="http://schemas.openxmlformats.org/drawingml/2006/main">
            <a:off x="685800" y="43053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Criterio de equivalencia</a:t>
            </a:r>
          </a:p>
        </p:txBody>
      </p:sp>
      <p:sp>
        <p:nvSpPr>
          <p:cNvPr id="8" name="">
            <a:extLst xmlns:a="http://schemas.openxmlformats.org/drawingml/2006/main">
              <a:ext uri="{FF2B5EF4-FFF2-40B4-BE49-F238E27FC236}">
                <a16:creationId xmlns:a16="http://schemas.microsoft.com/office/drawing/2014/main" id="{2C109220-6C3D-4D9E-8E14-9D06E5A24C58}"/>
              </a:ext>
            </a:extLst>
          </p:cNvPr>
          <p:cNvSpPr>
            <a:spLocks xmlns:a="http://schemas.openxmlformats.org/drawingml/2006/main" noGrp="1"/>
          </p:cNvSpPr>
          <p:nvPr/>
        </p:nvSpPr>
        <p:spPr>
          <a:xfrm xmlns:a="http://schemas.openxmlformats.org/drawingml/2006/main">
            <a:off x="685800" y="475297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Mantener entrada, filtro, agrupación y política de nulos. Ordenar antes de comparar.</a:t>
            </a:r>
          </a:p>
        </p:txBody>
      </p:sp>
      <p:sp>
        <p:nvSpPr>
          <p:cNvPr id="9" name="">
            <a:extLst xmlns:a="http://schemas.openxmlformats.org/drawingml/2006/main">
              <a:ext uri="{FF2B5EF4-FFF2-40B4-BE49-F238E27FC236}">
                <a16:creationId xmlns:a16="http://schemas.microsoft.com/office/drawing/2014/main" id="{F1FCEE62-E95C-4C7C-A9CE-4F2A590E6237}"/>
              </a:ext>
            </a:extLst>
          </p:cNvPr>
          <p:cNvSpPr>
            <a:spLocks xmlns:a="http://schemas.openxmlformats.org/drawingml/2006/main" noGrp="1"/>
          </p:cNvSpPr>
          <p:nvPr/>
        </p:nvSpPr>
        <p:spPr>
          <a:xfrm xmlns:a="http://schemas.openxmlformats.org/drawingml/2006/main">
            <a:off x="609600" y="59531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La velocidad se estudia en otra sesión. Hoy se verifica la corrección.</a:t>
            </a:r>
          </a:p>
        </p:txBody>
      </p:sp>
      <p:sp>
        <p:nvSpPr>
          <p:cNvPr id="13" name="">
            <a:extLst xmlns:a="http://schemas.openxmlformats.org/drawingml/2006/main">
              <a:ext uri="{FF2B5EF4-FFF2-40B4-BE49-F238E27FC236}">
                <a16:creationId xmlns:a16="http://schemas.microsoft.com/office/drawing/2014/main" id="{63B2B52B-F60D-4358-912E-9658341D9C35}"/>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20496373-F1CE-4B7C-90DD-E076785B5E58}"/>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5" name="">
            <a:extLst xmlns:a="http://schemas.openxmlformats.org/drawingml/2006/main">
              <a:ext uri="{FF2B5EF4-FFF2-40B4-BE49-F238E27FC236}">
                <a16:creationId xmlns:a16="http://schemas.microsoft.com/office/drawing/2014/main" id="{9AD97FF8-4227-460F-B19D-7C3921351311}"/>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6" name="">
            <a:extLst xmlns:a="http://schemas.openxmlformats.org/drawingml/2006/main">
              <a:ext uri="{FF2B5EF4-FFF2-40B4-BE49-F238E27FC236}">
                <a16:creationId xmlns:a16="http://schemas.microsoft.com/office/drawing/2014/main" id="{3AE44407-FB6E-4661-9134-9C8619AA5DF3}"/>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16</a:t>
            </a:r>
          </a:p>
        </p:txBody>
      </p:sp>
    </p:spTree>
    <p:extLst>
      <p:ext uri="{BB962C8B-B14F-4D97-AF65-F5344CB8AC3E}">
        <p14:creationId xmlns:p14="http://schemas.microsoft.com/office/powerpoint/2010/main" val="55996264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9479c6423ed492c"/>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0B7F382-7AC6-4A1B-B859-D85C6102237B}"/>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P03: consulta de 2024 en Polars</a:t>
            </a:r>
          </a:p>
        </p:txBody>
      </p:sp>
      <p:sp>
        <p:nvSpPr>
          <p:cNvPr id="3" name="">
            <a:extLst xmlns:a="http://schemas.openxmlformats.org/drawingml/2006/main">
              <a:ext uri="{FF2B5EF4-FFF2-40B4-BE49-F238E27FC236}">
                <a16:creationId xmlns:a16="http://schemas.microsoft.com/office/drawing/2014/main" id="{E4CBF37E-6B70-4099-B8E4-5520393E7825}"/>
              </a:ext>
            </a:extLst>
          </p:cNvPr>
          <p:cNvSpPr>
            <a:spLocks xmlns:a="http://schemas.openxmlformats.org/drawingml/2006/main" noGrp="1"/>
          </p:cNvSpPr>
          <p:nvPr/>
        </p:nvSpPr>
        <p:spPr>
          <a:xfrm xmlns:a="http://schemas.openxmlformats.org/drawingml/2006/main">
            <a:off x="685800" y="1524000"/>
            <a:ext cx="1082040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 11:05–12:00. En el notebook, después de lab.calidad(a)</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import polars as pl</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q = (pl.scan_parquet(a.out / "pqrs.parquet")</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     .filter(pl.col("anio") == 2024)</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     .group_by("corte_archivo", "mes_num")</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     .agg(pl.len().alias("reportes")))</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print(q.explain())</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r = q.collect(engine="streaming").sort("corte_archivo", "mes_num")</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assert r["reportes"].sum() == 2000</a:t>
            </a:r>
          </a:p>
        </p:txBody>
      </p:sp>
      <p:sp>
        <p:nvSpPr>
          <p:cNvPr id="4" name="">
            <a:extLst xmlns:a="http://schemas.openxmlformats.org/drawingml/2006/main">
              <a:ext uri="{FF2B5EF4-FFF2-40B4-BE49-F238E27FC236}">
                <a16:creationId xmlns:a16="http://schemas.microsoft.com/office/drawing/2014/main" id="{27FC5F80-7F83-44AB-AC1E-DCA9C09145A8}"/>
              </a:ext>
            </a:extLst>
          </p:cNvPr>
          <p:cNvSpPr>
            <a:spLocks xmlns:a="http://schemas.openxmlformats.org/drawingml/2006/main" noGrp="1"/>
          </p:cNvSpPr>
          <p:nvPr/>
        </p:nvSpPr>
        <p:spPr>
          <a:xfrm xmlns:a="http://schemas.openxmlformats.org/drawingml/2006/main">
            <a:off x="609600" y="59531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55 min de práctica compartidos con DuckDB y la revisión de equivalencia.</a:t>
            </a:r>
          </a:p>
        </p:txBody>
      </p:sp>
      <p:sp>
        <p:nvSpPr>
          <p:cNvPr id="8" name="">
            <a:extLst xmlns:a="http://schemas.openxmlformats.org/drawingml/2006/main">
              <a:ext uri="{FF2B5EF4-FFF2-40B4-BE49-F238E27FC236}">
                <a16:creationId xmlns:a16="http://schemas.microsoft.com/office/drawing/2014/main" id="{A8E2E963-4924-4DAD-AA39-517219996EF7}"/>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678973DB-9DBF-497D-BC12-EC08C2F830E3}"/>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P03 — Práctica PQRS 03: Calidad de reportes y consulta diferida</a:t>
            </a:r>
          </a:p>
        </p:txBody>
      </p:sp>
      <p:sp>
        <p:nvSpPr>
          <p:cNvPr id="10" name="">
            <a:extLst xmlns:a="http://schemas.openxmlformats.org/drawingml/2006/main">
              <a:ext uri="{FF2B5EF4-FFF2-40B4-BE49-F238E27FC236}">
                <a16:creationId xmlns:a16="http://schemas.microsoft.com/office/drawing/2014/main" id="{3F0A749A-BC00-45F3-89DE-A0FD654E4B57}"/>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1" name="">
            <a:extLst xmlns:a="http://schemas.openxmlformats.org/drawingml/2006/main">
              <a:ext uri="{FF2B5EF4-FFF2-40B4-BE49-F238E27FC236}">
                <a16:creationId xmlns:a16="http://schemas.microsoft.com/office/drawing/2014/main" id="{E56CEFE5-5BC9-4161-BAAC-C8384203F8E1}"/>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17</a:t>
            </a:r>
          </a:p>
        </p:txBody>
      </p:sp>
    </p:spTree>
    <p:extLst>
      <p:ext uri="{BB962C8B-B14F-4D97-AF65-F5344CB8AC3E}">
        <p14:creationId xmlns:p14="http://schemas.microsoft.com/office/powerpoint/2010/main" val="666839576"/>
      </p:ext>
    </p:extLst>
  </p:cSld>
  <p:transition spd="med" advClick="1">
    <p:fade/>
  </p:transition>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dd562f446404a16"/>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8063DEB-EA9F-49A1-862A-870370C271AA}"/>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P03: consulta equivalente en DuckDB</a:t>
            </a:r>
          </a:p>
        </p:txBody>
      </p:sp>
      <p:sp>
        <p:nvSpPr>
          <p:cNvPr id="3" name="">
            <a:extLst xmlns:a="http://schemas.openxmlformats.org/drawingml/2006/main">
              <a:ext uri="{FF2B5EF4-FFF2-40B4-BE49-F238E27FC236}">
                <a16:creationId xmlns:a16="http://schemas.microsoft.com/office/drawing/2014/main" id="{D4918B68-E2F0-404C-833A-59A6006807FD}"/>
              </a:ext>
            </a:extLst>
          </p:cNvPr>
          <p:cNvSpPr>
            <a:spLocks xmlns:a="http://schemas.openxmlformats.org/drawingml/2006/main" noGrp="1"/>
          </p:cNvSpPr>
          <p:nvPr/>
        </p:nvSpPr>
        <p:spPr>
          <a:xfrm xmlns:a="http://schemas.openxmlformats.org/drawingml/2006/main">
            <a:off x="685800" y="1524000"/>
            <a:ext cx="1082040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import duckdb, pandas as pd</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con = duckdb.connect()</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sql = con.execute("""</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 SELECT corte_archivo, mes_num, count(*) AS reportes</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 FROM read_parquet(?) WHERE anio = 2024</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 GROUP BY corte_archivo, mes_num</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 ORDER BY corte_archivo, mes_num</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 [str(a.out / "pqrs.parquet")]).df()</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con.close()</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pd.testing.assert_frame_equal(</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 r.to_pandas(), sql, check_dtype=False)</a:t>
            </a:r>
          </a:p>
        </p:txBody>
      </p:sp>
      <p:sp>
        <p:nvSpPr>
          <p:cNvPr id="4" name="">
            <a:extLst xmlns:a="http://schemas.openxmlformats.org/drawingml/2006/main">
              <a:ext uri="{FF2B5EF4-FFF2-40B4-BE49-F238E27FC236}">
                <a16:creationId xmlns:a16="http://schemas.microsoft.com/office/drawing/2014/main" id="{DB8C8F29-1D6E-48AA-BFC0-9440B416B151}"/>
              </a:ext>
            </a:extLst>
          </p:cNvPr>
          <p:cNvSpPr>
            <a:spLocks xmlns:a="http://schemas.openxmlformats.org/drawingml/2006/main" noGrp="1"/>
          </p:cNvSpPr>
          <p:nvPr/>
        </p:nvSpPr>
        <p:spPr>
          <a:xfrm xmlns:a="http://schemas.openxmlformats.org/drawingml/2006/main">
            <a:off x="609600" y="59531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Misma entrada y consulta. Entrega: plan, tabla de resultados y comprobación.</a:t>
            </a:r>
          </a:p>
        </p:txBody>
      </p:sp>
      <p:sp>
        <p:nvSpPr>
          <p:cNvPr id="8" name="">
            <a:extLst xmlns:a="http://schemas.openxmlformats.org/drawingml/2006/main">
              <a:ext uri="{FF2B5EF4-FFF2-40B4-BE49-F238E27FC236}">
                <a16:creationId xmlns:a16="http://schemas.microsoft.com/office/drawing/2014/main" id="{13413B39-59E8-4374-9F2A-34CC5C04C266}"/>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6A25C1B6-A4BD-4D8B-B6D5-AB6E44CE2E37}"/>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P03 — Práctica PQRS 03: Calidad de reportes y consulta diferida</a:t>
            </a:r>
          </a:p>
        </p:txBody>
      </p:sp>
      <p:sp>
        <p:nvSpPr>
          <p:cNvPr id="10" name="">
            <a:extLst xmlns:a="http://schemas.openxmlformats.org/drawingml/2006/main">
              <a:ext uri="{FF2B5EF4-FFF2-40B4-BE49-F238E27FC236}">
                <a16:creationId xmlns:a16="http://schemas.microsoft.com/office/drawing/2014/main" id="{0A217EFD-DC18-4FF8-B838-825C122B287A}"/>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1" name="">
            <a:extLst xmlns:a="http://schemas.openxmlformats.org/drawingml/2006/main">
              <a:ext uri="{FF2B5EF4-FFF2-40B4-BE49-F238E27FC236}">
                <a16:creationId xmlns:a16="http://schemas.microsoft.com/office/drawing/2014/main" id="{8749DDE0-6939-4187-96E0-A4142035DA06}"/>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18</a:t>
            </a:r>
          </a:p>
        </p:txBody>
      </p:sp>
    </p:spTree>
    <p:extLst>
      <p:ext uri="{BB962C8B-B14F-4D97-AF65-F5344CB8AC3E}">
        <p14:creationId xmlns:p14="http://schemas.microsoft.com/office/powerpoint/2010/main" val="359978791"/>
      </p:ext>
    </p:extLst>
  </p:cSld>
  <p:transition spd="med" advClick="1">
    <p:fade/>
  </p:transition>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f3dbbf2c23304078"/>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BC4FA9D-7AC0-42BA-909C-C504C3724E25}"/>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Almuerzo</a:t>
            </a:r>
          </a:p>
        </p:txBody>
      </p:sp>
      <p:sp>
        <p:nvSpPr>
          <p:cNvPr id="2" name="">
            <a:extLst xmlns:a="http://schemas.openxmlformats.org/drawingml/2006/main">
              <a:ext uri="{FF2B5EF4-FFF2-40B4-BE49-F238E27FC236}">
                <a16:creationId xmlns:a16="http://schemas.microsoft.com/office/drawing/2014/main" id="{BF8C35E2-6FDA-4247-A3AC-41CD0FE103D3}"/>
              </a:ext>
            </a:extLst>
          </p:cNvPr>
          <p:cNvSpPr>
            <a:spLocks xmlns:a="http://schemas.openxmlformats.org/drawingml/2006/main" noGrp="1"/>
          </p:cNvSpPr>
          <p:nvPr/>
        </p:nvSpPr>
        <p:spPr>
          <a:xfrm xmlns:a="http://schemas.openxmlformats.org/drawingml/2006/main">
            <a:off x="609600" y="27146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5850" b="1">
                <a:solidFill>
                  <a:srgbClr val="1F3864"/>
                </a:solidFill>
                <a:latin typeface="Helvetica Neue"/>
                <a:ea typeface="Helvetica Neue"/>
                <a:cs typeface="Helvetica Neue"/>
              </a:defRPr>
            </a:pPr>
            <a:r>
              <a:rPr sz="5850" b="1">
                <a:solidFill>
                  <a:srgbClr val="1F3864"/>
                </a:solidFill>
                <a:latin typeface="Helvetica Neue"/>
                <a:ea typeface="Helvetica Neue"/>
                <a:cs typeface="Helvetica Neue"/>
              </a:rPr>
              <a:t>12:00–13:00</a:t>
            </a:r>
          </a:p>
        </p:txBody>
      </p:sp>
      <p:sp>
        <p:nvSpPr>
          <p:cNvPr id="3" name="">
            <a:extLst xmlns:a="http://schemas.openxmlformats.org/drawingml/2006/main">
              <a:ext uri="{FF2B5EF4-FFF2-40B4-BE49-F238E27FC236}">
                <a16:creationId xmlns:a16="http://schemas.microsoft.com/office/drawing/2014/main" id="{FA60A670-3DB1-46BD-B720-4FA241E56286}"/>
              </a:ext>
            </a:extLst>
          </p:cNvPr>
          <p:cNvSpPr>
            <a:spLocks xmlns:a="http://schemas.openxmlformats.org/drawingml/2006/main" noGrp="1"/>
          </p:cNvSpPr>
          <p:nvPr/>
        </p:nvSpPr>
        <p:spPr>
          <a:xfrm xmlns:a="http://schemas.openxmlformats.org/drawingml/2006/main">
            <a:off x="609600" y="4524375"/>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1F3864"/>
                </a:solidFill>
                <a:latin typeface="Helvetica Neue"/>
                <a:ea typeface="Helvetica Neue"/>
                <a:cs typeface="Helvetica Neue"/>
              </a:defRPr>
            </a:pPr>
            <a:r>
              <a:rPr sz="2400" b="0">
                <a:solidFill>
                  <a:srgbClr val="1F3864"/>
                </a:solidFill>
                <a:latin typeface="Helvetica Neue"/>
                <a:ea typeface="Helvetica Neue"/>
                <a:cs typeface="Helvetica Neue"/>
              </a:rPr>
              <a:t>Retomamos a la hora indicada.</a:t>
            </a:r>
          </a:p>
        </p:txBody>
      </p:sp>
      <p:sp>
        <p:nvSpPr>
          <p:cNvPr id="20" name="">
            <a:extLst xmlns:a="http://schemas.openxmlformats.org/drawingml/2006/main">
              <a:ext uri="{FF2B5EF4-FFF2-40B4-BE49-F238E27FC236}">
                <a16:creationId xmlns:a16="http://schemas.microsoft.com/office/drawing/2014/main" id="{6F3D2F49-8F4C-4E8C-9DF0-567A2D0A7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1" name="">
            <a:extLst xmlns:a="http://schemas.openxmlformats.org/drawingml/2006/main">
              <a:ext uri="{FF2B5EF4-FFF2-40B4-BE49-F238E27FC236}">
                <a16:creationId xmlns:a16="http://schemas.microsoft.com/office/drawing/2014/main" id="{20EA61EA-E0ED-48F4-AA88-F4953E2E2085}"/>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2" name="">
            <a:extLst xmlns:a="http://schemas.openxmlformats.org/drawingml/2006/main">
              <a:ext uri="{FF2B5EF4-FFF2-40B4-BE49-F238E27FC236}">
                <a16:creationId xmlns:a16="http://schemas.microsoft.com/office/drawing/2014/main" id="{54C971C8-3288-4DDA-B0E7-A59DB5F13DBA}"/>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23" name="">
            <a:extLst xmlns:a="http://schemas.openxmlformats.org/drawingml/2006/main">
              <a:ext uri="{FF2B5EF4-FFF2-40B4-BE49-F238E27FC236}">
                <a16:creationId xmlns:a16="http://schemas.microsoft.com/office/drawing/2014/main" id="{6752F98C-CE76-4BBC-BA4E-9DB2D946F8ED}"/>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19</a:t>
            </a:r>
          </a:p>
        </p:txBody>
      </p:sp>
    </p:spTree>
    <p:extLst>
      <p:ext uri="{BB962C8B-B14F-4D97-AF65-F5344CB8AC3E}">
        <p14:creationId xmlns:p14="http://schemas.microsoft.com/office/powerpoint/2010/main" val="1634427346"/>
      </p:ext>
    </p:extLst>
  </p:cSld>
  <p:transition spd="med" advClick="1">
    <p:fade/>
  </p:transition>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00961f653e32448d"/>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62817b4163804d1e"/>
          <a:stretch xmlns:a="http://schemas.openxmlformats.org/drawingml/2006/main"/>
        </p:blipFill>
        <p:spPr>
          <a:xfrm xmlns:a="http://schemas.openxmlformats.org/drawingml/2006/main">
            <a:off x="404813" y="1447800"/>
            <a:ext cx="6715125" cy="4476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32A648F-2F8C-401E-8786-F1C59907B44B}"/>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Rendimiento agrícola</a:t>
            </a:r>
          </a:p>
        </p:txBody>
      </p:sp>
      <p:sp>
        <p:nvSpPr>
          <p:cNvPr id="9" name="">
            <a:extLst xmlns:a="http://schemas.openxmlformats.org/drawingml/2006/main">
              <a:ext uri="{FF2B5EF4-FFF2-40B4-BE49-F238E27FC236}">
                <a16:creationId xmlns:a16="http://schemas.microsoft.com/office/drawing/2014/main" id="{AFA79AEF-B5ED-4219-A96D-CBFCC22C830B}"/>
              </a:ext>
            </a:extLst>
          </p:cNvPr>
          <p:cNvSpPr>
            <a:spLocks xmlns:a="http://schemas.openxmlformats.org/drawingml/2006/main" noGrp="1"/>
          </p:cNvSpPr>
          <p:nvPr/>
        </p:nvSpPr>
        <p:spPr>
          <a:xfrm xmlns:a="http://schemas.openxmlformats.org/drawingml/2006/main">
            <a:off x="7639050" y="1666875"/>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5546ED"/>
                </a:solidFill>
                <a:latin typeface="Calibri"/>
                <a:ea typeface="Calibri"/>
                <a:cs typeface="Calibri"/>
              </a:defRPr>
            </a:pPr>
            <a:r>
              <a:rPr sz="2100" b="1">
                <a:solidFill>
                  <a:srgbClr val="5546ED"/>
                </a:solidFill>
                <a:latin typeface="Calibri"/>
                <a:ea typeface="Calibri"/>
                <a:cs typeface="Calibri"/>
              </a:rPr>
              <a:t>Razón agregada</a:t>
            </a:r>
          </a:p>
        </p:txBody>
      </p:sp>
      <p:sp>
        <p:nvSpPr>
          <p:cNvPr id="10" name="">
            <a:extLst xmlns:a="http://schemas.openxmlformats.org/drawingml/2006/main">
              <a:ext uri="{FF2B5EF4-FFF2-40B4-BE49-F238E27FC236}">
                <a16:creationId xmlns:a16="http://schemas.microsoft.com/office/drawing/2014/main" id="{BBFED8B7-E563-4B67-B6BD-479370522E87}"/>
              </a:ext>
            </a:extLst>
          </p:cNvPr>
          <p:cNvSpPr>
            <a:spLocks xmlns:a="http://schemas.openxmlformats.org/drawingml/2006/main" noGrp="1"/>
          </p:cNvSpPr>
          <p:nvPr/>
        </p:nvSpPr>
        <p:spPr>
          <a:xfrm xmlns:a="http://schemas.openxmlformats.org/drawingml/2006/main">
            <a:off x="7639050" y="2114550"/>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R = Σ producción / Σ área</a:t>
            </a:r>
          </a:p>
        </p:txBody>
      </p:sp>
      <p:sp>
        <p:nvSpPr>
          <p:cNvPr id="11" name="">
            <a:extLst xmlns:a="http://schemas.openxmlformats.org/drawingml/2006/main">
              <a:ext uri="{FF2B5EF4-FFF2-40B4-BE49-F238E27FC236}">
                <a16:creationId xmlns:a16="http://schemas.microsoft.com/office/drawing/2014/main" id="{96123202-E503-403C-ADBD-6F9F1F80833B}"/>
              </a:ext>
            </a:extLst>
          </p:cNvPr>
          <p:cNvSpPr>
            <a:spLocks xmlns:a="http://schemas.openxmlformats.org/drawingml/2006/main" noGrp="1"/>
          </p:cNvSpPr>
          <p:nvPr/>
        </p:nvSpPr>
        <p:spPr>
          <a:xfrm xmlns:a="http://schemas.openxmlformats.org/drawingml/2006/main">
            <a:off x="7639050" y="30670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C948B"/>
                </a:solidFill>
                <a:latin typeface="Calibri"/>
                <a:ea typeface="Calibri"/>
                <a:cs typeface="Calibri"/>
              </a:defRPr>
            </a:pPr>
            <a:r>
              <a:rPr sz="2100" b="1">
                <a:solidFill>
                  <a:srgbClr val="0C948B"/>
                </a:solidFill>
                <a:latin typeface="Calibri"/>
                <a:ea typeface="Calibri"/>
                <a:cs typeface="Calibri"/>
              </a:rPr>
              <a:t>Ejemplo hipotético</a:t>
            </a:r>
          </a:p>
        </p:txBody>
      </p:sp>
      <p:sp>
        <p:nvSpPr>
          <p:cNvPr id="12" name="">
            <a:extLst xmlns:a="http://schemas.openxmlformats.org/drawingml/2006/main">
              <a:ext uri="{FF2B5EF4-FFF2-40B4-BE49-F238E27FC236}">
                <a16:creationId xmlns:a16="http://schemas.microsoft.com/office/drawing/2014/main" id="{B0114919-4139-4434-BB3F-B83828AB70A6}"/>
              </a:ext>
            </a:extLst>
          </p:cNvPr>
          <p:cNvSpPr>
            <a:spLocks xmlns:a="http://schemas.openxmlformats.org/drawingml/2006/main" noGrp="1"/>
          </p:cNvSpPr>
          <p:nvPr/>
        </p:nvSpPr>
        <p:spPr>
          <a:xfrm xmlns:a="http://schemas.openxmlformats.org/drawingml/2006/main">
            <a:off x="7639050" y="3514725"/>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(2 + 90) t / (1 + 9) ha = 9,2 t/ha</a:t>
            </a:r>
          </a:p>
        </p:txBody>
      </p:sp>
      <p:sp>
        <p:nvSpPr>
          <p:cNvPr id="13" name="">
            <a:extLst xmlns:a="http://schemas.openxmlformats.org/drawingml/2006/main">
              <a:ext uri="{FF2B5EF4-FFF2-40B4-BE49-F238E27FC236}">
                <a16:creationId xmlns:a16="http://schemas.microsoft.com/office/drawing/2014/main" id="{1AC03D0F-6E96-4B86-843C-CEE15274E7F7}"/>
              </a:ext>
            </a:extLst>
          </p:cNvPr>
          <p:cNvSpPr>
            <a:spLocks xmlns:a="http://schemas.openxmlformats.org/drawingml/2006/main" noGrp="1"/>
          </p:cNvSpPr>
          <p:nvPr/>
        </p:nvSpPr>
        <p:spPr>
          <a:xfrm xmlns:a="http://schemas.openxmlformats.org/drawingml/2006/main">
            <a:off x="7639050" y="4467225"/>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CF4E48"/>
                </a:solidFill>
                <a:latin typeface="Calibri"/>
                <a:ea typeface="Calibri"/>
                <a:cs typeface="Calibri"/>
              </a:defRPr>
            </a:pPr>
            <a:r>
              <a:rPr sz="2100" b="1">
                <a:solidFill>
                  <a:srgbClr val="CF4E48"/>
                </a:solidFill>
                <a:latin typeface="Calibri"/>
                <a:ea typeface="Calibri"/>
                <a:cs typeface="Calibri"/>
              </a:rPr>
              <a:t>Contraste</a:t>
            </a:r>
          </a:p>
        </p:txBody>
      </p:sp>
      <p:sp>
        <p:nvSpPr>
          <p:cNvPr id="14" name="">
            <a:extLst xmlns:a="http://schemas.openxmlformats.org/drawingml/2006/main">
              <a:ext uri="{FF2B5EF4-FFF2-40B4-BE49-F238E27FC236}">
                <a16:creationId xmlns:a16="http://schemas.microsoft.com/office/drawing/2014/main" id="{152AFA55-8AA4-489E-863E-98FC074109C4}"/>
              </a:ext>
            </a:extLst>
          </p:cNvPr>
          <p:cNvSpPr>
            <a:spLocks xmlns:a="http://schemas.openxmlformats.org/drawingml/2006/main" noGrp="1"/>
          </p:cNvSpPr>
          <p:nvPr/>
        </p:nvSpPr>
        <p:spPr>
          <a:xfrm xmlns:a="http://schemas.openxmlformats.org/drawingml/2006/main">
            <a:off x="7639050" y="4914900"/>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Promediar 2 y 10 da 6 t/ha: ignora las áreas diferentes.</a:t>
            </a:r>
          </a:p>
        </p:txBody>
      </p:sp>
      <p:sp>
        <p:nvSpPr>
          <p:cNvPr id="15" name="">
            <a:extLst xmlns:a="http://schemas.openxmlformats.org/drawingml/2006/main">
              <a:ext uri="{FF2B5EF4-FFF2-40B4-BE49-F238E27FC236}">
                <a16:creationId xmlns:a16="http://schemas.microsoft.com/office/drawing/2014/main" id="{EB12CE93-00DE-42DB-B14A-428104CB913B}"/>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Agrupar por municipio, cultivo, estado físico y año. Dibujo no a escala</a:t>
            </a:r>
          </a:p>
        </p:txBody>
      </p:sp>
      <p:sp>
        <p:nvSpPr>
          <p:cNvPr id="34" name="">
            <a:extLst xmlns:a="http://schemas.openxmlformats.org/drawingml/2006/main">
              <a:ext uri="{FF2B5EF4-FFF2-40B4-BE49-F238E27FC236}">
                <a16:creationId xmlns:a16="http://schemas.microsoft.com/office/drawing/2014/main" id="{711753BB-9673-4E09-BBD7-91D6E65FEC85}"/>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5" name="">
            <a:extLst xmlns:a="http://schemas.openxmlformats.org/drawingml/2006/main">
              <a:ext uri="{FF2B5EF4-FFF2-40B4-BE49-F238E27FC236}">
                <a16:creationId xmlns:a16="http://schemas.microsoft.com/office/drawing/2014/main" id="{28C6ABC8-CCAD-47D0-9D46-FDD552B35A64}"/>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6" name="">
            <a:extLst xmlns:a="http://schemas.openxmlformats.org/drawingml/2006/main">
              <a:ext uri="{FF2B5EF4-FFF2-40B4-BE49-F238E27FC236}">
                <a16:creationId xmlns:a16="http://schemas.microsoft.com/office/drawing/2014/main" id="{D74F3D6A-846E-460E-90E7-4C1083D16B98}"/>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37" name="">
            <a:extLst xmlns:a="http://schemas.openxmlformats.org/drawingml/2006/main">
              <a:ext uri="{FF2B5EF4-FFF2-40B4-BE49-F238E27FC236}">
                <a16:creationId xmlns:a16="http://schemas.microsoft.com/office/drawing/2014/main" id="{015CEA95-F3FA-4D03-9FD2-D8D1503EF47A}"/>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20</a:t>
            </a:r>
          </a:p>
        </p:txBody>
      </p:sp>
    </p:spTree>
    <p:extLst>
      <p:ext uri="{BB962C8B-B14F-4D97-AF65-F5344CB8AC3E}">
        <p14:creationId xmlns:p14="http://schemas.microsoft.com/office/powerpoint/2010/main" val="134701730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nodeType="clickEffect">
                                  <p:stCondLst>
                                    <p:cond delay="0"/>
                                  </p:stCondLst>
                                  <p:childTnLst>
                                    <p:set>
                                      <p:cBhvr>
                                        <p:cTn id="9" dur="1" fill="hold"/>
                                        <p:tgtEl>
                                          <p:spTgt spid="10"/>
                                        </p:tgtEl>
                                        <p:attrNameLst>
                                          <p:attrName>style.visibility</p:attrName>
                                        </p:attrNameLst>
                                      </p:cBhvr>
                                      <p:to>
                                        <p:strVal val="visible"/>
                                      </p:to>
                                    </p:set>
                                    <p:animEffect transition="in" filter="fade">
                                      <p:cBhvr>
                                        <p:cTn id="10" dur="3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1"/>
                                        </p:tgtEl>
                                        <p:attrNameLst>
                                          <p:attrName>style.visibility</p:attrName>
                                        </p:attrNameLst>
                                      </p:cBhvr>
                                      <p:to>
                                        <p:strVal val="visible"/>
                                      </p:to>
                                    </p:set>
                                    <p:animEffect transition="in" filter="fade">
                                      <p:cBhvr>
                                        <p:cTn id="15" dur="300"/>
                                        <p:tgtEl>
                                          <p:spTgt spid="11"/>
                                        </p:tgtEl>
                                      </p:cBhvr>
                                    </p:animEffect>
                                  </p:childTnLst>
                                </p:cTn>
                              </p:par>
                              <p:par>
                                <p:cTn id="16" presetID="10" presetClass="entr" presetSubtype="0" fill="hold" nodeType="clickEffect">
                                  <p:stCondLst>
                                    <p:cond delay="0"/>
                                  </p:stCondLst>
                                  <p:childTnLst>
                                    <p:set>
                                      <p:cBhvr>
                                        <p:cTn id="17" dur="1" fill="hold"/>
                                        <p:tgtEl>
                                          <p:spTgt spid="12"/>
                                        </p:tgtEl>
                                        <p:attrNameLst>
                                          <p:attrName>style.visibility</p:attrName>
                                        </p:attrNameLst>
                                      </p:cBhvr>
                                      <p:to>
                                        <p:strVal val="visible"/>
                                      </p:to>
                                    </p:set>
                                    <p:animEffect transition="in" filter="fade">
                                      <p:cBhvr>
                                        <p:cTn id="18" dur="3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3"/>
                                        </p:tgtEl>
                                        <p:attrNameLst>
                                          <p:attrName>style.visibility</p:attrName>
                                        </p:attrNameLst>
                                      </p:cBhvr>
                                      <p:to>
                                        <p:strVal val="visible"/>
                                      </p:to>
                                    </p:set>
                                    <p:animEffect transition="in" filter="fade">
                                      <p:cBhvr>
                                        <p:cTn id="23" dur="300"/>
                                        <p:tgtEl>
                                          <p:spTgt spid="13"/>
                                        </p:tgtEl>
                                      </p:cBhvr>
                                    </p:animEffect>
                                  </p:childTnLst>
                                </p:cTn>
                              </p:par>
                              <p:par>
                                <p:cTn id="24" presetID="10" presetClass="entr" presetSubtype="0" fill="hold" nodeType="clickEffect">
                                  <p:stCondLst>
                                    <p:cond delay="0"/>
                                  </p:stCondLst>
                                  <p:childTnLst>
                                    <p:set>
                                      <p:cBhvr>
                                        <p:cTn id="25" dur="1" fill="hold"/>
                                        <p:tgtEl>
                                          <p:spTgt spid="14"/>
                                        </p:tgtEl>
                                        <p:attrNameLst>
                                          <p:attrName>style.visibility</p:attrName>
                                        </p:attrNameLst>
                                      </p:cBhvr>
                                      <p:to>
                                        <p:strVal val="visible"/>
                                      </p:to>
                                    </p:set>
                                    <p:animEffect transition="in" filter="fade">
                                      <p:cBhvr>
                                        <p:cTn id="26"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c0d6db0cb2e4c95"/>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B164516-74D5-47E3-B520-45E45A0FC326}"/>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E06: rendimiento e integración SQL</a:t>
            </a:r>
          </a:p>
        </p:txBody>
      </p:sp>
      <p:sp>
        <p:nvSpPr>
          <p:cNvPr id="3" name="">
            <a:extLst xmlns:a="http://schemas.openxmlformats.org/drawingml/2006/main">
              <a:ext uri="{FF2B5EF4-FFF2-40B4-BE49-F238E27FC236}">
                <a16:creationId xmlns:a16="http://schemas.microsoft.com/office/drawing/2014/main" id="{359D29D7-B8C0-48D5-A4F0-B2D6C3DB4D0C}"/>
              </a:ext>
            </a:extLst>
          </p:cNvPr>
          <p:cNvSpPr>
            <a:spLocks xmlns:a="http://schemas.openxmlformats.org/drawingml/2006/main" noGrp="1"/>
          </p:cNvSpPr>
          <p:nvPr/>
        </p:nvSpPr>
        <p:spPr>
          <a:xfrm xmlns:a="http://schemas.openxmlformats.org/drawingml/2006/main">
            <a:off x="685800" y="15240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13:00–13:20. Explicación</a:t>
            </a:r>
          </a:p>
        </p:txBody>
      </p:sp>
      <p:sp>
        <p:nvSpPr>
          <p:cNvPr id="4" name="">
            <a:extLst xmlns:a="http://schemas.openxmlformats.org/drawingml/2006/main">
              <a:ext uri="{FF2B5EF4-FFF2-40B4-BE49-F238E27FC236}">
                <a16:creationId xmlns:a16="http://schemas.microsoft.com/office/drawing/2014/main" id="{C825FE2B-DD2A-4D30-91DD-ECF3BC60EB8F}"/>
              </a:ext>
            </a:extLst>
          </p:cNvPr>
          <p:cNvSpPr>
            <a:spLocks xmlns:a="http://schemas.openxmlformats.org/drawingml/2006/main" noGrp="1"/>
          </p:cNvSpPr>
          <p:nvPr/>
        </p:nvSpPr>
        <p:spPr>
          <a:xfrm xmlns:a="http://schemas.openxmlformats.org/drawingml/2006/main">
            <a:off x="685800" y="197167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Área cosechada, producción, estado físico y unidad t/ha. Razón de sumas frente a media simple.</a:t>
            </a:r>
          </a:p>
        </p:txBody>
      </p:sp>
      <p:sp>
        <p:nvSpPr>
          <p:cNvPr id="5" name="">
            <a:extLst xmlns:a="http://schemas.openxmlformats.org/drawingml/2006/main">
              <a:ext uri="{FF2B5EF4-FFF2-40B4-BE49-F238E27FC236}">
                <a16:creationId xmlns:a16="http://schemas.microsoft.com/office/drawing/2014/main" id="{582B49C3-D006-4F2F-A25D-862D42D3F2B9}"/>
              </a:ext>
            </a:extLst>
          </p:cNvPr>
          <p:cNvSpPr>
            <a:spLocks xmlns:a="http://schemas.openxmlformats.org/drawingml/2006/main" noGrp="1"/>
          </p:cNvSpPr>
          <p:nvPr/>
        </p:nvSpPr>
        <p:spPr>
          <a:xfrm xmlns:a="http://schemas.openxmlformats.org/drawingml/2006/main">
            <a:off x="685800" y="29146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13:20–14:30. Ejecución: 70 min</a:t>
            </a:r>
          </a:p>
        </p:txBody>
      </p:sp>
      <p:sp>
        <p:nvSpPr>
          <p:cNvPr id="6" name="">
            <a:extLst xmlns:a="http://schemas.openxmlformats.org/drawingml/2006/main">
              <a:ext uri="{FF2B5EF4-FFF2-40B4-BE49-F238E27FC236}">
                <a16:creationId xmlns:a16="http://schemas.microsoft.com/office/drawing/2014/main" id="{365C6EBD-4204-4371-8112-BFFCBA2CFFE8}"/>
              </a:ext>
            </a:extLst>
          </p:cNvPr>
          <p:cNvSpPr>
            <a:spLocks xmlns:a="http://schemas.openxmlformats.org/drawingml/2006/main" noGrp="1"/>
          </p:cNvSpPr>
          <p:nvPr/>
        </p:nvSpPr>
        <p:spPr>
          <a:xfrm xmlns:a="http://schemas.openxmlformats.org/drawingml/2006/main">
            <a:off x="685800" y="336232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Construir tablas, calcular rendimiento y resumir pH por municipio y año antes de unir.</a:t>
            </a:r>
          </a:p>
        </p:txBody>
      </p:sp>
      <p:sp>
        <p:nvSpPr>
          <p:cNvPr id="7" name="">
            <a:extLst xmlns:a="http://schemas.openxmlformats.org/drawingml/2006/main">
              <a:ext uri="{FF2B5EF4-FFF2-40B4-BE49-F238E27FC236}">
                <a16:creationId xmlns:a16="http://schemas.microsoft.com/office/drawing/2014/main" id="{BB75DED8-7FEC-4808-BF49-1B3B563EA0F4}"/>
              </a:ext>
            </a:extLst>
          </p:cNvPr>
          <p:cNvSpPr>
            <a:spLocks xmlns:a="http://schemas.openxmlformats.org/drawingml/2006/main" noGrp="1"/>
          </p:cNvSpPr>
          <p:nvPr/>
        </p:nvSpPr>
        <p:spPr>
          <a:xfrm xmlns:a="http://schemas.openxmlformats.org/drawingml/2006/main">
            <a:off x="685800" y="43053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Entrega del bloque</a:t>
            </a:r>
          </a:p>
        </p:txBody>
      </p:sp>
      <p:sp>
        <p:nvSpPr>
          <p:cNvPr id="8" name="">
            <a:extLst xmlns:a="http://schemas.openxmlformats.org/drawingml/2006/main">
              <a:ext uri="{FF2B5EF4-FFF2-40B4-BE49-F238E27FC236}">
                <a16:creationId xmlns:a16="http://schemas.microsoft.com/office/drawing/2014/main" id="{B221F956-0D51-4CE0-B413-86B737174C50}"/>
              </a:ext>
            </a:extLst>
          </p:cNvPr>
          <p:cNvSpPr>
            <a:spLocks xmlns:a="http://schemas.openxmlformats.org/drawingml/2006/main" noGrp="1"/>
          </p:cNvSpPr>
          <p:nvPr/>
        </p:nvSpPr>
        <p:spPr>
          <a:xfrm xmlns:a="http://schemas.openxmlformats.org/drawingml/2006/main">
            <a:off x="685800" y="475297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SQL y controles de grupos, cobertura del cruce y unidades.</a:t>
            </a:r>
          </a:p>
        </p:txBody>
      </p:sp>
      <p:sp>
        <p:nvSpPr>
          <p:cNvPr id="9" name="">
            <a:extLst xmlns:a="http://schemas.openxmlformats.org/drawingml/2006/main">
              <a:ext uri="{FF2B5EF4-FFF2-40B4-BE49-F238E27FC236}">
                <a16:creationId xmlns:a16="http://schemas.microsoft.com/office/drawing/2014/main" id="{FA986F47-A4F9-4769-8039-BE9CC73B2046}"/>
              </a:ext>
            </a:extLst>
          </p:cNvPr>
          <p:cNvSpPr>
            <a:spLocks xmlns:a="http://schemas.openxmlformats.org/drawingml/2006/main" noGrp="1"/>
          </p:cNvSpPr>
          <p:nvPr/>
        </p:nvSpPr>
        <p:spPr>
          <a:xfrm xmlns:a="http://schemas.openxmlformats.org/drawingml/2006/main">
            <a:off x="609600" y="59531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Bloque total: 90 min. Calidad debe ejecutarse antes de consultas.</a:t>
            </a:r>
          </a:p>
        </p:txBody>
      </p:sp>
      <p:sp>
        <p:nvSpPr>
          <p:cNvPr id="13" name="">
            <a:extLst xmlns:a="http://schemas.openxmlformats.org/drawingml/2006/main">
              <a:ext uri="{FF2B5EF4-FFF2-40B4-BE49-F238E27FC236}">
                <a16:creationId xmlns:a16="http://schemas.microsoft.com/office/drawing/2014/main" id="{733FDF4A-D513-4DD4-9EFE-0ED4E65A91A5}"/>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DF6FC2F9-4C12-4EDC-9A3E-6B346777E365}"/>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E06 — Ejercicio 06: Rendimiento agrícola e integración SQL</a:t>
            </a:r>
          </a:p>
        </p:txBody>
      </p:sp>
      <p:sp>
        <p:nvSpPr>
          <p:cNvPr id="15" name="">
            <a:extLst xmlns:a="http://schemas.openxmlformats.org/drawingml/2006/main">
              <a:ext uri="{FF2B5EF4-FFF2-40B4-BE49-F238E27FC236}">
                <a16:creationId xmlns:a16="http://schemas.microsoft.com/office/drawing/2014/main" id="{31A965AC-7F24-4AD7-AB96-0A74B7DCFC1F}"/>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6" name="">
            <a:extLst xmlns:a="http://schemas.openxmlformats.org/drawingml/2006/main">
              <a:ext uri="{FF2B5EF4-FFF2-40B4-BE49-F238E27FC236}">
                <a16:creationId xmlns:a16="http://schemas.microsoft.com/office/drawing/2014/main" id="{0DB975F7-F8C0-4ABC-9E79-4BC174CDE593}"/>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21</a:t>
            </a:r>
          </a:p>
        </p:txBody>
      </p:sp>
    </p:spTree>
    <p:extLst>
      <p:ext uri="{BB962C8B-B14F-4D97-AF65-F5344CB8AC3E}">
        <p14:creationId xmlns:p14="http://schemas.microsoft.com/office/powerpoint/2010/main" val="189034900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c9e98cbb0ce24175"/>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e4ada9a79c4441bb"/>
          <a:stretch xmlns:a="http://schemas.openxmlformats.org/drawingml/2006/main"/>
        </p:blipFill>
        <p:spPr>
          <a:xfrm xmlns:a="http://schemas.openxmlformats.org/drawingml/2006/main">
            <a:off x="400050" y="1412875"/>
            <a:ext cx="6705600" cy="4470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7E40FF8-F381-4061-A4F1-2012A6C7F39F}"/>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Construir las tablas analíticas</a:t>
            </a:r>
          </a:p>
        </p:txBody>
      </p:sp>
      <p:sp>
        <p:nvSpPr>
          <p:cNvPr id="9" name="">
            <a:extLst xmlns:a="http://schemas.openxmlformats.org/drawingml/2006/main">
              <a:ext uri="{FF2B5EF4-FFF2-40B4-BE49-F238E27FC236}">
                <a16:creationId xmlns:a16="http://schemas.microsoft.com/office/drawing/2014/main" id="{76D261F2-545B-4F6E-923C-2F1FFB146825}"/>
              </a:ext>
            </a:extLst>
          </p:cNvPr>
          <p:cNvSpPr>
            <a:spLocks xmlns:a="http://schemas.openxmlformats.org/drawingml/2006/main" noGrp="1"/>
          </p:cNvSpPr>
          <p:nvPr/>
        </p:nvSpPr>
        <p:spPr>
          <a:xfrm xmlns:a="http://schemas.openxmlformats.org/drawingml/2006/main">
            <a:off x="7620000" y="167640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Construcción</a:t>
            </a:r>
          </a:p>
        </p:txBody>
      </p:sp>
      <p:sp>
        <p:nvSpPr>
          <p:cNvPr id="10" name="">
            <a:extLst xmlns:a="http://schemas.openxmlformats.org/drawingml/2006/main">
              <a:ext uri="{FF2B5EF4-FFF2-40B4-BE49-F238E27FC236}">
                <a16:creationId xmlns:a16="http://schemas.microsoft.com/office/drawing/2014/main" id="{7E55030B-6DBB-44E5-BB30-A29CEC48C630}"/>
              </a:ext>
            </a:extLst>
          </p:cNvPr>
          <p:cNvSpPr>
            <a:spLocks xmlns:a="http://schemas.openxmlformats.org/drawingml/2006/main" noGrp="1"/>
          </p:cNvSpPr>
          <p:nvPr/>
        </p:nvSpPr>
        <p:spPr>
          <a:xfrm xmlns:a="http://schemas.openxmlformats.org/drawingml/2006/main">
            <a:off x="7620000" y="208597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03B68"/>
                </a:solidFill>
                <a:latin typeface="Consolas"/>
                <a:ea typeface="Consolas"/>
                <a:cs typeface="Consolas"/>
              </a:defRPr>
            </a:pPr>
            <a:r>
              <a:rPr sz="1650" b="0">
                <a:solidFill>
                  <a:srgbClr val="203B68"/>
                </a:solidFill>
                <a:latin typeface="Consolas"/>
                <a:ea typeface="Consolas"/>
                <a:cs typeface="Consolas"/>
              </a:rPr>
              <a:t>python talleres.py consultas</a:t>
            </a:r>
          </a:p>
        </p:txBody>
      </p:sp>
      <p:sp>
        <p:nvSpPr>
          <p:cNvPr id="11" name="">
            <a:extLst xmlns:a="http://schemas.openxmlformats.org/drawingml/2006/main">
              <a:ext uri="{FF2B5EF4-FFF2-40B4-BE49-F238E27FC236}">
                <a16:creationId xmlns:a16="http://schemas.microsoft.com/office/drawing/2014/main" id="{65E92023-AAED-4AF1-81A6-F3A54300B7CC}"/>
              </a:ext>
            </a:extLst>
          </p:cNvPr>
          <p:cNvSpPr>
            <a:spLocks xmlns:a="http://schemas.openxmlformats.org/drawingml/2006/main" noGrp="1"/>
          </p:cNvSpPr>
          <p:nvPr/>
        </p:nvSpPr>
        <p:spPr>
          <a:xfrm xmlns:a="http://schemas.openxmlformats.org/drawingml/2006/main">
            <a:off x="7620000" y="3076575"/>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C948B"/>
                </a:solidFill>
                <a:latin typeface="Calibri"/>
                <a:ea typeface="Calibri"/>
                <a:cs typeface="Calibri"/>
              </a:defRPr>
            </a:pPr>
            <a:r>
              <a:rPr sz="2025" b="1">
                <a:solidFill>
                  <a:srgbClr val="0C948B"/>
                </a:solidFill>
                <a:latin typeface="Calibri"/>
                <a:ea typeface="Calibri"/>
                <a:cs typeface="Calibri"/>
              </a:rPr>
              <a:t>Consulta del resultado</a:t>
            </a:r>
          </a:p>
        </p:txBody>
      </p:sp>
      <p:sp>
        <p:nvSpPr>
          <p:cNvPr id="12" name="">
            <a:extLst xmlns:a="http://schemas.openxmlformats.org/drawingml/2006/main">
              <a:ext uri="{FF2B5EF4-FFF2-40B4-BE49-F238E27FC236}">
                <a16:creationId xmlns:a16="http://schemas.microsoft.com/office/drawing/2014/main" id="{3D3CB89D-7B29-4B45-BA76-5728C6B26C27}"/>
              </a:ext>
            </a:extLst>
          </p:cNvPr>
          <p:cNvSpPr>
            <a:spLocks xmlns:a="http://schemas.openxmlformats.org/drawingml/2006/main" noGrp="1"/>
          </p:cNvSpPr>
          <p:nvPr/>
        </p:nvSpPr>
        <p:spPr>
          <a:xfrm xmlns:a="http://schemas.openxmlformats.org/drawingml/2006/main">
            <a:off x="7620000" y="3486150"/>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03B68"/>
                </a:solidFill>
                <a:latin typeface="Consolas"/>
                <a:ea typeface="Consolas"/>
                <a:cs typeface="Consolas"/>
              </a:defRPr>
            </a:pPr>
            <a:r>
              <a:rPr sz="1650" b="0">
                <a:solidFill>
                  <a:srgbClr val="203B68"/>
                </a:solidFill>
                <a:latin typeface="Consolas"/>
                <a:ea typeface="Consolas"/>
                <a:cs typeface="Consolas"/>
              </a:rPr>
              <a:t>SELECT count(*) FROM rendimiento;</a:t>
            </a:r>
          </a:p>
        </p:txBody>
      </p:sp>
      <p:sp>
        <p:nvSpPr>
          <p:cNvPr id="13" name="">
            <a:extLst xmlns:a="http://schemas.openxmlformats.org/drawingml/2006/main">
              <a:ext uri="{FF2B5EF4-FFF2-40B4-BE49-F238E27FC236}">
                <a16:creationId xmlns:a16="http://schemas.microsoft.com/office/drawing/2014/main" id="{012E870E-0E04-4D6A-BC0F-4CB49C72C764}"/>
              </a:ext>
            </a:extLst>
          </p:cNvPr>
          <p:cNvSpPr>
            <a:spLocks xmlns:a="http://schemas.openxmlformats.org/drawingml/2006/main" noGrp="1"/>
          </p:cNvSpPr>
          <p:nvPr/>
        </p:nvSpPr>
        <p:spPr>
          <a:xfrm xmlns:a="http://schemas.openxmlformats.org/drawingml/2006/main">
            <a:off x="7620000" y="447675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F4E48"/>
                </a:solidFill>
                <a:latin typeface="Calibri"/>
                <a:ea typeface="Calibri"/>
                <a:cs typeface="Calibri"/>
              </a:defRPr>
            </a:pPr>
            <a:r>
              <a:rPr sz="2025" b="1">
                <a:solidFill>
                  <a:srgbClr val="CF4E48"/>
                </a:solidFill>
                <a:latin typeface="Calibri"/>
                <a:ea typeface="Calibri"/>
                <a:cs typeface="Calibri"/>
              </a:rPr>
              <a:t>Control del corte</a:t>
            </a:r>
          </a:p>
        </p:txBody>
      </p:sp>
      <p:sp>
        <p:nvSpPr>
          <p:cNvPr id="14" name="">
            <a:extLst xmlns:a="http://schemas.openxmlformats.org/drawingml/2006/main">
              <a:ext uri="{FF2B5EF4-FFF2-40B4-BE49-F238E27FC236}">
                <a16:creationId xmlns:a16="http://schemas.microsoft.com/office/drawing/2014/main" id="{94236CC8-6047-41B2-8741-00257F4E5AB5}"/>
              </a:ext>
            </a:extLst>
          </p:cNvPr>
          <p:cNvSpPr>
            <a:spLocks xmlns:a="http://schemas.openxmlformats.org/drawingml/2006/main" noGrp="1"/>
          </p:cNvSpPr>
          <p:nvPr/>
        </p:nvSpPr>
        <p:spPr>
          <a:xfrm xmlns:a="http://schemas.openxmlformats.org/drawingml/2006/main">
            <a:off x="7620000" y="488632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03B68"/>
                </a:solidFill>
                <a:latin typeface="Consolas"/>
                <a:ea typeface="Consolas"/>
                <a:cs typeface="Consolas"/>
              </a:defRPr>
            </a:pPr>
            <a:r>
              <a:rPr sz="1650" b="0">
                <a:solidFill>
                  <a:srgbClr val="203B68"/>
                </a:solidFill>
                <a:latin typeface="Consolas"/>
                <a:ea typeface="Consolas"/>
                <a:cs typeface="Consolas"/>
              </a:rPr>
              <a:t>107.620 grupos con clave explícita.</a:t>
            </a:r>
          </a:p>
        </p:txBody>
      </p:sp>
      <p:sp>
        <p:nvSpPr>
          <p:cNvPr id="15" name="">
            <a:extLst xmlns:a="http://schemas.openxmlformats.org/drawingml/2006/main">
              <a:ext uri="{FF2B5EF4-FFF2-40B4-BE49-F238E27FC236}">
                <a16:creationId xmlns:a16="http://schemas.microsoft.com/office/drawing/2014/main" id="{0DE378F5-D027-4B3C-9CEA-A5D7B6EF1048}"/>
              </a:ext>
            </a:extLst>
          </p:cNvPr>
          <p:cNvSpPr>
            <a:spLocks xmlns:a="http://schemas.openxmlformats.org/drawingml/2006/main" noGrp="1"/>
          </p:cNvSpPr>
          <p:nvPr/>
        </p:nvSpPr>
        <p:spPr>
          <a:xfrm xmlns:a="http://schemas.openxmlformats.org/drawingml/2006/main">
            <a:off x="609600" y="5972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Consultar salidas/suelo_sabio.duckdb. Los comandos completos están en las notas</a:t>
            </a:r>
          </a:p>
        </p:txBody>
      </p:sp>
      <p:sp>
        <p:nvSpPr>
          <p:cNvPr id="34" name="">
            <a:extLst xmlns:a="http://schemas.openxmlformats.org/drawingml/2006/main">
              <a:ext uri="{FF2B5EF4-FFF2-40B4-BE49-F238E27FC236}">
                <a16:creationId xmlns:a16="http://schemas.microsoft.com/office/drawing/2014/main" id="{C304A3FB-69AD-46F7-925E-996ED6416FF6}"/>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5" name="">
            <a:extLst xmlns:a="http://schemas.openxmlformats.org/drawingml/2006/main">
              <a:ext uri="{FF2B5EF4-FFF2-40B4-BE49-F238E27FC236}">
                <a16:creationId xmlns:a16="http://schemas.microsoft.com/office/drawing/2014/main" id="{51356251-5FC8-486D-B86A-7894CA8F5138}"/>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6" name="">
            <a:extLst xmlns:a="http://schemas.openxmlformats.org/drawingml/2006/main">
              <a:ext uri="{FF2B5EF4-FFF2-40B4-BE49-F238E27FC236}">
                <a16:creationId xmlns:a16="http://schemas.microsoft.com/office/drawing/2014/main" id="{934A2B7B-64D9-4C10-A5B3-4C6C07454677}"/>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37" name="">
            <a:extLst xmlns:a="http://schemas.openxmlformats.org/drawingml/2006/main">
              <a:ext uri="{FF2B5EF4-FFF2-40B4-BE49-F238E27FC236}">
                <a16:creationId xmlns:a16="http://schemas.microsoft.com/office/drawing/2014/main" id="{0F545B70-1BBD-43FE-9D56-8F19CF4E11AB}"/>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22</a:t>
            </a:r>
          </a:p>
        </p:txBody>
      </p:sp>
    </p:spTree>
    <p:extLst>
      <p:ext uri="{BB962C8B-B14F-4D97-AF65-F5344CB8AC3E}">
        <p14:creationId xmlns:p14="http://schemas.microsoft.com/office/powerpoint/2010/main" val="165451725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nodeType="clickEffect">
                                  <p:stCondLst>
                                    <p:cond delay="0"/>
                                  </p:stCondLst>
                                  <p:childTnLst>
                                    <p:set>
                                      <p:cBhvr>
                                        <p:cTn id="9" dur="1" fill="hold"/>
                                        <p:tgtEl>
                                          <p:spTgt spid="10"/>
                                        </p:tgtEl>
                                        <p:attrNameLst>
                                          <p:attrName>style.visibility</p:attrName>
                                        </p:attrNameLst>
                                      </p:cBhvr>
                                      <p:to>
                                        <p:strVal val="visible"/>
                                      </p:to>
                                    </p:set>
                                    <p:animEffect transition="in" filter="fade">
                                      <p:cBhvr>
                                        <p:cTn id="10" dur="3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1"/>
                                        </p:tgtEl>
                                        <p:attrNameLst>
                                          <p:attrName>style.visibility</p:attrName>
                                        </p:attrNameLst>
                                      </p:cBhvr>
                                      <p:to>
                                        <p:strVal val="visible"/>
                                      </p:to>
                                    </p:set>
                                    <p:animEffect transition="in" filter="fade">
                                      <p:cBhvr>
                                        <p:cTn id="15" dur="300"/>
                                        <p:tgtEl>
                                          <p:spTgt spid="11"/>
                                        </p:tgtEl>
                                      </p:cBhvr>
                                    </p:animEffect>
                                  </p:childTnLst>
                                </p:cTn>
                              </p:par>
                              <p:par>
                                <p:cTn id="16" presetID="10" presetClass="entr" presetSubtype="0" fill="hold" nodeType="clickEffect">
                                  <p:stCondLst>
                                    <p:cond delay="0"/>
                                  </p:stCondLst>
                                  <p:childTnLst>
                                    <p:set>
                                      <p:cBhvr>
                                        <p:cTn id="17" dur="1" fill="hold"/>
                                        <p:tgtEl>
                                          <p:spTgt spid="12"/>
                                        </p:tgtEl>
                                        <p:attrNameLst>
                                          <p:attrName>style.visibility</p:attrName>
                                        </p:attrNameLst>
                                      </p:cBhvr>
                                      <p:to>
                                        <p:strVal val="visible"/>
                                      </p:to>
                                    </p:set>
                                    <p:animEffect transition="in" filter="fade">
                                      <p:cBhvr>
                                        <p:cTn id="18" dur="3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3"/>
                                        </p:tgtEl>
                                        <p:attrNameLst>
                                          <p:attrName>style.visibility</p:attrName>
                                        </p:attrNameLst>
                                      </p:cBhvr>
                                      <p:to>
                                        <p:strVal val="visible"/>
                                      </p:to>
                                    </p:set>
                                    <p:animEffect transition="in" filter="fade">
                                      <p:cBhvr>
                                        <p:cTn id="23" dur="300"/>
                                        <p:tgtEl>
                                          <p:spTgt spid="13"/>
                                        </p:tgtEl>
                                      </p:cBhvr>
                                    </p:animEffect>
                                  </p:childTnLst>
                                </p:cTn>
                              </p:par>
                              <p:par>
                                <p:cTn id="24" presetID="10" presetClass="entr" presetSubtype="0" fill="hold" nodeType="clickEffect">
                                  <p:stCondLst>
                                    <p:cond delay="0"/>
                                  </p:stCondLst>
                                  <p:childTnLst>
                                    <p:set>
                                      <p:cBhvr>
                                        <p:cTn id="25" dur="1" fill="hold"/>
                                        <p:tgtEl>
                                          <p:spTgt spid="14"/>
                                        </p:tgtEl>
                                        <p:attrNameLst>
                                          <p:attrName>style.visibility</p:attrName>
                                        </p:attrNameLst>
                                      </p:cBhvr>
                                      <p:to>
                                        <p:strVal val="visible"/>
                                      </p:to>
                                    </p:set>
                                    <p:animEffect transition="in" filter="fade">
                                      <p:cBhvr>
                                        <p:cTn id="26"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347fe50273dc415b"/>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B4A9205-3527-47B1-BB63-42722559F6D0}"/>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Agregación ponderada</a:t>
            </a:r>
          </a:p>
        </p:txBody>
      </p:sp>
      <p:sp>
        <p:nvSpPr>
          <p:cNvPr id="2" name="">
            <a:extLst xmlns:a="http://schemas.openxmlformats.org/drawingml/2006/main">
              <a:ext uri="{FF2B5EF4-FFF2-40B4-BE49-F238E27FC236}">
                <a16:creationId xmlns:a16="http://schemas.microsoft.com/office/drawing/2014/main" id="{7B24AE4C-BD69-4DC3-8F24-89652F6CEFF1}"/>
              </a:ext>
            </a:extLst>
          </p:cNvPr>
          <p:cNvSpPr>
            <a:spLocks xmlns:a="http://schemas.openxmlformats.org/drawingml/2006/main" noGrp="1"/>
          </p:cNvSpPr>
          <p:nvPr/>
        </p:nvSpPr>
        <p:spPr>
          <a:xfrm xmlns:a="http://schemas.openxmlformats.org/drawingml/2006/main">
            <a:off x="609600" y="1952625"/>
            <a:ext cx="10953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F3864"/>
                </a:solidFill>
                <a:latin typeface="Menlo"/>
                <a:ea typeface="Menlo"/>
                <a:cs typeface="Menlo"/>
              </a:defRPr>
            </a:pPr>
            <a:r>
              <a:rPr sz="1875" b="0">
                <a:solidFill>
                  <a:srgbClr val="1F3864"/>
                </a:solidFill>
                <a:latin typeface="Menlo"/>
                <a:ea typeface="Menlo"/>
                <a:cs typeface="Menlo"/>
              </a:rPr>
              <a:t>SELECT codigo_municipio, cultivo, estado_fisico, anio,</a:t>
            </a:r>
          </a:p>
          <a:p xmlns:a="http://schemas.openxmlformats.org/drawingml/2006/main">
            <a:pPr>
              <a:buNone/>
              <a:defRPr sz="1875" b="0">
                <a:solidFill>
                  <a:srgbClr val="1F3864"/>
                </a:solidFill>
                <a:latin typeface="Menlo"/>
                <a:ea typeface="Menlo"/>
                <a:cs typeface="Menlo"/>
              </a:defRPr>
            </a:pPr>
            <a:r>
              <a:rPr sz="1875" b="0">
                <a:solidFill>
                  <a:srgbClr val="1F3864"/>
                </a:solidFill>
                <a:latin typeface="Menlo"/>
                <a:ea typeface="Menlo"/>
                <a:cs typeface="Menlo"/>
              </a:rPr>
              <a:t>       sum(produccion_t) / sum(area_ha) AS t_ha</a:t>
            </a:r>
          </a:p>
          <a:p xmlns:a="http://schemas.openxmlformats.org/drawingml/2006/main">
            <a:pPr>
              <a:buNone/>
              <a:defRPr sz="1875" b="0">
                <a:solidFill>
                  <a:srgbClr val="1F3864"/>
                </a:solidFill>
                <a:latin typeface="Menlo"/>
                <a:ea typeface="Menlo"/>
                <a:cs typeface="Menlo"/>
              </a:defRPr>
            </a:pPr>
            <a:r>
              <a:rPr sz="1875" b="0">
                <a:solidFill>
                  <a:srgbClr val="1F3864"/>
                </a:solidFill>
                <a:latin typeface="Menlo"/>
                <a:ea typeface="Menlo"/>
                <a:cs typeface="Menlo"/>
              </a:rPr>
              <a:t>FROM eva</a:t>
            </a:r>
          </a:p>
          <a:p xmlns:a="http://schemas.openxmlformats.org/drawingml/2006/main">
            <a:pPr>
              <a:buNone/>
              <a:defRPr sz="1875" b="0">
                <a:solidFill>
                  <a:srgbClr val="1F3864"/>
                </a:solidFill>
                <a:latin typeface="Menlo"/>
                <a:ea typeface="Menlo"/>
                <a:cs typeface="Menlo"/>
              </a:defRPr>
            </a:pPr>
            <a:r>
              <a:rPr sz="1875" b="0">
                <a:solidFill>
                  <a:srgbClr val="1F3864"/>
                </a:solidFill>
                <a:latin typeface="Menlo"/>
                <a:ea typeface="Menlo"/>
                <a:cs typeface="Menlo"/>
              </a:rPr>
              <a:t>WHERE apto_rendimiento</a:t>
            </a:r>
          </a:p>
          <a:p xmlns:a="http://schemas.openxmlformats.org/drawingml/2006/main">
            <a:pPr>
              <a:buNone/>
              <a:defRPr sz="1875" b="0">
                <a:solidFill>
                  <a:srgbClr val="1F3864"/>
                </a:solidFill>
                <a:latin typeface="Menlo"/>
                <a:ea typeface="Menlo"/>
                <a:cs typeface="Menlo"/>
              </a:defRPr>
            </a:pPr>
            <a:r>
              <a:rPr sz="1875" b="0">
                <a:solidFill>
                  <a:srgbClr val="1F3864"/>
                </a:solidFill>
                <a:latin typeface="Menlo"/>
                <a:ea typeface="Menlo"/>
                <a:cs typeface="Menlo"/>
              </a:rPr>
              <a:t>GROUP BY codigo_municipio, cultivo, estado_fisico, anio;</a:t>
            </a:r>
          </a:p>
        </p:txBody>
      </p:sp>
      <p:sp>
        <p:nvSpPr>
          <p:cNvPr id="3" name="">
            <a:extLst xmlns:a="http://schemas.openxmlformats.org/drawingml/2006/main">
              <a:ext uri="{FF2B5EF4-FFF2-40B4-BE49-F238E27FC236}">
                <a16:creationId xmlns:a16="http://schemas.microsoft.com/office/drawing/2014/main" id="{D884E653-4D81-4ABC-BEF2-F856081CE055}"/>
              </a:ext>
            </a:extLst>
          </p:cNvPr>
          <p:cNvSpPr>
            <a:spLocks xmlns:a="http://schemas.openxmlformats.org/drawingml/2006/main" noGrp="1"/>
          </p:cNvSpPr>
          <p:nvPr/>
        </p:nvSpPr>
        <p:spPr>
          <a:xfrm xmlns:a="http://schemas.openxmlformats.org/drawingml/2006/main">
            <a:off x="609600" y="5657850"/>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F3864"/>
                </a:solidFill>
                <a:latin typeface="Helvetica Neue"/>
                <a:ea typeface="Helvetica Neue"/>
                <a:cs typeface="Helvetica Neue"/>
              </a:defRPr>
            </a:pPr>
            <a:r>
              <a:rPr sz="1875" b="0">
                <a:solidFill>
                  <a:srgbClr val="1F3864"/>
                </a:solidFill>
                <a:latin typeface="Helvetica Neue"/>
                <a:ea typeface="Helvetica Neue"/>
                <a:cs typeface="Helvetica Neue"/>
              </a:rPr>
              <a:t>Área cosechada y producción deben referirse al mismo conjunto.</a:t>
            </a:r>
          </a:p>
        </p:txBody>
      </p:sp>
      <p:sp>
        <p:nvSpPr>
          <p:cNvPr id="20" name="">
            <a:extLst xmlns:a="http://schemas.openxmlformats.org/drawingml/2006/main">
              <a:ext uri="{FF2B5EF4-FFF2-40B4-BE49-F238E27FC236}">
                <a16:creationId xmlns:a16="http://schemas.microsoft.com/office/drawing/2014/main" id="{9EE06C20-9226-47A7-87AE-235AFA978D6E}"/>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1" name="">
            <a:extLst xmlns:a="http://schemas.openxmlformats.org/drawingml/2006/main">
              <a:ext uri="{FF2B5EF4-FFF2-40B4-BE49-F238E27FC236}">
                <a16:creationId xmlns:a16="http://schemas.microsoft.com/office/drawing/2014/main" id="{691F3E03-1130-43FA-9290-F52186419960}"/>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2" name="">
            <a:extLst xmlns:a="http://schemas.openxmlformats.org/drawingml/2006/main">
              <a:ext uri="{FF2B5EF4-FFF2-40B4-BE49-F238E27FC236}">
                <a16:creationId xmlns:a16="http://schemas.microsoft.com/office/drawing/2014/main" id="{1C50B3DE-D0B9-445C-A6DA-42BDF03A15BA}"/>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23" name="">
            <a:extLst xmlns:a="http://schemas.openxmlformats.org/drawingml/2006/main">
              <a:ext uri="{FF2B5EF4-FFF2-40B4-BE49-F238E27FC236}">
                <a16:creationId xmlns:a16="http://schemas.microsoft.com/office/drawing/2014/main" id="{F419C842-5EDC-4136-957E-0F1F02AC0B95}"/>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23</a:t>
            </a:r>
          </a:p>
        </p:txBody>
      </p:sp>
    </p:spTree>
    <p:extLst>
      <p:ext uri="{BB962C8B-B14F-4D97-AF65-F5344CB8AC3E}">
        <p14:creationId xmlns:p14="http://schemas.microsoft.com/office/powerpoint/2010/main" val="1235611638"/>
      </p:ext>
    </p:extLst>
  </p:cSld>
  <p:transition spd="med" advClick="1">
    <p:fade/>
  </p:transition>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944f5fbae828432b"/>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7e995bf974274370"/>
          <a:stretch xmlns:a="http://schemas.openxmlformats.org/drawingml/2006/main"/>
        </p:blipFill>
        <p:spPr>
          <a:xfrm xmlns:a="http://schemas.openxmlformats.org/drawingml/2006/main">
            <a:off x="400050" y="1412875"/>
            <a:ext cx="6705600" cy="4470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AAEF20F-619F-42B1-91B7-61862C95A1C6}"/>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Mediana del pH por territorio</a:t>
            </a:r>
          </a:p>
        </p:txBody>
      </p:sp>
      <p:sp>
        <p:nvSpPr>
          <p:cNvPr id="9" name="">
            <a:extLst xmlns:a="http://schemas.openxmlformats.org/drawingml/2006/main">
              <a:ext uri="{FF2B5EF4-FFF2-40B4-BE49-F238E27FC236}">
                <a16:creationId xmlns:a16="http://schemas.microsoft.com/office/drawing/2014/main" id="{3B45148D-DB6B-40CD-84B9-591CF62A54A9}"/>
              </a:ext>
            </a:extLst>
          </p:cNvPr>
          <p:cNvSpPr>
            <a:spLocks xmlns:a="http://schemas.openxmlformats.org/drawingml/2006/main" noGrp="1"/>
          </p:cNvSpPr>
          <p:nvPr/>
        </p:nvSpPr>
        <p:spPr>
          <a:xfrm xmlns:a="http://schemas.openxmlformats.org/drawingml/2006/main">
            <a:off x="7620000" y="167640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Resumen por territorio</a:t>
            </a:r>
          </a:p>
        </p:txBody>
      </p:sp>
      <p:sp>
        <p:nvSpPr>
          <p:cNvPr id="10" name="">
            <a:extLst xmlns:a="http://schemas.openxmlformats.org/drawingml/2006/main">
              <a:ext uri="{FF2B5EF4-FFF2-40B4-BE49-F238E27FC236}">
                <a16:creationId xmlns:a16="http://schemas.microsoft.com/office/drawing/2014/main" id="{9D6C366A-3881-4573-B35B-59185A12D536}"/>
              </a:ext>
            </a:extLst>
          </p:cNvPr>
          <p:cNvSpPr>
            <a:spLocks xmlns:a="http://schemas.openxmlformats.org/drawingml/2006/main" noGrp="1"/>
          </p:cNvSpPr>
          <p:nvPr/>
        </p:nvSpPr>
        <p:spPr>
          <a:xfrm xmlns:a="http://schemas.openxmlformats.org/drawingml/2006/main">
            <a:off x="7620000" y="208597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Agrupar pH por municipio y año.</a:t>
            </a:r>
          </a:p>
        </p:txBody>
      </p:sp>
      <p:sp>
        <p:nvSpPr>
          <p:cNvPr id="11" name="">
            <a:extLst xmlns:a="http://schemas.openxmlformats.org/drawingml/2006/main">
              <a:ext uri="{FF2B5EF4-FFF2-40B4-BE49-F238E27FC236}">
                <a16:creationId xmlns:a16="http://schemas.microsoft.com/office/drawing/2014/main" id="{95D23284-7655-48E0-B72E-EED9029719BF}"/>
              </a:ext>
            </a:extLst>
          </p:cNvPr>
          <p:cNvSpPr>
            <a:spLocks xmlns:a="http://schemas.openxmlformats.org/drawingml/2006/main" noGrp="1"/>
          </p:cNvSpPr>
          <p:nvPr/>
        </p:nvSpPr>
        <p:spPr>
          <a:xfrm xmlns:a="http://schemas.openxmlformats.org/drawingml/2006/main">
            <a:off x="7620000" y="3076575"/>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C948B"/>
                </a:solidFill>
                <a:latin typeface="Calibri"/>
                <a:ea typeface="Calibri"/>
                <a:cs typeface="Calibri"/>
              </a:defRPr>
            </a:pPr>
            <a:r>
              <a:rPr sz="2025" b="1">
                <a:solidFill>
                  <a:srgbClr val="0C948B"/>
                </a:solidFill>
                <a:latin typeface="Calibri"/>
                <a:ea typeface="Calibri"/>
                <a:cs typeface="Calibri"/>
              </a:rPr>
              <a:t>Mediana y muestras</a:t>
            </a:r>
          </a:p>
        </p:txBody>
      </p:sp>
      <p:sp>
        <p:nvSpPr>
          <p:cNvPr id="12" name="">
            <a:extLst xmlns:a="http://schemas.openxmlformats.org/drawingml/2006/main">
              <a:ext uri="{FF2B5EF4-FFF2-40B4-BE49-F238E27FC236}">
                <a16:creationId xmlns:a16="http://schemas.microsoft.com/office/drawing/2014/main" id="{68985194-E7F2-44F5-B62F-291553FDEE6C}"/>
              </a:ext>
            </a:extLst>
          </p:cNvPr>
          <p:cNvSpPr>
            <a:spLocks xmlns:a="http://schemas.openxmlformats.org/drawingml/2006/main" noGrp="1"/>
          </p:cNvSpPr>
          <p:nvPr/>
        </p:nvSpPr>
        <p:spPr>
          <a:xfrm xmlns:a="http://schemas.openxmlformats.org/drawingml/2006/main">
            <a:off x="7620000" y="3486150"/>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Publicar el valor junto con el número de observaciones.</a:t>
            </a:r>
          </a:p>
        </p:txBody>
      </p:sp>
      <p:sp>
        <p:nvSpPr>
          <p:cNvPr id="13" name="">
            <a:extLst xmlns:a="http://schemas.openxmlformats.org/drawingml/2006/main">
              <a:ext uri="{FF2B5EF4-FFF2-40B4-BE49-F238E27FC236}">
                <a16:creationId xmlns:a16="http://schemas.microsoft.com/office/drawing/2014/main" id="{F74201BB-BD81-4F5A-99B9-2FA12C215CC2}"/>
              </a:ext>
            </a:extLst>
          </p:cNvPr>
          <p:cNvSpPr>
            <a:spLocks xmlns:a="http://schemas.openxmlformats.org/drawingml/2006/main" noGrp="1"/>
          </p:cNvSpPr>
          <p:nvPr/>
        </p:nvSpPr>
        <p:spPr>
          <a:xfrm xmlns:a="http://schemas.openxmlformats.org/drawingml/2006/main">
            <a:off x="7620000" y="447675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F4E48"/>
                </a:solidFill>
                <a:latin typeface="Calibri"/>
                <a:ea typeface="Calibri"/>
                <a:cs typeface="Calibri"/>
              </a:defRPr>
            </a:pPr>
            <a:r>
              <a:rPr sz="2025" b="1">
                <a:solidFill>
                  <a:srgbClr val="CF4E48"/>
                </a:solidFill>
                <a:latin typeface="Calibri"/>
                <a:ea typeface="Calibri"/>
                <a:cs typeface="Calibri"/>
              </a:rPr>
              <a:t>Cobertura</a:t>
            </a:r>
          </a:p>
        </p:txBody>
      </p:sp>
      <p:sp>
        <p:nvSpPr>
          <p:cNvPr id="14" name="">
            <a:extLst xmlns:a="http://schemas.openxmlformats.org/drawingml/2006/main">
              <a:ext uri="{FF2B5EF4-FFF2-40B4-BE49-F238E27FC236}">
                <a16:creationId xmlns:a16="http://schemas.microsoft.com/office/drawing/2014/main" id="{AFE57D93-2B21-404E-893F-5C904B3CD7BD}"/>
              </a:ext>
            </a:extLst>
          </p:cNvPr>
          <p:cNvSpPr>
            <a:spLocks xmlns:a="http://schemas.openxmlformats.org/drawingml/2006/main" noGrp="1"/>
          </p:cNvSpPr>
          <p:nvPr/>
        </p:nvSpPr>
        <p:spPr>
          <a:xfrm xmlns:a="http://schemas.openxmlformats.org/drawingml/2006/main">
            <a:off x="7620000" y="488632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Interpretar el resumen dentro de la muestra disponible.</a:t>
            </a:r>
          </a:p>
        </p:txBody>
      </p:sp>
      <p:sp>
        <p:nvSpPr>
          <p:cNvPr id="15" name="">
            <a:extLst xmlns:a="http://schemas.openxmlformats.org/drawingml/2006/main">
              <a:ext uri="{FF2B5EF4-FFF2-40B4-BE49-F238E27FC236}">
                <a16:creationId xmlns:a16="http://schemas.microsoft.com/office/drawing/2014/main" id="{E466DDB3-F95D-44C3-A177-2D21AEF179C5}"/>
              </a:ext>
            </a:extLst>
          </p:cNvPr>
          <p:cNvSpPr>
            <a:spLocks xmlns:a="http://schemas.openxmlformats.org/drawingml/2006/main" noGrp="1"/>
          </p:cNvSpPr>
          <p:nvPr/>
        </p:nvSpPr>
        <p:spPr>
          <a:xfrm xmlns:a="http://schemas.openxmlformats.org/drawingml/2006/main">
            <a:off x="609600" y="5972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El dibujo ilustra la posición central; no representa mediciones del corte</a:t>
            </a:r>
          </a:p>
        </p:txBody>
      </p:sp>
      <p:sp>
        <p:nvSpPr>
          <p:cNvPr id="34" name="">
            <a:extLst xmlns:a="http://schemas.openxmlformats.org/drawingml/2006/main">
              <a:ext uri="{FF2B5EF4-FFF2-40B4-BE49-F238E27FC236}">
                <a16:creationId xmlns:a16="http://schemas.microsoft.com/office/drawing/2014/main" id="{C17E51D2-3A45-4CD8-B533-C49BEAC9C2E3}"/>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5" name="">
            <a:extLst xmlns:a="http://schemas.openxmlformats.org/drawingml/2006/main">
              <a:ext uri="{FF2B5EF4-FFF2-40B4-BE49-F238E27FC236}">
                <a16:creationId xmlns:a16="http://schemas.microsoft.com/office/drawing/2014/main" id="{A0CEF737-1BF0-4F82-B7DB-FD3C1AD88869}"/>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6" name="">
            <a:extLst xmlns:a="http://schemas.openxmlformats.org/drawingml/2006/main">
              <a:ext uri="{FF2B5EF4-FFF2-40B4-BE49-F238E27FC236}">
                <a16:creationId xmlns:a16="http://schemas.microsoft.com/office/drawing/2014/main" id="{A6DB3770-1D74-456A-95E9-A2CBF5F88746}"/>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37" name="">
            <a:extLst xmlns:a="http://schemas.openxmlformats.org/drawingml/2006/main">
              <a:ext uri="{FF2B5EF4-FFF2-40B4-BE49-F238E27FC236}">
                <a16:creationId xmlns:a16="http://schemas.microsoft.com/office/drawing/2014/main" id="{B5E8A6BD-032B-408A-9F89-35A1A819AA1C}"/>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24</a:t>
            </a:r>
          </a:p>
        </p:txBody>
      </p:sp>
    </p:spTree>
    <p:extLst>
      <p:ext uri="{BB962C8B-B14F-4D97-AF65-F5344CB8AC3E}">
        <p14:creationId xmlns:p14="http://schemas.microsoft.com/office/powerpoint/2010/main" val="137301426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nodeType="clickEffect">
                                  <p:stCondLst>
                                    <p:cond delay="0"/>
                                  </p:stCondLst>
                                  <p:childTnLst>
                                    <p:set>
                                      <p:cBhvr>
                                        <p:cTn id="9" dur="1" fill="hold"/>
                                        <p:tgtEl>
                                          <p:spTgt spid="10"/>
                                        </p:tgtEl>
                                        <p:attrNameLst>
                                          <p:attrName>style.visibility</p:attrName>
                                        </p:attrNameLst>
                                      </p:cBhvr>
                                      <p:to>
                                        <p:strVal val="visible"/>
                                      </p:to>
                                    </p:set>
                                    <p:animEffect transition="in" filter="fade">
                                      <p:cBhvr>
                                        <p:cTn id="10" dur="3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1"/>
                                        </p:tgtEl>
                                        <p:attrNameLst>
                                          <p:attrName>style.visibility</p:attrName>
                                        </p:attrNameLst>
                                      </p:cBhvr>
                                      <p:to>
                                        <p:strVal val="visible"/>
                                      </p:to>
                                    </p:set>
                                    <p:animEffect transition="in" filter="fade">
                                      <p:cBhvr>
                                        <p:cTn id="15" dur="300"/>
                                        <p:tgtEl>
                                          <p:spTgt spid="11"/>
                                        </p:tgtEl>
                                      </p:cBhvr>
                                    </p:animEffect>
                                  </p:childTnLst>
                                </p:cTn>
                              </p:par>
                              <p:par>
                                <p:cTn id="16" presetID="10" presetClass="entr" presetSubtype="0" fill="hold" nodeType="clickEffect">
                                  <p:stCondLst>
                                    <p:cond delay="0"/>
                                  </p:stCondLst>
                                  <p:childTnLst>
                                    <p:set>
                                      <p:cBhvr>
                                        <p:cTn id="17" dur="1" fill="hold"/>
                                        <p:tgtEl>
                                          <p:spTgt spid="12"/>
                                        </p:tgtEl>
                                        <p:attrNameLst>
                                          <p:attrName>style.visibility</p:attrName>
                                        </p:attrNameLst>
                                      </p:cBhvr>
                                      <p:to>
                                        <p:strVal val="visible"/>
                                      </p:to>
                                    </p:set>
                                    <p:animEffect transition="in" filter="fade">
                                      <p:cBhvr>
                                        <p:cTn id="18" dur="3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3"/>
                                        </p:tgtEl>
                                        <p:attrNameLst>
                                          <p:attrName>style.visibility</p:attrName>
                                        </p:attrNameLst>
                                      </p:cBhvr>
                                      <p:to>
                                        <p:strVal val="visible"/>
                                      </p:to>
                                    </p:set>
                                    <p:animEffect transition="in" filter="fade">
                                      <p:cBhvr>
                                        <p:cTn id="23" dur="300"/>
                                        <p:tgtEl>
                                          <p:spTgt spid="13"/>
                                        </p:tgtEl>
                                      </p:cBhvr>
                                    </p:animEffect>
                                  </p:childTnLst>
                                </p:cTn>
                              </p:par>
                              <p:par>
                                <p:cTn id="24" presetID="10" presetClass="entr" presetSubtype="0" fill="hold" nodeType="clickEffect">
                                  <p:stCondLst>
                                    <p:cond delay="0"/>
                                  </p:stCondLst>
                                  <p:childTnLst>
                                    <p:set>
                                      <p:cBhvr>
                                        <p:cTn id="25" dur="1" fill="hold"/>
                                        <p:tgtEl>
                                          <p:spTgt spid="14"/>
                                        </p:tgtEl>
                                        <p:attrNameLst>
                                          <p:attrName>style.visibility</p:attrName>
                                        </p:attrNameLst>
                                      </p:cBhvr>
                                      <p:to>
                                        <p:strVal val="visible"/>
                                      </p:to>
                                    </p:set>
                                    <p:animEffect transition="in" filter="fade">
                                      <p:cBhvr>
                                        <p:cTn id="26"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e9d6786a69e141ae"/>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06973842628349d1"/>
          <a:stretch xmlns:a="http://schemas.openxmlformats.org/drawingml/2006/main"/>
        </p:blipFill>
        <p:spPr>
          <a:xfrm xmlns:a="http://schemas.openxmlformats.org/drawingml/2006/main">
            <a:off x="5053013" y="1447800"/>
            <a:ext cx="6715125"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965AA1F-99E2-4E19-8DA3-78F3B83A485C}"/>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Evitar multiplicar observaciones</a:t>
            </a:r>
          </a:p>
        </p:txBody>
      </p:sp>
      <p:sp>
        <p:nvSpPr>
          <p:cNvPr id="11" name="">
            <a:extLst xmlns:a="http://schemas.openxmlformats.org/drawingml/2006/main">
              <a:ext uri="{FF2B5EF4-FFF2-40B4-BE49-F238E27FC236}">
                <a16:creationId xmlns:a16="http://schemas.microsoft.com/office/drawing/2014/main" id="{75E8B10C-A0ED-4B27-8608-89DE439322CF}"/>
              </a:ext>
            </a:extLst>
          </p:cNvPr>
          <p:cNvSpPr>
            <a:spLocks xmlns:a="http://schemas.openxmlformats.org/drawingml/2006/main" noGrp="1"/>
          </p:cNvSpPr>
          <p:nvPr/>
        </p:nvSpPr>
        <p:spPr>
          <a:xfrm xmlns:a="http://schemas.openxmlformats.org/drawingml/2006/main">
            <a:off x="609600" y="166687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5546ED"/>
                </a:solidFill>
                <a:latin typeface="Calibri"/>
                <a:ea typeface="Calibri"/>
                <a:cs typeface="Calibri"/>
              </a:defRPr>
            </a:pPr>
            <a:r>
              <a:rPr sz="2100" b="1">
                <a:solidFill>
                  <a:srgbClr val="5546ED"/>
                </a:solidFill>
                <a:latin typeface="Calibri"/>
                <a:ea typeface="Calibri"/>
                <a:cs typeface="Calibri"/>
              </a:rPr>
              <a:t>Antes del cruce</a:t>
            </a:r>
          </a:p>
        </p:txBody>
      </p:sp>
      <p:sp>
        <p:nvSpPr>
          <p:cNvPr id="12" name="">
            <a:extLst xmlns:a="http://schemas.openxmlformats.org/drawingml/2006/main">
              <a:ext uri="{FF2B5EF4-FFF2-40B4-BE49-F238E27FC236}">
                <a16:creationId xmlns:a16="http://schemas.microsoft.com/office/drawing/2014/main" id="{D40655FD-BEFA-4B51-9424-8ABAE3615CDE}"/>
              </a:ext>
            </a:extLst>
          </p:cNvPr>
          <p:cNvSpPr>
            <a:spLocks xmlns:a="http://schemas.openxmlformats.org/drawingml/2006/main" noGrp="1"/>
          </p:cNvSpPr>
          <p:nvPr/>
        </p:nvSpPr>
        <p:spPr>
          <a:xfrm xmlns:a="http://schemas.openxmlformats.org/drawingml/2006/main">
            <a:off x="609600" y="2114550"/>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Resumir pH por municipio y año.</a:t>
            </a:r>
          </a:p>
        </p:txBody>
      </p:sp>
      <p:sp>
        <p:nvSpPr>
          <p:cNvPr id="13" name="">
            <a:extLst xmlns:a="http://schemas.openxmlformats.org/drawingml/2006/main">
              <a:ext uri="{FF2B5EF4-FFF2-40B4-BE49-F238E27FC236}">
                <a16:creationId xmlns:a16="http://schemas.microsoft.com/office/drawing/2014/main" id="{5477C3C0-B18F-474C-B5E4-3F6600807C6B}"/>
              </a:ext>
            </a:extLst>
          </p:cNvPr>
          <p:cNvSpPr>
            <a:spLocks xmlns:a="http://schemas.openxmlformats.org/drawingml/2006/main" noGrp="1"/>
          </p:cNvSpPr>
          <p:nvPr/>
        </p:nvSpPr>
        <p:spPr>
          <a:xfrm xmlns:a="http://schemas.openxmlformats.org/drawingml/2006/main">
            <a:off x="609600" y="30670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C948B"/>
                </a:solidFill>
                <a:latin typeface="Calibri"/>
                <a:ea typeface="Calibri"/>
                <a:cs typeface="Calibri"/>
              </a:defRPr>
            </a:pPr>
            <a:r>
              <a:rPr sz="2100" b="1">
                <a:solidFill>
                  <a:srgbClr val="0C948B"/>
                </a:solidFill>
                <a:latin typeface="Calibri"/>
                <a:ea typeface="Calibri"/>
                <a:cs typeface="Calibri"/>
              </a:rPr>
              <a:t>Clave del resumen</a:t>
            </a:r>
          </a:p>
        </p:txBody>
      </p:sp>
      <p:sp>
        <p:nvSpPr>
          <p:cNvPr id="14" name="">
            <a:extLst xmlns:a="http://schemas.openxmlformats.org/drawingml/2006/main">
              <a:ext uri="{FF2B5EF4-FFF2-40B4-BE49-F238E27FC236}">
                <a16:creationId xmlns:a16="http://schemas.microsoft.com/office/drawing/2014/main" id="{836E0748-DFCD-414C-9EBF-CB6146BC5543}"/>
              </a:ext>
            </a:extLst>
          </p:cNvPr>
          <p:cNvSpPr>
            <a:spLocks xmlns:a="http://schemas.openxmlformats.org/drawingml/2006/main" noGrp="1"/>
          </p:cNvSpPr>
          <p:nvPr/>
        </p:nvSpPr>
        <p:spPr>
          <a:xfrm xmlns:a="http://schemas.openxmlformats.org/drawingml/2006/main">
            <a:off x="609600" y="3514725"/>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Una fila por municipio y año para evitar multiplicación.</a:t>
            </a:r>
          </a:p>
        </p:txBody>
      </p:sp>
      <p:sp>
        <p:nvSpPr>
          <p:cNvPr id="15" name="">
            <a:extLst xmlns:a="http://schemas.openxmlformats.org/drawingml/2006/main">
              <a:ext uri="{FF2B5EF4-FFF2-40B4-BE49-F238E27FC236}">
                <a16:creationId xmlns:a16="http://schemas.microsoft.com/office/drawing/2014/main" id="{1A420D2E-B7BA-4D4F-BA2A-24D4055B5BE5}"/>
              </a:ext>
            </a:extLst>
          </p:cNvPr>
          <p:cNvSpPr>
            <a:spLocks xmlns:a="http://schemas.openxmlformats.org/drawingml/2006/main" noGrp="1"/>
          </p:cNvSpPr>
          <p:nvPr/>
        </p:nvSpPr>
        <p:spPr>
          <a:xfrm xmlns:a="http://schemas.openxmlformats.org/drawingml/2006/main">
            <a:off x="609600" y="446722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CF4E48"/>
                </a:solidFill>
                <a:latin typeface="Calibri"/>
                <a:ea typeface="Calibri"/>
                <a:cs typeface="Calibri"/>
              </a:defRPr>
            </a:pPr>
            <a:r>
              <a:rPr sz="2100" b="1">
                <a:solidFill>
                  <a:srgbClr val="CF4E48"/>
                </a:solidFill>
                <a:latin typeface="Calibri"/>
                <a:ea typeface="Calibri"/>
                <a:cs typeface="Calibri"/>
              </a:rPr>
              <a:t>Después del cruce</a:t>
            </a:r>
          </a:p>
        </p:txBody>
      </p:sp>
      <p:sp>
        <p:nvSpPr>
          <p:cNvPr id="16" name="">
            <a:extLst xmlns:a="http://schemas.openxmlformats.org/drawingml/2006/main">
              <a:ext uri="{FF2B5EF4-FFF2-40B4-BE49-F238E27FC236}">
                <a16:creationId xmlns:a16="http://schemas.microsoft.com/office/drawing/2014/main" id="{0270AA6F-564F-4D5B-825D-0DE0304FC338}"/>
              </a:ext>
            </a:extLst>
          </p:cNvPr>
          <p:cNvSpPr>
            <a:spLocks xmlns:a="http://schemas.openxmlformats.org/drawingml/2006/main" noGrp="1"/>
          </p:cNvSpPr>
          <p:nvPr/>
        </p:nvSpPr>
        <p:spPr>
          <a:xfrm xmlns:a="http://schemas.openxmlformats.org/drawingml/2006/main">
            <a:off x="609600" y="4914900"/>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Conservar cultivo y estado físico. Verificar filas y cobertura.</a:t>
            </a:r>
          </a:p>
        </p:txBody>
      </p:sp>
      <p:sp>
        <p:nvSpPr>
          <p:cNvPr id="17" name="">
            <a:extLst xmlns:a="http://schemas.openxmlformats.org/drawingml/2006/main">
              <a:ext uri="{FF2B5EF4-FFF2-40B4-BE49-F238E27FC236}">
                <a16:creationId xmlns:a16="http://schemas.microsoft.com/office/drawing/2014/main" id="{362C7A7C-51C7-4D70-9C2D-23EA8CCD8DD9}"/>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Relación exploratoria agregada. No equivale a parcelas emparejadas</a:t>
            </a:r>
          </a:p>
        </p:txBody>
      </p:sp>
      <p:sp>
        <p:nvSpPr>
          <p:cNvPr id="36" name="">
            <a:extLst xmlns:a="http://schemas.openxmlformats.org/drawingml/2006/main">
              <a:ext uri="{FF2B5EF4-FFF2-40B4-BE49-F238E27FC236}">
                <a16:creationId xmlns:a16="http://schemas.microsoft.com/office/drawing/2014/main" id="{A7DAD165-67BE-48F5-9837-B4D15EFE2329}"/>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7" name="">
            <a:extLst xmlns:a="http://schemas.openxmlformats.org/drawingml/2006/main">
              <a:ext uri="{FF2B5EF4-FFF2-40B4-BE49-F238E27FC236}">
                <a16:creationId xmlns:a16="http://schemas.microsoft.com/office/drawing/2014/main" id="{D7787565-C18B-45D6-8254-E6B33B2D05E5}"/>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8" name="">
            <a:extLst xmlns:a="http://schemas.openxmlformats.org/drawingml/2006/main">
              <a:ext uri="{FF2B5EF4-FFF2-40B4-BE49-F238E27FC236}">
                <a16:creationId xmlns:a16="http://schemas.microsoft.com/office/drawing/2014/main" id="{9D61410B-F321-4700-887C-7A8F40B3CFDA}"/>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39" name="">
            <a:extLst xmlns:a="http://schemas.openxmlformats.org/drawingml/2006/main">
              <a:ext uri="{FF2B5EF4-FFF2-40B4-BE49-F238E27FC236}">
                <a16:creationId xmlns:a16="http://schemas.microsoft.com/office/drawing/2014/main" id="{4CCC58E9-4B88-47FF-98DF-66CD8D0FB3FD}"/>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25</a:t>
            </a:r>
          </a:p>
        </p:txBody>
      </p:sp>
    </p:spTree>
    <p:extLst>
      <p:ext uri="{BB962C8B-B14F-4D97-AF65-F5344CB8AC3E}">
        <p14:creationId xmlns:p14="http://schemas.microsoft.com/office/powerpoint/2010/main" val="8785184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1"/>
                                        </p:tgtEl>
                                        <p:attrNameLst>
                                          <p:attrName>style.visibility</p:attrName>
                                        </p:attrNameLst>
                                      </p:cBhvr>
                                      <p:to>
                                        <p:strVal val="visible"/>
                                      </p:to>
                                    </p:set>
                                    <p:animEffect transition="in" filter="fade">
                                      <p:cBhvr>
                                        <p:cTn id="7" dur="300"/>
                                        <p:tgtEl>
                                          <p:spTgt spid="11"/>
                                        </p:tgtEl>
                                      </p:cBhvr>
                                    </p:animEffect>
                                  </p:childTnLst>
                                </p:cTn>
                              </p:par>
                              <p:par>
                                <p:cTn id="8" presetID="10" presetClass="entr" presetSubtype="0" fill="hold" nodeType="clickEffect">
                                  <p:stCondLst>
                                    <p:cond delay="0"/>
                                  </p:stCondLst>
                                  <p:childTnLst>
                                    <p:set>
                                      <p:cBhvr>
                                        <p:cTn id="9" dur="1" fill="hold"/>
                                        <p:tgtEl>
                                          <p:spTgt spid="12"/>
                                        </p:tgtEl>
                                        <p:attrNameLst>
                                          <p:attrName>style.visibility</p:attrName>
                                        </p:attrNameLst>
                                      </p:cBhvr>
                                      <p:to>
                                        <p:strVal val="visible"/>
                                      </p:to>
                                    </p:set>
                                    <p:animEffect transition="in" filter="fade">
                                      <p:cBhvr>
                                        <p:cTn id="10" dur="3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3"/>
                                        </p:tgtEl>
                                        <p:attrNameLst>
                                          <p:attrName>style.visibility</p:attrName>
                                        </p:attrNameLst>
                                      </p:cBhvr>
                                      <p:to>
                                        <p:strVal val="visible"/>
                                      </p:to>
                                    </p:set>
                                    <p:animEffect transition="in" filter="fade">
                                      <p:cBhvr>
                                        <p:cTn id="15" dur="300"/>
                                        <p:tgtEl>
                                          <p:spTgt spid="13"/>
                                        </p:tgtEl>
                                      </p:cBhvr>
                                    </p:animEffect>
                                  </p:childTnLst>
                                </p:cTn>
                              </p:par>
                              <p:par>
                                <p:cTn id="16" presetID="10" presetClass="entr" presetSubtype="0" fill="hold" nodeType="clickEffect">
                                  <p:stCondLst>
                                    <p:cond delay="0"/>
                                  </p:stCondLst>
                                  <p:childTnLst>
                                    <p:set>
                                      <p:cBhvr>
                                        <p:cTn id="17" dur="1" fill="hold"/>
                                        <p:tgtEl>
                                          <p:spTgt spid="14"/>
                                        </p:tgtEl>
                                        <p:attrNameLst>
                                          <p:attrName>style.visibility</p:attrName>
                                        </p:attrNameLst>
                                      </p:cBhvr>
                                      <p:to>
                                        <p:strVal val="visible"/>
                                      </p:to>
                                    </p:set>
                                    <p:animEffect transition="in" filter="fade">
                                      <p:cBhvr>
                                        <p:cTn id="18" dur="3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5"/>
                                        </p:tgtEl>
                                        <p:attrNameLst>
                                          <p:attrName>style.visibility</p:attrName>
                                        </p:attrNameLst>
                                      </p:cBhvr>
                                      <p:to>
                                        <p:strVal val="visible"/>
                                      </p:to>
                                    </p:set>
                                    <p:animEffect transition="in" filter="fade">
                                      <p:cBhvr>
                                        <p:cTn id="23" dur="300"/>
                                        <p:tgtEl>
                                          <p:spTgt spid="15"/>
                                        </p:tgtEl>
                                      </p:cBhvr>
                                    </p:animEffect>
                                  </p:childTnLst>
                                </p:cTn>
                              </p:par>
                              <p:par>
                                <p:cTn id="24" presetID="10" presetClass="entr" presetSubtype="0" fill="hold" nodeType="clickEffect">
                                  <p:stCondLst>
                                    <p:cond delay="0"/>
                                  </p:stCondLst>
                                  <p:childTnLst>
                                    <p:set>
                                      <p:cBhvr>
                                        <p:cTn id="25" dur="1" fill="hold"/>
                                        <p:tgtEl>
                                          <p:spTgt spid="16"/>
                                        </p:tgtEl>
                                        <p:attrNameLst>
                                          <p:attrName>style.visibility</p:attrName>
                                        </p:attrNameLst>
                                      </p:cBhvr>
                                      <p:to>
                                        <p:strVal val="visible"/>
                                      </p:to>
                                    </p:set>
                                    <p:animEffect transition="in" filter="fade">
                                      <p:cBhvr>
                                        <p:cTn id="26"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39e22a82b204e2e"/>
          <a:stretch xmlns:a="http://schemas.openxmlformats.org/drawingml/2006/main"/>
        </p:blipFill>
        <p:spPr>
          <a:xfrm xmlns:a="http://schemas.openxmlformats.org/drawingml/2006/main">
            <a:off x="0" y="0"/>
            <a:ext cx="12192000" cy="1143000"/>
          </a:xfrm>
          <a:prstGeom xmlns:a="http://schemas.openxmlformats.org/drawingml/2006/main" prst="rect">
            <a:avLst/>
          </a:prstGeom>
        </p:spPr>
      </p:pic>
      <p:graphicFrame>
        <p:nvGraphicFramePr>
          <p:cNvPr id="16" name=""/>
          <p:cNvGraphicFramePr/>
          <p:nvPr/>
        </p:nvGraphicFramePr>
        <p:xfrm>
          <a:off xmlns:a="http://schemas.openxmlformats.org/drawingml/2006/main" x="609600" y="1476375"/>
          <a:ext xmlns:a="http://schemas.openxmlformats.org/drawingml/2006/main" cx="10972800" cy="4286250"/>
        </p:xfrm>
        <a:graphic xmlns:a="http://schemas.openxmlformats.org/drawingml/2006/main">
          <a:graphicData uri="http://schemas.openxmlformats.org/drawingml/2006/table">
            <a:tbl>
              <a:tblPr/>
              <a:tblGrid>
                <a:gridCol w="2809875"/>
                <a:gridCol w="8162925"/>
              </a:tblGrid>
              <a:tr h="714375">
                <a:tc>
                  <a:txBody>
                    <a:bodyPr/>
                    <a:lstStyle/>
                    <a:p>
                      <a:r>
                        <a:rPr sz="1800" b="1">
                          <a:solidFill>
                            <a:srgbClr val="FFFFFF"/>
                          </a:solidFill>
                          <a:latin typeface="Calibri"/>
                          <a:ea typeface="Calibri"/>
                          <a:cs typeface="Calibri"/>
                        </a:rPr>
                        <a:t>14:30–15:00</a:t>
                      </a:r>
                    </a:p>
                  </a:txBody>
                  <a:tcPr marL="91440" marR="91440" marT="45720" marB="45720">
                    <a:solidFill>
                      <a:srgbClr val="4237BF"/>
                    </a:solidFill>
                  </a:tcPr>
                </a:tc>
                <a:tc>
                  <a:txBody>
                    <a:bodyPr/>
                    <a:lstStyle/>
                    <a:p>
                      <a:r>
                        <a:rPr sz="1800" b="1">
                          <a:solidFill>
                            <a:srgbClr val="FFFFFF"/>
                          </a:solidFill>
                          <a:latin typeface="Calibri"/>
                          <a:ea typeface="Calibri"/>
                          <a:cs typeface="Calibri"/>
                        </a:rPr>
                        <a:t>Actividad</a:t>
                      </a:r>
                    </a:p>
                  </a:txBody>
                  <a:tcPr marL="91440" marR="91440" marT="45720" marB="45720">
                    <a:solidFill>
                      <a:srgbClr val="4237BF"/>
                    </a:solidFill>
                  </a:tcPr>
                </a:tc>
              </a:tr>
              <a:tr h="714375">
                <a:tc>
                  <a:txBody>
                    <a:bodyPr/>
                    <a:lstStyle/>
                    <a:p>
                      <a:r>
                        <a:rPr sz="1800" b="0">
                          <a:solidFill>
                            <a:srgbClr val="203B68"/>
                          </a:solidFill>
                          <a:latin typeface="Calibri"/>
                          <a:ea typeface="Calibri"/>
                          <a:cs typeface="Calibri"/>
                        </a:rPr>
                        <a:t>14:30–14:40. Explicación</a:t>
                      </a:r>
                    </a:p>
                  </a:txBody>
                  <a:tcPr marL="91440" marR="91440" marT="45720" marB="45720">
                    <a:solidFill>
                      <a:srgbClr val="F4F8F8"/>
                    </a:solidFill>
                  </a:tcPr>
                </a:tc>
                <a:tc>
                  <a:txBody>
                    <a:bodyPr/>
                    <a:lstStyle/>
                    <a:p>
                      <a:r>
                        <a:rPr sz="1800" b="0">
                          <a:solidFill>
                            <a:srgbClr val="203B68"/>
                          </a:solidFill>
                          <a:latin typeface="Calibri"/>
                          <a:ea typeface="Calibri"/>
                          <a:cs typeface="Calibri"/>
                        </a:rPr>
                        <a:t>Uno a muchos, muchos a muchos. INNER JOIN y LEFT JOIN</a:t>
                      </a:r>
                    </a:p>
                  </a:txBody>
                  <a:tcPr marL="91440" marR="91440" marT="45720" marB="45720">
                    <a:solidFill>
                      <a:srgbClr val="F4F8F8"/>
                    </a:solidFill>
                  </a:tcPr>
                </a:tc>
              </a:tr>
              <a:tr h="714375">
                <a:tc>
                  <a:txBody>
                    <a:bodyPr/>
                    <a:lstStyle/>
                    <a:p>
                      <a:r>
                        <a:rPr sz="1800" b="0">
                          <a:solidFill>
                            <a:srgbClr val="203B68"/>
                          </a:solidFill>
                          <a:latin typeface="Calibri"/>
                          <a:ea typeface="Calibri"/>
                          <a:cs typeface="Calibri"/>
                        </a:rPr>
                        <a:t>14:40–15:00. Ejecución</a:t>
                      </a:r>
                    </a:p>
                  </a:txBody>
                  <a:tcPr marL="91440" marR="91440" marT="45720" marB="45720">
                    <a:solidFill>
                      <a:srgbClr val="E9F0F1"/>
                    </a:solidFill>
                  </a:tcPr>
                </a:tc>
                <a:tc>
                  <a:txBody>
                    <a:bodyPr/>
                    <a:lstStyle/>
                    <a:p>
                      <a:r>
                        <a:rPr sz="1800" b="0">
                          <a:solidFill>
                            <a:srgbClr val="203B68"/>
                          </a:solidFill>
                          <a:latin typeface="Calibri"/>
                          <a:ea typeface="Calibri"/>
                          <a:cs typeface="Calibri"/>
                        </a:rPr>
                        <a:t>Comparar filas antes y después de cada cruce</a:t>
                      </a:r>
                    </a:p>
                  </a:txBody>
                  <a:tcPr marL="91440" marR="91440" marT="45720" marB="45720">
                    <a:solidFill>
                      <a:srgbClr val="E9F0F1"/>
                    </a:solidFill>
                  </a:tcPr>
                </a:tc>
              </a:tr>
              <a:tr h="714375">
                <a:tc>
                  <a:txBody>
                    <a:bodyPr/>
                    <a:lstStyle/>
                    <a:p>
                      <a:r>
                        <a:rPr sz="1800" b="0">
                          <a:solidFill>
                            <a:srgbClr val="203B68"/>
                          </a:solidFill>
                          <a:latin typeface="Calibri"/>
                          <a:ea typeface="Calibri"/>
                          <a:cs typeface="Calibri"/>
                        </a:rPr>
                        <a:t>Clave del pH</a:t>
                      </a:r>
                    </a:p>
                  </a:txBody>
                  <a:tcPr marL="91440" marR="91440" marT="45720" marB="45720">
                    <a:solidFill>
                      <a:srgbClr val="F4F8F8"/>
                    </a:solidFill>
                  </a:tcPr>
                </a:tc>
                <a:tc>
                  <a:txBody>
                    <a:bodyPr/>
                    <a:lstStyle/>
                    <a:p>
                      <a:r>
                        <a:rPr sz="1800" b="0">
                          <a:solidFill>
                            <a:srgbClr val="203B68"/>
                          </a:solidFill>
                          <a:latin typeface="Calibri"/>
                          <a:ea typeface="Calibri"/>
                          <a:cs typeface="Calibri"/>
                        </a:rPr>
                        <a:t>Una fila por municipio y año en el resumen</a:t>
                      </a:r>
                    </a:p>
                  </a:txBody>
                  <a:tcPr marL="91440" marR="91440" marT="45720" marB="45720">
                    <a:solidFill>
                      <a:srgbClr val="F4F8F8"/>
                    </a:solidFill>
                  </a:tcPr>
                </a:tc>
              </a:tr>
              <a:tr h="714375">
                <a:tc>
                  <a:txBody>
                    <a:bodyPr/>
                    <a:lstStyle/>
                    <a:p>
                      <a:r>
                        <a:rPr sz="1800" b="0">
                          <a:solidFill>
                            <a:srgbClr val="203B68"/>
                          </a:solidFill>
                          <a:latin typeface="Calibri"/>
                          <a:ea typeface="Calibri"/>
                          <a:cs typeface="Calibri"/>
                        </a:rPr>
                        <a:t>Control del LEFT JOIN</a:t>
                      </a:r>
                    </a:p>
                  </a:txBody>
                  <a:tcPr marL="91440" marR="91440" marT="45720" marB="45720">
                    <a:solidFill>
                      <a:srgbClr val="E9F0F1"/>
                    </a:solidFill>
                  </a:tcPr>
                </a:tc>
                <a:tc>
                  <a:txBody>
                    <a:bodyPr/>
                    <a:lstStyle/>
                    <a:p>
                      <a:r>
                        <a:rPr sz="1800" b="0">
                          <a:solidFill>
                            <a:srgbClr val="203B68"/>
                          </a:solidFill>
                          <a:latin typeface="Calibri"/>
                          <a:ea typeface="Calibri"/>
                          <a:cs typeface="Calibri"/>
                        </a:rPr>
                        <a:t>Conservar 107.620 grupos del corte docente</a:t>
                      </a:r>
                    </a:p>
                  </a:txBody>
                  <a:tcPr marL="91440" marR="91440" marT="45720" marB="45720">
                    <a:solidFill>
                      <a:srgbClr val="E9F0F1"/>
                    </a:solidFill>
                  </a:tcPr>
                </a:tc>
              </a:tr>
              <a:tr h="714375">
                <a:tc>
                  <a:txBody>
                    <a:bodyPr/>
                    <a:lstStyle/>
                    <a:p>
                      <a:r>
                        <a:rPr sz="1800" b="0">
                          <a:solidFill>
                            <a:srgbClr val="203B68"/>
                          </a:solidFill>
                          <a:latin typeface="Calibri"/>
                          <a:ea typeface="Calibri"/>
                          <a:cs typeface="Calibri"/>
                        </a:rPr>
                        <a:t>Cobertura y ausencia</a:t>
                      </a:r>
                    </a:p>
                  </a:txBody>
                  <a:tcPr marL="91440" marR="91440" marT="45720" marB="45720">
                    <a:solidFill>
                      <a:srgbClr val="F4F8F8"/>
                    </a:solidFill>
                  </a:tcPr>
                </a:tc>
                <a:tc>
                  <a:txBody>
                    <a:bodyPr/>
                    <a:lstStyle/>
                    <a:p>
                      <a:r>
                        <a:rPr sz="1800" b="0">
                          <a:solidFill>
                            <a:srgbClr val="203B68"/>
                          </a:solidFill>
                          <a:latin typeface="Calibri"/>
                          <a:ea typeface="Calibri"/>
                          <a:cs typeface="Calibri"/>
                        </a:rPr>
                        <a:t>55.498 con pH. 52.122 sin resumen enlazado</a:t>
                      </a:r>
                    </a:p>
                  </a:txBody>
                  <a:tcPr marL="91440" marR="91440" marT="45720" marB="45720">
                    <a:solidFill>
                      <a:srgbClr val="F4F8F8"/>
                    </a:solidFill>
                  </a:tcPr>
                </a:tc>
              </a:tr>
            </a:tbl>
          </a:graphicData>
        </a:graphic>
      </p:graphicFrame>
      <p:sp>
        <p:nvSpPr>
          <p:cNvPr id="2" name="">
            <a:extLst xmlns:a="http://schemas.openxmlformats.org/drawingml/2006/main">
              <a:ext uri="{FF2B5EF4-FFF2-40B4-BE49-F238E27FC236}">
                <a16:creationId xmlns:a16="http://schemas.microsoft.com/office/drawing/2014/main" id="{BF2F3892-A0C0-48B2-8B16-543C61246261}"/>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Uniones: cardinalidad y cobertura</a:t>
            </a:r>
          </a:p>
        </p:txBody>
      </p:sp>
      <p:sp>
        <p:nvSpPr>
          <p:cNvPr id="4" name="">
            <a:extLst xmlns:a="http://schemas.openxmlformats.org/drawingml/2006/main">
              <a:ext uri="{FF2B5EF4-FFF2-40B4-BE49-F238E27FC236}">
                <a16:creationId xmlns:a16="http://schemas.microsoft.com/office/drawing/2014/main" id="{7999ECE7-9981-4A26-BED4-F6B1DE8F5298}"/>
              </a:ext>
            </a:extLst>
          </p:cNvPr>
          <p:cNvSpPr>
            <a:spLocks xmlns:a="http://schemas.openxmlformats.org/drawingml/2006/main" noGrp="1"/>
          </p:cNvSpPr>
          <p:nvPr/>
        </p:nvSpPr>
        <p:spPr>
          <a:xfrm xmlns:a="http://schemas.openxmlformats.org/drawingml/2006/main">
            <a:off x="609600" y="59531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Entrega: conteos y justificación de los registros sin correspondencia.</a:t>
            </a:r>
          </a:p>
        </p:txBody>
      </p:sp>
      <p:sp>
        <p:nvSpPr>
          <p:cNvPr id="9" name="">
            <a:extLst xmlns:a="http://schemas.openxmlformats.org/drawingml/2006/main">
              <a:ext uri="{FF2B5EF4-FFF2-40B4-BE49-F238E27FC236}">
                <a16:creationId xmlns:a16="http://schemas.microsoft.com/office/drawing/2014/main" id="{56D31508-2C58-461C-8B62-14A391548DB8}"/>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7F3E9612-EDD4-4D14-AA5A-3DCFED710B45}"/>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1" name="">
            <a:extLst xmlns:a="http://schemas.openxmlformats.org/drawingml/2006/main">
              <a:ext uri="{FF2B5EF4-FFF2-40B4-BE49-F238E27FC236}">
                <a16:creationId xmlns:a16="http://schemas.microsoft.com/office/drawing/2014/main" id="{ADB7F8B4-D103-4B36-BEC4-E097CE971155}"/>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2" name="">
            <a:extLst xmlns:a="http://schemas.openxmlformats.org/drawingml/2006/main">
              <a:ext uri="{FF2B5EF4-FFF2-40B4-BE49-F238E27FC236}">
                <a16:creationId xmlns:a16="http://schemas.microsoft.com/office/drawing/2014/main" id="{78204486-3525-4C7D-B593-9A8B6DE2B85F}"/>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26</a:t>
            </a:r>
          </a:p>
        </p:txBody>
      </p:sp>
    </p:spTree>
    <p:extLst>
      <p:ext uri="{BB962C8B-B14F-4D97-AF65-F5344CB8AC3E}">
        <p14:creationId xmlns:p14="http://schemas.microsoft.com/office/powerpoint/2010/main" val="222586495"/>
      </p:ext>
    </p:extLst>
  </p:cSld>
  <p:transition spd="med" advClick="1">
    <p:fade/>
  </p:transition>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1dc5f3e9c5f34f5a"/>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graphicFrame>
        <p:nvGraphicFramePr>
          <p:cNvPr id="39" name="Chart"/>
          <p:cNvGraphicFramePr/>
          <p:nvPr/>
        </p:nvGraphicFramePr>
        <p:xfrm>
          <a:off xmlns:a="http://schemas.openxmlformats.org/drawingml/2006/main" x="609600" y="1809750"/>
          <a:ext xmlns:a="http://schemas.openxmlformats.org/drawingml/2006/main" cx="7048500" cy="3714750"/>
        </p:xfrm>
        <a:graphic xmlns:a="http://schemas.openxmlformats.org/drawingml/2006/main">
          <a:graphicData uri="http://schemas.openxmlformats.org/drawingml/2006/chart">
            <c:chart xmlns:r="http://schemas.openxmlformats.org/officeDocument/2006/relationships" xmlns:c="http://schemas.openxmlformats.org/drawingml/2006/chart" r:id="R62e76e6f5ae04009"/>
          </a:graphicData>
        </a:graphic>
      </p:graphicFrame>
      <p:sp>
        <p:nvSpPr>
          <p:cNvPr id="7" name="">
            <a:extLst xmlns:a="http://schemas.openxmlformats.org/drawingml/2006/main">
              <a:ext uri="{FF2B5EF4-FFF2-40B4-BE49-F238E27FC236}">
                <a16:creationId xmlns:a16="http://schemas.microsoft.com/office/drawing/2014/main" id="{6233C1B2-FB75-42B1-BCF0-1547C962F2E8}"/>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Cobertura de la integración</a:t>
            </a:r>
          </a:p>
        </p:txBody>
      </p:sp>
      <p:sp>
        <p:nvSpPr>
          <p:cNvPr id="10" name="">
            <a:extLst xmlns:a="http://schemas.openxmlformats.org/drawingml/2006/main">
              <a:ext uri="{FF2B5EF4-FFF2-40B4-BE49-F238E27FC236}">
                <a16:creationId xmlns:a16="http://schemas.microsoft.com/office/drawing/2014/main" id="{16810EAA-60F9-47A1-A0EC-059D8C384E5E}"/>
              </a:ext>
            </a:extLst>
          </p:cNvPr>
          <p:cNvSpPr>
            <a:spLocks xmlns:a="http://schemas.openxmlformats.org/drawingml/2006/main" noGrp="1"/>
          </p:cNvSpPr>
          <p:nvPr/>
        </p:nvSpPr>
        <p:spPr>
          <a:xfrm xmlns:a="http://schemas.openxmlformats.org/drawingml/2006/main">
            <a:off x="8096250" y="2190750"/>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500" b="1">
                <a:solidFill>
                  <a:srgbClr val="5546ED"/>
                </a:solidFill>
                <a:latin typeface="Calibri"/>
                <a:ea typeface="Calibri"/>
                <a:cs typeface="Calibri"/>
              </a:defRPr>
            </a:pPr>
            <a:r>
              <a:rPr sz="4500" b="1">
                <a:solidFill>
                  <a:srgbClr val="5546ED"/>
                </a:solidFill>
                <a:latin typeface="Calibri"/>
                <a:ea typeface="Calibri"/>
                <a:cs typeface="Calibri"/>
              </a:rPr>
              <a:t>51,57 %</a:t>
            </a:r>
          </a:p>
        </p:txBody>
      </p:sp>
      <p:sp>
        <p:nvSpPr>
          <p:cNvPr id="11" name="">
            <a:extLst xmlns:a="http://schemas.openxmlformats.org/drawingml/2006/main">
              <a:ext uri="{FF2B5EF4-FFF2-40B4-BE49-F238E27FC236}">
                <a16:creationId xmlns:a16="http://schemas.microsoft.com/office/drawing/2014/main" id="{6CCAC7C9-B8A3-4987-A118-73E3533284C3}"/>
              </a:ext>
            </a:extLst>
          </p:cNvPr>
          <p:cNvSpPr>
            <a:spLocks xmlns:a="http://schemas.openxmlformats.org/drawingml/2006/main" noGrp="1"/>
          </p:cNvSpPr>
          <p:nvPr/>
        </p:nvSpPr>
        <p:spPr>
          <a:xfrm xmlns:a="http://schemas.openxmlformats.org/drawingml/2006/main">
            <a:off x="7858125" y="3190875"/>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203B68"/>
                </a:solidFill>
                <a:latin typeface="Calibri"/>
                <a:ea typeface="Calibri"/>
                <a:cs typeface="Calibri"/>
              </a:defRPr>
            </a:pPr>
            <a:r>
              <a:rPr sz="2100" b="1">
                <a:solidFill>
                  <a:srgbClr val="203B68"/>
                </a:solidFill>
                <a:latin typeface="Calibri"/>
                <a:ea typeface="Calibri"/>
                <a:cs typeface="Calibri"/>
              </a:rPr>
              <a:t>55.498 de 107.620 grupos</a:t>
            </a:r>
          </a:p>
        </p:txBody>
      </p:sp>
      <p:sp>
        <p:nvSpPr>
          <p:cNvPr id="12" name="">
            <a:extLst xmlns:a="http://schemas.openxmlformats.org/drawingml/2006/main">
              <a:ext uri="{FF2B5EF4-FFF2-40B4-BE49-F238E27FC236}">
                <a16:creationId xmlns:a16="http://schemas.microsoft.com/office/drawing/2014/main" id="{F2D21FFC-98CE-4C9A-A15F-9790A69E5D02}"/>
              </a:ext>
            </a:extLst>
          </p:cNvPr>
          <p:cNvSpPr>
            <a:spLocks xmlns:a="http://schemas.openxmlformats.org/drawingml/2006/main" noGrp="1"/>
          </p:cNvSpPr>
          <p:nvPr/>
        </p:nvSpPr>
        <p:spPr>
          <a:xfrm xmlns:a="http://schemas.openxmlformats.org/drawingml/2006/main">
            <a:off x="7858125" y="4048125"/>
            <a:ext cx="3619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Coincidencia por municipio y año.</a:t>
            </a:r>
          </a:p>
        </p:txBody>
      </p:sp>
      <p:sp>
        <p:nvSpPr>
          <p:cNvPr id="13" name="">
            <a:extLst xmlns:a="http://schemas.openxmlformats.org/drawingml/2006/main">
              <a:ext uri="{FF2B5EF4-FFF2-40B4-BE49-F238E27FC236}">
                <a16:creationId xmlns:a16="http://schemas.microsoft.com/office/drawing/2014/main" id="{7C8732DE-9527-4779-88D4-54ADB0410587}"/>
              </a:ext>
            </a:extLst>
          </p:cNvPr>
          <p:cNvSpPr>
            <a:spLocks xmlns:a="http://schemas.openxmlformats.org/drawingml/2006/main" noGrp="1"/>
          </p:cNvSpPr>
          <p:nvPr/>
        </p:nvSpPr>
        <p:spPr>
          <a:xfrm xmlns:a="http://schemas.openxmlformats.org/drawingml/2006/main">
            <a:off x="609600" y="5905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03B68"/>
                </a:solidFill>
                <a:latin typeface="Calibri"/>
                <a:ea typeface="Calibri"/>
                <a:cs typeface="Calibri"/>
              </a:defRPr>
            </a:pPr>
            <a:r>
              <a:rPr sz="1650" b="0">
                <a:solidFill>
                  <a:srgbClr val="203B68"/>
                </a:solidFill>
                <a:latin typeface="Calibri"/>
                <a:ea typeface="Calibri"/>
                <a:cs typeface="Calibri"/>
              </a:rPr>
              <a:t>Cobertura del corte docente. No equivale a parcelas emparejadas.</a:t>
            </a:r>
          </a:p>
        </p:txBody>
      </p:sp>
      <p:sp>
        <p:nvSpPr>
          <p:cNvPr id="32" name="">
            <a:extLst xmlns:a="http://schemas.openxmlformats.org/drawingml/2006/main">
              <a:ext uri="{FF2B5EF4-FFF2-40B4-BE49-F238E27FC236}">
                <a16:creationId xmlns:a16="http://schemas.microsoft.com/office/drawing/2014/main" id="{A4CFC226-6F7E-4F5A-A1EC-DB9D8FD62859}"/>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3" name="">
            <a:extLst xmlns:a="http://schemas.openxmlformats.org/drawingml/2006/main">
              <a:ext uri="{FF2B5EF4-FFF2-40B4-BE49-F238E27FC236}">
                <a16:creationId xmlns:a16="http://schemas.microsoft.com/office/drawing/2014/main" id="{F01BA26B-0745-46BF-A0E2-1575980CF6C0}"/>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4" name="">
            <a:extLst xmlns:a="http://schemas.openxmlformats.org/drawingml/2006/main">
              <a:ext uri="{FF2B5EF4-FFF2-40B4-BE49-F238E27FC236}">
                <a16:creationId xmlns:a16="http://schemas.microsoft.com/office/drawing/2014/main" id="{29FE2CE6-0298-4742-968F-33BDCF1F9AC4}"/>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35" name="">
            <a:extLst xmlns:a="http://schemas.openxmlformats.org/drawingml/2006/main">
              <a:ext uri="{FF2B5EF4-FFF2-40B4-BE49-F238E27FC236}">
                <a16:creationId xmlns:a16="http://schemas.microsoft.com/office/drawing/2014/main" id="{0F5D827E-53D4-4921-884B-ADF8BB63AB26}"/>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27</a:t>
            </a:r>
          </a:p>
        </p:txBody>
      </p:sp>
    </p:spTree>
    <p:extLst>
      <p:ext uri="{BB962C8B-B14F-4D97-AF65-F5344CB8AC3E}">
        <p14:creationId xmlns:p14="http://schemas.microsoft.com/office/powerpoint/2010/main" val="1292880244"/>
      </p:ext>
    </p:extLst>
  </p:cSld>
  <p:transition spd="med" advClick="1">
    <p:fade/>
  </p:transition>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77b265730bb4546"/>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A42D5B9-1A2E-4371-803C-2EC9C9952DBE}"/>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Receso de la tarde</a:t>
            </a:r>
          </a:p>
        </p:txBody>
      </p:sp>
      <p:sp>
        <p:nvSpPr>
          <p:cNvPr id="2" name="">
            <a:extLst xmlns:a="http://schemas.openxmlformats.org/drawingml/2006/main">
              <a:ext uri="{FF2B5EF4-FFF2-40B4-BE49-F238E27FC236}">
                <a16:creationId xmlns:a16="http://schemas.microsoft.com/office/drawing/2014/main" id="{DFD4003E-7EFC-46F5-9696-E4EEB287DD76}"/>
              </a:ext>
            </a:extLst>
          </p:cNvPr>
          <p:cNvSpPr>
            <a:spLocks xmlns:a="http://schemas.openxmlformats.org/drawingml/2006/main" noGrp="1"/>
          </p:cNvSpPr>
          <p:nvPr/>
        </p:nvSpPr>
        <p:spPr>
          <a:xfrm xmlns:a="http://schemas.openxmlformats.org/drawingml/2006/main">
            <a:off x="609600" y="27146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5850" b="1">
                <a:solidFill>
                  <a:srgbClr val="1F3864"/>
                </a:solidFill>
                <a:latin typeface="Helvetica Neue"/>
                <a:ea typeface="Helvetica Neue"/>
                <a:cs typeface="Helvetica Neue"/>
              </a:defRPr>
            </a:pPr>
            <a:r>
              <a:rPr sz="5850" b="1">
                <a:solidFill>
                  <a:srgbClr val="1F3864"/>
                </a:solidFill>
                <a:latin typeface="Helvetica Neue"/>
                <a:ea typeface="Helvetica Neue"/>
                <a:cs typeface="Helvetica Neue"/>
              </a:rPr>
              <a:t>15:00–15:15</a:t>
            </a:r>
          </a:p>
        </p:txBody>
      </p:sp>
      <p:sp>
        <p:nvSpPr>
          <p:cNvPr id="3" name="">
            <a:extLst xmlns:a="http://schemas.openxmlformats.org/drawingml/2006/main">
              <a:ext uri="{FF2B5EF4-FFF2-40B4-BE49-F238E27FC236}">
                <a16:creationId xmlns:a16="http://schemas.microsoft.com/office/drawing/2014/main" id="{F252FA5F-5430-4078-9362-EDD928A74E69}"/>
              </a:ext>
            </a:extLst>
          </p:cNvPr>
          <p:cNvSpPr>
            <a:spLocks xmlns:a="http://schemas.openxmlformats.org/drawingml/2006/main" noGrp="1"/>
          </p:cNvSpPr>
          <p:nvPr/>
        </p:nvSpPr>
        <p:spPr>
          <a:xfrm xmlns:a="http://schemas.openxmlformats.org/drawingml/2006/main">
            <a:off x="609600" y="4524375"/>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1F3864"/>
                </a:solidFill>
                <a:latin typeface="Helvetica Neue"/>
                <a:ea typeface="Helvetica Neue"/>
                <a:cs typeface="Helvetica Neue"/>
              </a:defRPr>
            </a:pPr>
            <a:r>
              <a:rPr sz="2400" b="0">
                <a:solidFill>
                  <a:srgbClr val="1F3864"/>
                </a:solidFill>
                <a:latin typeface="Helvetica Neue"/>
                <a:ea typeface="Helvetica Neue"/>
                <a:cs typeface="Helvetica Neue"/>
              </a:rPr>
              <a:t>Retomamos a la hora indicada.</a:t>
            </a:r>
          </a:p>
        </p:txBody>
      </p:sp>
      <p:sp>
        <p:nvSpPr>
          <p:cNvPr id="20" name="">
            <a:extLst xmlns:a="http://schemas.openxmlformats.org/drawingml/2006/main">
              <a:ext uri="{FF2B5EF4-FFF2-40B4-BE49-F238E27FC236}">
                <a16:creationId xmlns:a16="http://schemas.microsoft.com/office/drawing/2014/main" id="{A55DAC4F-8BBC-4944-B8C4-6AB45B200820}"/>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1" name="">
            <a:extLst xmlns:a="http://schemas.openxmlformats.org/drawingml/2006/main">
              <a:ext uri="{FF2B5EF4-FFF2-40B4-BE49-F238E27FC236}">
                <a16:creationId xmlns:a16="http://schemas.microsoft.com/office/drawing/2014/main" id="{BE2B326A-A1F4-4662-A192-634F3F7E5C63}"/>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2" name="">
            <a:extLst xmlns:a="http://schemas.openxmlformats.org/drawingml/2006/main">
              <a:ext uri="{FF2B5EF4-FFF2-40B4-BE49-F238E27FC236}">
                <a16:creationId xmlns:a16="http://schemas.microsoft.com/office/drawing/2014/main" id="{A99AA2A2-7D99-4664-ACA0-EA96495549D9}"/>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23" name="">
            <a:extLst xmlns:a="http://schemas.openxmlformats.org/drawingml/2006/main">
              <a:ext uri="{FF2B5EF4-FFF2-40B4-BE49-F238E27FC236}">
                <a16:creationId xmlns:a16="http://schemas.microsoft.com/office/drawing/2014/main" id="{036F6724-A5D0-4FA9-A10A-72AC78BE5E01}"/>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28</a:t>
            </a:r>
          </a:p>
        </p:txBody>
      </p:sp>
    </p:spTree>
    <p:extLst>
      <p:ext uri="{BB962C8B-B14F-4D97-AF65-F5344CB8AC3E}">
        <p14:creationId xmlns:p14="http://schemas.microsoft.com/office/powerpoint/2010/main" val="1924243981"/>
      </p:ext>
    </p:extLst>
  </p:cSld>
  <p:transition spd="med" advClick="1">
    <p:fade/>
  </p:transition>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791d9c218914746"/>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5EE84AA-E085-4E23-B2BA-A6361EF8B779}"/>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Auditoría entre pares</a:t>
            </a:r>
          </a:p>
        </p:txBody>
      </p:sp>
      <p:sp>
        <p:nvSpPr>
          <p:cNvPr id="3" name="">
            <a:extLst xmlns:a="http://schemas.openxmlformats.org/drawingml/2006/main">
              <a:ext uri="{FF2B5EF4-FFF2-40B4-BE49-F238E27FC236}">
                <a16:creationId xmlns:a16="http://schemas.microsoft.com/office/drawing/2014/main" id="{0CD3CAAA-58E5-482E-B643-17ECFF3B45DF}"/>
              </a:ext>
            </a:extLst>
          </p:cNvPr>
          <p:cNvSpPr>
            <a:spLocks xmlns:a="http://schemas.openxmlformats.org/drawingml/2006/main" noGrp="1"/>
          </p:cNvSpPr>
          <p:nvPr/>
        </p:nvSpPr>
        <p:spPr>
          <a:xfrm xmlns:a="http://schemas.openxmlformats.org/drawingml/2006/main">
            <a:off x="685800" y="15240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15:15–15:30. Orientación</a:t>
            </a:r>
          </a:p>
        </p:txBody>
      </p:sp>
      <p:sp>
        <p:nvSpPr>
          <p:cNvPr id="4" name="">
            <a:extLst xmlns:a="http://schemas.openxmlformats.org/drawingml/2006/main">
              <a:ext uri="{FF2B5EF4-FFF2-40B4-BE49-F238E27FC236}">
                <a16:creationId xmlns:a16="http://schemas.microsoft.com/office/drawing/2014/main" id="{8823A774-8D39-4186-A0E3-58E78C128234}"/>
              </a:ext>
            </a:extLst>
          </p:cNvPr>
          <p:cNvSpPr>
            <a:spLocks xmlns:a="http://schemas.openxmlformats.org/drawingml/2006/main" noGrp="1"/>
          </p:cNvSpPr>
          <p:nvPr/>
        </p:nvSpPr>
        <p:spPr>
          <a:xfrm xmlns:a="http://schemas.openxmlformats.org/drawingml/2006/main">
            <a:off x="685800" y="197167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Cada equipo recibe controles y consultas de otro equipo. Identificar las entradas y el alcance.</a:t>
            </a:r>
          </a:p>
        </p:txBody>
      </p:sp>
      <p:sp>
        <p:nvSpPr>
          <p:cNvPr id="5" name="">
            <a:extLst xmlns:a="http://schemas.openxmlformats.org/drawingml/2006/main">
              <a:ext uri="{FF2B5EF4-FFF2-40B4-BE49-F238E27FC236}">
                <a16:creationId xmlns:a16="http://schemas.microsoft.com/office/drawing/2014/main" id="{E5209591-97F2-4AA1-A513-32B0EDC8FF0B}"/>
              </a:ext>
            </a:extLst>
          </p:cNvPr>
          <p:cNvSpPr>
            <a:spLocks xmlns:a="http://schemas.openxmlformats.org/drawingml/2006/main" noGrp="1"/>
          </p:cNvSpPr>
          <p:nvPr/>
        </p:nvSpPr>
        <p:spPr>
          <a:xfrm xmlns:a="http://schemas.openxmlformats.org/drawingml/2006/main">
            <a:off x="685800" y="29146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15:30–16:30. Taller: 60 min</a:t>
            </a:r>
          </a:p>
        </p:txBody>
      </p:sp>
      <p:sp>
        <p:nvSpPr>
          <p:cNvPr id="6" name="">
            <a:extLst xmlns:a="http://schemas.openxmlformats.org/drawingml/2006/main">
              <a:ext uri="{FF2B5EF4-FFF2-40B4-BE49-F238E27FC236}">
                <a16:creationId xmlns:a16="http://schemas.microsoft.com/office/drawing/2014/main" id="{0B7FA99A-26EB-4887-A300-2768A3510F68}"/>
              </a:ext>
            </a:extLst>
          </p:cNvPr>
          <p:cNvSpPr>
            <a:spLocks xmlns:a="http://schemas.openxmlformats.org/drawingml/2006/main" noGrp="1"/>
          </p:cNvSpPr>
          <p:nvPr/>
        </p:nvSpPr>
        <p:spPr>
          <a:xfrm xmlns:a="http://schemas.openxmlformats.org/drawingml/2006/main">
            <a:off x="685800" y="336232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Reconstruir cifras, revisar claves, unidades y cobertura. Registrar discrepancias y correcciones.</a:t>
            </a:r>
          </a:p>
        </p:txBody>
      </p:sp>
      <p:sp>
        <p:nvSpPr>
          <p:cNvPr id="7" name="">
            <a:extLst xmlns:a="http://schemas.openxmlformats.org/drawingml/2006/main">
              <a:ext uri="{FF2B5EF4-FFF2-40B4-BE49-F238E27FC236}">
                <a16:creationId xmlns:a16="http://schemas.microsoft.com/office/drawing/2014/main" id="{0E3C69EB-8E9E-4430-96EB-E0C18B20D2E4}"/>
              </a:ext>
            </a:extLst>
          </p:cNvPr>
          <p:cNvSpPr>
            <a:spLocks xmlns:a="http://schemas.openxmlformats.org/drawingml/2006/main" noGrp="1"/>
          </p:cNvSpPr>
          <p:nvPr/>
        </p:nvSpPr>
        <p:spPr>
          <a:xfrm xmlns:a="http://schemas.openxmlformats.org/drawingml/2006/main">
            <a:off x="685800" y="43053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Entrega de auditoría</a:t>
            </a:r>
          </a:p>
        </p:txBody>
      </p:sp>
      <p:sp>
        <p:nvSpPr>
          <p:cNvPr id="8" name="">
            <a:extLst xmlns:a="http://schemas.openxmlformats.org/drawingml/2006/main">
              <a:ext uri="{FF2B5EF4-FFF2-40B4-BE49-F238E27FC236}">
                <a16:creationId xmlns:a16="http://schemas.microsoft.com/office/drawing/2014/main" id="{3C16CCC9-9239-4224-BB3A-E0CD3C1AD7D7}"/>
              </a:ext>
            </a:extLst>
          </p:cNvPr>
          <p:cNvSpPr>
            <a:spLocks xmlns:a="http://schemas.openxmlformats.org/drawingml/2006/main" noGrp="1"/>
          </p:cNvSpPr>
          <p:nvPr/>
        </p:nvSpPr>
        <p:spPr>
          <a:xfrm xmlns:a="http://schemas.openxmlformats.org/drawingml/2006/main">
            <a:off x="685800" y="475297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Controles reproducidos, un hallazgo resuelto y una conclusión con dos límites.</a:t>
            </a:r>
          </a:p>
        </p:txBody>
      </p:sp>
      <p:sp>
        <p:nvSpPr>
          <p:cNvPr id="9" name="">
            <a:extLst xmlns:a="http://schemas.openxmlformats.org/drawingml/2006/main">
              <a:ext uri="{FF2B5EF4-FFF2-40B4-BE49-F238E27FC236}">
                <a16:creationId xmlns:a16="http://schemas.microsoft.com/office/drawing/2014/main" id="{8BC4775E-5D36-4735-88AF-05AF02B865E8}"/>
              </a:ext>
            </a:extLst>
          </p:cNvPr>
          <p:cNvSpPr>
            <a:spLocks xmlns:a="http://schemas.openxmlformats.org/drawingml/2006/main" noGrp="1"/>
          </p:cNvSpPr>
          <p:nvPr/>
        </p:nvSpPr>
        <p:spPr>
          <a:xfrm xmlns:a="http://schemas.openxmlformats.org/drawingml/2006/main">
            <a:off x="609600" y="59531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Bloque total: 75 min. El informe se completa en clase.</a:t>
            </a:r>
          </a:p>
        </p:txBody>
      </p:sp>
      <p:sp>
        <p:nvSpPr>
          <p:cNvPr id="13" name="">
            <a:extLst xmlns:a="http://schemas.openxmlformats.org/drawingml/2006/main">
              <a:ext uri="{FF2B5EF4-FFF2-40B4-BE49-F238E27FC236}">
                <a16:creationId xmlns:a16="http://schemas.microsoft.com/office/drawing/2014/main" id="{9B14AC2D-E208-4736-8E02-281C8BE686A9}"/>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E0B4C14B-A480-44BC-AB6A-9D7DC4449A3E}"/>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5" name="">
            <a:extLst xmlns:a="http://schemas.openxmlformats.org/drawingml/2006/main">
              <a:ext uri="{FF2B5EF4-FFF2-40B4-BE49-F238E27FC236}">
                <a16:creationId xmlns:a16="http://schemas.microsoft.com/office/drawing/2014/main" id="{BF34C696-FFE5-413C-8F94-359A50B431BF}"/>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6" name="">
            <a:extLst xmlns:a="http://schemas.openxmlformats.org/drawingml/2006/main">
              <a:ext uri="{FF2B5EF4-FFF2-40B4-BE49-F238E27FC236}">
                <a16:creationId xmlns:a16="http://schemas.microsoft.com/office/drawing/2014/main" id="{F46F21DA-6F04-454D-BF63-9BD30ABBFAFA}"/>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29</a:t>
            </a:r>
          </a:p>
        </p:txBody>
      </p:sp>
    </p:spTree>
    <p:extLst>
      <p:ext uri="{BB962C8B-B14F-4D97-AF65-F5344CB8AC3E}">
        <p14:creationId xmlns:p14="http://schemas.microsoft.com/office/powerpoint/2010/main" val="133292233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19063e2940a64c02"/>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eef548dca7664a24"/>
          <a:stretch xmlns:a="http://schemas.openxmlformats.org/drawingml/2006/main"/>
        </p:blipFill>
        <p:spPr>
          <a:xfrm xmlns:a="http://schemas.openxmlformats.org/drawingml/2006/main">
            <a:off x="404813" y="1447800"/>
            <a:ext cx="6715125" cy="4476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329317F-79A0-49D0-8535-D926EEE11F46}"/>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Cobertura y sesgo</a:t>
            </a:r>
          </a:p>
        </p:txBody>
      </p:sp>
      <p:sp>
        <p:nvSpPr>
          <p:cNvPr id="9" name="">
            <a:extLst xmlns:a="http://schemas.openxmlformats.org/drawingml/2006/main">
              <a:ext uri="{FF2B5EF4-FFF2-40B4-BE49-F238E27FC236}">
                <a16:creationId xmlns:a16="http://schemas.microsoft.com/office/drawing/2014/main" id="{FE68F45E-73EA-4C72-A3F3-FB5D2F05274C}"/>
              </a:ext>
            </a:extLst>
          </p:cNvPr>
          <p:cNvSpPr>
            <a:spLocks xmlns:a="http://schemas.openxmlformats.org/drawingml/2006/main" noGrp="1"/>
          </p:cNvSpPr>
          <p:nvPr/>
        </p:nvSpPr>
        <p:spPr>
          <a:xfrm xmlns:a="http://schemas.openxmlformats.org/drawingml/2006/main">
            <a:off x="7639050" y="1666875"/>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5546ED"/>
                </a:solidFill>
                <a:latin typeface="Calibri"/>
                <a:ea typeface="Calibri"/>
                <a:cs typeface="Calibri"/>
              </a:defRPr>
            </a:pPr>
            <a:r>
              <a:rPr sz="2100" b="1">
                <a:solidFill>
                  <a:srgbClr val="5546ED"/>
                </a:solidFill>
                <a:latin typeface="Calibri"/>
                <a:ea typeface="Calibri"/>
                <a:cs typeface="Calibri"/>
              </a:rPr>
              <a:t>Muestras concentradas</a:t>
            </a:r>
          </a:p>
        </p:txBody>
      </p:sp>
      <p:sp>
        <p:nvSpPr>
          <p:cNvPr id="10" name="">
            <a:extLst xmlns:a="http://schemas.openxmlformats.org/drawingml/2006/main">
              <a:ext uri="{FF2B5EF4-FFF2-40B4-BE49-F238E27FC236}">
                <a16:creationId xmlns:a16="http://schemas.microsoft.com/office/drawing/2014/main" id="{0ABFAF8C-C283-4308-9904-7D7F2F0C24F9}"/>
              </a:ext>
            </a:extLst>
          </p:cNvPr>
          <p:cNvSpPr>
            <a:spLocks xmlns:a="http://schemas.openxmlformats.org/drawingml/2006/main" noGrp="1"/>
          </p:cNvSpPr>
          <p:nvPr/>
        </p:nvSpPr>
        <p:spPr>
          <a:xfrm xmlns:a="http://schemas.openxmlformats.org/drawingml/2006/main">
            <a:off x="7639050" y="2114550"/>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Un sector accesible puede dominar las observaciones.</a:t>
            </a:r>
          </a:p>
        </p:txBody>
      </p:sp>
      <p:sp>
        <p:nvSpPr>
          <p:cNvPr id="11" name="">
            <a:extLst xmlns:a="http://schemas.openxmlformats.org/drawingml/2006/main">
              <a:ext uri="{FF2B5EF4-FFF2-40B4-BE49-F238E27FC236}">
                <a16:creationId xmlns:a16="http://schemas.microsoft.com/office/drawing/2014/main" id="{4CB7FB6E-86D7-4899-AA5C-6EE34C054DF0}"/>
              </a:ext>
            </a:extLst>
          </p:cNvPr>
          <p:cNvSpPr>
            <a:spLocks xmlns:a="http://schemas.openxmlformats.org/drawingml/2006/main" noGrp="1"/>
          </p:cNvSpPr>
          <p:nvPr/>
        </p:nvSpPr>
        <p:spPr>
          <a:xfrm xmlns:a="http://schemas.openxmlformats.org/drawingml/2006/main">
            <a:off x="7639050" y="30670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C948B"/>
                </a:solidFill>
                <a:latin typeface="Calibri"/>
                <a:ea typeface="Calibri"/>
                <a:cs typeface="Calibri"/>
              </a:defRPr>
            </a:pPr>
            <a:r>
              <a:rPr sz="2100" b="1">
                <a:solidFill>
                  <a:srgbClr val="0C948B"/>
                </a:solidFill>
                <a:latin typeface="Calibri"/>
                <a:ea typeface="Calibri"/>
                <a:cs typeface="Calibri"/>
              </a:rPr>
              <a:t>Cobertura desigual</a:t>
            </a:r>
          </a:p>
        </p:txBody>
      </p:sp>
      <p:sp>
        <p:nvSpPr>
          <p:cNvPr id="12" name="">
            <a:extLst xmlns:a="http://schemas.openxmlformats.org/drawingml/2006/main">
              <a:ext uri="{FF2B5EF4-FFF2-40B4-BE49-F238E27FC236}">
                <a16:creationId xmlns:a16="http://schemas.microsoft.com/office/drawing/2014/main" id="{62B98811-4974-49CC-AA95-F5254BE6B0F8}"/>
              </a:ext>
            </a:extLst>
          </p:cNvPr>
          <p:cNvSpPr>
            <a:spLocks xmlns:a="http://schemas.openxmlformats.org/drawingml/2006/main" noGrp="1"/>
          </p:cNvSpPr>
          <p:nvPr/>
        </p:nvSpPr>
        <p:spPr>
          <a:xfrm xmlns:a="http://schemas.openxmlformats.org/drawingml/2006/main">
            <a:off x="7639050" y="3514725"/>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El resto del territorio puede quedar poco representado.</a:t>
            </a:r>
          </a:p>
        </p:txBody>
      </p:sp>
      <p:sp>
        <p:nvSpPr>
          <p:cNvPr id="13" name="">
            <a:extLst xmlns:a="http://schemas.openxmlformats.org/drawingml/2006/main">
              <a:ext uri="{FF2B5EF4-FFF2-40B4-BE49-F238E27FC236}">
                <a16:creationId xmlns:a16="http://schemas.microsoft.com/office/drawing/2014/main" id="{AE2F490C-38FA-4DF6-8795-9CCEE184DA48}"/>
              </a:ext>
            </a:extLst>
          </p:cNvPr>
          <p:cNvSpPr>
            <a:spLocks xmlns:a="http://schemas.openxmlformats.org/drawingml/2006/main" noGrp="1"/>
          </p:cNvSpPr>
          <p:nvPr/>
        </p:nvSpPr>
        <p:spPr>
          <a:xfrm xmlns:a="http://schemas.openxmlformats.org/drawingml/2006/main">
            <a:off x="7639050" y="4467225"/>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CF4E48"/>
                </a:solidFill>
                <a:latin typeface="Calibri"/>
                <a:ea typeface="Calibri"/>
                <a:cs typeface="Calibri"/>
              </a:defRPr>
            </a:pPr>
            <a:r>
              <a:rPr sz="2100" b="1">
                <a:solidFill>
                  <a:srgbClr val="CF4E48"/>
                </a:solidFill>
                <a:latin typeface="Calibri"/>
                <a:ea typeface="Calibri"/>
                <a:cs typeface="Calibri"/>
              </a:rPr>
              <a:t>Pregunta para discutir</a:t>
            </a:r>
          </a:p>
        </p:txBody>
      </p:sp>
      <p:sp>
        <p:nvSpPr>
          <p:cNvPr id="14" name="">
            <a:extLst xmlns:a="http://schemas.openxmlformats.org/drawingml/2006/main">
              <a:ext uri="{FF2B5EF4-FFF2-40B4-BE49-F238E27FC236}">
                <a16:creationId xmlns:a16="http://schemas.microsoft.com/office/drawing/2014/main" id="{2B966318-5675-41AD-8476-ED5BD5C94698}"/>
              </a:ext>
            </a:extLst>
          </p:cNvPr>
          <p:cNvSpPr>
            <a:spLocks xmlns:a="http://schemas.openxmlformats.org/drawingml/2006/main" noGrp="1"/>
          </p:cNvSpPr>
          <p:nvPr/>
        </p:nvSpPr>
        <p:spPr>
          <a:xfrm xmlns:a="http://schemas.openxmlformats.org/drawingml/2006/main">
            <a:off x="7639050" y="4914900"/>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¿Qué evidencia permite generalizar la mediana del pH?</a:t>
            </a:r>
          </a:p>
        </p:txBody>
      </p:sp>
      <p:sp>
        <p:nvSpPr>
          <p:cNvPr id="15" name="">
            <a:extLst xmlns:a="http://schemas.openxmlformats.org/drawingml/2006/main">
              <a:ext uri="{FF2B5EF4-FFF2-40B4-BE49-F238E27FC236}">
                <a16:creationId xmlns:a16="http://schemas.microsoft.com/office/drawing/2014/main" id="{F01D597A-104D-4D39-B90A-6A8648E5321A}"/>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Mapa imaginario. La ilustración explica sesgo, no muestra cobertura real</a:t>
            </a:r>
          </a:p>
        </p:txBody>
      </p:sp>
      <p:sp>
        <p:nvSpPr>
          <p:cNvPr id="34" name="">
            <a:extLst xmlns:a="http://schemas.openxmlformats.org/drawingml/2006/main">
              <a:ext uri="{FF2B5EF4-FFF2-40B4-BE49-F238E27FC236}">
                <a16:creationId xmlns:a16="http://schemas.microsoft.com/office/drawing/2014/main" id="{8F05ADAD-B937-4BC6-9503-653FD72368A3}"/>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5" name="">
            <a:extLst xmlns:a="http://schemas.openxmlformats.org/drawingml/2006/main">
              <a:ext uri="{FF2B5EF4-FFF2-40B4-BE49-F238E27FC236}">
                <a16:creationId xmlns:a16="http://schemas.microsoft.com/office/drawing/2014/main" id="{E66FCB51-81A1-43B0-86CF-3C3D94C53077}"/>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6" name="">
            <a:extLst xmlns:a="http://schemas.openxmlformats.org/drawingml/2006/main">
              <a:ext uri="{FF2B5EF4-FFF2-40B4-BE49-F238E27FC236}">
                <a16:creationId xmlns:a16="http://schemas.microsoft.com/office/drawing/2014/main" id="{AB97B40E-7928-43D6-86A3-CD85D94FD1E9}"/>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37" name="">
            <a:extLst xmlns:a="http://schemas.openxmlformats.org/drawingml/2006/main">
              <a:ext uri="{FF2B5EF4-FFF2-40B4-BE49-F238E27FC236}">
                <a16:creationId xmlns:a16="http://schemas.microsoft.com/office/drawing/2014/main" id="{0BE9394A-EC7C-4886-A91F-71C7BADA6235}"/>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30</a:t>
            </a:r>
          </a:p>
        </p:txBody>
      </p:sp>
    </p:spTree>
    <p:extLst>
      <p:ext uri="{BB962C8B-B14F-4D97-AF65-F5344CB8AC3E}">
        <p14:creationId xmlns:p14="http://schemas.microsoft.com/office/powerpoint/2010/main" val="125902573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nodeType="clickEffect">
                                  <p:stCondLst>
                                    <p:cond delay="0"/>
                                  </p:stCondLst>
                                  <p:childTnLst>
                                    <p:set>
                                      <p:cBhvr>
                                        <p:cTn id="9" dur="1" fill="hold"/>
                                        <p:tgtEl>
                                          <p:spTgt spid="10"/>
                                        </p:tgtEl>
                                        <p:attrNameLst>
                                          <p:attrName>style.visibility</p:attrName>
                                        </p:attrNameLst>
                                      </p:cBhvr>
                                      <p:to>
                                        <p:strVal val="visible"/>
                                      </p:to>
                                    </p:set>
                                    <p:animEffect transition="in" filter="fade">
                                      <p:cBhvr>
                                        <p:cTn id="10" dur="3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1"/>
                                        </p:tgtEl>
                                        <p:attrNameLst>
                                          <p:attrName>style.visibility</p:attrName>
                                        </p:attrNameLst>
                                      </p:cBhvr>
                                      <p:to>
                                        <p:strVal val="visible"/>
                                      </p:to>
                                    </p:set>
                                    <p:animEffect transition="in" filter="fade">
                                      <p:cBhvr>
                                        <p:cTn id="15" dur="300"/>
                                        <p:tgtEl>
                                          <p:spTgt spid="11"/>
                                        </p:tgtEl>
                                      </p:cBhvr>
                                    </p:animEffect>
                                  </p:childTnLst>
                                </p:cTn>
                              </p:par>
                              <p:par>
                                <p:cTn id="16" presetID="10" presetClass="entr" presetSubtype="0" fill="hold" nodeType="clickEffect">
                                  <p:stCondLst>
                                    <p:cond delay="0"/>
                                  </p:stCondLst>
                                  <p:childTnLst>
                                    <p:set>
                                      <p:cBhvr>
                                        <p:cTn id="17" dur="1" fill="hold"/>
                                        <p:tgtEl>
                                          <p:spTgt spid="12"/>
                                        </p:tgtEl>
                                        <p:attrNameLst>
                                          <p:attrName>style.visibility</p:attrName>
                                        </p:attrNameLst>
                                      </p:cBhvr>
                                      <p:to>
                                        <p:strVal val="visible"/>
                                      </p:to>
                                    </p:set>
                                    <p:animEffect transition="in" filter="fade">
                                      <p:cBhvr>
                                        <p:cTn id="18" dur="3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3"/>
                                        </p:tgtEl>
                                        <p:attrNameLst>
                                          <p:attrName>style.visibility</p:attrName>
                                        </p:attrNameLst>
                                      </p:cBhvr>
                                      <p:to>
                                        <p:strVal val="visible"/>
                                      </p:to>
                                    </p:set>
                                    <p:animEffect transition="in" filter="fade">
                                      <p:cBhvr>
                                        <p:cTn id="23" dur="300"/>
                                        <p:tgtEl>
                                          <p:spTgt spid="13"/>
                                        </p:tgtEl>
                                      </p:cBhvr>
                                    </p:animEffect>
                                  </p:childTnLst>
                                </p:cTn>
                              </p:par>
                              <p:par>
                                <p:cTn id="24" presetID="10" presetClass="entr" presetSubtype="0" fill="hold" nodeType="clickEffect">
                                  <p:stCondLst>
                                    <p:cond delay="0"/>
                                  </p:stCondLst>
                                  <p:childTnLst>
                                    <p:set>
                                      <p:cBhvr>
                                        <p:cTn id="25" dur="1" fill="hold"/>
                                        <p:tgtEl>
                                          <p:spTgt spid="14"/>
                                        </p:tgtEl>
                                        <p:attrNameLst>
                                          <p:attrName>style.visibility</p:attrName>
                                        </p:attrNameLst>
                                      </p:cBhvr>
                                      <p:to>
                                        <p:strVal val="visible"/>
                                      </p:to>
                                    </p:set>
                                    <p:animEffect transition="in" filter="fade">
                                      <p:cBhvr>
                                        <p:cTn id="26"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330cdc6fea044fa"/>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F3BCD1A-2152-4419-BB93-8EB33E1E6E2E}"/>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5546ED"/>
                </a:solidFill>
                <a:latin typeface="Calibri"/>
                <a:ea typeface="Calibri"/>
                <a:cs typeface="Calibri"/>
              </a:defRPr>
            </a:pPr>
            <a:r>
              <a:rPr sz="3000" b="1">
                <a:solidFill>
                  <a:srgbClr val="5546ED"/>
                </a:solidFill>
                <a:latin typeface="Calibri"/>
                <a:ea typeface="Calibri"/>
                <a:cs typeface="Calibri"/>
              </a:rPr>
              <a:t>Laboratorio de calidad y cierre</a:t>
            </a:r>
          </a:p>
        </p:txBody>
      </p:sp>
      <p:sp>
        <p:nvSpPr>
          <p:cNvPr id="3" name="">
            <a:extLst xmlns:a="http://schemas.openxmlformats.org/drawingml/2006/main">
              <a:ext uri="{FF2B5EF4-FFF2-40B4-BE49-F238E27FC236}">
                <a16:creationId xmlns:a16="http://schemas.microsoft.com/office/drawing/2014/main" id="{63B4E732-256C-49FA-8704-71A47093FBB5}"/>
              </a:ext>
            </a:extLst>
          </p:cNvPr>
          <p:cNvSpPr>
            <a:spLocks xmlns:a="http://schemas.openxmlformats.org/drawingml/2006/main" noGrp="1"/>
          </p:cNvSpPr>
          <p:nvPr/>
        </p:nvSpPr>
        <p:spPr>
          <a:xfrm xmlns:a="http://schemas.openxmlformats.org/drawingml/2006/main">
            <a:off x="685800" y="15716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Conciliar</a:t>
            </a:r>
          </a:p>
        </p:txBody>
      </p:sp>
      <p:sp>
        <p:nvSpPr>
          <p:cNvPr id="4" name="">
            <a:extLst xmlns:a="http://schemas.openxmlformats.org/drawingml/2006/main">
              <a:ext uri="{FF2B5EF4-FFF2-40B4-BE49-F238E27FC236}">
                <a16:creationId xmlns:a16="http://schemas.microsoft.com/office/drawing/2014/main" id="{6FB8843A-D2EE-4AD1-81FB-7B6C57ADEF5C}"/>
              </a:ext>
            </a:extLst>
          </p:cNvPr>
          <p:cNvSpPr>
            <a:spLocks xmlns:a="http://schemas.openxmlformats.org/drawingml/2006/main" noGrp="1"/>
          </p:cNvSpPr>
          <p:nvPr/>
        </p:nvSpPr>
        <p:spPr>
          <a:xfrm xmlns:a="http://schemas.openxmlformats.org/drawingml/2006/main">
            <a:off x="685800" y="20097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03B68"/>
                </a:solidFill>
                <a:latin typeface="Calibri"/>
                <a:ea typeface="Calibri"/>
                <a:cs typeface="Calibri"/>
              </a:defRPr>
            </a:pPr>
            <a:r>
              <a:rPr sz="2175" b="0">
                <a:solidFill>
                  <a:srgbClr val="203B68"/>
                </a:solidFill>
                <a:latin typeface="Calibri"/>
                <a:ea typeface="Calibri"/>
                <a:cs typeface="Calibri"/>
              </a:rPr>
              <a:t>Comparar entradas, exclusiones y salidas del pipeline.</a:t>
            </a:r>
          </a:p>
        </p:txBody>
      </p:sp>
      <p:sp>
        <p:nvSpPr>
          <p:cNvPr id="5" name="">
            <a:extLst xmlns:a="http://schemas.openxmlformats.org/drawingml/2006/main">
              <a:ext uri="{FF2B5EF4-FFF2-40B4-BE49-F238E27FC236}">
                <a16:creationId xmlns:a16="http://schemas.microsoft.com/office/drawing/2014/main" id="{811E3866-F662-456D-A593-46EE2E439CC2}"/>
              </a:ext>
            </a:extLst>
          </p:cNvPr>
          <p:cNvSpPr>
            <a:spLocks xmlns:a="http://schemas.openxmlformats.org/drawingml/2006/main" noGrp="1"/>
          </p:cNvSpPr>
          <p:nvPr/>
        </p:nvSpPr>
        <p:spPr>
          <a:xfrm xmlns:a="http://schemas.openxmlformats.org/drawingml/2006/main">
            <a:off x="685800" y="29622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Revisar</a:t>
            </a:r>
          </a:p>
        </p:txBody>
      </p:sp>
      <p:sp>
        <p:nvSpPr>
          <p:cNvPr id="6" name="">
            <a:extLst xmlns:a="http://schemas.openxmlformats.org/drawingml/2006/main">
              <a:ext uri="{FF2B5EF4-FFF2-40B4-BE49-F238E27FC236}">
                <a16:creationId xmlns:a16="http://schemas.microsoft.com/office/drawing/2014/main" id="{98588D0B-67CE-45E3-AD02-412FBAFCDAB7}"/>
              </a:ext>
            </a:extLst>
          </p:cNvPr>
          <p:cNvSpPr>
            <a:spLocks xmlns:a="http://schemas.openxmlformats.org/drawingml/2006/main" noGrp="1"/>
          </p:cNvSpPr>
          <p:nvPr/>
        </p:nvSpPr>
        <p:spPr>
          <a:xfrm xmlns:a="http://schemas.openxmlformats.org/drawingml/2006/main">
            <a:off x="685800" y="34004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03B68"/>
                </a:solidFill>
                <a:latin typeface="Calibri"/>
                <a:ea typeface="Calibri"/>
                <a:cs typeface="Calibri"/>
              </a:defRPr>
            </a:pPr>
            <a:r>
              <a:rPr sz="2175" b="0">
                <a:solidFill>
                  <a:srgbClr val="203B68"/>
                </a:solidFill>
                <a:latin typeface="Calibri"/>
                <a:ea typeface="Calibri"/>
                <a:cs typeface="Calibri"/>
              </a:rPr>
              <a:t>Explicar claves sin correspondencia y cobertura territorial.</a:t>
            </a:r>
          </a:p>
        </p:txBody>
      </p:sp>
      <p:sp>
        <p:nvSpPr>
          <p:cNvPr id="7" name="">
            <a:extLst xmlns:a="http://schemas.openxmlformats.org/drawingml/2006/main">
              <a:ext uri="{FF2B5EF4-FFF2-40B4-BE49-F238E27FC236}">
                <a16:creationId xmlns:a16="http://schemas.microsoft.com/office/drawing/2014/main" id="{F77B8FC0-1C97-408A-96E9-0D61CADD7776}"/>
              </a:ext>
            </a:extLst>
          </p:cNvPr>
          <p:cNvSpPr>
            <a:spLocks xmlns:a="http://schemas.openxmlformats.org/drawingml/2006/main" noGrp="1"/>
          </p:cNvSpPr>
          <p:nvPr/>
        </p:nvSpPr>
        <p:spPr>
          <a:xfrm xmlns:a="http://schemas.openxmlformats.org/drawingml/2006/main">
            <a:off x="685800" y="43529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Sustentar</a:t>
            </a:r>
          </a:p>
        </p:txBody>
      </p:sp>
      <p:sp>
        <p:nvSpPr>
          <p:cNvPr id="8" name="">
            <a:extLst xmlns:a="http://schemas.openxmlformats.org/drawingml/2006/main">
              <a:ext uri="{FF2B5EF4-FFF2-40B4-BE49-F238E27FC236}">
                <a16:creationId xmlns:a16="http://schemas.microsoft.com/office/drawing/2014/main" id="{EC8D2300-1302-4D1C-A1FB-68F964732805}"/>
              </a:ext>
            </a:extLst>
          </p:cNvPr>
          <p:cNvSpPr>
            <a:spLocks xmlns:a="http://schemas.openxmlformats.org/drawingml/2006/main" noGrp="1"/>
          </p:cNvSpPr>
          <p:nvPr/>
        </p:nvSpPr>
        <p:spPr>
          <a:xfrm xmlns:a="http://schemas.openxmlformats.org/drawingml/2006/main">
            <a:off x="685800" y="4791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03B68"/>
                </a:solidFill>
                <a:latin typeface="Calibri"/>
                <a:ea typeface="Calibri"/>
                <a:cs typeface="Calibri"/>
              </a:defRPr>
            </a:pPr>
            <a:r>
              <a:rPr sz="2175" b="0">
                <a:solidFill>
                  <a:srgbClr val="203B68"/>
                </a:solidFill>
                <a:latin typeface="Calibri"/>
                <a:ea typeface="Calibri"/>
                <a:cs typeface="Calibri"/>
              </a:rPr>
              <a:t>Mostrar una regla de calidad y su efecto en el resultado.</a:t>
            </a:r>
          </a:p>
        </p:txBody>
      </p:sp>
      <p:sp>
        <p:nvSpPr>
          <p:cNvPr id="9" name="">
            <a:extLst xmlns:a="http://schemas.openxmlformats.org/drawingml/2006/main">
              <a:ext uri="{FF2B5EF4-FFF2-40B4-BE49-F238E27FC236}">
                <a16:creationId xmlns:a16="http://schemas.microsoft.com/office/drawing/2014/main" id="{D6CE781E-6788-402D-8526-B19E81F97983}"/>
              </a:ext>
            </a:extLst>
          </p:cNvPr>
          <p:cNvSpPr>
            <a:spLocks xmlns:a="http://schemas.openxmlformats.org/drawingml/2006/main" noGrp="1"/>
          </p:cNvSpPr>
          <p:nvPr/>
        </p:nvSpPr>
        <p:spPr>
          <a:xfrm xmlns:a="http://schemas.openxmlformats.org/drawingml/2006/main">
            <a:off x="609600" y="60102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Parte del bloque de auditoría: controles e informe técnico breve</a:t>
            </a:r>
          </a:p>
        </p:txBody>
      </p:sp>
      <p:sp>
        <p:nvSpPr>
          <p:cNvPr id="19" name="">
            <a:extLst xmlns:a="http://schemas.openxmlformats.org/drawingml/2006/main">
              <a:ext uri="{FF2B5EF4-FFF2-40B4-BE49-F238E27FC236}">
                <a16:creationId xmlns:a16="http://schemas.microsoft.com/office/drawing/2014/main" id="{6289C6CA-9441-4095-B047-1D769CC04E06}"/>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0" name="">
            <a:extLst xmlns:a="http://schemas.openxmlformats.org/drawingml/2006/main">
              <a:ext uri="{FF2B5EF4-FFF2-40B4-BE49-F238E27FC236}">
                <a16:creationId xmlns:a16="http://schemas.microsoft.com/office/drawing/2014/main" id="{89A64B2F-445F-4E9F-9159-BD162CBCB834}"/>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1" name="">
            <a:extLst xmlns:a="http://schemas.openxmlformats.org/drawingml/2006/main">
              <a:ext uri="{FF2B5EF4-FFF2-40B4-BE49-F238E27FC236}">
                <a16:creationId xmlns:a16="http://schemas.microsoft.com/office/drawing/2014/main" id="{4B9DC61B-3D17-4963-B2AA-17A052E4B554}"/>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22" name="">
            <a:extLst xmlns:a="http://schemas.openxmlformats.org/drawingml/2006/main">
              <a:ext uri="{FF2B5EF4-FFF2-40B4-BE49-F238E27FC236}">
                <a16:creationId xmlns:a16="http://schemas.microsoft.com/office/drawing/2014/main" id="{1D112CAB-FE59-4AD3-AF01-2531A6E9BC5F}"/>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31</a:t>
            </a:r>
          </a:p>
        </p:txBody>
      </p:sp>
    </p:spTree>
    <p:extLst>
      <p:ext uri="{BB962C8B-B14F-4D97-AF65-F5344CB8AC3E}">
        <p14:creationId xmlns:p14="http://schemas.microsoft.com/office/powerpoint/2010/main" val="26841457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abe346b9c914038"/>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8CC88B2-09E5-42C2-9367-2048E8884B7D}"/>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Evidencias y preparación de Spark</a:t>
            </a:r>
          </a:p>
        </p:txBody>
      </p:sp>
      <p:sp>
        <p:nvSpPr>
          <p:cNvPr id="3" name="">
            <a:extLst xmlns:a="http://schemas.openxmlformats.org/drawingml/2006/main">
              <a:ext uri="{FF2B5EF4-FFF2-40B4-BE49-F238E27FC236}">
                <a16:creationId xmlns:a16="http://schemas.microsoft.com/office/drawing/2014/main" id="{F545C718-C548-48E9-B815-0697ED8348A9}"/>
              </a:ext>
            </a:extLst>
          </p:cNvPr>
          <p:cNvSpPr>
            <a:spLocks xmlns:a="http://schemas.openxmlformats.org/drawingml/2006/main" noGrp="1"/>
          </p:cNvSpPr>
          <p:nvPr/>
        </p:nvSpPr>
        <p:spPr>
          <a:xfrm xmlns:a="http://schemas.openxmlformats.org/drawingml/2006/main">
            <a:off x="685800" y="15240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16:30–16:45. Presentación</a:t>
            </a:r>
          </a:p>
        </p:txBody>
      </p:sp>
      <p:sp>
        <p:nvSpPr>
          <p:cNvPr id="4" name="">
            <a:extLst xmlns:a="http://schemas.openxmlformats.org/drawingml/2006/main">
              <a:ext uri="{FF2B5EF4-FFF2-40B4-BE49-F238E27FC236}">
                <a16:creationId xmlns:a16="http://schemas.microsoft.com/office/drawing/2014/main" id="{FC87E83B-00E8-4793-838F-ED72590A0E8C}"/>
              </a:ext>
            </a:extLst>
          </p:cNvPr>
          <p:cNvSpPr>
            <a:spLocks xmlns:a="http://schemas.openxmlformats.org/drawingml/2006/main" noGrp="1"/>
          </p:cNvSpPr>
          <p:nvPr/>
        </p:nvSpPr>
        <p:spPr>
          <a:xfrm xmlns:a="http://schemas.openxmlformats.org/drawingml/2006/main">
            <a:off x="685800" y="197167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Mostrar una regla de calidad, la consulta conciliada y el efecto de una unión.</a:t>
            </a:r>
          </a:p>
        </p:txBody>
      </p:sp>
      <p:sp>
        <p:nvSpPr>
          <p:cNvPr id="5" name="">
            <a:extLst xmlns:a="http://schemas.openxmlformats.org/drawingml/2006/main">
              <a:ext uri="{FF2B5EF4-FFF2-40B4-BE49-F238E27FC236}">
                <a16:creationId xmlns:a16="http://schemas.microsoft.com/office/drawing/2014/main" id="{8C04B8ED-7CA8-446B-A73B-9E337DB923DC}"/>
              </a:ext>
            </a:extLst>
          </p:cNvPr>
          <p:cNvSpPr>
            <a:spLocks xmlns:a="http://schemas.openxmlformats.org/drawingml/2006/main" noGrp="1"/>
          </p:cNvSpPr>
          <p:nvPr/>
        </p:nvSpPr>
        <p:spPr>
          <a:xfrm xmlns:a="http://schemas.openxmlformats.org/drawingml/2006/main">
            <a:off x="685800" y="29146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16:45–17:00. Síntesis</a:t>
            </a:r>
          </a:p>
        </p:txBody>
      </p:sp>
      <p:sp>
        <p:nvSpPr>
          <p:cNvPr id="6" name="">
            <a:extLst xmlns:a="http://schemas.openxmlformats.org/drawingml/2006/main">
              <a:ext uri="{FF2B5EF4-FFF2-40B4-BE49-F238E27FC236}">
                <a16:creationId xmlns:a16="http://schemas.microsoft.com/office/drawing/2014/main" id="{2032B133-E961-48D7-A501-11CDB2C213E9}"/>
              </a:ext>
            </a:extLst>
          </p:cNvPr>
          <p:cNvSpPr>
            <a:spLocks xmlns:a="http://schemas.openxmlformats.org/drawingml/2006/main" noGrp="1"/>
          </p:cNvSpPr>
          <p:nvPr/>
        </p:nvSpPr>
        <p:spPr>
          <a:xfrm xmlns:a="http://schemas.openxmlformats.org/drawingml/2006/main">
            <a:off x="685800" y="336232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Relacionar filtros, agregaciones y joins con las operaciones que estudiaremos en Spark.</a:t>
            </a:r>
          </a:p>
        </p:txBody>
      </p:sp>
      <p:sp>
        <p:nvSpPr>
          <p:cNvPr id="7" name="">
            <a:extLst xmlns:a="http://schemas.openxmlformats.org/drawingml/2006/main">
              <a:ext uri="{FF2B5EF4-FFF2-40B4-BE49-F238E27FC236}">
                <a16:creationId xmlns:a16="http://schemas.microsoft.com/office/drawing/2014/main" id="{FFAA5C7C-6FCC-4FC3-B7F2-A92D79367E43}"/>
              </a:ext>
            </a:extLst>
          </p:cNvPr>
          <p:cNvSpPr>
            <a:spLocks xmlns:a="http://schemas.openxmlformats.org/drawingml/2006/main" noGrp="1"/>
          </p:cNvSpPr>
          <p:nvPr/>
        </p:nvSpPr>
        <p:spPr>
          <a:xfrm xmlns:a="http://schemas.openxmlformats.org/drawingml/2006/main">
            <a:off x="685800" y="43053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Entorno para el próximo encuentro</a:t>
            </a:r>
          </a:p>
        </p:txBody>
      </p:sp>
      <p:sp>
        <p:nvSpPr>
          <p:cNvPr id="8" name="">
            <a:extLst xmlns:a="http://schemas.openxmlformats.org/drawingml/2006/main">
              <a:ext uri="{FF2B5EF4-FFF2-40B4-BE49-F238E27FC236}">
                <a16:creationId xmlns:a16="http://schemas.microsoft.com/office/drawing/2014/main" id="{29D227E3-067D-4935-909E-B106D1EB8F86}"/>
              </a:ext>
            </a:extLst>
          </p:cNvPr>
          <p:cNvSpPr>
            <a:spLocks xmlns:a="http://schemas.openxmlformats.org/drawingml/2006/main" noGrp="1"/>
          </p:cNvSpPr>
          <p:nvPr/>
        </p:nvSpPr>
        <p:spPr>
          <a:xfrm xmlns:a="http://schemas.openxmlformats.org/drawingml/2006/main">
            <a:off x="685800" y="475297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Comprobar JDK 21 y seguir docs/instalacion-wsl.md. Ampliación fuera de clase opcional.</a:t>
            </a:r>
          </a:p>
        </p:txBody>
      </p:sp>
      <p:sp>
        <p:nvSpPr>
          <p:cNvPr id="9" name="">
            <a:extLst xmlns:a="http://schemas.openxmlformats.org/drawingml/2006/main">
              <a:ext uri="{FF2B5EF4-FFF2-40B4-BE49-F238E27FC236}">
                <a16:creationId xmlns:a16="http://schemas.microsoft.com/office/drawing/2014/main" id="{C59A1BAC-4A1A-4070-8AF3-A8020D68AD7E}"/>
              </a:ext>
            </a:extLst>
          </p:cNvPr>
          <p:cNvSpPr>
            <a:spLocks xmlns:a="http://schemas.openxmlformats.org/drawingml/2006/main" noGrp="1"/>
          </p:cNvSpPr>
          <p:nvPr/>
        </p:nvSpPr>
        <p:spPr>
          <a:xfrm xmlns:a="http://schemas.openxmlformats.org/drawingml/2006/main">
            <a:off x="609600" y="59531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Entrega del sábado: controles, SQL, cobertura y breve informe técnico.</a:t>
            </a:r>
          </a:p>
        </p:txBody>
      </p:sp>
      <p:sp>
        <p:nvSpPr>
          <p:cNvPr id="13" name="">
            <a:extLst xmlns:a="http://schemas.openxmlformats.org/drawingml/2006/main">
              <a:ext uri="{FF2B5EF4-FFF2-40B4-BE49-F238E27FC236}">
                <a16:creationId xmlns:a16="http://schemas.microsoft.com/office/drawing/2014/main" id="{C92A8F60-0034-4A3D-BCDF-8BE00F85EC3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B7C1F0F9-2DBA-42A7-8628-D656A62E3028}"/>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5" name="">
            <a:extLst xmlns:a="http://schemas.openxmlformats.org/drawingml/2006/main">
              <a:ext uri="{FF2B5EF4-FFF2-40B4-BE49-F238E27FC236}">
                <a16:creationId xmlns:a16="http://schemas.microsoft.com/office/drawing/2014/main" id="{610E47C9-7DC4-4D15-B106-AF1B6D2494B3}"/>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6" name="">
            <a:extLst xmlns:a="http://schemas.openxmlformats.org/drawingml/2006/main">
              <a:ext uri="{FF2B5EF4-FFF2-40B4-BE49-F238E27FC236}">
                <a16:creationId xmlns:a16="http://schemas.microsoft.com/office/drawing/2014/main" id="{2DA74275-B055-41BD-93DF-D5A14721E1F1}"/>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32</a:t>
            </a:r>
          </a:p>
        </p:txBody>
      </p:sp>
    </p:spTree>
    <p:extLst>
      <p:ext uri="{BB962C8B-B14F-4D97-AF65-F5344CB8AC3E}">
        <p14:creationId xmlns:p14="http://schemas.microsoft.com/office/powerpoint/2010/main" val="120509889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2026-10-07T19:39:14.9210000Z</dcterms:created>
  <dcterms:modified xsi:type="dcterms:W3CDTF">2026-10-07T19:39:14.9210000Z</dcterms:modified>
</coreProperties>
</file>