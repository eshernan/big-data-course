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1.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24a157f26b54b3c" /><Relationship Type="http://schemas.openxmlformats.org/officeDocument/2006/relationships/extended-properties" Target="/docProps/app.xml" Id="Rc9046b73badf4f89" /><Relationship Type="http://schemas.openxmlformats.org/officeDocument/2006/relationships/officeDocument" Target="/ppt/presentation.xml" Id="Rb0c84d0c16cc4920" /></Relationships>
</file>

<file path=ppt/presentation.xml><?xml version="1.0" encoding="utf-8"?>
<p:presentation xmlns:p="http://schemas.openxmlformats.org/presentationml/2006/main">
  <p:sldMasterIdLst>
    <p:sldMasterId xmlns:r="http://schemas.openxmlformats.org/officeDocument/2006/relationships" id="2147483648" r:id="Rfe8ab2d8a1654fe5"/>
  </p:sldMasterIdLst>
  <p:notesMasterIdLst>
    <p:notesMasterId xmlns:r="http://schemas.openxmlformats.org/officeDocument/2006/relationships" r:id="R99f490f43b634328"/>
  </p:notesMasterIdLst>
  <p:sldIdLst>
    <p:sldId xmlns:r="http://schemas.openxmlformats.org/officeDocument/2006/relationships" id="256" r:id="R34b41c1c351e4eae"/>
    <p:sldId xmlns:r="http://schemas.openxmlformats.org/officeDocument/2006/relationships" id="257" r:id="R83494809e22e454b"/>
    <p:sldId xmlns:r="http://schemas.openxmlformats.org/officeDocument/2006/relationships" id="258" r:id="R3ea76ec127df454a"/>
    <p:sldId xmlns:r="http://schemas.openxmlformats.org/officeDocument/2006/relationships" id="259" r:id="R3725e558431840c6"/>
    <p:sldId xmlns:r="http://schemas.openxmlformats.org/officeDocument/2006/relationships" id="260" r:id="R330858f473964cb0"/>
    <p:sldId xmlns:r="http://schemas.openxmlformats.org/officeDocument/2006/relationships" id="261" r:id="R71f60da2ff5e4634"/>
    <p:sldId xmlns:r="http://schemas.openxmlformats.org/officeDocument/2006/relationships" id="262" r:id="Rf8c7bfd4b0334968"/>
    <p:sldId xmlns:r="http://schemas.openxmlformats.org/officeDocument/2006/relationships" id="263" r:id="Rbab001c6be44413d"/>
    <p:sldId xmlns:r="http://schemas.openxmlformats.org/officeDocument/2006/relationships" id="264" r:id="Re5f2775c33834b6b"/>
    <p:sldId xmlns:r="http://schemas.openxmlformats.org/officeDocument/2006/relationships" id="265" r:id="R41ddd47640604a84"/>
    <p:sldId xmlns:r="http://schemas.openxmlformats.org/officeDocument/2006/relationships" id="266" r:id="R2c18464d71ac4a7b"/>
    <p:sldId xmlns:r="http://schemas.openxmlformats.org/officeDocument/2006/relationships" id="267" r:id="R4daf1707e96d4b91"/>
    <p:sldId xmlns:r="http://schemas.openxmlformats.org/officeDocument/2006/relationships" id="268" r:id="R199b1589a60d4a34"/>
    <p:sldId xmlns:r="http://schemas.openxmlformats.org/officeDocument/2006/relationships" id="269" r:id="R378a3462f0014fe6"/>
    <p:sldId xmlns:r="http://schemas.openxmlformats.org/officeDocument/2006/relationships" id="270" r:id="R3ef052b7184b41d3"/>
    <p:sldId xmlns:r="http://schemas.openxmlformats.org/officeDocument/2006/relationships" id="271" r:id="Rd3f202d92ff24464"/>
    <p:sldId xmlns:r="http://schemas.openxmlformats.org/officeDocument/2006/relationships" id="272" r:id="Ree263a1fe5f74861"/>
    <p:sldId xmlns:r="http://schemas.openxmlformats.org/officeDocument/2006/relationships" id="273" r:id="Rdb2e4b76b7ce4725"/>
    <p:sldId xmlns:r="http://schemas.openxmlformats.org/officeDocument/2006/relationships" id="274" r:id="R1d46ef38802149e1"/>
    <p:sldId xmlns:r="http://schemas.openxmlformats.org/officeDocument/2006/relationships" id="275" r:id="R3546ede7ef46482e"/>
    <p:sldId xmlns:r="http://schemas.openxmlformats.org/officeDocument/2006/relationships" id="276" r:id="Ra423e976d9794420"/>
    <p:sldId xmlns:r="http://schemas.openxmlformats.org/officeDocument/2006/relationships" id="277" r:id="R98a402ba88f347c4"/>
    <p:sldId xmlns:r="http://schemas.openxmlformats.org/officeDocument/2006/relationships" id="278" r:id="Rbf7912bb45e74008"/>
    <p:sldId xmlns:r="http://schemas.openxmlformats.org/officeDocument/2006/relationships" id="279" r:id="R58dc1d526f26443f"/>
    <p:sldId xmlns:r="http://schemas.openxmlformats.org/officeDocument/2006/relationships" id="280" r:id="Rb9da8d9f38ed4576"/>
    <p:sldId xmlns:r="http://schemas.openxmlformats.org/officeDocument/2006/relationships" id="281" r:id="R24515e4d6d734085"/>
    <p:sldId xmlns:r="http://schemas.openxmlformats.org/officeDocument/2006/relationships" id="282" r:id="R8655db42a5ef41cb"/>
    <p:sldId xmlns:r="http://schemas.openxmlformats.org/officeDocument/2006/relationships" id="283" r:id="R067a9005054a409c"/>
    <p:sldId xmlns:r="http://schemas.openxmlformats.org/officeDocument/2006/relationships" id="284" r:id="R08dd037daf0d434d"/>
    <p:sldId xmlns:r="http://schemas.openxmlformats.org/officeDocument/2006/relationships" id="285" r:id="R5f401aec22f1497b"/>
    <p:sldId xmlns:r="http://schemas.openxmlformats.org/officeDocument/2006/relationships" id="286" r:id="R38ca778c9a284d87"/>
    <p:sldId xmlns:r="http://schemas.openxmlformats.org/officeDocument/2006/relationships" id="287" r:id="Rfbe32c0e31c7467f"/>
    <p:sldId xmlns:r="http://schemas.openxmlformats.org/officeDocument/2006/relationships" id="288" r:id="R196a619edba84643"/>
    <p:sldId xmlns:r="http://schemas.openxmlformats.org/officeDocument/2006/relationships" id="289" r:id="Rc8a5310d1f8248a6"/>
    <p:sldId xmlns:r="http://schemas.openxmlformats.org/officeDocument/2006/relationships" id="290" r:id="Re5bf6098dff74948"/>
    <p:sldId xmlns:r="http://schemas.openxmlformats.org/officeDocument/2006/relationships" id="291" r:id="R4aaded041c2d4ff2"/>
    <p:sldId xmlns:r="http://schemas.openxmlformats.org/officeDocument/2006/relationships" id="292" r:id="Rdc38abe4ce1e4b58"/>
    <p:sldId xmlns:r="http://schemas.openxmlformats.org/officeDocument/2006/relationships" id="293" r:id="Rd6348ecd081b469b"/>
    <p:sldId xmlns:r="http://schemas.openxmlformats.org/officeDocument/2006/relationships" id="294" r:id="R9fdc6c4c3a834271"/>
    <p:sldId xmlns:r="http://schemas.openxmlformats.org/officeDocument/2006/relationships" id="295" r:id="Ra562313788384714"/>
    <p:sldId xmlns:r="http://schemas.openxmlformats.org/officeDocument/2006/relationships" id="296" r:id="R50785e2c53f94c19"/>
    <p:sldId xmlns:r="http://schemas.openxmlformats.org/officeDocument/2006/relationships" id="297" r:id="Rc9d175cbac8b47c0"/>
    <p:sldId xmlns:r="http://schemas.openxmlformats.org/officeDocument/2006/relationships" id="298" r:id="R2ed02725c31c4b02"/>
    <p:sldId xmlns:r="http://schemas.openxmlformats.org/officeDocument/2006/relationships" id="299" r:id="R584ac5bf97dc4bb0"/>
    <p:sldId xmlns:r="http://schemas.openxmlformats.org/officeDocument/2006/relationships" id="300" r:id="Rf0c5dc7d4ab64339"/>
    <p:sldId xmlns:r="http://schemas.openxmlformats.org/officeDocument/2006/relationships" id="301" r:id="R28692924eced45cf"/>
    <p:sldId xmlns:r="http://schemas.openxmlformats.org/officeDocument/2006/relationships" id="302" r:id="R25f5e7db087c4bea"/>
    <p:sldId xmlns:r="http://schemas.openxmlformats.org/officeDocument/2006/relationships" id="303" r:id="Rca79999641794fe2"/>
    <p:sldId xmlns:r="http://schemas.openxmlformats.org/officeDocument/2006/relationships" id="304" r:id="R9ad00237b4004652"/>
    <p:sldId xmlns:r="http://schemas.openxmlformats.org/officeDocument/2006/relationships" id="305" r:id="Rfb4ae5c2dd8e480d"/>
    <p:sldId xmlns:r="http://schemas.openxmlformats.org/officeDocument/2006/relationships" id="306" r:id="Rc2f70a729b9a4e59"/>
    <p:sldId xmlns:r="http://schemas.openxmlformats.org/officeDocument/2006/relationships" id="307" r:id="R6c21502adc8546db"/>
    <p:sldId xmlns:r="http://schemas.openxmlformats.org/officeDocument/2006/relationships" id="308" r:id="R142f64ac64864312"/>
    <p:sldId xmlns:r="http://schemas.openxmlformats.org/officeDocument/2006/relationships" id="309" r:id="Rc9b790b9c2194a8f"/>
    <p:sldId xmlns:r="http://schemas.openxmlformats.org/officeDocument/2006/relationships" id="310" r:id="R2a0fba0126ea4ec4"/>
    <p:sldId xmlns:r="http://schemas.openxmlformats.org/officeDocument/2006/relationships" id="311" r:id="R1e91f042064f45a8"/>
    <p:sldId xmlns:r="http://schemas.openxmlformats.org/officeDocument/2006/relationships" id="312" r:id="R5cc5056f4b7c4d79"/>
    <p:sldId xmlns:r="http://schemas.openxmlformats.org/officeDocument/2006/relationships" id="313" r:id="R8b5f48e4c3634aaf"/>
    <p:sldId xmlns:r="http://schemas.openxmlformats.org/officeDocument/2006/relationships" id="314" r:id="Rc4c111b55e824927"/>
    <p:sldId xmlns:r="http://schemas.openxmlformats.org/officeDocument/2006/relationships" id="315" r:id="Rf5957672e3b648fb"/>
    <p:sldId xmlns:r="http://schemas.openxmlformats.org/officeDocument/2006/relationships" id="316" r:id="Rbc1367d9afb54eea"/>
    <p:sldId xmlns:r="http://schemas.openxmlformats.org/officeDocument/2006/relationships" id="317" r:id="R6f6d6c685a1c44e4"/>
    <p:sldId xmlns:r="http://schemas.openxmlformats.org/officeDocument/2006/relationships" id="318" r:id="Re14fa33e46ae475e"/>
    <p:sldId xmlns:r="http://schemas.openxmlformats.org/officeDocument/2006/relationships" id="319" r:id="Rf5f35c1a50394daf"/>
    <p:sldId xmlns:r="http://schemas.openxmlformats.org/officeDocument/2006/relationships" id="320" r:id="R5267390bca3f4b26"/>
    <p:sldId xmlns:r="http://schemas.openxmlformats.org/officeDocument/2006/relationships" id="321" r:id="R1b11fecefb1240d3"/>
    <p:sldId xmlns:r="http://schemas.openxmlformats.org/officeDocument/2006/relationships" id="322" r:id="Rdc4863c7e8454653"/>
    <p:sldId xmlns:r="http://schemas.openxmlformats.org/officeDocument/2006/relationships" id="323" r:id="R9fcbc56cdab743eb"/>
    <p:sldId xmlns:r="http://schemas.openxmlformats.org/officeDocument/2006/relationships" id="324" r:id="R19132fc65fb04cae"/>
    <p:sldId xmlns:r="http://schemas.openxmlformats.org/officeDocument/2006/relationships" id="325" r:id="Ref69e68aa7dc47ed"/>
    <p:sldId xmlns:r="http://schemas.openxmlformats.org/officeDocument/2006/relationships" id="326" r:id="Rbb0896308f1649c5"/>
    <p:sldId xmlns:r="http://schemas.openxmlformats.org/officeDocument/2006/relationships" id="327" r:id="R02320235f8fc41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ccc48749e342c2" /><Relationship Type="http://schemas.openxmlformats.org/officeDocument/2006/relationships/slideMaster" Target="/ppt/slideMasters/slideMaster1.xml" Id="Rfe8ab2d8a1654fe5" /><Relationship Type="http://schemas.openxmlformats.org/officeDocument/2006/relationships/notesMaster" Target="/ppt/notesMasters/notesMaster1.xml" Id="R99f490f43b634328" /><Relationship Type="http://schemas.openxmlformats.org/officeDocument/2006/relationships/presProps" Target="/ppt/presProps.xml" Id="R7c0726dfeedb4892" /><Relationship Type="http://schemas.openxmlformats.org/officeDocument/2006/relationships/tableStyles" Target="/ppt/tableStyles.xml" Id="R6117fd197e3244e9" /><Relationship Type="http://schemas.openxmlformats.org/officeDocument/2006/relationships/slide" Target="/ppt/slides/slide1.xml" Id="R34b41c1c351e4eae" /><Relationship Type="http://schemas.openxmlformats.org/officeDocument/2006/relationships/slide" Target="/ppt/slides/slide2.xml" Id="R83494809e22e454b" /><Relationship Type="http://schemas.openxmlformats.org/officeDocument/2006/relationships/slide" Target="/ppt/slides/slide3.xml" Id="R3ea76ec127df454a" /><Relationship Type="http://schemas.openxmlformats.org/officeDocument/2006/relationships/slide" Target="/ppt/slides/slide4.xml" Id="R3725e558431840c6" /><Relationship Type="http://schemas.openxmlformats.org/officeDocument/2006/relationships/slide" Target="/ppt/slides/slide5.xml" Id="R330858f473964cb0" /><Relationship Type="http://schemas.openxmlformats.org/officeDocument/2006/relationships/slide" Target="/ppt/slides/slide6.xml" Id="R71f60da2ff5e4634" /><Relationship Type="http://schemas.openxmlformats.org/officeDocument/2006/relationships/slide" Target="/ppt/slides/slide7.xml" Id="Rf8c7bfd4b0334968" /><Relationship Type="http://schemas.openxmlformats.org/officeDocument/2006/relationships/slide" Target="/ppt/slides/slide8.xml" Id="Rbab001c6be44413d" /><Relationship Type="http://schemas.openxmlformats.org/officeDocument/2006/relationships/slide" Target="/ppt/slides/slide9.xml" Id="Re5f2775c33834b6b" /><Relationship Type="http://schemas.openxmlformats.org/officeDocument/2006/relationships/slide" Target="/ppt/slides/slide10.xml" Id="R41ddd47640604a84" /><Relationship Type="http://schemas.openxmlformats.org/officeDocument/2006/relationships/slide" Target="/ppt/slides/slide11.xml" Id="R2c18464d71ac4a7b" /><Relationship Type="http://schemas.openxmlformats.org/officeDocument/2006/relationships/slide" Target="/ppt/slides/slide12.xml" Id="R4daf1707e96d4b91" /><Relationship Type="http://schemas.openxmlformats.org/officeDocument/2006/relationships/slide" Target="/ppt/slides/slide13.xml" Id="R199b1589a60d4a34" /><Relationship Type="http://schemas.openxmlformats.org/officeDocument/2006/relationships/slide" Target="/ppt/slides/slide14.xml" Id="R378a3462f0014fe6" /><Relationship Type="http://schemas.openxmlformats.org/officeDocument/2006/relationships/slide" Target="/ppt/slides/slide15.xml" Id="R3ef052b7184b41d3" /><Relationship Type="http://schemas.openxmlformats.org/officeDocument/2006/relationships/slide" Target="/ppt/slides/slide16.xml" Id="Rd3f202d92ff24464" /><Relationship Type="http://schemas.openxmlformats.org/officeDocument/2006/relationships/slide" Target="/ppt/slides/slide17.xml" Id="Ree263a1fe5f74861" /><Relationship Type="http://schemas.openxmlformats.org/officeDocument/2006/relationships/slide" Target="/ppt/slides/slide18.xml" Id="Rdb2e4b76b7ce4725" /><Relationship Type="http://schemas.openxmlformats.org/officeDocument/2006/relationships/slide" Target="/ppt/slides/slide19.xml" Id="R1d46ef38802149e1" /><Relationship Type="http://schemas.openxmlformats.org/officeDocument/2006/relationships/slide" Target="/ppt/slides/slide20.xml" Id="R3546ede7ef46482e" /><Relationship Type="http://schemas.openxmlformats.org/officeDocument/2006/relationships/slide" Target="/ppt/slides/slide21.xml" Id="Ra423e976d9794420" /><Relationship Type="http://schemas.openxmlformats.org/officeDocument/2006/relationships/slide" Target="/ppt/slides/slide22.xml" Id="R98a402ba88f347c4" /><Relationship Type="http://schemas.openxmlformats.org/officeDocument/2006/relationships/slide" Target="/ppt/slides/slide23.xml" Id="Rbf7912bb45e74008" /><Relationship Type="http://schemas.openxmlformats.org/officeDocument/2006/relationships/slide" Target="/ppt/slides/slide24.xml" Id="R58dc1d526f26443f" /><Relationship Type="http://schemas.openxmlformats.org/officeDocument/2006/relationships/slide" Target="/ppt/slides/slide25.xml" Id="Rb9da8d9f38ed4576" /><Relationship Type="http://schemas.openxmlformats.org/officeDocument/2006/relationships/slide" Target="/ppt/slides/slide26.xml" Id="R24515e4d6d734085" /><Relationship Type="http://schemas.openxmlformats.org/officeDocument/2006/relationships/slide" Target="/ppt/slides/slide27.xml" Id="R8655db42a5ef41cb" /><Relationship Type="http://schemas.openxmlformats.org/officeDocument/2006/relationships/slide" Target="/ppt/slides/slide28.xml" Id="R067a9005054a409c" /><Relationship Type="http://schemas.openxmlformats.org/officeDocument/2006/relationships/slide" Target="/ppt/slides/slide29.xml" Id="R08dd037daf0d434d" /><Relationship Type="http://schemas.openxmlformats.org/officeDocument/2006/relationships/slide" Target="/ppt/slides/slide30.xml" Id="R5f401aec22f1497b" /><Relationship Type="http://schemas.openxmlformats.org/officeDocument/2006/relationships/slide" Target="/ppt/slides/slide31.xml" Id="R38ca778c9a284d87" /><Relationship Type="http://schemas.openxmlformats.org/officeDocument/2006/relationships/slide" Target="/ppt/slides/slide32.xml" Id="Rfbe32c0e31c7467f" /><Relationship Type="http://schemas.openxmlformats.org/officeDocument/2006/relationships/slide" Target="/ppt/slides/slide33.xml" Id="R196a619edba84643" /><Relationship Type="http://schemas.openxmlformats.org/officeDocument/2006/relationships/slide" Target="/ppt/slides/slide34.xml" Id="Rc8a5310d1f8248a6" /><Relationship Type="http://schemas.openxmlformats.org/officeDocument/2006/relationships/slide" Target="/ppt/slides/slide35.xml" Id="Re5bf6098dff74948" /><Relationship Type="http://schemas.openxmlformats.org/officeDocument/2006/relationships/slide" Target="/ppt/slides/slide36.xml" Id="R4aaded041c2d4ff2" /><Relationship Type="http://schemas.openxmlformats.org/officeDocument/2006/relationships/slide" Target="/ppt/slides/slide37.xml" Id="Rdc38abe4ce1e4b58" /><Relationship Type="http://schemas.openxmlformats.org/officeDocument/2006/relationships/slide" Target="/ppt/slides/slide38.xml" Id="Rd6348ecd081b469b" /><Relationship Type="http://schemas.openxmlformats.org/officeDocument/2006/relationships/slide" Target="/ppt/slides/slide39.xml" Id="R9fdc6c4c3a834271" /><Relationship Type="http://schemas.openxmlformats.org/officeDocument/2006/relationships/slide" Target="/ppt/slides/slide40.xml" Id="Ra562313788384714" /><Relationship Type="http://schemas.openxmlformats.org/officeDocument/2006/relationships/slide" Target="/ppt/slides/slide41.xml" Id="R50785e2c53f94c19" /><Relationship Type="http://schemas.openxmlformats.org/officeDocument/2006/relationships/slide" Target="/ppt/slides/slide42.xml" Id="Rc9d175cbac8b47c0" /><Relationship Type="http://schemas.openxmlformats.org/officeDocument/2006/relationships/slide" Target="/ppt/slides/slide43.xml" Id="R2ed02725c31c4b02" /><Relationship Type="http://schemas.openxmlformats.org/officeDocument/2006/relationships/slide" Target="/ppt/slides/slide44.xml" Id="R584ac5bf97dc4bb0" /><Relationship Type="http://schemas.openxmlformats.org/officeDocument/2006/relationships/slide" Target="/ppt/slides/slide45.xml" Id="Rf0c5dc7d4ab64339" /><Relationship Type="http://schemas.openxmlformats.org/officeDocument/2006/relationships/slide" Target="/ppt/slides/slide46.xml" Id="R28692924eced45cf" /><Relationship Type="http://schemas.openxmlformats.org/officeDocument/2006/relationships/slide" Target="/ppt/slides/slide47.xml" Id="R25f5e7db087c4bea" /><Relationship Type="http://schemas.openxmlformats.org/officeDocument/2006/relationships/slide" Target="/ppt/slides/slide48.xml" Id="Rca79999641794fe2" /><Relationship Type="http://schemas.openxmlformats.org/officeDocument/2006/relationships/slide" Target="/ppt/slides/slide49.xml" Id="R9ad00237b4004652" /><Relationship Type="http://schemas.openxmlformats.org/officeDocument/2006/relationships/slide" Target="/ppt/slides/slide50.xml" Id="Rfb4ae5c2dd8e480d" /><Relationship Type="http://schemas.openxmlformats.org/officeDocument/2006/relationships/slide" Target="/ppt/slides/slide51.xml" Id="Rc2f70a729b9a4e59" /><Relationship Type="http://schemas.openxmlformats.org/officeDocument/2006/relationships/slide" Target="/ppt/slides/slide52.xml" Id="R6c21502adc8546db" /><Relationship Type="http://schemas.openxmlformats.org/officeDocument/2006/relationships/slide" Target="/ppt/slides/slide53.xml" Id="R142f64ac64864312" /><Relationship Type="http://schemas.openxmlformats.org/officeDocument/2006/relationships/slide" Target="/ppt/slides/slide54.xml" Id="Rc9b790b9c2194a8f" /><Relationship Type="http://schemas.openxmlformats.org/officeDocument/2006/relationships/slide" Target="/ppt/slides/slide55.xml" Id="R2a0fba0126ea4ec4" /><Relationship Type="http://schemas.openxmlformats.org/officeDocument/2006/relationships/slide" Target="/ppt/slides/slide56.xml" Id="R1e91f042064f45a8" /><Relationship Type="http://schemas.openxmlformats.org/officeDocument/2006/relationships/slide" Target="/ppt/slides/slide57.xml" Id="R5cc5056f4b7c4d79" /><Relationship Type="http://schemas.openxmlformats.org/officeDocument/2006/relationships/slide" Target="/ppt/slides/slide58.xml" Id="R8b5f48e4c3634aaf" /><Relationship Type="http://schemas.openxmlformats.org/officeDocument/2006/relationships/slide" Target="/ppt/slides/slide59.xml" Id="Rc4c111b55e824927" /><Relationship Type="http://schemas.openxmlformats.org/officeDocument/2006/relationships/slide" Target="/ppt/slides/slide60.xml" Id="Rf5957672e3b648fb" /><Relationship Type="http://schemas.openxmlformats.org/officeDocument/2006/relationships/slide" Target="/ppt/slides/slide61.xml" Id="Rbc1367d9afb54eea" /><Relationship Type="http://schemas.openxmlformats.org/officeDocument/2006/relationships/slide" Target="/ppt/slides/slide62.xml" Id="R6f6d6c685a1c44e4" /><Relationship Type="http://schemas.openxmlformats.org/officeDocument/2006/relationships/slide" Target="/ppt/slides/slide63.xml" Id="Re14fa33e46ae475e" /><Relationship Type="http://schemas.openxmlformats.org/officeDocument/2006/relationships/slide" Target="/ppt/slides/slide64.xml" Id="Rf5f35c1a50394daf" /><Relationship Type="http://schemas.openxmlformats.org/officeDocument/2006/relationships/slide" Target="/ppt/slides/slide65.xml" Id="R5267390bca3f4b26" /><Relationship Type="http://schemas.openxmlformats.org/officeDocument/2006/relationships/slide" Target="/ppt/slides/slide66.xml" Id="R1b11fecefb1240d3" /><Relationship Type="http://schemas.openxmlformats.org/officeDocument/2006/relationships/slide" Target="/ppt/slides/slide67.xml" Id="Rdc4863c7e8454653" /><Relationship Type="http://schemas.openxmlformats.org/officeDocument/2006/relationships/slide" Target="/ppt/slides/slide68.xml" Id="R9fcbc56cdab743eb" /><Relationship Type="http://schemas.openxmlformats.org/officeDocument/2006/relationships/slide" Target="/ppt/slides/slide69.xml" Id="R19132fc65fb04cae" /><Relationship Type="http://schemas.openxmlformats.org/officeDocument/2006/relationships/slide" Target="/ppt/slides/slide70.xml" Id="Ref69e68aa7dc47ed" /><Relationship Type="http://schemas.openxmlformats.org/officeDocument/2006/relationships/slide" Target="/ppt/slides/slide71.xml" Id="Rbb0896308f1649c5" /><Relationship Type="http://schemas.openxmlformats.org/officeDocument/2006/relationships/slide" Target="/ppt/slides/slide72.xml" Id="R02320235f8fc41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21754d80c845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bc85ab502244fd" /><Relationship Type="http://schemas.openxmlformats.org/officeDocument/2006/relationships/notesMaster" Target="/ppt/notesMasters/notesMaster1.xml" Id="Rcf8b752430d54f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7de271645f445d" /><Relationship Type="http://schemas.openxmlformats.org/officeDocument/2006/relationships/notesMaster" Target="/ppt/notesMasters/notesMaster1.xml" Id="Rb31e9a6871e94f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e1b1895d1c4096" /><Relationship Type="http://schemas.openxmlformats.org/officeDocument/2006/relationships/notesMaster" Target="/ppt/notesMasters/notesMaster1.xml" Id="Rcc29e1a29a1444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30a169e37b4d62" /><Relationship Type="http://schemas.openxmlformats.org/officeDocument/2006/relationships/notesMaster" Target="/ppt/notesMasters/notesMaster1.xml" Id="R3e755aa91fb142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b4d3b6a8334a84" /><Relationship Type="http://schemas.openxmlformats.org/officeDocument/2006/relationships/notesMaster" Target="/ppt/notesMasters/notesMaster1.xml" Id="R739d5ed194f940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dfdcae5edf40bb" /><Relationship Type="http://schemas.openxmlformats.org/officeDocument/2006/relationships/notesMaster" Target="/ppt/notesMasters/notesMaster1.xml" Id="R4f21e8297d704c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e7e91ed90a4a83" /><Relationship Type="http://schemas.openxmlformats.org/officeDocument/2006/relationships/notesMaster" Target="/ppt/notesMasters/notesMaster1.xml" Id="R4ba1c4b4507d41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ef20561eab4f33" /><Relationship Type="http://schemas.openxmlformats.org/officeDocument/2006/relationships/notesMaster" Target="/ppt/notesMasters/notesMaster1.xml" Id="Rad326ffa2b984b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12d7d83f3c4b4b" /><Relationship Type="http://schemas.openxmlformats.org/officeDocument/2006/relationships/notesMaster" Target="/ppt/notesMasters/notesMaster1.xml" Id="R9546b10de21b49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d7941592644b05" /><Relationship Type="http://schemas.openxmlformats.org/officeDocument/2006/relationships/notesMaster" Target="/ppt/notesMasters/notesMaster1.xml" Id="Rec801de66c594d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11b1e1754e4b8c" /><Relationship Type="http://schemas.openxmlformats.org/officeDocument/2006/relationships/notesMaster" Target="/ppt/notesMasters/notesMaster1.xml" Id="R47c12077728247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4cc5230ee54c01" /><Relationship Type="http://schemas.openxmlformats.org/officeDocument/2006/relationships/notesMaster" Target="/ppt/notesMasters/notesMaster1.xml" Id="Rb52b23fc522e4a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15f25fa9a24045" /><Relationship Type="http://schemas.openxmlformats.org/officeDocument/2006/relationships/notesMaster" Target="/ppt/notesMasters/notesMaster1.xml" Id="R19e539f8534b43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ae45cd93da4bcb" /><Relationship Type="http://schemas.openxmlformats.org/officeDocument/2006/relationships/notesMaster" Target="/ppt/notesMasters/notesMaster1.xml" Id="Rc0f18eefd0094b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354b73ad87487f" /><Relationship Type="http://schemas.openxmlformats.org/officeDocument/2006/relationships/notesMaster" Target="/ppt/notesMasters/notesMaster1.xml" Id="R48efadd8060245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6b1e16eebb74f0a" /><Relationship Type="http://schemas.openxmlformats.org/officeDocument/2006/relationships/notesMaster" Target="/ppt/notesMasters/notesMaster1.xml" Id="R9301f4188f294e9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e5d2402ad6d4f53" /><Relationship Type="http://schemas.openxmlformats.org/officeDocument/2006/relationships/notesMaster" Target="/ppt/notesMasters/notesMaster1.xml" Id="Rb5f5a1568d2a4a4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e0dce022184773" /><Relationship Type="http://schemas.openxmlformats.org/officeDocument/2006/relationships/notesMaster" Target="/ppt/notesMasters/notesMaster1.xml" Id="Rdd80b69f231840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debb40d9e1a4a85" /><Relationship Type="http://schemas.openxmlformats.org/officeDocument/2006/relationships/notesMaster" Target="/ppt/notesMasters/notesMaster1.xml" Id="R4fc12e5f9f3c472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b1874d6532e4a88" /><Relationship Type="http://schemas.openxmlformats.org/officeDocument/2006/relationships/notesMaster" Target="/ppt/notesMasters/notesMaster1.xml" Id="R93ef0ce8a4f14be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ae7dc704ffc434f" /><Relationship Type="http://schemas.openxmlformats.org/officeDocument/2006/relationships/notesMaster" Target="/ppt/notesMasters/notesMaster1.xml" Id="Red1209ce1e6a46c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37f6f7dab574879" /><Relationship Type="http://schemas.openxmlformats.org/officeDocument/2006/relationships/notesMaster" Target="/ppt/notesMasters/notesMaster1.xml" Id="R60d546312c9c492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8445c127d924601" /><Relationship Type="http://schemas.openxmlformats.org/officeDocument/2006/relationships/notesMaster" Target="/ppt/notesMasters/notesMaster1.xml" Id="R146d513776954c6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08633751894ecf" /><Relationship Type="http://schemas.openxmlformats.org/officeDocument/2006/relationships/notesMaster" Target="/ppt/notesMasters/notesMaster1.xml" Id="Refe0aae0a13b4ff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b7a4d1b45c465c" /><Relationship Type="http://schemas.openxmlformats.org/officeDocument/2006/relationships/notesMaster" Target="/ppt/notesMasters/notesMaster1.xml" Id="R3d74ddc34641473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d123e6a8878406f" /><Relationship Type="http://schemas.openxmlformats.org/officeDocument/2006/relationships/notesMaster" Target="/ppt/notesMasters/notesMaster1.xml" Id="R60db490c7c6541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cecda4804084cb2" /><Relationship Type="http://schemas.openxmlformats.org/officeDocument/2006/relationships/notesMaster" Target="/ppt/notesMasters/notesMaster1.xml" Id="R5e57a9d8034b4c7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76567eca30f4d75" /><Relationship Type="http://schemas.openxmlformats.org/officeDocument/2006/relationships/notesMaster" Target="/ppt/notesMasters/notesMaster1.xml" Id="Rf778b7d2d7ff45d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4d30ff03a7141b9" /><Relationship Type="http://schemas.openxmlformats.org/officeDocument/2006/relationships/notesMaster" Target="/ppt/notesMasters/notesMaster1.xml" Id="R094be9a1119d441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cf2d04c771a4701" /><Relationship Type="http://schemas.openxmlformats.org/officeDocument/2006/relationships/notesMaster" Target="/ppt/notesMasters/notesMaster1.xml" Id="R48ec891856f8411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38109734b8145f7" /><Relationship Type="http://schemas.openxmlformats.org/officeDocument/2006/relationships/notesMaster" Target="/ppt/notesMasters/notesMaster1.xml" Id="Rbc1bba7cfc734f0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07f3395b0b84bf8" /><Relationship Type="http://schemas.openxmlformats.org/officeDocument/2006/relationships/notesMaster" Target="/ppt/notesMasters/notesMaster1.xml" Id="R8b5165c714ea493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2451d1ed8c14d61" /><Relationship Type="http://schemas.openxmlformats.org/officeDocument/2006/relationships/notesMaster" Target="/ppt/notesMasters/notesMaster1.xml" Id="Rd85532f614c440e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0cd18d43bc746a5" /><Relationship Type="http://schemas.openxmlformats.org/officeDocument/2006/relationships/notesMaster" Target="/ppt/notesMasters/notesMaster1.xml" Id="Rd1cb4e40e8a446e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8707d5b5af64341" /><Relationship Type="http://schemas.openxmlformats.org/officeDocument/2006/relationships/notesMaster" Target="/ppt/notesMasters/notesMaster1.xml" Id="R36f6d08d77c54ac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211760243f447b" /><Relationship Type="http://schemas.openxmlformats.org/officeDocument/2006/relationships/notesMaster" Target="/ppt/notesMasters/notesMaster1.xml" Id="R8d31e965e0a549f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0a03e9a388f4414" /><Relationship Type="http://schemas.openxmlformats.org/officeDocument/2006/relationships/notesMaster" Target="/ppt/notesMasters/notesMaster1.xml" Id="Rcc83c87f7ec6404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4487eb6b29b40e6" /><Relationship Type="http://schemas.openxmlformats.org/officeDocument/2006/relationships/notesMaster" Target="/ppt/notesMasters/notesMaster1.xml" Id="Raff7b1520081449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541b45209f04b88" /><Relationship Type="http://schemas.openxmlformats.org/officeDocument/2006/relationships/notesMaster" Target="/ppt/notesMasters/notesMaster1.xml" Id="Rbea2df55086f432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d51ac259ba64a7a" /><Relationship Type="http://schemas.openxmlformats.org/officeDocument/2006/relationships/notesMaster" Target="/ppt/notesMasters/notesMaster1.xml" Id="R9664208e7fbe4d5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2c4b45ff324455a" /><Relationship Type="http://schemas.openxmlformats.org/officeDocument/2006/relationships/notesMaster" Target="/ppt/notesMasters/notesMaster1.xml" Id="Re886ad71b866436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b8249968ad34292" /><Relationship Type="http://schemas.openxmlformats.org/officeDocument/2006/relationships/notesMaster" Target="/ppt/notesMasters/notesMaster1.xml" Id="R610637bad060473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9118eaf327f4828" /><Relationship Type="http://schemas.openxmlformats.org/officeDocument/2006/relationships/notesMaster" Target="/ppt/notesMasters/notesMaster1.xml" Id="R93cf54731c31432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1bd4872dc394a69" /><Relationship Type="http://schemas.openxmlformats.org/officeDocument/2006/relationships/notesMaster" Target="/ppt/notesMasters/notesMaster1.xml" Id="R647d8f411180400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f7dbac8173e4c0d" /><Relationship Type="http://schemas.openxmlformats.org/officeDocument/2006/relationships/notesMaster" Target="/ppt/notesMasters/notesMaster1.xml" Id="R5dcdd3632cbe425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230896fe4964f1a" /><Relationship Type="http://schemas.openxmlformats.org/officeDocument/2006/relationships/notesMaster" Target="/ppt/notesMasters/notesMaster1.xml" Id="R6b34d1c8da88405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972e49a48b3491f" /><Relationship Type="http://schemas.openxmlformats.org/officeDocument/2006/relationships/notesMaster" Target="/ppt/notesMasters/notesMaster1.xml" Id="R0b703150e5d442b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90c695f4da24660" /><Relationship Type="http://schemas.openxmlformats.org/officeDocument/2006/relationships/notesMaster" Target="/ppt/notesMasters/notesMaster1.xml" Id="R063a87c3a995466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71ad9d9daff4721" /><Relationship Type="http://schemas.openxmlformats.org/officeDocument/2006/relationships/notesMaster" Target="/ppt/notesMasters/notesMaster1.xml" Id="R9b7a3ad0341e431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bba4d5ac66b4e36" /><Relationship Type="http://schemas.openxmlformats.org/officeDocument/2006/relationships/notesMaster" Target="/ppt/notesMasters/notesMaster1.xml" Id="R133443a1f64c471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3d8da72589f4b06" /><Relationship Type="http://schemas.openxmlformats.org/officeDocument/2006/relationships/notesMaster" Target="/ppt/notesMasters/notesMaster1.xml" Id="R029faf89137f453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8ff74f92a104793" /><Relationship Type="http://schemas.openxmlformats.org/officeDocument/2006/relationships/notesMaster" Target="/ppt/notesMasters/notesMaster1.xml" Id="Rbef18dc047a54c9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80af160b9124193" /><Relationship Type="http://schemas.openxmlformats.org/officeDocument/2006/relationships/notesMaster" Target="/ppt/notesMasters/notesMaster1.xml" Id="Rb4ac1444ae244fd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89a7e91374a4d73" /><Relationship Type="http://schemas.openxmlformats.org/officeDocument/2006/relationships/notesMaster" Target="/ppt/notesMasters/notesMaster1.xml" Id="R746bfcfbe0894b8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0694a515ab14f16" /><Relationship Type="http://schemas.openxmlformats.org/officeDocument/2006/relationships/notesMaster" Target="/ppt/notesMasters/notesMaster1.xml" Id="R69cbeead4c8f419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8770c3dfc284650" /><Relationship Type="http://schemas.openxmlformats.org/officeDocument/2006/relationships/notesMaster" Target="/ppt/notesMasters/notesMaster1.xml" Id="R219544b42b38450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0d0837e4ffa42bc" /><Relationship Type="http://schemas.openxmlformats.org/officeDocument/2006/relationships/notesMaster" Target="/ppt/notesMasters/notesMaster1.xml" Id="R352ad91537b14863"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ee918dacf664422" /><Relationship Type="http://schemas.openxmlformats.org/officeDocument/2006/relationships/notesMaster" Target="/ppt/notesMasters/notesMaster1.xml" Id="R5641dca4f8b24ff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d371caff8744c87" /><Relationship Type="http://schemas.openxmlformats.org/officeDocument/2006/relationships/notesMaster" Target="/ppt/notesMasters/notesMaster1.xml" Id="R2ffd7fb532f94be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5cb69cc68804c57" /><Relationship Type="http://schemas.openxmlformats.org/officeDocument/2006/relationships/notesMaster" Target="/ppt/notesMasters/notesMaster1.xml" Id="R81fa5ef4f6f94773"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4446312be454d9e" /><Relationship Type="http://schemas.openxmlformats.org/officeDocument/2006/relationships/notesMaster" Target="/ppt/notesMasters/notesMaster1.xml" Id="R1b948ef4e836434c"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ce94626490e4374" /><Relationship Type="http://schemas.openxmlformats.org/officeDocument/2006/relationships/notesMaster" Target="/ppt/notesMasters/notesMaster1.xml" Id="Rb5c5a9b326c1426b"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4853a3f1fcd144c6" /><Relationship Type="http://schemas.openxmlformats.org/officeDocument/2006/relationships/notesMaster" Target="/ppt/notesMasters/notesMaster1.xml" Id="Rc0767146cb944ed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02c67007aff14f96" /><Relationship Type="http://schemas.openxmlformats.org/officeDocument/2006/relationships/notesMaster" Target="/ppt/notesMasters/notesMaster1.xml" Id="Re3eb3aa27d9c4df8"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0be8f31743d4aab" /><Relationship Type="http://schemas.openxmlformats.org/officeDocument/2006/relationships/notesMaster" Target="/ppt/notesMasters/notesMaster1.xml" Id="R5a372dfe5122494c"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38ebef7c79af409c" /><Relationship Type="http://schemas.openxmlformats.org/officeDocument/2006/relationships/notesMaster" Target="/ppt/notesMasters/notesMaster1.xml" Id="R089edd59276d47aa"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9e6c510988f42e1" /><Relationship Type="http://schemas.openxmlformats.org/officeDocument/2006/relationships/notesMaster" Target="/ppt/notesMasters/notesMaster1.xml" Id="R48fca3cf30b3466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807f30d9cb44c26" /><Relationship Type="http://schemas.openxmlformats.org/officeDocument/2006/relationships/notesMaster" Target="/ppt/notesMasters/notesMaster1.xml" Id="R442aed67f830401f"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5f4a149de6748a3" /><Relationship Type="http://schemas.openxmlformats.org/officeDocument/2006/relationships/notesMaster" Target="/ppt/notesMasters/notesMaster1.xml" Id="R08199e18b8ad47c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4b073c805f884b27" /><Relationship Type="http://schemas.openxmlformats.org/officeDocument/2006/relationships/notesMaster" Target="/ppt/notesMasters/notesMaster1.xml" Id="R9c807f9ef4d14d50"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3a4549b932b477d" /><Relationship Type="http://schemas.openxmlformats.org/officeDocument/2006/relationships/notesMaster" Target="/ppt/notesMasters/notesMaster1.xml" Id="R429ce88e57dc4a3f"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44b0274ebd9b4265" /><Relationship Type="http://schemas.openxmlformats.org/officeDocument/2006/relationships/notesMaster" Target="/ppt/notesMasters/notesMaster1.xml" Id="R6d4121fac8cd41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Sesión 06. Sábado 17 de octubre de 2026, 08:00–17:00. Continuación de la sesión 05. Fuentes: docs/calendario_contractual.json y notebook06rev01 publicado en dev, commit270dc9d13c14cb90d7b50953e4e32fdda8905e9e. E08yE09 mantienen su alcance. Ilustración sketch del curso.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kit/Notebooks/06_Spark_joins_y_ventanas_rev01.ipynb</a:t>
            </a:r>
          </a:p>
          <a:p xmlns:a="http://schemas.openxmlformats.org/drawingml/2006/main">
            <a:r>
              <a:t>La entrada es spark_rendimiento, producida por notebook 05. No volver a promediar rendimientos por fila. Recuperar los conceptos de driver, executor, partición, acción y shuffle.</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https://pandas.pydata.org/docs/user_guide/scale.html</a:t>
            </a:r>
          </a:p>
          <a:p xmlns:a="http://schemas.openxmlformats.org/drawingml/2006/main">
            <a:r>
              <a:t>Ejemplo de discusión: un archivo comprimido de 4 GB no equivale a un DataFrame de 4 GB. Preguntar cuánto ocupan columnas, índices, copias y tablas del join. Pandas admite lectura selectiva, tipos eficientes y chunks; sumas parciales son combinables, una ordenación global o join arbitrario requieren más coordinación. Spark puede procesar conjuntos mayores que la RAM total apoyándose en almacenamiento y spill, con límites por operación.</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https://pandas.pydata.org/docs/user_guide/scale.html</a:t>
            </a:r>
          </a:p>
          <a:p xmlns:a="http://schemas.openxmlformats.org/drawingml/2006/main">
            <a:r>
              <a:t>https://spark.apache.org/docs/4.0.1/cluster-overview.html</a:t>
            </a:r>
          </a:p>
          <a:p xmlns:a="http://schemas.openxmlformats.org/drawingml/2006/main">
            <a:r>
              <a:t>Comparación entre pandas convencional y Spark DataFrame, no pandas API on Spark. Pandas puede utilizar rutinas nativas y librerías con paralelismo interno: no decir que siempre usa un único núcleo. Spark también puede correr localmente, sin varios servidores. El carácter distribuido no implica que toda operación sea más rápida. Spark puede consultar metadatos o inferir esquema antes de una acción; lazy se refiere al cálculo de las transformaciones.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https://github.com/eshernan/big-data-postgraduate/blob/270dc9d13c14cb90d7b50953e4e32fdda8905e9e/kit/Notebooks/05_Spark_lectura_y_agregacion.ipynb</a:t>
            </a:r>
          </a:p>
          <a:p xmlns:a="http://schemas.openxmlformats.org/drawingml/2006/main">
            <a:r>
              <a:t>No atribuir a Spark la lectura/conversión inicial de CSV del05. Es una limitación explícita del flujo docente. No afirmar que todos los datos grandes exigen Spark: selección, tipos y chunks pueden resolver ciertos cálculos locales.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Diagrama conceptual. Una aplicación tiene su propio driver y executors. El gestor de recursos puede ser Standalone, YARN o Kubernetes. Worker node es una máquina; executor es un proceso de una aplicación: pueden existir varias distribuciones de procesos por nodo. Local mode ejecuta dentro de la máquina de clase y no reproduce la separación de procesos de un clúster. La ruta Parquet es almacenamiento accesible a executors, no una carpeta privada del laptop copiada automáticamente. Ilustración sketch generada con IA.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https://spark.apache.org/docs/4.0.1/rdd-programming-guide.html</a:t>
            </a:r>
          </a:p>
          <a:p xmlns:a="http://schemas.openxmlformats.org/drawingml/2006/main">
            <a:r>
              <a:t>Explicar tres rutas por separado. El gestor de recursos no transporta cada fila ni realiza el join. En shuffle, tareas productoras escriben bloques y consumidoras los recuperan, localmente o por red. Detalles del servicio de shuffle dependen del despliegue. Los executors necesitan acceso a archivos, credenciales y dependencias: cambiar master no hace que archivos locales del portátil sean visibles en todos los nodos.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Sección0 ybloqueB. Una partición organiza datos; una tarea procesa una partición en una etapa; el executor es el proceso que ejecuta tareas. El driver planifica y asigna. local[2] usa dos hilos locales, no crea dos executors remotos. En clúster, un executor con4CPU y spark.task.cpus=1 puede admitir4tareas según recursos y disponibilidad. El esquema ilustra una cola y capacidad, no4barreras de espera. Las tareas nuevas pueden comenzar tan pronto como se libere capacidad. La memoria se comparte, no se divide en cuotas iguales por tarea. Ilustración sketch generada con IA.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https://spark.apache.org/docs/4.0.1/cluster-overview.html</a:t>
            </a:r>
          </a:p>
          <a:p xmlns:a="http://schemas.openxmlformats.org/drawingml/2006/main">
            <a:r>
              <a:t>Construir filter/select/groupBy crea el plan. write o count dispara ejecución; una acción puede dar lugar a uno o más jobs por detalles del plan, broadcast y subconsultas. No prometer una correspondencia rígida de una acción con un job. Operaciones estrechas pueden encadenarse dentro de una etapa. Exchange indica redistribución; los resultados intermedios se consumen en otra etapa. AQE puede modificar el plan durante la ejecución. Esquema de la colección del curso.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https://spark.apache.org/docs/4.0.1/sql-programming-guide.html</a:t>
            </a:r>
          </a:p>
          <a:p xmlns:a="http://schemas.openxmlformats.org/drawingml/2006/main">
            <a:r>
              <a:t>https://spark.apache.org/docs/4.0.1/sql-performance-tuning.html</a:t>
            </a:r>
          </a:p>
          <a:p xmlns:a="http://schemas.openxmlformats.org/drawingml/2006/main">
            <a:r>
              <a:t>Desarrollar el ejemplo: select de seis columnas en vez de cincuenta y filter por año antes del agregado. Catalyst optimiza el plan lógico y elige planes físicos; generación de código y ejecución por operadores dependen del soporte. No confundir optimización lógica con decisión adaptativa posterior a shuffle. No toda expresión ni UDF admite fusión o pushdown. Las estadísticas ausentes pueden conducir a una elección de join deficiente.</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https://spark.apache.org/docs/4.0.1/sql-data-sources-parquet.html</a:t>
            </a:r>
          </a:p>
          <a:p xmlns:a="http://schemas.openxmlformats.org/drawingml/2006/main">
            <a:r>
              <a:t>https://spark.apache.org/docs/4.0.1/sql-performance-tuning.html</a:t>
            </a:r>
          </a:p>
          <a:p xmlns:a="http://schemas.openxmlformats.org/drawingml/2006/main">
            <a:r>
              <a:t>Ejemplo hipotético, sin prometer una reducción porcentual: dataset por anio, consulta anio=2025 y seis columnas. Poda de particiones físicas de almacenamiento y predicate pushdown son mecanismos distintos. PushedFilters indica filtros enviados a la fuente, no prueba que se descartaron todos los bloques. CSV no proporciona la misma organización columnar; archivos no divisibles pueden limitar el paralelismo. Contrastar bytes de entrada en Spark UI.</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https://spark.apache.org/docs/4.0.1/sql-performance-tuning.html</a:t>
            </a:r>
          </a:p>
          <a:p xmlns:a="http://schemas.openxmlformats.org/drawingml/2006/main">
            <a:r>
              <a:t>https://spark.apache.org/docs/4.0.1/sql-ref-syntax-qry-select-groupby.html</a:t>
            </a:r>
          </a:p>
          <a:p xmlns:a="http://schemas.openxmlformats.org/drawingml/2006/main">
            <a:r>
              <a:t>Ejemplo inventado y comprobado: rendimientos 5,2,3,7.5; promedio 17.5/4=4.375, rendimiento agregado 40/10=4. Sumas y conteos permiten combinación parcial; no todas las funciones se reducen del mismo modo. Con muchas claves únicas, el agregado parcial puede reducir poco. El plan real puede usar operadores distintos. Preguntar qué cambia si se agrupa por una clave única por fila.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https://spark.apache.org/docs/4.0.1/sql-performance-tuning.html</a:t>
            </a:r>
          </a:p>
          <a:p xmlns:a="http://schemas.openxmlformats.org/drawingml/2006/main">
            <a:r>
              <a:t>Leer el esquema de izquierda a derecha. A=maíz y B=papa son etiquetas didácticas de claves completas, no nombres reales de una partición. P0 produce parciales A=16t/5ha y B=6t/2ha; P1 produce A=24t/5ha y B=9t/3ha. Los reductores reciben misma clave: A=40t/10ha y B=15t/5ha. Los grupos A y B pueden compartir una partición en un hash real; se separan aquí para ilustrar el destino por clave. La red solo participa si los bloques están en otra máquina. No afirmar que cada shuffle mueve todo el dataset original. Ilustración sketch generada con IA.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https://spark.apache.org/docs/4.0.1/tuning.html</a:t>
            </a:r>
          </a:p>
          <a:p xmlns:a="http://schemas.openxmlformats.org/drawingml/2006/main">
            <a:r>
              <a:t>https://raw.githubusercontent.com/apache/spark/v4.0.1/core/src/main/scala/org/apache/spark/shuffle/sort/SortShuffleManager.scala</a:t>
            </a:r>
          </a:p>
          <a:p xmlns:a="http://schemas.openxmlformats.org/drawingml/2006/main">
            <a:r>
              <a:t>Describe el shuffle sort-based habitual. No todos los despliegues usan exactamente el mismo almacenamiento o plugin. La escritura del resultado de map en disco no requiere que haya ocurrido spill. Buffers, serialización, ficheros de datos/índice y fetch son partes distintas. Los datos no se reúnen todos simultáneamente en la RAM del executor consumidor. La memoria agregada del clúster no es un único espacio compartido.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https://spark.apache.org/docs/4.0.1/rdd-programming-guide.html</a:t>
            </a:r>
          </a:p>
          <a:p xmlns:a="http://schemas.openxmlformats.org/drawingml/2006/main">
            <a:r>
              <a:t>https://raw.githubusercontent.com/apache/spark/v4.0.1/core/src/main/scala/org/apache/spark/shuffle/sort/SortShuffleManager.scala</a:t>
            </a:r>
          </a:p>
          <a:p xmlns:a="http://schemas.openxmlformats.org/drawingml/2006/main">
            <a:r>
              <a:t>https://raw.githubusercontent.com/apache/spark/v4.0.1/sql/core/src/main/scala/org/apache/spark/sql/execution/exchange/ShuffleExchangeExec.scala</a:t>
            </a:r>
          </a:p>
          <a:p xmlns:a="http://schemas.openxmlformats.org/drawingml/2006/main">
            <a:r>
              <a:t>Nombres para ampliar oralmente: DAGScheduler organiza stages, TaskScheduler asigna tareas, MapOutputTracker mantiene metadatos de salidas map. ShuffleManager, escritores/lectores y BlockManager participan en la ruta de datos. El servicio externo de shuffle es una opción de despliegue, no un requisito universal. AQE puede ajustar las particiones de lectura. No dibujar al gestor de recursos como router de filas.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BloqueA. El dibujo previo fija sumasP0/P1como ejemplo. En el notebook,repartition(2)elige una distribución que debe inspeccionarse; no exigir las mismas sumas por partición del dibujo. Los totales finales didácticos sí son A=40t/10ha=4t/ha yB=15t/5ha=3t/ha. Persistir estabiliza las seis filas durante su inspección. El plan puede cambiar porAQE.</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kit/Notebooks/06_Spark_joins_y_ventanas_rev01.ipynb</a:t>
            </a:r>
          </a:p>
          <a:p xmlns:a="http://schemas.openxmlformats.org/drawingml/2006/main">
            <a:r>
              <a:t>Ejemplo: el municipio 05001 puede tener varios cultivos y años. Repetir ese código en rendimiento es normal. Repetirlo en la dimensión de municipios requiere revisar su significado. No confundir unicidad de la dimensión con unicidad del hecho.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https://spark.apache.org/docs/4.0.1/api/python/reference/pyspark.sql/api/pyspark.sql.DataFrame.join.html</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https://spark.apache.org/docs/4.0.1/api/python/reference/pyspark.sql/api/pyspark.sql.DataFrame.join.html</a:t>
            </a:r>
          </a:p>
          <a:p xmlns:a="http://schemas.openxmlformats.org/drawingml/2006/main">
            <a:r>
              <a:t>Ejemplo inventado para enseñanza. Con LEFT JOIN y sin coincidencia se conserva una fila con nulos. La fórmula por clave es n_izquierda * max(1,n_derecha). No aplicar distinct para esconder el problema sin revisar la causa del duplicado.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kit/Notebooks/06_Spark_joins_y_ventanas_rev01.ipynb</a:t>
            </a:r>
          </a:p>
          <a:p xmlns:a="http://schemas.openxmlformats.org/drawingml/2006/main">
            <a:r>
              <a:t>https://spark.apache.org/docs/4.0.1/api/python/reference/pyspark.sql/api/pyspark.sql.DataFrame.join.html</a:t>
            </a:r>
          </a:p>
          <a:p xmlns:a="http://schemas.openxmlformats.org/drawingml/2006/main">
            <a:r>
              <a:t>Spark DataFrame.join no tiene el argumento validate de pandas. No eliminar sin_dimension para obtener una tabla aparentemente limpia. Después, verificar filas y resultados de medidas, además del conteo.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https://spark.apache.org/docs/4.0.1/sql-performance-tuning.html</a:t>
            </a:r>
          </a:p>
          <a:p xmlns:a="http://schemas.openxmlformats.org/drawingml/2006/main">
            <a:r>
              <a:t>Esquema conceptual de equi-join. Shuffle: reparticionar entradas por clave cuando su particionado no satisface la distribución necesaria. Broadcast: distribuir una relación pequeña a executors y unir con particiones de la grande. El driver coordina, no realiza toda la unión fila a fila. El dibujo no representa el protocolo completo de distribución. Ilustración generada con IA.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https://spark.apache.org/docs/4.0.1/sql-performance-tuning.html</a:t>
            </a:r>
          </a:p>
          <a:p xmlns:a="http://schemas.openxmlformats.org/drawingml/2006/main">
            <a:r>
              <a:t>La estrategia depende de tamaños, estadísticas, claves, tipo de join y configuración. Un hint no es garantía universal. Esta lista es orientativa, no una salida ejecutada ni una promesa de operadores concretos.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https://spark.apache.org/docs/4.0.1/sql-performance-tuning.html</a:t>
            </a:r>
          </a:p>
          <a:p xmlns:a="http://schemas.openxmlformats.org/drawingml/2006/main">
            <a:r>
              <a:t>El notebook usa F.broadcast(municipios). Trabaja en local[2], por lo que no demuestra aceleración de red entre nodos. No inferir que broadcast evita todo shuffle de una consulta que también agrupa u ordena. El coste incluye preparar y distribuir la dimensión.</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https://spark.apache.org/docs/4.0.1/sql-ref-syntax-qry-select-window.html</a:t>
            </a:r>
          </a:p>
          <a:p xmlns:a="http://schemas.openxmlformats.org/drawingml/2006/main">
            <a:r>
              <a:t>Ejemplo de ventana de ranking, no una definición de todas las funciones posibles. Las funciones agregadas también pueden usarse como ventana. Las claves de la ventana del curso son cultivo, estado_fisico y anio, sin codigo_municipio.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https://spark.apache.org/docs/4.0.1/sql-ref-syntax-qry-select-window.html</a:t>
            </a:r>
          </a:p>
          <a:p xmlns:a="http://schemas.openxmlformats.org/drawingml/2006/main">
            <a:r>
              <a:t>Ejemplo didáctico, no valores observados de municipios reales. Distinguir row_number de rank y dense_rank si hay preguntas. El desempate no implica diferencia agronómica. Antes de comparar rendimientos verificar unidades, período y cultivo.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https://spark.apache.org/docs/4.0.1/sql-ref-syntax-qry-select-window.html</a:t>
            </a:r>
          </a:p>
          <a:p xmlns:a="http://schemas.openxmlformats.org/drawingml/2006/main">
            <a:r>
              <a:t>https://spark.apache.org/docs/4.0.1/sql-performance-tuning.html</a:t>
            </a:r>
          </a:p>
          <a:p xmlns:a="http://schemas.openxmlformats.org/drawingml/2006/main">
            <a:r>
              <a:t>Los operadores concretos dependen del plan real. El particionado de entrada puede satisfacer parte de los requisitos. Las ventanas de ranking difieren de las ventanas de tiempo de streaming. La última pregunta permite relacionar tamaño de grupo y sesgo con la arquitectura de la sesión 05.</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Sección5. DesactivarAQEes un experimento de aislamiento, no recomendación de producción. El valorconfigurado no equivale a máquinas ni obliga al mismo número de archivos. La equivalencia se compara con tolerancia absoluta1e-6 yrtol0. No usar el cambio4a2como benchmark de crecimiento horizontal.</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https://spark.apache.org/docs/4.0.1/tuning.html</a:t>
            </a:r>
          </a:p>
          <a:p xmlns:a="http://schemas.openxmlformats.org/drawingml/2006/main">
            <a:r>
              <a:t>https://spark.apache.org/docs/4.0.1/monitoring.html</a:t>
            </a:r>
          </a:p>
          <a:p xmlns:a="http://schemas.openxmlformats.org/drawingml/2006/main">
            <a:r>
              <a:t>Distinguir memoria de ejecución y almacenamiento cacheado. Una partición en disco no permite deducir exactamente su memoria descomprimida. Más cores por executor pueden aumentar tareas concurrentes y presión de memoria. Spill no es automáticamente un fallo, pero spill creciente puede explicar lentitud. No toda estructura ni UDF puede derramar datos. toPandas concentra memoria en driver, aunque las etapas anteriores hayan distribuido bien el trabajo.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https://spark.apache.org/docs/4.0.1/sql-performance-tuning.html</a:t>
            </a:r>
          </a:p>
          <a:p xmlns:a="http://schemas.openxmlformats.org/drawingml/2006/main">
            <a:r>
              <a:t>No equiparar persist con escritura durable de negocio. cache/persist no ejecuta por sí solo todas las transformaciones. El nivel elegido puede usar memoria y disco. Para un intermedio usado una sola vez, el coste de materialización puede no compensar. En el laboratorio comparar planes y tiempos manteniendo iguales lectura, acción final y caché; no convertir este punto en un nuevo prerrequisito ni afirmar que el notebook ya incluye un benchmark de caché.</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https://spark.apache.org/docs/4.0.1/cluster-overview.html</a:t>
            </a:r>
          </a:p>
          <a:p xmlns:a="http://schemas.openxmlformats.org/drawingml/2006/main">
            <a:r>
              <a:t>Ejemplo: executor B se pierde durante el join. Si sus bloques de shuffle se pierden, etapas previas pueden tener que recomputarse; depende de conservación del shuffle y despliegue. Reintentos están limitados por configuración; no garantiza que cualquier fallo termine bien. UDF con efectos externos puede repetir escrituras: usar salidas idempotentes o mecanismos de commit adecuados. Una aplicación no se recupera de toda pérdida del driver solo por tener linaje.</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https://spark.apache.org/docs/4.0.1/sql-performance-tuning.html</a:t>
            </a:r>
          </a:p>
          <a:p xmlns:a="http://schemas.openxmlformats.org/drawingml/2006/main">
            <a:r>
              <a:t>Ejemplo hipotético: total=12GB; 9/12=75%. AQE skew join puede dividir y replicar particiones cuando cumple condiciones, especialmente sort-merge joins. No afirmar que AQE divide cualquier grupo lógico de Window. Más particiones hash no separan automáticamente una clave caliente. Salting puede servir para ciertos agregados/joins si se reconstruye la semántica; en ranking por grupo no es una solución mecánica. Preguntar por qué 100 executors no arreglan una única tarea larga.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https://spark.apache.org/docs/4.0.1/sql-performance-tuning.html</a:t>
            </a:r>
          </a:p>
          <a:p xmlns:a="http://schemas.openxmlformats.org/drawingml/2006/main">
            <a:r>
              <a:t>No confundir Window.partitionBy con DataFrameWriter.partitionBy ni DataFrame.repartition. Repartition redistribuye; coalesce suele reducir particiones evitando un shuffle completo pero puede concentrar trabajo. El valor de spark.sql.shuffle.partitions no determina directamente todos los archivos finales: AQE, particiones de directorio y maxRecordsPerFile influyen. Evitar una regla universal de MB por partición: medir volumen descomprimido, memoria por tarea y hardware.</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https://spark.apache.org/docs/4.0.1/tuning.html</a:t>
            </a:r>
          </a:p>
          <a:p xmlns:a="http://schemas.openxmlformats.org/drawingml/2006/main">
            <a:r>
              <a:t>Strong scaling: fijar datos y consulta y variar recursos. Weak scaling: aumentar proporcionalmente datos y recursos. Distinguir capacidad de terminar de velocidad y coste monetario. Tiempo total se aproxima con fases, aunque hay solapamiento. Para casos pequeños la coordinación puede dominar; en TB, ancho de banda de almacenamiento o shuffle puede dominar. No promete crecimiento lineal. Un master remoto exige recursos desplegados y fuentes accesibles, no solo cambiar una cadena de conexión.</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https://spark.apache.org/docs/4.0.1/tuning.html</a:t>
            </a:r>
          </a:p>
          <a:p xmlns:a="http://schemas.openxmlformats.org/drawingml/2006/main">
            <a:r>
              <a:t>Modelo hipotético, no ajuste a mediciones de Spark: 10min seriales, 90min de trabajo idealmente divisible y sobrecoste 2*(N-1)min. N trabajadores iguales. T(1)=100; T(2)=57; T(4)=38.5; T(8)=35.25; T(16)=47.625. Aceleraciones respecto de 1:1,1.7544,2.5974,2.8369,2.0997. A 8 trabajadores 100/35.25=2.84x, no 8x. Emplear la curva para razonar, no para dimensionar producción. En un experimento real medir mismos datos, consultas, fuentes y caché, registrar recursos y repetir.</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https://spark.apache.org/docs/4.0.1/monitoring.html</a:t>
            </a:r>
          </a:p>
          <a:p xmlns:a="http://schemas.openxmlformats.org/drawingml/2006/main">
            <a:r>
              <a:t>Usar la UI real de notebook06; la tabla es una guía, no captura de mediciones. El puerto puede cambiar si4040estáocupado. Configurar event logs antes de ejecutar permite análisis con History Server si el entorno lo tiene. Registrar calentamiento JVM,caché,lectura y escritura, tamaño de salida,particiones y AQE. Una sola cifra de tiempo no identifica la causa de mejora. No presentar el cambio4a2particioneslocalescomo prueba de escalado horizontal.</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https://spark.apache.org/docs/4.0.1/sql-programming-guide.html</a:t>
            </a:r>
          </a:p>
          <a:p xmlns:a="http://schemas.openxmlformats.org/drawingml/2006/main">
            <a:r>
              <a:t>https://spark.apache.org/docs/4.0.1/api/python/user_guide/udfandudtf.html</a:t>
            </a:r>
          </a:p>
          <a:p xmlns:a="http://schemas.openxmlformats.org/drawingml/2006/main">
            <a:r>
              <a:t>En despliegue PySpark clásico, los operadores nativos de SparkSQL se ejecutan en el motor JVM de executors. UDFPython utiliza trabajadoresPython; Arrow y pandasUDFpuedenreducirciertoscostesporlotes,pero no garantizan aceleración. Esta explicación no describe todos los modos de SparkConnect. No confundir APIpandasdeSpark con pandaslocal. El notebookusaF.sum,F.col,F.broadcast yWindow con funcionesnativas.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Orden del06rev01:0configuración y herramientas,Aagregación didáctica,Bsonda de concurrencia,datos de05,1–4joins/ventanas/equivalencia,5AQE,6inventarios,7métricas,8respuestas/control,9cierre. E08yE09siguen siendo locales conGeoPandas/Rasterio. No ejecutar el06original en lugar de la revisión ni mezclar sus rutas.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Celda2de la revisión. El fragmento omite timezone y opciones de compresión/rolling, presentes en la celda completa. Cambiar una configuración de despliegue después de crear el contexto no garantiza aplicarla. La revisión rechaza unSparkContextactivo yverificaSpark4.0.1. VariablesSPARK_LOCAL_DIRS/LOCAL_DIRSpuedensustituir la ruta solicitada; comprobar la ruta efectiva.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Celda6. entrada_demo yresultado_demosepreparanen la celda completa. La revisión persiste solo6filas antesde observar la distribución yunpersistal final. collectmaterializa2claves. P0yP1puedendiferirdeldibujo. El partial de Spark no está calculado porPandas: Pandas reconstruye una explicación aparte desde seis filas retornadas. El agregado y el plan inspeccionado son SparkSQLnativo.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BloqueB,celdas9–10. Ejecutar la celda completa conserva setJobGroup y limpieza depropiedadeslocales. La sonda agrega por identificador de partición, por loquehay8grupos; la etapa posterior puede combinar particiones conAQE. Se capturan tareas de las etapas de ese grupo. La sonda local no mide red ni rendimiento aescala.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El umbral10ms es una regla didáctica documentada, no una garantía sobre el instanteexacto de ejecución. El control distinguecapacidadreportadaUI delparconsolapeclaro. No contar todoslos intervalos comomáximofísico, porque la mediciónpuede mostrar solapesdenotificaciónmayoresquelacapacidad. No presentar88msdeuna validaciónparticular como objetivo del alumno.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Celda13de la revisión. El código completo comprueba los cuatro productos requeridos antes de crearSpark. Las salidas originales del05no se reemplazan. CerrarSparkdel05y usar elmismoentornoPython3.12/JDK21.</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kit/Notebooks/06_Spark_joins_y_ventanas_rev01.ipynb</a:t>
            </a:r>
          </a:p>
          <a:p xmlns:a="http://schemas.openxmlformats.org/drawingml/2006/main">
            <a:r>
              <a:t>El notebook conserva revision_sin_dimension. Evaluar cuántas filas y cuántos códigos distintos no tienen correspondencia. Ambos indicadores responden preguntas diferentes. Guardar filas_antes = rendimiento.count() antes de unir.</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kit/Notebooks/06_Spark_joins_y_ventanas_rev01.ipynb</a:t>
            </a:r>
          </a:p>
          <a:p xmlns:a="http://schemas.openxmlformats.org/drawingml/2006/main">
            <a:r>
              <a:t>El código del notebook comprueba ambos conteos. La dimensión única debe conservar el número de filas de la izquierda con LEFT JOIN. Count no demuestra igualdad de todas las columnas. No atribuir resultados de rendimiento a una estrategia que no apareció en el plan.</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kit/Notebooks/06_Spark_joins_y_ventanas_rev01.ipynb</a:t>
            </a:r>
          </a:p>
          <a:p xmlns:a="http://schemas.openxmlformats.org/drawingml/2006/main">
            <a:r>
              <a:t>El fragmento muestra operaciones de celdas separadas. El notebook ordena por claves y restablece índices antes de assert_frame_equal. Solo el resultado agregado pequeño se convierte a pandas. El tiempo de write incluye lectura y producción de las columnas. Una sola ejecución no constituye un benchmark concluyente.</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kit/Notebooks/06_Spark_joins_y_ventanas_rev01.ipynb</a:t>
            </a:r>
          </a:p>
          <a:p xmlns:a="http://schemas.openxmlformats.org/drawingml/2006/main">
            <a:r>
              <a:t>Un grupo con menos de tres filas produce menos de tres posiciones. Este ranking describe la muestra y no recomienda cultivos. Examinar el plan real, no asumir todos los operadores de antemano.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kit/Notebooks/06_Spark_joins_y_ventanas_rev01.ipynb</a:t>
            </a:r>
          </a:p>
          <a:p xmlns:a="http://schemas.openxmlformats.org/drawingml/2006/main">
            <a:r>
              <a:t>Para aislar la semántica de la ventana, los dos motores leen spark_rendimiento. La equivalencia numérica del agregado ya fue comprobada en notebook05. Diferencias mínimas de coma flotante entre agregaciones independientes podrían alterar empates. Aquí se evita esa fuente de diferencia.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Fragmento de configuración, no sustituto de la celda completa27. La celda reconstruye consulta cada vez, mide lectura/cálculo/escritura, verifica todos los grupos y restaura configuración en finally. experimento_particiones.csv se escribe dentro de OUT/evidencias. El plan guardado antes de write es inicial; revisar SQL/Stages/eventlogs para la ejecución de la escritura.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Sección0defineelDiskBlockManager y funciones; sección6crea inventario final y compara con el inicial. Rutaefectiva puede diferirde spark.local.dir. El listado no leecontenido nifuerzaspill. No borrar archivos internos de unaaplicaciónactiva. Los archivospueden desaparecerdurante la inspección yelnotebookcapturaFileNotFoundError.</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Sección6. Hash directories y nombres específicos dependen deSpark/despliegue. Directorioslocales pueden ser sobrescritosporentorno. Eventlogsseretienen ypuedenreproducirse conHistoryServer si elentorno lo tiene; notebooknoinstala/iniciaservicio. Inventariocomparanuevos,eliminadosycambiadospresentes, sin reconstruir el histórico total deescrituras.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Sección7. capturar_metricasconsultaAPIRESTlocal, guarda metricas_antes_stop.json yetapas_antes_stop.csv. SpillMemoryestima tamañoenmemoria delosdatosderramados, no otra escritura física. ShuffleWritepuedeserpositivo conSpillDisk0. No reducirmemoriani multiplicarEVApara forzarresultado. Capturaantesstop;lasfunciones están definidasen sección0.</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https://github.com/eshernan/big-data-postgraduate/blob/270dc9d13c14cb90d7b50953e4e32fdda8905e9e/kit/Notebooks/06_Spark_joins_y_ventanas_rev01.ipynb</a:t>
            </a:r>
          </a:p>
          <a:p xmlns:a="http://schemas.openxmlformats.org/drawingml/2006/main">
            <a:r>
              <a:t>No cerrar sesión en la misma celda que captura métricas. La celda36ejecutaspark.stopporseparado. Eventlogs quedan enOUT/event_logs; temporales pueden limpiarse. No inferir clúster,TBni recuperación deexecutor de estos ensayos locales. Los camposPENDIENTEdeben completarse antes delcierre deltrabajo.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kit/Notebooks/E08_Geoespacial.ipynb</a:t>
            </a:r>
          </a:p>
          <a:p xmlns:a="http://schemas.openxmlformats.org/drawingml/2006/main">
            <a:r>
              <a:t>kit/Notebooks/E09_Geoespacial.ipynb</a:t>
            </a:r>
          </a:p>
          <a:p xmlns:a="http://schemas.openxmlformats.org/drawingml/2006/main">
            <a:r>
              <a:t>Conectar con cardinalidad y cobertura sin afirmar que E08 oE09 ejecutan sobre Spark. El razonamiento de claves, tipos, unidades y controles se conserva. Los datos geoespaciales pequeños se procesan localmente con bibliotecas especializadas.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kit/Notebooks/E08_Geoespacial.ipynb</a:t>
            </a:r>
          </a:p>
          <a:p xmlns:a="http://schemas.openxmlformats.org/drawingml/2006/main">
            <a:r>
              <a:t>kit/Notebooks/E09_Geoespacial.ipynb</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https://geopandas.org/en/stable/docs/user_guide/projections.html</a:t>
            </a:r>
          </a:p>
          <a:p xmlns:a="http://schemas.openxmlformats.org/drawingml/2006/main">
            <a:r>
              <a:t>kit/Notebooks/E08_Geoespacial.ipynb</a:t>
            </a:r>
          </a:p>
          <a:p xmlns:a="http://schemas.openxmlformats.org/drawingml/2006/main">
            <a:r>
              <a:t>No asignar un CRS arbitrario para ocultar un metadato ausente. El notebook transforma a WGS84 para mantener el recorte docente histórico y proyecta la geometría resultante para medirla. EPSG9377 forma parte del procedimiento del repositorio, no una regla universal para cualquier país.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kit/Notebooks/E08_Geoespacial.ipynb</a:t>
            </a:r>
          </a:p>
          <a:p xmlns:a="http://schemas.openxmlformats.org/drawingml/2006/main">
            <a:r>
              <a:t>https://geopandas.org/en/stable/docs/reference/api/geopandas.GeoSeries.make_valid.html</a:t>
            </a:r>
          </a:p>
          <a:p xmlns:a="http://schemas.openxmlformats.org/drawingml/2006/main">
            <a:r>
              <a:t>El notebook cuenta geometrías inválidas antes de la reparación, ejecuta make_valid sobre copias y usa keep_geom_type=False en overlay. Luego conserva intersecciones de área positiva. La reparación no sustituye una validación cartográfica de la fuente.</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kit/Notebooks/E08_Geoespacial.ipynb</a:t>
            </a:r>
          </a:p>
          <a:p xmlns:a="http://schemas.openxmlformats.org/drawingml/2006/main">
            <a:r>
              <a:t>Un municipio sin registro unido no se transforma automáticamente en cero. La normalización textual conserva los originales y debe comprobar claves ambiguas. Aquí se reutiliza el razonamiento de unicidad y cobertura del bloque Spark.</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https://geopandas.org/en/stable/docs/user_guide/set_operations.html</a:t>
            </a:r>
          </a:p>
          <a:p xmlns:a="http://schemas.openxmlformats.org/drawingml/2006/main">
            <a:r>
              <a:t>kit/Notebooks/E08_Geoespacial.ipynb</a:t>
            </a:r>
          </a:p>
          <a:p xmlns:a="http://schemas.openxmlformats.org/drawingml/2006/main">
            <a:r>
              <a:t>Esquema didáctico, no geometría real. Overlay intersection conserva las porciones compartidas con atributos de ambos lados. Un polígono temático puede generar varias filas al cruzar municipios. Esa expansión puede ser esperada por la nueva unidad de análisis. Registrar tema y código municipal. Ilustración generada con IA.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kit/Notebooks/E08_Geoespacial.ipynb</a:t>
            </a:r>
          </a:p>
          <a:p xmlns:a="http://schemas.openxmlformats.org/drawingml/2006/main">
            <a:r>
              <a:t>Números inventados para explicar denominadores, no resultados del curso. Si hay solapamientos, resolverlos antes de sumar áreas. No presentar el 4% como estimación de prevalencia de A para el municipio ni el resto como otra clase. La fuente no representa cobertura nacional completa.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kit/Notebooks/E08_Geoespacial.ipynb</a:t>
            </a:r>
          </a:p>
          <a:p xmlns:a="http://schemas.openxmlformats.org/drawingml/2006/main">
            <a:r>
              <a:t>Primero se crean codigo_municipio y tabla mediante las celdas previas. Referencia del corte docente:1122 geometrías municipales. El notebook utiliza AGROSAVIA yDIVIPOLA, no rendimiento EVA. Inspeccionar municipios sin registros y códigos que no tienen geometría.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kit/Notebooks/E08_Geoespacial.ipynb</a:t>
            </a:r>
          </a:p>
          <a:p xmlns:a="http://schemas.openxmlformats.org/drawingml/2006/main">
            <a:r>
              <a:t>El fragmento depende de muestra ymunicipios_recorte preparados previamente. El notebook transforma a CRS común y repara copias. Guarda area_interseccion_ha además de atributos heredados. Referencia del corte:15 intersecciones positivas entre ambas muestras. No exigir ese conteo a fuentes futuras diferentes.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kit/Notebooks/E08_Geoespacial.ipynb</a:t>
            </a:r>
          </a:p>
          <a:p xmlns:a="http://schemas.openxmlformats.org/drawingml/2006/main">
            <a:r>
              <a:t>CSV, GeoJSON y GeoPackage se escriben explícitamente. El notebook verifica mismo conjunto de columnas tras releer GeoPackage. Distinguir mapaAGROSAVIA de interseccionesIGAC. Conservar faltantes visualmente y anotar las escalas distintas de los dos paneles.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kit/Notebooks/E09_Geoespacial.ipynb</a:t>
            </a:r>
          </a:p>
          <a:p xmlns:a="http://schemas.openxmlformats.org/drawingml/2006/main">
            <a:r>
              <a:t>Píxel: soporte de una predicción ráster. Perfil: observaciones por horizontes a distintas profundidades. Polígono: representación de una clase temática. Las ilustraciones son esquemas, no mediciones. No calcular error entre una clase cartográfica y una predicción continua sin definir un criterio compatible. Ilustración generada con IA.</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kit/Notebooks/E09_Geoespacial.ipynb</a:t>
            </a:r>
          </a:p>
          <a:p xmlns:a="http://schemas.openxmlformats.org/drawingml/2006/main">
            <a:r>
              <a:t>Factor y profundidad según la fuente suministrada y el notebook E09. El ejemplo65es didáctico. El notebook guarda transformacion,crs_suelo,limites_suelo,nodata. No presentar la media simple de celdas como media nacional o de una finca. Las unidades y escala se deben verificar en cada fuente.</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https://rasterio.readthedocs.io/en/stable/topics/masks.html</a:t>
            </a:r>
          </a:p>
          <a:p xmlns:a="http://schemas.openxmlformats.org/drawingml/2006/main">
            <a:r>
              <a:t>kit/Notebooks/E09_Geoespacial.ipynb</a:t>
            </a:r>
          </a:p>
          <a:p xmlns:a="http://schemas.openxmlformats.org/drawingml/2006/main">
            <a:r>
              <a:t>Los límites son una regla docente de este ejercicio, no un criterio general para todo suelo. No declarar que los ceros son NoData auténtico sin revisar la fuente. La máscara original del ráster y la máscara adicional de dominio se combinan.</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kit/Notebooks/E09_Geoespacial.ipynb</a:t>
            </a:r>
          </a:p>
          <a:p xmlns:a="http://schemas.openxmlformats.org/drawingml/2006/main">
            <a:r>
              <a:t>Conectar con cardinalidad: no deduplicar porprofile_idsin decidir qué se hará con los horizontes. Para comparar con0–5cm, revisar compatibilidad del intervalo y método. No promediar horizontes como si tuvieran el mismo espesor y soporte.</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kit/Notebooks/E09_Geoespacial.ipynb</a:t>
            </a:r>
          </a:p>
          <a:p xmlns:a="http://schemas.openxmlformats.org/drawingml/2006/main">
            <a:r>
              <a:t>Comprobar primero extensión conintersects(box(*src.bounds)). Para una validación detallada, revisar además máscara y píxel en la ubicación, profundidad, método yuncertainty. No inferir causalidad ni recomendación agronómica con este recorte. Se comparan predicciones, mediciones yclases como fuentes con soportes distintos.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kit/Notebooks/E09_Geoespacial.ipynb</a:t>
            </a:r>
          </a:p>
          <a:p xmlns:a="http://schemas.openxmlformats.org/drawingml/2006/main">
            <a:r>
              <a:t>Estosconteossondelcortedocente. El notebook también conserva nodata.42*44=1848y1848-188=1660. No afirmar que toda posición dentrodelrectánguloesválida si la máscara excluye el píxel. OUTapuntaakit/salidas/E09.</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kit/Notebooks/E09_Geoespacial.ipynb</a:t>
            </a:r>
          </a:p>
          <a:p xmlns:a="http://schemas.openxmlformats.org/drawingml/2006/main">
            <a:r>
              <a:t>Noinventarunconteodentro:leerloenlaejecución. Enlamuestrahay10registrosy3profile_iddistintos. Las coordenadas se transforman alCRSdelráster. Intersectarelboundingboxesprimerfiltro, noverificacióncompletadevalidación.</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kit/Notebooks/E09_Geoespacial.ipynb</a:t>
            </a:r>
          </a:p>
          <a:p xmlns:a="http://schemas.openxmlformats.org/drawingml/2006/main">
            <a:r>
              <a:t>El notebookleeigac_correlacion.jsonconjson.loads yextraelosattributes. Nointentarlocargarcomocapacongeometrías. Suelo yquímica noson uníndicevalidado desaluddelafinca. Registrar limitacionesdelsoporte espacialymétodo.</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kit/Notebooks/06_Spark_joins_y_ventanas_rev01.ipynb</a:t>
            </a:r>
          </a:p>
          <a:p xmlns:a="http://schemas.openxmlformats.org/drawingml/2006/main">
            <a:r>
              <a:t>kit/Notebooks/E08_Geoespacial.ipynb</a:t>
            </a:r>
          </a:p>
          <a:p xmlns:a="http://schemas.openxmlformats.org/drawingml/2006/main">
            <a:r>
              <a:t>kit/Notebooks/E09_Geoespacial.ipynb</a:t>
            </a:r>
          </a:p>
          <a:p xmlns:a="http://schemas.openxmlformats.org/drawingml/2006/main">
            <a:r>
              <a:t>Única referencia operativa final: la entrega integrada E07–E09 corresponde al sábado17deoctubrede16:30a17:00,segúndocs/calendario_contractual.json. No añadir múltiples diapositivas de planificación ni una nueva entrega para cada notebook.</a:t>
            </a:r>
          </a:p>
          <a:p xmlns:a="http://schemas.openxmlformats.org/drawingml/2006/main">
            <a:r>
              <a:t>El control Spark de la revisión está en kit/salidas/E07_rev01/control_joins_ventanas_rev01.json. E08/E09conservan susdirectorios.</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kit/Notebooks/06_Spark_joins_y_ventanas_rev01.ipynb</a:t>
            </a:r>
          </a:p>
          <a:p xmlns:a="http://schemas.openxmlformats.org/drawingml/2006/main">
            <a:r>
              <a:t>kit/Notebooks/E08_Geoespacial.ipynb</a:t>
            </a:r>
          </a:p>
          <a:p xmlns:a="http://schemas.openxmlformats.org/drawingml/2006/main">
            <a:r>
              <a:t>kit/Notebooks/E09_Geoespacial.ipynb</a:t>
            </a:r>
          </a:p>
          <a:p xmlns:a="http://schemas.openxmlformats.org/drawingml/2006/main">
            <a:r>
              <a:t>Actividad de síntesis, no medición ni promesa de escalabilidad. El curso no usa una extensióngeoespacialdistribuida en estos notebooks. Explicar qué requeriría un cambio de motor, además de memoria y recursos. Conectar con la arquitectura de la presentación05.</a:t>
            </a:r>
          </a:p>
          <a:p xmlns:a="http://schemas.openxmlformats.org/drawingml/2006/main">
            <a:r>
              <a:t>Curso de Postgrado: BigData, Especialización en Bases de datos. Sesión 06.</a:t>
            </a:r>
          </a:p>
          <a:p xmlns:a="http://schemas.openxmlformats.org/drawingml/2006/main">
            <a:r>
              <a:t>Los fragmentos de ejercicios usan el contexto del notebook kit/Notebooks/06_Spark_joins_y_ventanas_rev01.ipynb, salvo las extensiones indicadas. Ejecutar las importaciones y la preparación antes de los fragmentos. Las rutas ENTRADA y OUT corresponden a E07 y E07_rev01. Ejecución según sección0, bloquesA/B y secciones1–9. Las notas señalan fragmentos; usar las celdas completas del notebook.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f7878d555545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e0d3b6003849d9" /><Relationship Type="http://schemas.openxmlformats.org/officeDocument/2006/relationships/slideLayout" Target="/ppt/slideLayouts/slideLayout1.xml" Id="R4453321c3d2942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53321c3d2942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16d77fa7544e99" /><Relationship Type="http://schemas.openxmlformats.org/officeDocument/2006/relationships/image" Target="/ppt/media/image.png" Id="R22e28a99c8384021" /><Relationship Type="http://schemas.openxmlformats.org/officeDocument/2006/relationships/image" Target="/ppt/media/image2.png" Id="R05fc9c2034eb4834" /><Relationship Type="http://schemas.openxmlformats.org/officeDocument/2006/relationships/notesSlide" Target="/ppt/notesSlides/notesSlide1.xml" Id="R5a6c84387f1b4e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6107b801764764" /><Relationship Type="http://schemas.openxmlformats.org/officeDocument/2006/relationships/image" Target="/ppt/media/image3.png" Id="Re9bdbdef45454747" /><Relationship Type="http://schemas.openxmlformats.org/officeDocument/2006/relationships/image" Target="/ppt/media/image4.png" Id="R30fb4d81e8754997" /><Relationship Type="http://schemas.openxmlformats.org/officeDocument/2006/relationships/notesSlide" Target="/ppt/notesSlides/notesSlide2.xml" Id="R4a9fd8e8a2054d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dec2ffb0024026" /><Relationship Type="http://schemas.openxmlformats.org/officeDocument/2006/relationships/image" Target="/ppt/media/image5.png" Id="R91ea03ed679b42e7" /><Relationship Type="http://schemas.openxmlformats.org/officeDocument/2006/relationships/notesSlide" Target="/ppt/notesSlides/notesSlide3.xml" Id="R21cbcd46f4444e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6d2ad9d5bc4378" /><Relationship Type="http://schemas.openxmlformats.org/officeDocument/2006/relationships/image" Target="/ppt/media/image6.png" Id="R7cf1d0da7c574dca" /><Relationship Type="http://schemas.openxmlformats.org/officeDocument/2006/relationships/notesSlide" Target="/ppt/notesSlides/notesSlide4.xml" Id="Rfd5ef50ff7844a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50021cf50e47d1" /><Relationship Type="http://schemas.openxmlformats.org/officeDocument/2006/relationships/image" Target="/ppt/media/image7.png" Id="R9c12f5e9e65f440f" /><Relationship Type="http://schemas.openxmlformats.org/officeDocument/2006/relationships/notesSlide" Target="/ppt/notesSlides/notesSlide5.xml" Id="Rf83b88e425f44f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3de66da6474f2a" /><Relationship Type="http://schemas.openxmlformats.org/officeDocument/2006/relationships/image" Target="/ppt/media/image8.png" Id="R5f5f33f4730f4f17" /><Relationship Type="http://schemas.openxmlformats.org/officeDocument/2006/relationships/image" Target="/ppt/media/image9.png" Id="R07eca7a8f1a44dfc" /><Relationship Type="http://schemas.openxmlformats.org/officeDocument/2006/relationships/notesSlide" Target="/ppt/notesSlides/notesSlide6.xml" Id="R264f2d8c5e8a4d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005d697d574560" /><Relationship Type="http://schemas.openxmlformats.org/officeDocument/2006/relationships/image" Target="/ppt/media/image10.png" Id="R77840ea36ed94c0e" /><Relationship Type="http://schemas.openxmlformats.org/officeDocument/2006/relationships/notesSlide" Target="/ppt/notesSlides/notesSlide7.xml" Id="R9b3ab1316b4949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f6075eed214ffa" /><Relationship Type="http://schemas.openxmlformats.org/officeDocument/2006/relationships/image" Target="/ppt/media/image11.png" Id="Rfcef97730d8d4788" /><Relationship Type="http://schemas.openxmlformats.org/officeDocument/2006/relationships/image" Target="/ppt/media/image12.png" Id="Rc6a10eba54cc4080" /><Relationship Type="http://schemas.openxmlformats.org/officeDocument/2006/relationships/notesSlide" Target="/ppt/notesSlides/notesSlide8.xml" Id="R385f0a788b0649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a30a1cef4a4283" /><Relationship Type="http://schemas.openxmlformats.org/officeDocument/2006/relationships/image" Target="/ppt/media/image13.png" Id="Rfa514b619f7040b6" /><Relationship Type="http://schemas.openxmlformats.org/officeDocument/2006/relationships/image" Target="/ppt/media/image14.png" Id="R7f8cd506dab84be9" /><Relationship Type="http://schemas.openxmlformats.org/officeDocument/2006/relationships/notesSlide" Target="/ppt/notesSlides/notesSlide9.xml" Id="Rea17b0b67dfb4d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f1fb2cce434776" /><Relationship Type="http://schemas.openxmlformats.org/officeDocument/2006/relationships/image" Target="/ppt/media/image15.png" Id="R7504e96416494ef4" /><Relationship Type="http://schemas.openxmlformats.org/officeDocument/2006/relationships/notesSlide" Target="/ppt/notesSlides/notesSlide10.xml" Id="R6c391d9febe946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bfb6095377455f" /><Relationship Type="http://schemas.openxmlformats.org/officeDocument/2006/relationships/image" Target="/ppt/media/image16.png" Id="Ra17cf0d79a3f4163" /><Relationship Type="http://schemas.openxmlformats.org/officeDocument/2006/relationships/image" Target="/ppt/media/image17.png" Id="Rf50fd9c715414d7a" /><Relationship Type="http://schemas.openxmlformats.org/officeDocument/2006/relationships/notesSlide" Target="/ppt/notesSlides/notesSlide11.xml" Id="Rcd9cdee983274d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2e8d39f9fa44bb5" /><Relationship Type="http://schemas.openxmlformats.org/officeDocument/2006/relationships/image" Target="/ppt/media/image18.png" Id="R594fabb698c04957" /><Relationship Type="http://schemas.openxmlformats.org/officeDocument/2006/relationships/notesSlide" Target="/ppt/notesSlides/notesSlide12.xml" Id="R80fbe57b914144b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3760b5e8d0f4eeb" /><Relationship Type="http://schemas.openxmlformats.org/officeDocument/2006/relationships/image" Target="/ppt/media/image19.png" Id="R5f70d93edbd344a7" /><Relationship Type="http://schemas.openxmlformats.org/officeDocument/2006/relationships/image" Target="/ppt/media/image20.png" Id="Rda7fc4af8ee34e27" /><Relationship Type="http://schemas.openxmlformats.org/officeDocument/2006/relationships/notesSlide" Target="/ppt/notesSlides/notesSlide13.xml" Id="Ra30e440b5a1e4e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5992687b7d04a8f" /><Relationship Type="http://schemas.openxmlformats.org/officeDocument/2006/relationships/image" Target="/ppt/media/image21.png" Id="R0119ee10b8084d8b" /><Relationship Type="http://schemas.openxmlformats.org/officeDocument/2006/relationships/notesSlide" Target="/ppt/notesSlides/notesSlide14.xml" Id="R3c03c73eb9c540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5037e4a5d64b65" /><Relationship Type="http://schemas.openxmlformats.org/officeDocument/2006/relationships/image" Target="/ppt/media/image22.png" Id="R3cc09257dc2941e3" /><Relationship Type="http://schemas.openxmlformats.org/officeDocument/2006/relationships/notesSlide" Target="/ppt/notesSlides/notesSlide15.xml" Id="R36c6bacaf65e47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3dc2db705724ca0" /><Relationship Type="http://schemas.openxmlformats.org/officeDocument/2006/relationships/image" Target="/ppt/media/image23.png" Id="R2aadfc52671a4a2d" /><Relationship Type="http://schemas.openxmlformats.org/officeDocument/2006/relationships/notesSlide" Target="/ppt/notesSlides/notesSlide16.xml" Id="R2784d6b397d7483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9f84c912774e6b" /><Relationship Type="http://schemas.openxmlformats.org/officeDocument/2006/relationships/image" Target="/ppt/media/image24.png" Id="Rdb72be86dc404615" /><Relationship Type="http://schemas.openxmlformats.org/officeDocument/2006/relationships/notesSlide" Target="/ppt/notesSlides/notesSlide17.xml" Id="R21ae76f9fa754c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3c345c321574793" /><Relationship Type="http://schemas.openxmlformats.org/officeDocument/2006/relationships/image" Target="/ppt/media/image25.png" Id="R16ff5fcc19af4b04" /><Relationship Type="http://schemas.openxmlformats.org/officeDocument/2006/relationships/notesSlide" Target="/ppt/notesSlides/notesSlide18.xml" Id="R3ed764d61d60479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84323a1577a4f24" /><Relationship Type="http://schemas.openxmlformats.org/officeDocument/2006/relationships/image" Target="/ppt/media/image26.png" Id="R61adfc30e9c546e2" /><Relationship Type="http://schemas.openxmlformats.org/officeDocument/2006/relationships/notesSlide" Target="/ppt/notesSlides/notesSlide19.xml" Id="Ra6b72c452a0d4c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6b8cc78f8b84676" /><Relationship Type="http://schemas.openxmlformats.org/officeDocument/2006/relationships/image" Target="/ppt/media/image27.png" Id="R8513fa82911b41f1" /><Relationship Type="http://schemas.openxmlformats.org/officeDocument/2006/relationships/image" Target="/ppt/media/image28.png" Id="Rc87b5b58e8ee431f" /><Relationship Type="http://schemas.openxmlformats.org/officeDocument/2006/relationships/notesSlide" Target="/ppt/notesSlides/notesSlide20.xml" Id="Rbb854596f55346a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1978589a4644ca6" /><Relationship Type="http://schemas.openxmlformats.org/officeDocument/2006/relationships/image" Target="/ppt/media/image29.png" Id="R37255ec36a08422f" /><Relationship Type="http://schemas.openxmlformats.org/officeDocument/2006/relationships/image" Target="/ppt/media/image30.png" Id="Ra5c2c877e23a445f" /><Relationship Type="http://schemas.openxmlformats.org/officeDocument/2006/relationships/notesSlide" Target="/ppt/notesSlides/notesSlide21.xml" Id="Rf9e6c45e736e4c0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9039e8f7cac4534" /><Relationship Type="http://schemas.openxmlformats.org/officeDocument/2006/relationships/image" Target="/ppt/media/image31.png" Id="R0f9ce807d53642a3" /><Relationship Type="http://schemas.openxmlformats.org/officeDocument/2006/relationships/notesSlide" Target="/ppt/notesSlides/notesSlide22.xml" Id="Re555bb52c7ca46b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2e83b663edc43f5" /><Relationship Type="http://schemas.openxmlformats.org/officeDocument/2006/relationships/image" Target="/ppt/media/image32.png" Id="R9993eadee79c4707" /><Relationship Type="http://schemas.openxmlformats.org/officeDocument/2006/relationships/notesSlide" Target="/ppt/notesSlides/notesSlide23.xml" Id="R6bb87d650bd44cc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b1bcd4e51924d1f" /><Relationship Type="http://schemas.openxmlformats.org/officeDocument/2006/relationships/image" Target="/ppt/media/image33.png" Id="Re1df729f604748b2" /><Relationship Type="http://schemas.openxmlformats.org/officeDocument/2006/relationships/notesSlide" Target="/ppt/notesSlides/notesSlide24.xml" Id="Rbc0d1e26d81f482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2999dc144204174" /><Relationship Type="http://schemas.openxmlformats.org/officeDocument/2006/relationships/image" Target="/ppt/media/image34.png" Id="R120dadd3ded7497b" /><Relationship Type="http://schemas.openxmlformats.org/officeDocument/2006/relationships/notesSlide" Target="/ppt/notesSlides/notesSlide25.xml" Id="R17fc1caaf9cb459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2a44b0eabe44e45" /><Relationship Type="http://schemas.openxmlformats.org/officeDocument/2006/relationships/image" Target="/ppt/media/image35.png" Id="Rc0fa6bf899124439" /><Relationship Type="http://schemas.openxmlformats.org/officeDocument/2006/relationships/notesSlide" Target="/ppt/notesSlides/notesSlide26.xml" Id="R6dd807a685244ac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b5fe5b21a2f4814" /><Relationship Type="http://schemas.openxmlformats.org/officeDocument/2006/relationships/image" Target="/ppt/media/image36.png" Id="Rc6b56707fe834716" /><Relationship Type="http://schemas.openxmlformats.org/officeDocument/2006/relationships/image" Target="/ppt/media/image37.png" Id="R8149d5a0632b4e41" /><Relationship Type="http://schemas.openxmlformats.org/officeDocument/2006/relationships/notesSlide" Target="/ppt/notesSlides/notesSlide27.xml" Id="Rba22508e57a1453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f93d90e0cd94291" /><Relationship Type="http://schemas.openxmlformats.org/officeDocument/2006/relationships/image" Target="/ppt/media/image38.png" Id="R03f1a0ec534341b6" /><Relationship Type="http://schemas.openxmlformats.org/officeDocument/2006/relationships/notesSlide" Target="/ppt/notesSlides/notesSlide28.xml" Id="R9abb86e28fbb469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4e5ba5a39774aae" /><Relationship Type="http://schemas.openxmlformats.org/officeDocument/2006/relationships/image" Target="/ppt/media/image39.png" Id="Rc43f1d4c670d4369" /><Relationship Type="http://schemas.openxmlformats.org/officeDocument/2006/relationships/notesSlide" Target="/ppt/notesSlides/notesSlide29.xml" Id="R45144d393cb44ea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2a4ffecf2f9435e" /><Relationship Type="http://schemas.openxmlformats.org/officeDocument/2006/relationships/image" Target="/ppt/media/image40.png" Id="Re65eaad560b2458b" /><Relationship Type="http://schemas.openxmlformats.org/officeDocument/2006/relationships/image" Target="/ppt/media/image41.png" Id="R62fc8b19d82c4a48" /><Relationship Type="http://schemas.openxmlformats.org/officeDocument/2006/relationships/notesSlide" Target="/ppt/notesSlides/notesSlide30.xml" Id="R7fac986b13694cb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d2e99bd3a1b4419" /><Relationship Type="http://schemas.openxmlformats.org/officeDocument/2006/relationships/image" Target="/ppt/media/image42.png" Id="Re0a38f6834ce45b7" /><Relationship Type="http://schemas.openxmlformats.org/officeDocument/2006/relationships/image" Target="/ppt/media/image43.png" Id="R00a46807bcc04307" /><Relationship Type="http://schemas.openxmlformats.org/officeDocument/2006/relationships/notesSlide" Target="/ppt/notesSlides/notesSlide31.xml" Id="R5dcd1163580340a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d98c620eacf420f" /><Relationship Type="http://schemas.openxmlformats.org/officeDocument/2006/relationships/image" Target="/ppt/media/image44.png" Id="Rc920eeb5cdbe4e9f" /><Relationship Type="http://schemas.openxmlformats.org/officeDocument/2006/relationships/notesSlide" Target="/ppt/notesSlides/notesSlide32.xml" Id="Ra0c3f4ca16bd4bd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c08057dadfa4d04" /><Relationship Type="http://schemas.openxmlformats.org/officeDocument/2006/relationships/image" Target="/ppt/media/image45.png" Id="R43d1136d0805456e" /><Relationship Type="http://schemas.openxmlformats.org/officeDocument/2006/relationships/notesSlide" Target="/ppt/notesSlides/notesSlide33.xml" Id="Rdd5ef5f48a65419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4d3e998076047ed" /><Relationship Type="http://schemas.openxmlformats.org/officeDocument/2006/relationships/image" Target="/ppt/media/image46.png" Id="Rad574b7343624aad" /><Relationship Type="http://schemas.openxmlformats.org/officeDocument/2006/relationships/chart" Target="/ppt/slides/charts/chart1.xml" Id="Ra63e0da99f2e491b" /><Relationship Type="http://schemas.openxmlformats.org/officeDocument/2006/relationships/notesSlide" Target="/ppt/notesSlides/notesSlide34.xml" Id="R87f938cb244d472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fbaa6b579934013" /><Relationship Type="http://schemas.openxmlformats.org/officeDocument/2006/relationships/image" Target="/ppt/media/image47.png" Id="Rd71138d15b204cdd" /><Relationship Type="http://schemas.openxmlformats.org/officeDocument/2006/relationships/notesSlide" Target="/ppt/notesSlides/notesSlide35.xml" Id="R0b07860b01b34d7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1169e4f84f74c92" /><Relationship Type="http://schemas.openxmlformats.org/officeDocument/2006/relationships/image" Target="/ppt/media/image48.png" Id="R2c17a4aa9a314f0d" /><Relationship Type="http://schemas.openxmlformats.org/officeDocument/2006/relationships/notesSlide" Target="/ppt/notesSlides/notesSlide36.xml" Id="R76a066dae84f45d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121785e20c24234" /><Relationship Type="http://schemas.openxmlformats.org/officeDocument/2006/relationships/image" Target="/ppt/media/image49.png" Id="Re644e8ce0fc44f70" /><Relationship Type="http://schemas.openxmlformats.org/officeDocument/2006/relationships/notesSlide" Target="/ppt/notesSlides/notesSlide37.xml" Id="R527f6c7ce0034f7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57ab3029e67428d" /><Relationship Type="http://schemas.openxmlformats.org/officeDocument/2006/relationships/image" Target="/ppt/media/image50.png" Id="Rc73281f476414179" /><Relationship Type="http://schemas.openxmlformats.org/officeDocument/2006/relationships/notesSlide" Target="/ppt/notesSlides/notesSlide38.xml" Id="R68881b8aedb145a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6488df29372438a" /><Relationship Type="http://schemas.openxmlformats.org/officeDocument/2006/relationships/image" Target="/ppt/media/image51.png" Id="R644e06af349648bf" /><Relationship Type="http://schemas.openxmlformats.org/officeDocument/2006/relationships/notesSlide" Target="/ppt/notesSlides/notesSlide39.xml" Id="Ra29c5ca423a74b7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9d829bec90a4ad8" /><Relationship Type="http://schemas.openxmlformats.org/officeDocument/2006/relationships/image" Target="/ppt/media/image52.png" Id="Rc22263acbd7047f7" /><Relationship Type="http://schemas.openxmlformats.org/officeDocument/2006/relationships/notesSlide" Target="/ppt/notesSlides/notesSlide40.xml" Id="R9add3099884b4e0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d223b34280a4dba" /><Relationship Type="http://schemas.openxmlformats.org/officeDocument/2006/relationships/image" Target="/ppt/media/image53.png" Id="R1a50699e85bd42ac" /><Relationship Type="http://schemas.openxmlformats.org/officeDocument/2006/relationships/notesSlide" Target="/ppt/notesSlides/notesSlide41.xml" Id="Rb4c13d3b56244df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6eb5564d5ec4de6" /><Relationship Type="http://schemas.openxmlformats.org/officeDocument/2006/relationships/image" Target="/ppt/media/image54.png" Id="Rcbd9c0d1c643461a" /><Relationship Type="http://schemas.openxmlformats.org/officeDocument/2006/relationships/notesSlide" Target="/ppt/notesSlides/notesSlide42.xml" Id="R661aade9322a42b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58a6acf7dae47cf" /><Relationship Type="http://schemas.openxmlformats.org/officeDocument/2006/relationships/image" Target="/ppt/media/image55.png" Id="R016fbfab736840e7" /><Relationship Type="http://schemas.openxmlformats.org/officeDocument/2006/relationships/notesSlide" Target="/ppt/notesSlides/notesSlide43.xml" Id="R7d8261a9a14f4ff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1d371345f4d4480" /><Relationship Type="http://schemas.openxmlformats.org/officeDocument/2006/relationships/image" Target="/ppt/media/image56.png" Id="Rec3ff617f5c44940" /><Relationship Type="http://schemas.openxmlformats.org/officeDocument/2006/relationships/notesSlide" Target="/ppt/notesSlides/notesSlide44.xml" Id="R1852e89765b74d2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c16db03d02c4252" /><Relationship Type="http://schemas.openxmlformats.org/officeDocument/2006/relationships/image" Target="/ppt/media/image57.png" Id="R42c72767025c48da" /><Relationship Type="http://schemas.openxmlformats.org/officeDocument/2006/relationships/notesSlide" Target="/ppt/notesSlides/notesSlide45.xml" Id="Re326ee7ae2f04eb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54dbe9c557f4a7f" /><Relationship Type="http://schemas.openxmlformats.org/officeDocument/2006/relationships/image" Target="/ppt/media/image58.png" Id="R88ad4235101e4c62" /><Relationship Type="http://schemas.openxmlformats.org/officeDocument/2006/relationships/notesSlide" Target="/ppt/notesSlides/notesSlide46.xml" Id="R24f1dc25bbe74bf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542f6b457984014" /><Relationship Type="http://schemas.openxmlformats.org/officeDocument/2006/relationships/image" Target="/ppt/media/image59.png" Id="R6bbaa02b1ab9490e" /><Relationship Type="http://schemas.openxmlformats.org/officeDocument/2006/relationships/notesSlide" Target="/ppt/notesSlides/notesSlide47.xml" Id="R23b66b671b9d4c7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0303d0ea9204b3d" /><Relationship Type="http://schemas.openxmlformats.org/officeDocument/2006/relationships/image" Target="/ppt/media/image60.png" Id="R4282b2898b734bb6" /><Relationship Type="http://schemas.openxmlformats.org/officeDocument/2006/relationships/notesSlide" Target="/ppt/notesSlides/notesSlide48.xml" Id="R5dbd95a913224e6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a21d97aa6e4b4514" /><Relationship Type="http://schemas.openxmlformats.org/officeDocument/2006/relationships/image" Target="/ppt/media/image61.png" Id="R66dc55d0ad3e4889" /><Relationship Type="http://schemas.openxmlformats.org/officeDocument/2006/relationships/notesSlide" Target="/ppt/notesSlides/notesSlide49.xml" Id="Rd3d57bc91fe14a9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1015c1f11bf4643" /><Relationship Type="http://schemas.openxmlformats.org/officeDocument/2006/relationships/image" Target="/ppt/media/image62.png" Id="R80031a16722547ff" /><Relationship Type="http://schemas.openxmlformats.org/officeDocument/2006/relationships/notesSlide" Target="/ppt/notesSlides/notesSlide50.xml" Id="Rc4cc339cf7c14e9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6f3d4ed0d0a44e41" /><Relationship Type="http://schemas.openxmlformats.org/officeDocument/2006/relationships/image" Target="/ppt/media/image63.png" Id="R22bad071dc35455f" /><Relationship Type="http://schemas.openxmlformats.org/officeDocument/2006/relationships/notesSlide" Target="/ppt/notesSlides/notesSlide51.xml" Id="Rfa9c4fb8712d492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3dac0c9f50c447d3" /><Relationship Type="http://schemas.openxmlformats.org/officeDocument/2006/relationships/image" Target="/ppt/media/image64.png" Id="R7bea99df34e249b9" /><Relationship Type="http://schemas.openxmlformats.org/officeDocument/2006/relationships/notesSlide" Target="/ppt/notesSlides/notesSlide52.xml" Id="R19a22354fdf641d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bef478447ce4d8f" /><Relationship Type="http://schemas.openxmlformats.org/officeDocument/2006/relationships/image" Target="/ppt/media/image65.png" Id="R06a266702e554dcf" /><Relationship Type="http://schemas.openxmlformats.org/officeDocument/2006/relationships/image" Target="/ppt/media/image66.png" Id="Rb15dc16ba76a40aa" /><Relationship Type="http://schemas.openxmlformats.org/officeDocument/2006/relationships/notesSlide" Target="/ppt/notesSlides/notesSlide53.xml" Id="Rd7d8571ddf5040a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9846a4deada744ba" /><Relationship Type="http://schemas.openxmlformats.org/officeDocument/2006/relationships/image" Target="/ppt/media/image67.png" Id="Reb7796368d624c9d" /><Relationship Type="http://schemas.openxmlformats.org/officeDocument/2006/relationships/notesSlide" Target="/ppt/notesSlides/notesSlide54.xml" Id="R9a7a1c49281c489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8e4a11f4f1d4fd8" /><Relationship Type="http://schemas.openxmlformats.org/officeDocument/2006/relationships/image" Target="/ppt/media/image68.png" Id="R4db6740f1825485c" /><Relationship Type="http://schemas.openxmlformats.org/officeDocument/2006/relationships/notesSlide" Target="/ppt/notesSlides/notesSlide55.xml" Id="Re39a5e4645ba469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e44138bf92f48b3" /><Relationship Type="http://schemas.openxmlformats.org/officeDocument/2006/relationships/image" Target="/ppt/media/image69.png" Id="Rd16b0301813d40b4" /><Relationship Type="http://schemas.openxmlformats.org/officeDocument/2006/relationships/image" Target="/ppt/media/image70.png" Id="R5bdd3393b0da4668" /><Relationship Type="http://schemas.openxmlformats.org/officeDocument/2006/relationships/notesSlide" Target="/ppt/notesSlides/notesSlide56.xml" Id="Ra99f9ca1b1eb4ba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9e8355a26d2544d2" /><Relationship Type="http://schemas.openxmlformats.org/officeDocument/2006/relationships/image" Target="/ppt/media/image71.png" Id="Ra40a559b4a874a23" /><Relationship Type="http://schemas.openxmlformats.org/officeDocument/2006/relationships/notesSlide" Target="/ppt/notesSlides/notesSlide57.xml" Id="R12d091d6f192472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50d8b0ed94ab4add" /><Relationship Type="http://schemas.openxmlformats.org/officeDocument/2006/relationships/image" Target="/ppt/media/image72.png" Id="Ra337c10550a74394" /><Relationship Type="http://schemas.openxmlformats.org/officeDocument/2006/relationships/image" Target="/ppt/media/image73.png" Id="R5ae285703c144541" /><Relationship Type="http://schemas.openxmlformats.org/officeDocument/2006/relationships/notesSlide" Target="/ppt/notesSlides/notesSlide58.xml" Id="R6d06258d4a8d484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860648d0c8c64adb" /><Relationship Type="http://schemas.openxmlformats.org/officeDocument/2006/relationships/image" Target="/ppt/media/image74.png" Id="R5ebb4c38294e4f5e" /><Relationship Type="http://schemas.openxmlformats.org/officeDocument/2006/relationships/notesSlide" Target="/ppt/notesSlides/notesSlide59.xml" Id="Ra66c52fa71f5476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0921ac59d2424cdf" /><Relationship Type="http://schemas.openxmlformats.org/officeDocument/2006/relationships/image" Target="/ppt/media/image75.png" Id="Rce2c0958dacc4721" /><Relationship Type="http://schemas.openxmlformats.org/officeDocument/2006/relationships/notesSlide" Target="/ppt/notesSlides/notesSlide60.xml" Id="R0a1dc4aac265479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00a7233a6921478b" /><Relationship Type="http://schemas.openxmlformats.org/officeDocument/2006/relationships/image" Target="/ppt/media/image76.png" Id="R4869dc1488af4585" /><Relationship Type="http://schemas.openxmlformats.org/officeDocument/2006/relationships/notesSlide" Target="/ppt/notesSlides/notesSlide61.xml" Id="R0cd07bffe7bd43a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39e33702bd914333" /><Relationship Type="http://schemas.openxmlformats.org/officeDocument/2006/relationships/image" Target="/ppt/media/image77.png" Id="Rdec435d47a8f42de" /><Relationship Type="http://schemas.openxmlformats.org/officeDocument/2006/relationships/notesSlide" Target="/ppt/notesSlides/notesSlide62.xml" Id="R62c2f6d8a9844cd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e442ceb847be4729" /><Relationship Type="http://schemas.openxmlformats.org/officeDocument/2006/relationships/image" Target="/ppt/media/image78.png" Id="R9a56bcc35985461a" /><Relationship Type="http://schemas.openxmlformats.org/officeDocument/2006/relationships/image" Target="/ppt/media/image79.png" Id="R744892feaeda4d91" /><Relationship Type="http://schemas.openxmlformats.org/officeDocument/2006/relationships/notesSlide" Target="/ppt/notesSlides/notesSlide63.xml" Id="R8615fb9850cd4cf0"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dab12bc1df8d45eb" /><Relationship Type="http://schemas.openxmlformats.org/officeDocument/2006/relationships/image" Target="/ppt/media/image80.png" Id="Rf03bcc84728b4abf" /><Relationship Type="http://schemas.openxmlformats.org/officeDocument/2006/relationships/notesSlide" Target="/ppt/notesSlides/notesSlide64.xml" Id="Rf7ade0b9ce2d4cd6"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55e6ac11dbb4496a" /><Relationship Type="http://schemas.openxmlformats.org/officeDocument/2006/relationships/image" Target="/ppt/media/image81.png" Id="R1e5a35f29ad04df0" /><Relationship Type="http://schemas.openxmlformats.org/officeDocument/2006/relationships/notesSlide" Target="/ppt/notesSlides/notesSlide65.xml" Id="R3b674ca9ac424ab8"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16d1d66068084b19" /><Relationship Type="http://schemas.openxmlformats.org/officeDocument/2006/relationships/image" Target="/ppt/media/image82.png" Id="R85078a48259d4424" /><Relationship Type="http://schemas.openxmlformats.org/officeDocument/2006/relationships/notesSlide" Target="/ppt/notesSlides/notesSlide66.xml" Id="R2a1f74623aca4e3a"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484ad410523b4355" /><Relationship Type="http://schemas.openxmlformats.org/officeDocument/2006/relationships/image" Target="/ppt/media/image83.png" Id="Rb0a017241202487b" /><Relationship Type="http://schemas.openxmlformats.org/officeDocument/2006/relationships/image" Target="/ppt/media/image84.png" Id="R0685f2c82e054d95" /><Relationship Type="http://schemas.openxmlformats.org/officeDocument/2006/relationships/notesSlide" Target="/ppt/notesSlides/notesSlide67.xml" Id="Rf5ace0bac46747f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2e10388628334846" /><Relationship Type="http://schemas.openxmlformats.org/officeDocument/2006/relationships/image" Target="/ppt/media/image85.png" Id="R544712f6c51840ae" /><Relationship Type="http://schemas.openxmlformats.org/officeDocument/2006/relationships/notesSlide" Target="/ppt/notesSlides/notesSlide68.xml" Id="R64c5c2d8590a470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5538e28be2984cb9" /><Relationship Type="http://schemas.openxmlformats.org/officeDocument/2006/relationships/image" Target="/ppt/media/image86.png" Id="R9984e23d028f422b" /><Relationship Type="http://schemas.openxmlformats.org/officeDocument/2006/relationships/notesSlide" Target="/ppt/notesSlides/notesSlide69.xml" Id="R16952a50a8c84509"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1664b6ea81fc4547" /><Relationship Type="http://schemas.openxmlformats.org/officeDocument/2006/relationships/image" Target="/ppt/media/image87.png" Id="Ra7b484200c8a4a4a" /><Relationship Type="http://schemas.openxmlformats.org/officeDocument/2006/relationships/notesSlide" Target="/ppt/notesSlides/notesSlide70.xml" Id="R0a2d04ebffe04778"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f7d533e349a64a69" /><Relationship Type="http://schemas.openxmlformats.org/officeDocument/2006/relationships/image" Target="/ppt/media/image88.png" Id="Rd0944e7aca3a4a5e" /><Relationship Type="http://schemas.openxmlformats.org/officeDocument/2006/relationships/notesSlide" Target="/ppt/notesSlides/notesSlide71.xml" Id="R67e299795ed248d3"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b121244c59bc4f76" /><Relationship Type="http://schemas.openxmlformats.org/officeDocument/2006/relationships/image" Target="/ppt/media/image89.png" Id="R616a495cfb82405b" /><Relationship Type="http://schemas.openxmlformats.org/officeDocument/2006/relationships/notesSlide" Target="/ppt/notesSlides/notesSlide72.xml" Id="Rdfacf4ddf98a403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Tiempo (min)</c:v>
          </c:tx>
          <c:spPr>
            <ns0:pattFill xmlns:ns0="http://schemas.openxmlformats.org/drawingml/2006/main" prst="ltDnDiag">
              <ns0:fgClr>
                <ns0:srgbClr val="5546ED"/>
              </ns0:fgClr>
              <ns0:bgClr>
                <ns0:srgbClr val="F5FAFD"/>
              </ns0:bgClr>
            </ns0:pattFill>
          </c:spPr>
          <c:invertIfNegative val="0"/>
          <c:cat>
            <c:numRef>
              <c:f>'Chart Data'!$A$2:$A$6</c:f>
              <c:numCache>
                <c:formatCode>General</c:formatCode>
                <c:ptCount val="5"/>
                <c:pt idx="0">
                  <c:v>1</c:v>
                </c:pt>
                <c:pt idx="1">
                  <c:v>2</c:v>
                </c:pt>
                <c:pt idx="2">
                  <c:v>4</c:v>
                </c:pt>
                <c:pt idx="3">
                  <c:v>8</c:v>
                </c:pt>
                <c:pt idx="4">
                  <c:v>16</c:v>
                </c:pt>
              </c:numCache>
            </c:numRef>
          </c:cat>
          <c:val>
            <c:numRef>
              <c:f>'Chart Data'!$B$2:$B$6</c:f>
              <c:numCache>
                <c:formatCode>General</c:formatCode>
                <c:ptCount val="5"/>
                <c:pt idx="0">
                  <c:v>100</c:v>
                </c:pt>
                <c:pt idx="1">
                  <c:v>57</c:v>
                </c:pt>
                <c:pt idx="2">
                  <c:v>38.5</c:v>
                </c:pt>
                <c:pt idx="3">
                  <c:v>35.25</c:v>
                </c:pt>
                <c:pt idx="4">
                  <c:v>47.625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b="1">
                  <a:solidFill>
                    <a:srgbClr val="203B68"/>
                  </a:solidFill>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203B68"/>
                    </a:solidFill>
                    <a:latin typeface="Calibri"/>
                    <a:ea typeface="Calibri"/>
                    <a:cs typeface="Calibri"/>
                  </a:rPr>
                  <a:t>Trabajadores de igual capacidad</a:t>
                </a:r>
              </a:p>
            </c:rich>
          </c:tx>
          <c:overlay val="0"/>
          <c:txPr>
            <a:bodyPr xmlns:a="http://schemas.openxmlformats.org/drawingml/2006/main" anchorCtr="1"/>
            <a:lstStyle xmlns:a="http://schemas.openxmlformats.org/drawingml/2006/main"/>
            <a:p xmlns:a="http://schemas.openxmlformats.org/drawingml/2006/main">
              <a:pPr>
                <a:defRPr sz="1500">
                  <a:solidFill>
                    <a:srgbClr val="203B68"/>
                  </a:solidFill>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03B68"/>
                </a:solidFill>
                <a:latin typeface="Calibri"/>
                <a:ea typeface="Calibri"/>
                <a:cs typeface="Calibri"/>
              </a:defRPr>
            </a:pPr>
          </a:p>
        </c:txPr>
        <c:crossAx val="48672768"/>
      </c:catAx>
      <c:valAx>
        <c:axId val="48672768"/>
        <c:scaling>
          <c:orientation val="minMax"/>
          <c:max val="120"/>
          <c:min val="0"/>
        </c:scaling>
        <c:delete val="0"/>
        <c:axPos val="l"/>
        <c:majorGridlines>
          <c:spPr>
            <a:ln xmlns:a="http://schemas.openxmlformats.org/drawingml/2006/main" w="9525">
              <a:solidFill>
                <a:srgbClr val="D7E1EA"/>
              </a:solidFill>
            </a:ln>
          </c:spPr>
        </c:majorGridlines>
        <c:title>
          <c:tx>
            <c:rich>
              <a:bodyPr xmlns:a="http://schemas.openxmlformats.org/drawingml/2006/main"/>
              <a:lstStyle xmlns:a="http://schemas.openxmlformats.org/drawingml/2006/main"/>
              <a:p xmlns:a="http://schemas.openxmlformats.org/drawingml/2006/main">
                <a:r>
                  <a:rPr sz="1500">
                    <a:solidFill>
                      <a:srgbClr val="203B68"/>
                    </a:solidFill>
                    <a:latin typeface="Calibri"/>
                    <a:ea typeface="Calibri"/>
                    <a:cs typeface="Calibri"/>
                  </a:rPr>
                  <a:t>Tiempo (min)</a:t>
                </a:r>
              </a:p>
            </c:rich>
          </c:tx>
          <c:overlay val="0"/>
          <c:txPr>
            <a:bodyPr xmlns:a="http://schemas.openxmlformats.org/drawingml/2006/main" anchorCtr="1"/>
            <a:lstStyle xmlns:a="http://schemas.openxmlformats.org/drawingml/2006/main"/>
            <a:p xmlns:a="http://schemas.openxmlformats.org/drawingml/2006/main">
              <a:pPr>
                <a:defRPr sz="1500">
                  <a:solidFill>
                    <a:srgbClr val="203B68"/>
                  </a:solidFill>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03B68"/>
                </a:solidFill>
                <a:latin typeface="Calibri"/>
                <a:ea typeface="Calibri"/>
                <a:cs typeface="Calibr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ns1:solidFill xmlns:ns1="http://schemas.openxmlformats.org/drawingml/2006/main">
          <ns1:srgbClr val="FFFFFF"/>
        </ns1:solidFill>
        <ns2:effectLst xmlns:ns2="http://schemas.openxmlformats.org/drawingml/2006/main"/>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4AF1B7EB-D1FF-44CE-97B8-6996DAFB0D9A}"/>
              </a:ext>
            </a:extLst>
          </p:cNvPr>
          <p:cNvPicPr>
            <a:picLocks xmlns:a="http://schemas.openxmlformats.org/drawingml/2006/main" noChangeAspect="1"/>
          </p:cNvPicPr>
          <p:nvPr/>
        </p:nvPicPr>
        <p:blipFill>
          <a:blip xmlns:r="http://schemas.openxmlformats.org/officeDocument/2006/relationships" xmlns:a="http://schemas.openxmlformats.org/drawingml/2006/main" r:embed="R22e28a99c8384021"/>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27FB4F24-06A8-4B05-A370-74C169C4AEAA}"/>
              </a:ext>
            </a:extLst>
          </p:cNvPr>
          <p:cNvPicPr>
            <a:picLocks xmlns:a="http://schemas.openxmlformats.org/drawingml/2006/main" noChangeAspect="1"/>
          </p:cNvPicPr>
          <p:nvPr/>
        </p:nvPicPr>
        <p:blipFill>
          <a:blip xmlns:r="http://schemas.openxmlformats.org/officeDocument/2006/relationships" xmlns:a="http://schemas.openxmlformats.org/drawingml/2006/main" r:embed="R05fc9c2034eb4834"/>
          <a:stretch xmlns:a="http://schemas.openxmlformats.org/drawingml/2006/main"/>
        </p:blipFill>
        <p:spPr>
          <a:xfrm xmlns:a="http://schemas.openxmlformats.org/drawingml/2006/main">
            <a:off x="6667500" y="1619250"/>
            <a:ext cx="5143500" cy="38576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4910EC-C18E-4922-B43F-D012D658D3CB}"/>
              </a:ext>
            </a:extLst>
          </p:cNvPr>
          <p:cNvSpPr>
            <a:spLocks xmlns:a="http://schemas.openxmlformats.org/drawingml/2006/main" noGrp="1"/>
          </p:cNvSpPr>
          <p:nvPr/>
        </p:nvSpPr>
        <p:spPr>
          <a:xfrm xmlns:a="http://schemas.openxmlformats.org/drawingml/2006/main">
            <a:off x="609600" y="1476375"/>
            <a:ext cx="590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Curso de Postgrado:</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BigData</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Especialización en</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Bases de datos</a:t>
            </a:r>
          </a:p>
        </p:txBody>
      </p:sp>
      <p:sp>
        <p:nvSpPr>
          <p:cNvPr id="3" name="">
            <a:extLst xmlns:a="http://schemas.openxmlformats.org/drawingml/2006/main">
              <a:ext uri="{FF2B5EF4-FFF2-40B4-BE49-F238E27FC236}">
                <a16:creationId xmlns:a16="http://schemas.microsoft.com/office/drawing/2014/main" id="{4A106E99-6553-4D53-835E-3D7EF99D7505}"/>
              </a:ext>
            </a:extLst>
          </p:cNvPr>
          <p:cNvSpPr>
            <a:spLocks xmlns:a="http://schemas.openxmlformats.org/drawingml/2006/main" noGrp="1"/>
          </p:cNvSpPr>
          <p:nvPr/>
        </p:nvSpPr>
        <p:spPr>
          <a:xfrm xmlns:a="http://schemas.openxmlformats.org/drawingml/2006/main">
            <a:off x="609600" y="3857625"/>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Consultas e integración</a:t>
            </a:r>
          </a:p>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distribuida</a:t>
            </a:r>
          </a:p>
        </p:txBody>
      </p:sp>
      <p:sp>
        <p:nvSpPr>
          <p:cNvPr id="5" name="">
            <a:extLst xmlns:a="http://schemas.openxmlformats.org/drawingml/2006/main">
              <a:ext uri="{FF2B5EF4-FFF2-40B4-BE49-F238E27FC236}">
                <a16:creationId xmlns:a16="http://schemas.microsoft.com/office/drawing/2014/main" id="{82E57E4D-E945-4D23-BD3B-6A5F2B700B23}"/>
              </a:ext>
            </a:extLst>
          </p:cNvPr>
          <p:cNvSpPr>
            <a:spLocks xmlns:a="http://schemas.openxmlformats.org/drawingml/2006/main" noGrp="1"/>
          </p:cNvSpPr>
          <p:nvPr/>
        </p:nvSpPr>
        <p:spPr>
          <a:xfrm xmlns:a="http://schemas.openxmlformats.org/drawingml/2006/main">
            <a:off x="609600" y="52482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Sesión 06 · Sábado 17 de octubre de 2026</a:t>
            </a:r>
          </a:p>
        </p:txBody>
      </p:sp>
      <p:sp>
        <p:nvSpPr>
          <p:cNvPr id="6" name="">
            <a:extLst xmlns:a="http://schemas.openxmlformats.org/drawingml/2006/main">
              <a:ext uri="{FF2B5EF4-FFF2-40B4-BE49-F238E27FC236}">
                <a16:creationId xmlns:a16="http://schemas.microsoft.com/office/drawing/2014/main" id="{FC7B28B2-64DA-4F6F-B649-5218A8E5800E}"/>
              </a:ext>
            </a:extLst>
          </p:cNvPr>
          <p:cNvSpPr>
            <a:spLocks xmlns:a="http://schemas.openxmlformats.org/drawingml/2006/main" noGrp="1"/>
          </p:cNvSpPr>
          <p:nvPr/>
        </p:nvSpPr>
        <p:spPr>
          <a:xfrm xmlns:a="http://schemas.openxmlformats.org/drawingml/2006/main">
            <a:off x="609600" y="57340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08:00–17:00 · Esteban Hernández, PhD</a:t>
            </a:r>
          </a:p>
        </p:txBody>
      </p:sp>
      <p:sp>
        <p:nvSpPr>
          <p:cNvPr id="17" name="">
            <a:extLst xmlns:a="http://schemas.openxmlformats.org/drawingml/2006/main">
              <a:ext uri="{FF2B5EF4-FFF2-40B4-BE49-F238E27FC236}">
                <a16:creationId xmlns:a16="http://schemas.microsoft.com/office/drawing/2014/main" id="{C409D3CA-7227-4ACC-82C8-7C3A746B9A25}"/>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Tree>
    <p:extLst>
      <p:ext uri="{BB962C8B-B14F-4D97-AF65-F5344CB8AC3E}">
        <p14:creationId xmlns:p14="http://schemas.microsoft.com/office/powerpoint/2010/main" val="339067320"/>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724AF86-7CB7-4118-9EBA-5E789E3A792C}"/>
              </a:ext>
            </a:extLst>
          </p:cNvPr>
          <p:cNvPicPr>
            <a:picLocks xmlns:a="http://schemas.openxmlformats.org/drawingml/2006/main" noChangeAspect="1"/>
          </p:cNvPicPr>
          <p:nvPr/>
        </p:nvPicPr>
        <p:blipFill>
          <a:blip xmlns:r="http://schemas.openxmlformats.org/officeDocument/2006/relationships" xmlns:a="http://schemas.openxmlformats.org/drawingml/2006/main" r:embed="Re9bdbdef4545474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CDD3BA-2EF8-4AF9-B40C-A26C0BCBC16B}"/>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La consulta después de la agregación</a:t>
            </a:r>
          </a:p>
        </p:txBody>
      </p:sp>
      <p:pic>
        <p:nvPicPr>
          <p:cNvPr id="3" name="">
            <a:extLst xmlns:a="http://schemas.openxmlformats.org/drawingml/2006/main">
              <a:ext uri="{FF2B5EF4-FFF2-40B4-BE49-F238E27FC236}">
                <a16:creationId xmlns:a16="http://schemas.microsoft.com/office/drawing/2014/main" id="{4A5DF510-D66F-40CE-B2B8-74EE6FA6D9A5}"/>
              </a:ext>
            </a:extLst>
          </p:cNvPr>
          <p:cNvPicPr>
            <a:picLocks xmlns:a="http://schemas.openxmlformats.org/drawingml/2006/main" noChangeAspect="1"/>
          </p:cNvPicPr>
          <p:nvPr/>
        </p:nvPicPr>
        <p:blipFill>
          <a:blip xmlns:r="http://schemas.openxmlformats.org/officeDocument/2006/relationships" xmlns:a="http://schemas.openxmlformats.org/drawingml/2006/main" r:embed="R30fb4d81e8754997"/>
          <a:stretch xmlns:a="http://schemas.openxmlformats.org/drawingml/2006/main"/>
        </p:blipFill>
        <p:spPr>
          <a:xfrm xmlns:a="http://schemas.openxmlformats.org/drawingml/2006/main">
            <a:off x="812800" y="1409700"/>
            <a:ext cx="5842000"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0F001EB-1AC9-4592-B210-E1077FEABB1F}"/>
              </a:ext>
            </a:extLst>
          </p:cNvPr>
          <p:cNvSpPr>
            <a:spLocks xmlns:a="http://schemas.openxmlformats.org/drawingml/2006/main" noGrp="1"/>
          </p:cNvSpPr>
          <p:nvPr/>
        </p:nvSpPr>
        <p:spPr>
          <a:xfrm xmlns:a="http://schemas.openxmlformats.org/drawingml/2006/main">
            <a:off x="7524750" y="157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Resultado de la sesión 05</a:t>
            </a:r>
          </a:p>
        </p:txBody>
      </p:sp>
      <p:sp>
        <p:nvSpPr>
          <p:cNvPr id="5" name="">
            <a:extLst xmlns:a="http://schemas.openxmlformats.org/drawingml/2006/main">
              <a:ext uri="{FF2B5EF4-FFF2-40B4-BE49-F238E27FC236}">
                <a16:creationId xmlns:a16="http://schemas.microsoft.com/office/drawing/2014/main" id="{A429A698-BBB7-4B58-957A-1DCD32B69DE0}"/>
              </a:ext>
            </a:extLst>
          </p:cNvPr>
          <p:cNvSpPr>
            <a:spLocks xmlns:a="http://schemas.openxmlformats.org/drawingml/2006/main" noGrp="1"/>
          </p:cNvSpPr>
          <p:nvPr/>
        </p:nvSpPr>
        <p:spPr>
          <a:xfrm xmlns:a="http://schemas.openxmlformats.org/drawingml/2006/main">
            <a:off x="7524750" y="2009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Una fila por municipio, cultivo, estado físico y año, con producción, área y rendimiento.</a:t>
            </a:r>
          </a:p>
        </p:txBody>
      </p:sp>
      <p:sp>
        <p:nvSpPr>
          <p:cNvPr id="6" name="">
            <a:extLst xmlns:a="http://schemas.openxmlformats.org/drawingml/2006/main">
              <a:ext uri="{FF2B5EF4-FFF2-40B4-BE49-F238E27FC236}">
                <a16:creationId xmlns:a16="http://schemas.microsoft.com/office/drawing/2014/main" id="{3ED23B61-D4E9-4C1A-B2CC-066069F4C348}"/>
              </a:ext>
            </a:extLst>
          </p:cNvPr>
          <p:cNvSpPr>
            <a:spLocks xmlns:a="http://schemas.openxmlformats.org/drawingml/2006/main" noGrp="1"/>
          </p:cNvSpPr>
          <p:nvPr/>
        </p:nvSpPr>
        <p:spPr>
          <a:xfrm xmlns:a="http://schemas.openxmlformats.org/drawingml/2006/main">
            <a:off x="7524750" y="29622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Nueva pregunta</a:t>
            </a:r>
          </a:p>
        </p:txBody>
      </p:sp>
      <p:sp>
        <p:nvSpPr>
          <p:cNvPr id="7" name="">
            <a:extLst xmlns:a="http://schemas.openxmlformats.org/drawingml/2006/main">
              <a:ext uri="{FF2B5EF4-FFF2-40B4-BE49-F238E27FC236}">
                <a16:creationId xmlns:a16="http://schemas.microsoft.com/office/drawing/2014/main" id="{B88FE0D4-C4D1-41B9-B1EC-6940992583B5}"/>
              </a:ext>
            </a:extLst>
          </p:cNvPr>
          <p:cNvSpPr>
            <a:spLocks xmlns:a="http://schemas.openxmlformats.org/drawingml/2006/main" noGrp="1"/>
          </p:cNvSpPr>
          <p:nvPr/>
        </p:nvSpPr>
        <p:spPr>
          <a:xfrm xmlns:a="http://schemas.openxmlformats.org/drawingml/2006/main">
            <a:off x="7524750" y="34004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Añadir nombres territoriales y elegir los tres mayores rendimientos por cultivo, estado y año.</a:t>
            </a:r>
          </a:p>
        </p:txBody>
      </p:sp>
      <p:sp>
        <p:nvSpPr>
          <p:cNvPr id="8" name="">
            <a:extLst xmlns:a="http://schemas.openxmlformats.org/drawingml/2006/main">
              <a:ext uri="{FF2B5EF4-FFF2-40B4-BE49-F238E27FC236}">
                <a16:creationId xmlns:a16="http://schemas.microsoft.com/office/drawing/2014/main" id="{00F7849C-1C67-4C67-B151-E6D854C95360}"/>
              </a:ext>
            </a:extLst>
          </p:cNvPr>
          <p:cNvSpPr>
            <a:spLocks xmlns:a="http://schemas.openxmlformats.org/drawingml/2006/main" noGrp="1"/>
          </p:cNvSpPr>
          <p:nvPr/>
        </p:nvSpPr>
        <p:spPr>
          <a:xfrm xmlns:a="http://schemas.openxmlformats.org/drawingml/2006/main">
            <a:off x="7524750" y="43529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Problema de ejecución</a:t>
            </a:r>
          </a:p>
        </p:txBody>
      </p:sp>
      <p:sp>
        <p:nvSpPr>
          <p:cNvPr id="9" name="">
            <a:extLst xmlns:a="http://schemas.openxmlformats.org/drawingml/2006/main">
              <a:ext uri="{FF2B5EF4-FFF2-40B4-BE49-F238E27FC236}">
                <a16:creationId xmlns:a16="http://schemas.microsoft.com/office/drawing/2014/main" id="{96D62782-7C1F-4195-BF20-4B9A42C63D44}"/>
              </a:ext>
            </a:extLst>
          </p:cNvPr>
          <p:cNvSpPr>
            <a:spLocks xmlns:a="http://schemas.openxmlformats.org/drawingml/2006/main" noGrp="1"/>
          </p:cNvSpPr>
          <p:nvPr/>
        </p:nvSpPr>
        <p:spPr>
          <a:xfrm xmlns:a="http://schemas.openxmlformats.org/drawingml/2006/main">
            <a:off x="7524750" y="47910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Reunir claves, mover datos y ordenar grupos conserva el modelo de tareas y particiones de Spark.</a:t>
            </a:r>
          </a:p>
        </p:txBody>
      </p:sp>
      <p:sp>
        <p:nvSpPr>
          <p:cNvPr id="10" name="">
            <a:extLst xmlns:a="http://schemas.openxmlformats.org/drawingml/2006/main">
              <a:ext uri="{FF2B5EF4-FFF2-40B4-BE49-F238E27FC236}">
                <a16:creationId xmlns:a16="http://schemas.microsoft.com/office/drawing/2014/main" id="{CFB2BBFA-3425-4016-A30B-61AD3AF10224}"/>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Caso continuo: EVA y DIVIPOLA. El rendimiento se mantiene como cociente de sumas.</a:t>
            </a:r>
          </a:p>
        </p:txBody>
      </p:sp>
      <p:sp>
        <p:nvSpPr>
          <p:cNvPr id="11" name="">
            <a:extLst xmlns:a="http://schemas.openxmlformats.org/drawingml/2006/main">
              <a:ext uri="{FF2B5EF4-FFF2-40B4-BE49-F238E27FC236}">
                <a16:creationId xmlns:a16="http://schemas.microsoft.com/office/drawing/2014/main" id="{EAFF783C-D64C-4134-A845-889D36C6B429}"/>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66DDDB49-4956-45DC-AF76-8E8A5A1AB7B6}"/>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02</a:t>
            </a:r>
          </a:p>
        </p:txBody>
      </p:sp>
    </p:spTree>
    <p:extLst>
      <p:ext uri="{BB962C8B-B14F-4D97-AF65-F5344CB8AC3E}">
        <p14:creationId xmlns:p14="http://schemas.microsoft.com/office/powerpoint/2010/main" val="78740340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9E4960E-4A9A-45AD-B1AC-0B44093BC702}"/>
              </a:ext>
            </a:extLst>
          </p:cNvPr>
          <p:cNvPicPr>
            <a:picLocks xmlns:a="http://schemas.openxmlformats.org/drawingml/2006/main" noChangeAspect="1"/>
          </p:cNvPicPr>
          <p:nvPr/>
        </p:nvPicPr>
        <p:blipFill>
          <a:blip xmlns:r="http://schemas.openxmlformats.org/officeDocument/2006/relationships" xmlns:a="http://schemas.openxmlformats.org/drawingml/2006/main" r:embed="R91ea03ed679b42e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E16DF0D-7087-499B-97DA-591CBA15FBFF}"/>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La misma pregunta con GB y TB</a:t>
            </a:r>
          </a:p>
        </p:txBody>
      </p:sp>
      <p:graphicFrame>
        <p:nvGraphicFramePr>
          <p:cNvPr id="3" name="">
            <a:extLst xmlns:a="http://schemas.openxmlformats.org/drawingml/2006/main">
              <a:ext uri="{FF2B5EF4-FFF2-40B4-BE49-F238E27FC236}">
                <a16:creationId xmlns:a16="http://schemas.microsoft.com/office/drawing/2014/main" id="{2B459A78-CF95-4BE3-A95C-2C11419F238A}"/>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Escenario hipotético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Qué cambia al calcular el rendimiento municipal</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4 GB en archivos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Puede bastar un equipo. La memoria de trabajo depende de tipos, copias y operaciones.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400 GB en archivos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Una carga completa puede exceder la RAM. Leer por partes ayuda si el cálculo se puede combinar.</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4 TB en archivos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Repartir lectura, cómputo y resultados permite usar recursos de varios nodos.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Pregunta invariable</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Sumar producción y área por municipio, cultivo, estado y año. Después unir y ordenar.</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Desafío nuevo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Coordinar particiones y controlar transferencia, memoria, sesgo y fallos.</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0B827EC8-AC91-438C-BE6E-775E8B52ACCD}"/>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Los tamaños ilustran el problema. No son medidas del kit ni umbrales universales.</a:t>
            </a:r>
          </a:p>
        </p:txBody>
      </p:sp>
      <p:sp>
        <p:nvSpPr>
          <p:cNvPr id="5" name="">
            <a:extLst xmlns:a="http://schemas.openxmlformats.org/drawingml/2006/main">
              <a:ext uri="{FF2B5EF4-FFF2-40B4-BE49-F238E27FC236}">
                <a16:creationId xmlns:a16="http://schemas.microsoft.com/office/drawing/2014/main" id="{E175A241-57F4-447E-8E0E-8FE9CF3C1657}"/>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78847052-5514-416C-A5DA-0ECDDDB4BB0E}"/>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03</a:t>
            </a:r>
          </a:p>
        </p:txBody>
      </p:sp>
    </p:spTree>
    <p:extLst>
      <p:ext uri="{BB962C8B-B14F-4D97-AF65-F5344CB8AC3E}">
        <p14:creationId xmlns:p14="http://schemas.microsoft.com/office/powerpoint/2010/main" val="1752315861"/>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FE45006-D2F5-45E4-819F-C784D64321B6}"/>
              </a:ext>
            </a:extLst>
          </p:cNvPr>
          <p:cNvPicPr>
            <a:picLocks xmlns:a="http://schemas.openxmlformats.org/drawingml/2006/main" noChangeAspect="1"/>
          </p:cNvPicPr>
          <p:nvPr/>
        </p:nvPicPr>
        <p:blipFill>
          <a:blip xmlns:r="http://schemas.openxmlformats.org/officeDocument/2006/relationships" xmlns:a="http://schemas.openxmlformats.org/drawingml/2006/main" r:embed="R7cf1d0da7c574dc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BD020B-823B-4E3E-92D3-91BB5D9BB360}"/>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Pandas y Spark: modelo de ejecución</a:t>
            </a:r>
          </a:p>
        </p:txBody>
      </p:sp>
      <p:graphicFrame>
        <p:nvGraphicFramePr>
          <p:cNvPr id="3" name="">
            <a:extLst xmlns:a="http://schemas.openxmlformats.org/drawingml/2006/main">
              <a:ext uri="{FF2B5EF4-FFF2-40B4-BE49-F238E27FC236}">
                <a16:creationId xmlns:a16="http://schemas.microsoft.com/office/drawing/2014/main" id="{6A5CC37A-6711-4319-8851-629799B736DF}"/>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Pandas</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Spark DataFrame</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DataFrame local en una máquina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Colección distribuida en particiones, gestionada por un driver y executors.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Operaciones habituales producen resultados inmediatamente</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Transformaciones forman un plan. Una acción solicita su ejecución.</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La RAM local y los temporales condicionan el trabajo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Cada tarea necesita memoria. El conjunto se reparte y puede utilizar disco.</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merge y groupby trabajan con datos locales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Join y agregación pueden requerir intercambios entre particiones.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Uso directo para exploración local</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Planificación y coordinación añaden costes, especialmente en trabajos pequeños.</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303DE4DC-C546-4A17-B58D-499F016C646A}"/>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Una API parecida oculta modelos de ejecución distintos.</a:t>
            </a:r>
          </a:p>
        </p:txBody>
      </p:sp>
      <p:sp>
        <p:nvSpPr>
          <p:cNvPr id="5" name="">
            <a:extLst xmlns:a="http://schemas.openxmlformats.org/drawingml/2006/main">
              <a:ext uri="{FF2B5EF4-FFF2-40B4-BE49-F238E27FC236}">
                <a16:creationId xmlns:a16="http://schemas.microsoft.com/office/drawing/2014/main" id="{D969D138-0528-44B9-8870-5036E485AB0A}"/>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C61ECDDD-94B4-4142-8B88-636FF731BE87}"/>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04</a:t>
            </a:r>
          </a:p>
        </p:txBody>
      </p:sp>
    </p:spTree>
    <p:extLst>
      <p:ext uri="{BB962C8B-B14F-4D97-AF65-F5344CB8AC3E}">
        <p14:creationId xmlns:p14="http://schemas.microsoft.com/office/powerpoint/2010/main" val="1932937578"/>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5E3F933-7E38-48C9-B4BF-6A89CE41372A}"/>
              </a:ext>
            </a:extLst>
          </p:cNvPr>
          <p:cNvPicPr>
            <a:picLocks xmlns:a="http://schemas.openxmlformats.org/drawingml/2006/main" noChangeAspect="1"/>
          </p:cNvPicPr>
          <p:nvPr/>
        </p:nvPicPr>
        <p:blipFill>
          <a:blip xmlns:r="http://schemas.openxmlformats.org/officeDocument/2006/relationships" xmlns:a="http://schemas.openxmlformats.org/drawingml/2006/main" r:embed="R9c12f5e9e65f440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CE8F9AC-BF64-480F-A43D-BFBB6A470EFE}"/>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Pandas o Spark: decisión para este caso</a:t>
            </a:r>
          </a:p>
        </p:txBody>
      </p:sp>
      <p:graphicFrame>
        <p:nvGraphicFramePr>
          <p:cNvPr id="3" name="">
            <a:extLst xmlns:a="http://schemas.openxmlformats.org/drawingml/2006/main">
              <a:ext uri="{FF2B5EF4-FFF2-40B4-BE49-F238E27FC236}">
                <a16:creationId xmlns:a16="http://schemas.microsoft.com/office/drawing/2014/main" id="{EC0593DF-68F7-4022-96E8-1B04CCF94813}"/>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Situación del curso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Alcance de cada herramienta</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Preparación del notebook 05</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Pandas carga los CSV completos, convierte tipos y escribe Parquet. Requiere memoria local.</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Procesamiento con Spark</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Lee esos Parquet, agrega, une y ordena con operadores distribuidos.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Verificación del resultado pequeño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Pandas y DuckDB comprueban claves, medidas y ranking.</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Crecimiento hacia TB</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La preparación local de 05 también debe rediseñarse. Añadir executors no resuelve esa fase.</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Alcance de local[2]</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Observamos ejecución local. No medimos red entre nodos ni aceleración de un clúster.</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AA25302A-7CF1-462C-876D-F250BE75A25D}"/>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flujo docente combina herramientas. Su preparación inicial todavía depende de la RAM local.</a:t>
            </a:r>
          </a:p>
        </p:txBody>
      </p:sp>
      <p:sp>
        <p:nvSpPr>
          <p:cNvPr id="5" name="">
            <a:extLst xmlns:a="http://schemas.openxmlformats.org/drawingml/2006/main">
              <a:ext uri="{FF2B5EF4-FFF2-40B4-BE49-F238E27FC236}">
                <a16:creationId xmlns:a16="http://schemas.microsoft.com/office/drawing/2014/main" id="{F6193D7C-F966-41DE-8557-D41B815D41CF}"/>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FF753CFA-720A-4B52-B553-5B7D6781130D}"/>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05</a:t>
            </a:r>
          </a:p>
        </p:txBody>
      </p:sp>
    </p:spTree>
    <p:extLst>
      <p:ext uri="{BB962C8B-B14F-4D97-AF65-F5344CB8AC3E}">
        <p14:creationId xmlns:p14="http://schemas.microsoft.com/office/powerpoint/2010/main" val="1879275221"/>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7C523BB-9C6E-48D2-A6EF-46F4D0938A24}"/>
              </a:ext>
            </a:extLst>
          </p:cNvPr>
          <p:cNvPicPr>
            <a:picLocks xmlns:a="http://schemas.openxmlformats.org/drawingml/2006/main" noChangeAspect="1"/>
          </p:cNvPicPr>
          <p:nvPr/>
        </p:nvPicPr>
        <p:blipFill>
          <a:blip xmlns:r="http://schemas.openxmlformats.org/officeDocument/2006/relationships" xmlns:a="http://schemas.openxmlformats.org/drawingml/2006/main" r:embed="R5f5f33f4730f4f1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7A15C9-9F13-4861-8B1B-5D961ACBB0F6}"/>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Arquitectura de una aplicación Spark</a:t>
            </a:r>
          </a:p>
        </p:txBody>
      </p:sp>
      <p:pic>
        <p:nvPicPr>
          <p:cNvPr id="3" name="">
            <a:extLst xmlns:a="http://schemas.openxmlformats.org/drawingml/2006/main">
              <a:ext uri="{FF2B5EF4-FFF2-40B4-BE49-F238E27FC236}">
                <a16:creationId xmlns:a16="http://schemas.microsoft.com/office/drawing/2014/main" id="{2FA4A055-53AB-4244-B97D-DC174C611B57}"/>
              </a:ext>
            </a:extLst>
          </p:cNvPr>
          <p:cNvPicPr>
            <a:picLocks xmlns:a="http://schemas.openxmlformats.org/drawingml/2006/main" noChangeAspect="1"/>
          </p:cNvPicPr>
          <p:nvPr/>
        </p:nvPicPr>
        <p:blipFill>
          <a:blip xmlns:r="http://schemas.openxmlformats.org/officeDocument/2006/relationships" xmlns:a="http://schemas.openxmlformats.org/drawingml/2006/main" r:embed="R07eca7a8f1a44dfc"/>
          <a:stretch xmlns:a="http://schemas.openxmlformats.org/drawingml/2006/main"/>
        </p:blipFill>
        <p:spPr>
          <a:xfrm xmlns:a="http://schemas.openxmlformats.org/drawingml/2006/main">
            <a:off x="666750" y="1286341"/>
            <a:ext cx="10858500" cy="452344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EBADC47-CC74-4CB9-B978-0C7813017786}"/>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driver coordina. Los executors procesan particiones y conservan datos temporales.</a:t>
            </a:r>
          </a:p>
        </p:txBody>
      </p:sp>
      <p:sp>
        <p:nvSpPr>
          <p:cNvPr id="5" name="">
            <a:extLst xmlns:a="http://schemas.openxmlformats.org/drawingml/2006/main">
              <a:ext uri="{FF2B5EF4-FFF2-40B4-BE49-F238E27FC236}">
                <a16:creationId xmlns:a16="http://schemas.microsoft.com/office/drawing/2014/main" id="{6E1BD273-7E3A-43DA-BC7F-48C721929A29}"/>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F38922E6-89D3-4C85-903B-48A1DAB702E3}"/>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06</a:t>
            </a:r>
          </a:p>
        </p:txBody>
      </p:sp>
    </p:spTree>
    <p:extLst>
      <p:ext uri="{BB962C8B-B14F-4D97-AF65-F5344CB8AC3E}">
        <p14:creationId xmlns:p14="http://schemas.microsoft.com/office/powerpoint/2010/main" val="1073779845"/>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56841EB-3FCC-4221-84A3-1F4813B798C5}"/>
              </a:ext>
            </a:extLst>
          </p:cNvPr>
          <p:cNvPicPr>
            <a:picLocks xmlns:a="http://schemas.openxmlformats.org/drawingml/2006/main" noChangeAspect="1"/>
          </p:cNvPicPr>
          <p:nvPr/>
        </p:nvPicPr>
        <p:blipFill>
          <a:blip xmlns:r="http://schemas.openxmlformats.org/officeDocument/2006/relationships" xmlns:a="http://schemas.openxmlformats.org/drawingml/2006/main" r:embed="R77840ea36ed94c0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4FF8F2-7F26-4355-ABB7-BAD9BE9060D4}"/>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Cómo se comunican sus componentes</a:t>
            </a:r>
          </a:p>
        </p:txBody>
      </p:sp>
      <p:sp>
        <p:nvSpPr>
          <p:cNvPr id="3" name="">
            <a:extLst xmlns:a="http://schemas.openxmlformats.org/drawingml/2006/main">
              <a:ext uri="{FF2B5EF4-FFF2-40B4-BE49-F238E27FC236}">
                <a16:creationId xmlns:a16="http://schemas.microsoft.com/office/drawing/2014/main" id="{B1CBB575-55A3-47F6-9D79-C78DCCAD01CD}"/>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Asignación de recursos</a:t>
            </a:r>
          </a:p>
        </p:txBody>
      </p:sp>
      <p:sp>
        <p:nvSpPr>
          <p:cNvPr id="4" name="">
            <a:extLst xmlns:a="http://schemas.openxmlformats.org/drawingml/2006/main">
              <a:ext uri="{FF2B5EF4-FFF2-40B4-BE49-F238E27FC236}">
                <a16:creationId xmlns:a16="http://schemas.microsoft.com/office/drawing/2014/main" id="{D29147FF-5486-468F-9C95-FC9ACE480005}"/>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El driver solicita recursos al gestor. Con ellos se ejecutan los procesos executor.</a:t>
            </a:r>
          </a:p>
        </p:txBody>
      </p:sp>
      <p:sp>
        <p:nvSpPr>
          <p:cNvPr id="5" name="">
            <a:extLst xmlns:a="http://schemas.openxmlformats.org/drawingml/2006/main">
              <a:ext uri="{FF2B5EF4-FFF2-40B4-BE49-F238E27FC236}">
                <a16:creationId xmlns:a16="http://schemas.microsoft.com/office/drawing/2014/main" id="{70F6CD42-6D64-4CEB-BC32-B5792D330A75}"/>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Control del trabajo</a:t>
            </a:r>
          </a:p>
        </p:txBody>
      </p:sp>
      <p:sp>
        <p:nvSpPr>
          <p:cNvPr id="6" name="">
            <a:extLst xmlns:a="http://schemas.openxmlformats.org/drawingml/2006/main">
              <a:ext uri="{FF2B5EF4-FFF2-40B4-BE49-F238E27FC236}">
                <a16:creationId xmlns:a16="http://schemas.microsoft.com/office/drawing/2014/main" id="{7E09F30A-80C8-47FE-BFDD-6FA01C6131BC}"/>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El driver envía tareas. Los executors informan avances, métricas y fallos.</a:t>
            </a:r>
          </a:p>
        </p:txBody>
      </p:sp>
      <p:sp>
        <p:nvSpPr>
          <p:cNvPr id="7" name="">
            <a:extLst xmlns:a="http://schemas.openxmlformats.org/drawingml/2006/main">
              <a:ext uri="{FF2B5EF4-FFF2-40B4-BE49-F238E27FC236}">
                <a16:creationId xmlns:a16="http://schemas.microsoft.com/office/drawing/2014/main" id="{86EE53EB-4C61-47EE-B0A6-BA05E65559CE}"/>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Circulación de datos</a:t>
            </a:r>
          </a:p>
        </p:txBody>
      </p:sp>
      <p:sp>
        <p:nvSpPr>
          <p:cNvPr id="8" name="">
            <a:extLst xmlns:a="http://schemas.openxmlformats.org/drawingml/2006/main">
              <a:ext uri="{FF2B5EF4-FFF2-40B4-BE49-F238E27FC236}">
                <a16:creationId xmlns:a16="http://schemas.microsoft.com/office/drawing/2014/main" id="{73CB6092-F07F-4F4A-B9BC-2EDEF898E6FE}"/>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Los executors leen almacenamiento y transfieren bloques de shuffle entre sí. El resultado grande se escribe distribuido.</a:t>
            </a:r>
          </a:p>
        </p:txBody>
      </p:sp>
      <p:sp>
        <p:nvSpPr>
          <p:cNvPr id="9" name="">
            <a:extLst xmlns:a="http://schemas.openxmlformats.org/drawingml/2006/main">
              <a:ext uri="{FF2B5EF4-FFF2-40B4-BE49-F238E27FC236}">
                <a16:creationId xmlns:a16="http://schemas.microsoft.com/office/drawing/2014/main" id="{3837498F-AA1C-4CC0-B49F-7AAAD2E99076}"/>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collect() sí trae datos al driver. Una escritura distribuida evita reunir toda la tabla allí.</a:t>
            </a:r>
          </a:p>
        </p:txBody>
      </p:sp>
      <p:sp>
        <p:nvSpPr>
          <p:cNvPr id="10" name="">
            <a:extLst xmlns:a="http://schemas.openxmlformats.org/drawingml/2006/main">
              <a:ext uri="{FF2B5EF4-FFF2-40B4-BE49-F238E27FC236}">
                <a16:creationId xmlns:a16="http://schemas.microsoft.com/office/drawing/2014/main" id="{572A6EC1-8100-4FC2-A935-ADF5637586F9}"/>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E7F63A4A-4B1E-41D2-AC08-E9E5E5C259E5}"/>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07</a:t>
            </a:r>
          </a:p>
        </p:txBody>
      </p:sp>
    </p:spTree>
    <p:extLst>
      <p:ext uri="{BB962C8B-B14F-4D97-AF65-F5344CB8AC3E}">
        <p14:creationId xmlns:p14="http://schemas.microsoft.com/office/powerpoint/2010/main" val="133825126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0EB0BB5-4682-4670-A017-24CB0CCAA6EA}"/>
              </a:ext>
            </a:extLst>
          </p:cNvPr>
          <p:cNvPicPr>
            <a:picLocks xmlns:a="http://schemas.openxmlformats.org/drawingml/2006/main" noChangeAspect="1"/>
          </p:cNvPicPr>
          <p:nvPr/>
        </p:nvPicPr>
        <p:blipFill>
          <a:blip xmlns:r="http://schemas.openxmlformats.org/officeDocument/2006/relationships" xmlns:a="http://schemas.openxmlformats.org/drawingml/2006/main" r:embed="Rfcef97730d8d4788"/>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A590BB8-ABFB-4930-A720-25435B057C33}"/>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Particiones, tareas y capacidad simultánea</a:t>
            </a:r>
          </a:p>
        </p:txBody>
      </p:sp>
      <p:pic>
        <p:nvPicPr>
          <p:cNvPr id="3" name="">
            <a:extLst xmlns:a="http://schemas.openxmlformats.org/drawingml/2006/main">
              <a:ext uri="{FF2B5EF4-FFF2-40B4-BE49-F238E27FC236}">
                <a16:creationId xmlns:a16="http://schemas.microsoft.com/office/drawing/2014/main" id="{2086E431-5682-485C-8E33-3E4A30D3B79A}"/>
              </a:ext>
            </a:extLst>
          </p:cNvPr>
          <p:cNvPicPr>
            <a:picLocks xmlns:a="http://schemas.openxmlformats.org/drawingml/2006/main" noChangeAspect="1"/>
          </p:cNvPicPr>
          <p:nvPr/>
        </p:nvPicPr>
        <p:blipFill>
          <a:blip xmlns:r="http://schemas.openxmlformats.org/officeDocument/2006/relationships" xmlns:a="http://schemas.openxmlformats.org/drawingml/2006/main" r:embed="Rc6a10eba54cc4080"/>
          <a:stretch xmlns:a="http://schemas.openxmlformats.org/drawingml/2006/main"/>
        </p:blipFill>
        <p:spPr>
          <a:xfrm xmlns:a="http://schemas.openxmlformats.org/drawingml/2006/main">
            <a:off x="666750" y="1286341"/>
            <a:ext cx="10858500" cy="452344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B4D4F7E-985D-4DEE-A9C0-14D4ED3F9EA7}"/>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local[2] permite hasta dos tareas a la vez con una CPU por tarea. Los recursos se reutilizan.</a:t>
            </a:r>
          </a:p>
        </p:txBody>
      </p:sp>
      <p:sp>
        <p:nvSpPr>
          <p:cNvPr id="5" name="">
            <a:extLst xmlns:a="http://schemas.openxmlformats.org/drawingml/2006/main">
              <a:ext uri="{FF2B5EF4-FFF2-40B4-BE49-F238E27FC236}">
                <a16:creationId xmlns:a16="http://schemas.microsoft.com/office/drawing/2014/main" id="{A1547907-FAFB-4A10-80AE-3A8971A99E86}"/>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410DD630-E755-4834-82D3-17E308997AD3}"/>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08</a:t>
            </a:r>
          </a:p>
        </p:txBody>
      </p:sp>
    </p:spTree>
    <p:extLst>
      <p:ext uri="{BB962C8B-B14F-4D97-AF65-F5344CB8AC3E}">
        <p14:creationId xmlns:p14="http://schemas.microsoft.com/office/powerpoint/2010/main" val="1060266849"/>
      </p:ext>
    </p:extLst>
  </p:cSld>
  <p:transition spd="med" advClick="1">
    <p:fade/>
  </p:transition>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3F05715-B19E-4F7B-88BD-4078758E6EE5}"/>
              </a:ext>
            </a:extLst>
          </p:cNvPr>
          <p:cNvPicPr>
            <a:picLocks xmlns:a="http://schemas.openxmlformats.org/drawingml/2006/main" noChangeAspect="1"/>
          </p:cNvPicPr>
          <p:nvPr/>
        </p:nvPicPr>
        <p:blipFill>
          <a:blip xmlns:r="http://schemas.openxmlformats.org/officeDocument/2006/relationships" xmlns:a="http://schemas.openxmlformats.org/drawingml/2006/main" r:embed="Rfa514b619f7040b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7992F2-C7F9-4B49-8761-C117DE840DDC}"/>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De la consulta a jobs, etapas y tareas</a:t>
            </a:r>
          </a:p>
        </p:txBody>
      </p:sp>
      <p:pic>
        <p:nvPicPr>
          <p:cNvPr id="3" name="">
            <a:extLst xmlns:a="http://schemas.openxmlformats.org/drawingml/2006/main">
              <a:ext uri="{FF2B5EF4-FFF2-40B4-BE49-F238E27FC236}">
                <a16:creationId xmlns:a16="http://schemas.microsoft.com/office/drawing/2014/main" id="{F62D4FC4-71EE-4810-A0B1-52FDDA8D9175}"/>
              </a:ext>
            </a:extLst>
          </p:cNvPr>
          <p:cNvPicPr>
            <a:picLocks xmlns:a="http://schemas.openxmlformats.org/drawingml/2006/main" noChangeAspect="1"/>
          </p:cNvPicPr>
          <p:nvPr/>
        </p:nvPicPr>
        <p:blipFill>
          <a:blip xmlns:r="http://schemas.openxmlformats.org/officeDocument/2006/relationships" xmlns:a="http://schemas.openxmlformats.org/drawingml/2006/main" r:embed="R7f8cd506dab84be9"/>
          <a:stretch xmlns:a="http://schemas.openxmlformats.org/drawingml/2006/main"/>
        </p:blipFill>
        <p:spPr>
          <a:xfrm xmlns:a="http://schemas.openxmlformats.org/drawingml/2006/main">
            <a:off x="2076470" y="1285875"/>
            <a:ext cx="8039060"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85FF0B3-D7D5-4F2E-B2DA-5160D68212A1}"/>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Las dependencias de shuffle suelen separar etapas. Las tareas ejecutan el trabajo de cada partición.</a:t>
            </a:r>
          </a:p>
        </p:txBody>
      </p:sp>
      <p:sp>
        <p:nvSpPr>
          <p:cNvPr id="5" name="">
            <a:extLst xmlns:a="http://schemas.openxmlformats.org/drawingml/2006/main">
              <a:ext uri="{FF2B5EF4-FFF2-40B4-BE49-F238E27FC236}">
                <a16:creationId xmlns:a16="http://schemas.microsoft.com/office/drawing/2014/main" id="{B362F62E-9DCA-46D5-8685-E32172393003}"/>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BF90CC2A-26D1-4140-870F-FC76836E1D54}"/>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09</a:t>
            </a:r>
          </a:p>
        </p:txBody>
      </p:sp>
    </p:spTree>
    <p:extLst>
      <p:ext uri="{BB962C8B-B14F-4D97-AF65-F5344CB8AC3E}">
        <p14:creationId xmlns:p14="http://schemas.microsoft.com/office/powerpoint/2010/main" val="1227165811"/>
      </p:ext>
    </p:extLst>
  </p:cSld>
  <p:transition spd="med" advClick="1">
    <p:fade/>
  </p:transition>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53D2079-0CCE-4605-AD2F-2E75CDE3EF2F}"/>
              </a:ext>
            </a:extLst>
          </p:cNvPr>
          <p:cNvPicPr>
            <a:picLocks xmlns:a="http://schemas.openxmlformats.org/drawingml/2006/main" noChangeAspect="1"/>
          </p:cNvPicPr>
          <p:nvPr/>
        </p:nvPicPr>
        <p:blipFill>
          <a:blip xmlns:r="http://schemas.openxmlformats.org/officeDocument/2006/relationships" xmlns:a="http://schemas.openxmlformats.org/drawingml/2006/main" r:embed="R7504e96416494ef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B78CB0-615C-4BE3-826B-EE7E83FAE4AC}"/>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Optimización antes de mover datos</a:t>
            </a:r>
          </a:p>
        </p:txBody>
      </p:sp>
      <p:sp>
        <p:nvSpPr>
          <p:cNvPr id="3" name="">
            <a:extLst xmlns:a="http://schemas.openxmlformats.org/drawingml/2006/main">
              <a:ext uri="{FF2B5EF4-FFF2-40B4-BE49-F238E27FC236}">
                <a16:creationId xmlns:a16="http://schemas.microsoft.com/office/drawing/2014/main" id="{11D6CA7D-3C96-4000-8CEE-236A65424678}"/>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Plan lógico</a:t>
            </a:r>
          </a:p>
        </p:txBody>
      </p:sp>
      <p:sp>
        <p:nvSpPr>
          <p:cNvPr id="4" name="">
            <a:extLst xmlns:a="http://schemas.openxmlformats.org/drawingml/2006/main">
              <a:ext uri="{FF2B5EF4-FFF2-40B4-BE49-F238E27FC236}">
                <a16:creationId xmlns:a16="http://schemas.microsoft.com/office/drawing/2014/main" id="{5BE99F21-F54C-4876-886A-E1DE4FAB22C9}"/>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La consulta expresa filtros, columnas y relaciones. Spark resuelve nombres y tipos, y aplica reglas de optimización.</a:t>
            </a:r>
          </a:p>
        </p:txBody>
      </p:sp>
      <p:sp>
        <p:nvSpPr>
          <p:cNvPr id="5" name="">
            <a:extLst xmlns:a="http://schemas.openxmlformats.org/drawingml/2006/main">
              <a:ext uri="{FF2B5EF4-FFF2-40B4-BE49-F238E27FC236}">
                <a16:creationId xmlns:a16="http://schemas.microsoft.com/office/drawing/2014/main" id="{81045533-AF1B-4146-85A9-4DE23B6696CF}"/>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Plan físico</a:t>
            </a:r>
          </a:p>
        </p:txBody>
      </p:sp>
      <p:sp>
        <p:nvSpPr>
          <p:cNvPr id="6" name="">
            <a:extLst xmlns:a="http://schemas.openxmlformats.org/drawingml/2006/main">
              <a:ext uri="{FF2B5EF4-FFF2-40B4-BE49-F238E27FC236}">
                <a16:creationId xmlns:a16="http://schemas.microsoft.com/office/drawing/2014/main" id="{493520BF-3F76-4B12-8924-F9180EEB5D11}"/>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Selecciona operadores para leer, agregar, unir y ordenar usando estadísticas y recursos disponibles.</a:t>
            </a:r>
          </a:p>
        </p:txBody>
      </p:sp>
      <p:sp>
        <p:nvSpPr>
          <p:cNvPr id="7" name="">
            <a:extLst xmlns:a="http://schemas.openxmlformats.org/drawingml/2006/main">
              <a:ext uri="{FF2B5EF4-FFF2-40B4-BE49-F238E27FC236}">
                <a16:creationId xmlns:a16="http://schemas.microsoft.com/office/drawing/2014/main" id="{1915BA5E-7AED-4D12-958E-44892AB4F2EE}"/>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Ejecución</a:t>
            </a:r>
          </a:p>
        </p:txBody>
      </p:sp>
      <p:sp>
        <p:nvSpPr>
          <p:cNvPr id="8" name="">
            <a:extLst xmlns:a="http://schemas.openxmlformats.org/drawingml/2006/main">
              <a:ext uri="{FF2B5EF4-FFF2-40B4-BE49-F238E27FC236}">
                <a16:creationId xmlns:a16="http://schemas.microsoft.com/office/drawing/2014/main" id="{067A7F9E-F585-4284-A4D4-0A09A6F81715}"/>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Los operadores se ejecutan por particiones. Algunos se fusionan y generan código cuando es aplicable. AQE usa estadísticas observadas.</a:t>
            </a:r>
          </a:p>
        </p:txBody>
      </p:sp>
      <p:sp>
        <p:nvSpPr>
          <p:cNvPr id="9" name="">
            <a:extLst xmlns:a="http://schemas.openxmlformats.org/drawingml/2006/main">
              <a:ext uri="{FF2B5EF4-FFF2-40B4-BE49-F238E27FC236}">
                <a16:creationId xmlns:a16="http://schemas.microsoft.com/office/drawing/2014/main" id="{01D61473-AF21-4510-A415-8C923950345D}"/>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SQL y la API DataFrame utilizan el mismo motor de consultas estructuradas.</a:t>
            </a:r>
          </a:p>
        </p:txBody>
      </p:sp>
      <p:sp>
        <p:nvSpPr>
          <p:cNvPr id="10" name="">
            <a:extLst xmlns:a="http://schemas.openxmlformats.org/drawingml/2006/main">
              <a:ext uri="{FF2B5EF4-FFF2-40B4-BE49-F238E27FC236}">
                <a16:creationId xmlns:a16="http://schemas.microsoft.com/office/drawing/2014/main" id="{5880886B-875B-46F7-BBCF-D9919A4F2BAF}"/>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4521B619-FA3C-4708-81FB-C1AD788EBE47}"/>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10</a:t>
            </a:r>
          </a:p>
        </p:txBody>
      </p:sp>
    </p:spTree>
    <p:extLst>
      <p:ext uri="{BB962C8B-B14F-4D97-AF65-F5344CB8AC3E}">
        <p14:creationId xmlns:p14="http://schemas.microsoft.com/office/powerpoint/2010/main" val="94705756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1A5FA44-8ADD-43C7-A24F-E4EE6E0CF7B5}"/>
              </a:ext>
            </a:extLst>
          </p:cNvPr>
          <p:cNvPicPr>
            <a:picLocks xmlns:a="http://schemas.openxmlformats.org/drawingml/2006/main" noChangeAspect="1"/>
          </p:cNvPicPr>
          <p:nvPr/>
        </p:nvPicPr>
        <p:blipFill>
          <a:blip xmlns:r="http://schemas.openxmlformats.org/officeDocument/2006/relationships" xmlns:a="http://schemas.openxmlformats.org/drawingml/2006/main" r:embed="Ra17cf0d79a3f416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7FC353-81FE-467F-9430-A9B74894CB9D}"/>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Parquet: el poder de leer menos</a:t>
            </a:r>
          </a:p>
        </p:txBody>
      </p:sp>
      <p:pic>
        <p:nvPicPr>
          <p:cNvPr id="3" name="">
            <a:extLst xmlns:a="http://schemas.openxmlformats.org/drawingml/2006/main">
              <a:ext uri="{FF2B5EF4-FFF2-40B4-BE49-F238E27FC236}">
                <a16:creationId xmlns:a16="http://schemas.microsoft.com/office/drawing/2014/main" id="{39388BCC-175D-4446-92B4-EF2DC4F4B882}"/>
              </a:ext>
            </a:extLst>
          </p:cNvPr>
          <p:cNvPicPr>
            <a:picLocks xmlns:a="http://schemas.openxmlformats.org/drawingml/2006/main" noChangeAspect="1"/>
          </p:cNvPicPr>
          <p:nvPr/>
        </p:nvPicPr>
        <p:blipFill>
          <a:blip xmlns:r="http://schemas.openxmlformats.org/officeDocument/2006/relationships" xmlns:a="http://schemas.openxmlformats.org/drawingml/2006/main" r:embed="Rf50fd9c715414d7a"/>
          <a:stretch xmlns:a="http://schemas.openxmlformats.org/drawingml/2006/main"/>
        </p:blipFill>
        <p:spPr>
          <a:xfrm xmlns:a="http://schemas.openxmlformats.org/drawingml/2006/main">
            <a:off x="381000" y="1695450"/>
            <a:ext cx="5715000" cy="3810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E188E6C-C1AF-4D2D-A8E3-1CE93A67E9F0}"/>
              </a:ext>
            </a:extLst>
          </p:cNvPr>
          <p:cNvSpPr>
            <a:spLocks xmlns:a="http://schemas.openxmlformats.org/drawingml/2006/main" noGrp="1"/>
          </p:cNvSpPr>
          <p:nvPr/>
        </p:nvSpPr>
        <p:spPr>
          <a:xfrm xmlns:a="http://schemas.openxmlformats.org/drawingml/2006/main">
            <a:off x="6477000" y="15716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Selección de columnas</a:t>
            </a:r>
          </a:p>
        </p:txBody>
      </p:sp>
      <p:sp>
        <p:nvSpPr>
          <p:cNvPr id="5" name="">
            <a:extLst xmlns:a="http://schemas.openxmlformats.org/drawingml/2006/main">
              <a:ext uri="{FF2B5EF4-FFF2-40B4-BE49-F238E27FC236}">
                <a16:creationId xmlns:a16="http://schemas.microsoft.com/office/drawing/2014/main" id="{DDE67B78-0943-45D0-9075-426A3392E318}"/>
              </a:ext>
            </a:extLst>
          </p:cNvPr>
          <p:cNvSpPr>
            <a:spLocks xmlns:a="http://schemas.openxmlformats.org/drawingml/2006/main" noGrp="1"/>
          </p:cNvSpPr>
          <p:nvPr/>
        </p:nvSpPr>
        <p:spPr>
          <a:xfrm xmlns:a="http://schemas.openxmlformats.org/drawingml/2006/main">
            <a:off x="6477000" y="200977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Leer producción, área y claves evita cargar columnas ajenas a la consulta.</a:t>
            </a:r>
          </a:p>
        </p:txBody>
      </p:sp>
      <p:sp>
        <p:nvSpPr>
          <p:cNvPr id="6" name="">
            <a:extLst xmlns:a="http://schemas.openxmlformats.org/drawingml/2006/main">
              <a:ext uri="{FF2B5EF4-FFF2-40B4-BE49-F238E27FC236}">
                <a16:creationId xmlns:a16="http://schemas.microsoft.com/office/drawing/2014/main" id="{52B34C1D-836F-423C-B021-F2BC5E78A6F0}"/>
              </a:ext>
            </a:extLst>
          </p:cNvPr>
          <p:cNvSpPr>
            <a:spLocks xmlns:a="http://schemas.openxmlformats.org/drawingml/2006/main" noGrp="1"/>
          </p:cNvSpPr>
          <p:nvPr/>
        </p:nvSpPr>
        <p:spPr>
          <a:xfrm xmlns:a="http://schemas.openxmlformats.org/drawingml/2006/main">
            <a:off x="6477000" y="296227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Poda de datos</a:t>
            </a:r>
          </a:p>
        </p:txBody>
      </p:sp>
      <p:sp>
        <p:nvSpPr>
          <p:cNvPr id="7" name="">
            <a:extLst xmlns:a="http://schemas.openxmlformats.org/drawingml/2006/main">
              <a:ext uri="{FF2B5EF4-FFF2-40B4-BE49-F238E27FC236}">
                <a16:creationId xmlns:a16="http://schemas.microsoft.com/office/drawing/2014/main" id="{0CBDA2F7-7BD7-4DCF-8550-673A96C5722A}"/>
              </a:ext>
            </a:extLst>
          </p:cNvPr>
          <p:cNvSpPr>
            <a:spLocks xmlns:a="http://schemas.openxmlformats.org/drawingml/2006/main" noGrp="1"/>
          </p:cNvSpPr>
          <p:nvPr/>
        </p:nvSpPr>
        <p:spPr>
          <a:xfrm xmlns:a="http://schemas.openxmlformats.org/drawingml/2006/main">
            <a:off x="6477000" y="340042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Directorios particionados y estadísticas de grupos de filas pueden evitar lecturas si el filtro y la fuente lo permiten.</a:t>
            </a:r>
          </a:p>
        </p:txBody>
      </p:sp>
      <p:sp>
        <p:nvSpPr>
          <p:cNvPr id="8" name="">
            <a:extLst xmlns:a="http://schemas.openxmlformats.org/drawingml/2006/main">
              <a:ext uri="{FF2B5EF4-FFF2-40B4-BE49-F238E27FC236}">
                <a16:creationId xmlns:a16="http://schemas.microsoft.com/office/drawing/2014/main" id="{52DE20E9-BFB9-4C7A-917F-944F0086AEDD}"/>
              </a:ext>
            </a:extLst>
          </p:cNvPr>
          <p:cNvSpPr>
            <a:spLocks xmlns:a="http://schemas.openxmlformats.org/drawingml/2006/main" noGrp="1"/>
          </p:cNvSpPr>
          <p:nvPr/>
        </p:nvSpPr>
        <p:spPr>
          <a:xfrm xmlns:a="http://schemas.openxmlformats.org/drawingml/2006/main">
            <a:off x="6477000" y="43529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Efecto acumulado</a:t>
            </a:r>
          </a:p>
        </p:txBody>
      </p:sp>
      <p:sp>
        <p:nvSpPr>
          <p:cNvPr id="9" name="">
            <a:extLst xmlns:a="http://schemas.openxmlformats.org/drawingml/2006/main">
              <a:ext uri="{FF2B5EF4-FFF2-40B4-BE49-F238E27FC236}">
                <a16:creationId xmlns:a16="http://schemas.microsoft.com/office/drawing/2014/main" id="{B7BA17B5-9218-4D3C-AEF8-272C353C2EF1}"/>
              </a:ext>
            </a:extLst>
          </p:cNvPr>
          <p:cNvSpPr>
            <a:spLocks xmlns:a="http://schemas.openxmlformats.org/drawingml/2006/main" noGrp="1"/>
          </p:cNvSpPr>
          <p:nvPr/>
        </p:nvSpPr>
        <p:spPr>
          <a:xfrm xmlns:a="http://schemas.openxmlformats.org/drawingml/2006/main">
            <a:off x="6477000" y="479107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Menos bytes leídos reducen descompresión, memoria de trabajo y datos que llegan a las siguientes operaciones.</a:t>
            </a:r>
          </a:p>
        </p:txBody>
      </p:sp>
      <p:sp>
        <p:nvSpPr>
          <p:cNvPr id="10" name="">
            <a:extLst xmlns:a="http://schemas.openxmlformats.org/drawingml/2006/main">
              <a:ext uri="{FF2B5EF4-FFF2-40B4-BE49-F238E27FC236}">
                <a16:creationId xmlns:a16="http://schemas.microsoft.com/office/drawing/2014/main" id="{A5B1D2DB-86D5-4120-81A3-9D699DB7DF5C}"/>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Comprobar ReadSchema, PartitionFilters y PushedFilters en el plan.</a:t>
            </a:r>
          </a:p>
        </p:txBody>
      </p:sp>
      <p:sp>
        <p:nvSpPr>
          <p:cNvPr id="11" name="">
            <a:extLst xmlns:a="http://schemas.openxmlformats.org/drawingml/2006/main">
              <a:ext uri="{FF2B5EF4-FFF2-40B4-BE49-F238E27FC236}">
                <a16:creationId xmlns:a16="http://schemas.microsoft.com/office/drawing/2014/main" id="{1C3B5174-6A4D-4524-9C60-272273BB47BE}"/>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5B0A382E-6069-46A4-906D-1F03FB9E31E5}"/>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11</a:t>
            </a:r>
          </a:p>
        </p:txBody>
      </p:sp>
    </p:spTree>
    <p:extLst>
      <p:ext uri="{BB962C8B-B14F-4D97-AF65-F5344CB8AC3E}">
        <p14:creationId xmlns:p14="http://schemas.microsoft.com/office/powerpoint/2010/main" val="96353908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573D0B2-0177-4475-9B68-C667C5177481}"/>
              </a:ext>
            </a:extLst>
          </p:cNvPr>
          <p:cNvPicPr>
            <a:picLocks xmlns:a="http://schemas.openxmlformats.org/drawingml/2006/main" noChangeAspect="1"/>
          </p:cNvPicPr>
          <p:nvPr/>
        </p:nvPicPr>
        <p:blipFill>
          <a:blip xmlns:r="http://schemas.openxmlformats.org/officeDocument/2006/relationships" xmlns:a="http://schemas.openxmlformats.org/drawingml/2006/main" r:embed="R594fabb698c0495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FB8132-5428-4C57-BDD6-331DDB6100B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Agregación parcial: menos datos en tránsito</a:t>
            </a:r>
          </a:p>
        </p:txBody>
      </p:sp>
      <p:graphicFrame>
        <p:nvGraphicFramePr>
          <p:cNvPr id="3" name="">
            <a:extLst xmlns:a="http://schemas.openxmlformats.org/drawingml/2006/main">
              <a:ext uri="{FF2B5EF4-FFF2-40B4-BE49-F238E27FC236}">
                <a16:creationId xmlns:a16="http://schemas.microsoft.com/office/drawing/2014/main" id="{71F695AF-47DD-49E6-89CA-5B1D181AAD34}"/>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Lugar del cálculo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Ejemplo didáctico: un mismo grupo agrícola</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Partición P0</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Producción/área por fila: 10/2 y 6/3. Sumas locales: 16 t y 5 ha.</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Partición P1</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Producción/área por fila: 9/3 y 15/2. Sumas locales: 24 t y 5 ha.</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Agregación final</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Combinar parciales: 16 + 24 = 40 t; 5 + 5 = 10 ha. Rendimiento: 4 t/ha.</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Dato que puede viajar</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Sumas por clave, en lugar de cada fila original, cuando el operador admite agregación parcial.</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Error que se evita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Promediar rendimientos de fila daría 4,375 t/ha. La pregunta exige cociente de sumas.</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2F639E95-30E8-4D73-A3B1-ACFB4C6354EA}"/>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HashAggregate parcial y final permiten reconocer este mecanismo en un plan posible.</a:t>
            </a:r>
          </a:p>
        </p:txBody>
      </p:sp>
      <p:sp>
        <p:nvSpPr>
          <p:cNvPr id="5" name="">
            <a:extLst xmlns:a="http://schemas.openxmlformats.org/drawingml/2006/main">
              <a:ext uri="{FF2B5EF4-FFF2-40B4-BE49-F238E27FC236}">
                <a16:creationId xmlns:a16="http://schemas.microsoft.com/office/drawing/2014/main" id="{3348D3A4-F056-4219-B656-C9E28A99B250}"/>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26274438-901E-455D-8DAB-0D293B22F7B2}"/>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12</a:t>
            </a:r>
          </a:p>
        </p:txBody>
      </p:sp>
    </p:spTree>
    <p:extLst>
      <p:ext uri="{BB962C8B-B14F-4D97-AF65-F5344CB8AC3E}">
        <p14:creationId xmlns:p14="http://schemas.microsoft.com/office/powerpoint/2010/main" val="2093268730"/>
      </p:ext>
    </p:extLst>
  </p:cSld>
  <p:transition spd="med" advClick="1">
    <p:fade/>
  </p:transition>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EB1A1D7-C4A5-4FD2-99DE-3C37EB19ACF5}"/>
              </a:ext>
            </a:extLst>
          </p:cNvPr>
          <p:cNvPicPr>
            <a:picLocks xmlns:a="http://schemas.openxmlformats.org/drawingml/2006/main" noChangeAspect="1"/>
          </p:cNvPicPr>
          <p:nvPr/>
        </p:nvPicPr>
        <p:blipFill>
          <a:blip xmlns:r="http://schemas.openxmlformats.org/officeDocument/2006/relationships" xmlns:a="http://schemas.openxmlformats.org/drawingml/2006/main" r:embed="R5f70d93edbd344a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9E8B705-169A-44FD-A18D-A7456ED477F2}"/>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Shuffle: reunir claves que estaban separadas</a:t>
            </a:r>
          </a:p>
        </p:txBody>
      </p:sp>
      <p:pic>
        <p:nvPicPr>
          <p:cNvPr id="3" name="">
            <a:extLst xmlns:a="http://schemas.openxmlformats.org/drawingml/2006/main">
              <a:ext uri="{FF2B5EF4-FFF2-40B4-BE49-F238E27FC236}">
                <a16:creationId xmlns:a16="http://schemas.microsoft.com/office/drawing/2014/main" id="{16DF27F4-4A00-45A1-A778-6498FEBDD81E}"/>
              </a:ext>
            </a:extLst>
          </p:cNvPr>
          <p:cNvPicPr>
            <a:picLocks xmlns:a="http://schemas.openxmlformats.org/drawingml/2006/main" noChangeAspect="1"/>
          </p:cNvPicPr>
          <p:nvPr/>
        </p:nvPicPr>
        <p:blipFill>
          <a:blip xmlns:r="http://schemas.openxmlformats.org/officeDocument/2006/relationships" xmlns:a="http://schemas.openxmlformats.org/drawingml/2006/main" r:embed="Rda7fc4af8ee34e27"/>
          <a:stretch xmlns:a="http://schemas.openxmlformats.org/drawingml/2006/main"/>
        </p:blipFill>
        <p:spPr>
          <a:xfrm xmlns:a="http://schemas.openxmlformats.org/drawingml/2006/main">
            <a:off x="666750" y="1286341"/>
            <a:ext cx="10858500" cy="452344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9C05090-61B7-49B3-A26B-6A5E2A6D656D}"/>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Las claves iguales deben encontrarse. Esto introduce escritura, transferencia y lectura de bloques.</a:t>
            </a:r>
          </a:p>
        </p:txBody>
      </p:sp>
      <p:sp>
        <p:nvSpPr>
          <p:cNvPr id="5" name="">
            <a:extLst xmlns:a="http://schemas.openxmlformats.org/drawingml/2006/main">
              <a:ext uri="{FF2B5EF4-FFF2-40B4-BE49-F238E27FC236}">
                <a16:creationId xmlns:a16="http://schemas.microsoft.com/office/drawing/2014/main" id="{0DB7AE9E-4C74-4FB0-A2AE-2892686A71DA}"/>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BEB1FA98-7EC9-431F-B9F8-93C713DCF7F3}"/>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13</a:t>
            </a:r>
          </a:p>
        </p:txBody>
      </p:sp>
    </p:spTree>
    <p:extLst>
      <p:ext uri="{BB962C8B-B14F-4D97-AF65-F5344CB8AC3E}">
        <p14:creationId xmlns:p14="http://schemas.microsoft.com/office/powerpoint/2010/main" val="480724401"/>
      </p:ext>
    </p:extLst>
  </p:cSld>
  <p:transition spd="med" advClick="1">
    <p:fade/>
  </p:transition>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2914558-95A8-4C4D-B093-20A073F5AEE2}"/>
              </a:ext>
            </a:extLst>
          </p:cNvPr>
          <p:cNvPicPr>
            <a:picLocks xmlns:a="http://schemas.openxmlformats.org/drawingml/2006/main" noChangeAspect="1"/>
          </p:cNvPicPr>
          <p:nvPr/>
        </p:nvPicPr>
        <p:blipFill>
          <a:blip xmlns:r="http://schemas.openxmlformats.org/officeDocument/2006/relationships" xmlns:a="http://schemas.openxmlformats.org/drawingml/2006/main" r:embed="R0119ee10b8084d8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5B3B1C-DB19-435C-AF38-F288665358A7}"/>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Shuffle: memoria, disco y red</a:t>
            </a:r>
          </a:p>
        </p:txBody>
      </p:sp>
      <p:sp>
        <p:nvSpPr>
          <p:cNvPr id="3" name="">
            <a:extLst xmlns:a="http://schemas.openxmlformats.org/drawingml/2006/main">
              <a:ext uri="{FF2B5EF4-FFF2-40B4-BE49-F238E27FC236}">
                <a16:creationId xmlns:a16="http://schemas.microsoft.com/office/drawing/2014/main" id="{D8F5010F-724F-4157-874B-50A270002F06}"/>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Producción de bloques</a:t>
            </a:r>
          </a:p>
        </p:txBody>
      </p:sp>
      <p:sp>
        <p:nvSpPr>
          <p:cNvPr id="4" name="">
            <a:extLst xmlns:a="http://schemas.openxmlformats.org/drawingml/2006/main">
              <a:ext uri="{FF2B5EF4-FFF2-40B4-BE49-F238E27FC236}">
                <a16:creationId xmlns:a16="http://schemas.microsoft.com/office/drawing/2014/main" id="{FC2845C2-F4CE-4CF6-ACB3-0A8AFB9C94EF}"/>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La tarea procesa su partición y organiza datos por destino con buffers en memoria. El shuffle habitual escribe bloques en disco local.</a:t>
            </a:r>
          </a:p>
        </p:txBody>
      </p:sp>
      <p:sp>
        <p:nvSpPr>
          <p:cNvPr id="5" name="">
            <a:extLst xmlns:a="http://schemas.openxmlformats.org/drawingml/2006/main">
              <a:ext uri="{FF2B5EF4-FFF2-40B4-BE49-F238E27FC236}">
                <a16:creationId xmlns:a16="http://schemas.microsoft.com/office/drawing/2014/main" id="{2BC6340C-31E7-4327-AE66-CF0A565650F0}"/>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Spill adicional</a:t>
            </a:r>
          </a:p>
        </p:txBody>
      </p:sp>
      <p:sp>
        <p:nvSpPr>
          <p:cNvPr id="6" name="">
            <a:extLst xmlns:a="http://schemas.openxmlformats.org/drawingml/2006/main">
              <a:ext uri="{FF2B5EF4-FFF2-40B4-BE49-F238E27FC236}">
                <a16:creationId xmlns:a16="http://schemas.microsoft.com/office/drawing/2014/main" id="{7459CA05-8A47-4603-B5B0-103963102363}"/>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Si falta memoria, operadores compatibles descargan estructuras temporales a disco. El archivo de shuffle y el spill no son lo mismo.</a:t>
            </a:r>
          </a:p>
        </p:txBody>
      </p:sp>
      <p:sp>
        <p:nvSpPr>
          <p:cNvPr id="7" name="">
            <a:extLst xmlns:a="http://schemas.openxmlformats.org/drawingml/2006/main">
              <a:ext uri="{FF2B5EF4-FFF2-40B4-BE49-F238E27FC236}">
                <a16:creationId xmlns:a16="http://schemas.microsoft.com/office/drawing/2014/main" id="{FD5C0F77-E816-4294-A821-753DDE8DB440}"/>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Consumo de bloques</a:t>
            </a:r>
          </a:p>
        </p:txBody>
      </p:sp>
      <p:sp>
        <p:nvSpPr>
          <p:cNvPr id="8" name="">
            <a:extLst xmlns:a="http://schemas.openxmlformats.org/drawingml/2006/main">
              <a:ext uri="{FF2B5EF4-FFF2-40B4-BE49-F238E27FC236}">
                <a16:creationId xmlns:a16="http://schemas.microsoft.com/office/drawing/2014/main" id="{C4D250EA-C4B8-45DD-AA1A-481D884704FF}"/>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La tarea de destino recupera bloques locales o remotos. Agrega u ordena en memoria y puede usar disco si lo necesita.</a:t>
            </a:r>
          </a:p>
        </p:txBody>
      </p:sp>
      <p:sp>
        <p:nvSpPr>
          <p:cNvPr id="9" name="">
            <a:extLst xmlns:a="http://schemas.openxmlformats.org/drawingml/2006/main">
              <a:ext uri="{FF2B5EF4-FFF2-40B4-BE49-F238E27FC236}">
                <a16:creationId xmlns:a16="http://schemas.microsoft.com/office/drawing/2014/main" id="{764E3F0F-A2E8-40FF-A056-60B1DD92D046}"/>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Disco para el intercambio. Red cuando el bloque se recupera de otra máquina.</a:t>
            </a:r>
          </a:p>
        </p:txBody>
      </p:sp>
      <p:sp>
        <p:nvSpPr>
          <p:cNvPr id="10" name="">
            <a:extLst xmlns:a="http://schemas.openxmlformats.org/drawingml/2006/main">
              <a:ext uri="{FF2B5EF4-FFF2-40B4-BE49-F238E27FC236}">
                <a16:creationId xmlns:a16="http://schemas.microsoft.com/office/drawing/2014/main" id="{06524918-F6FA-4B2A-8470-2B2C5CD83A42}"/>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FDFE42B5-C6F0-4525-B010-95F6D0CD5F8A}"/>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14</a:t>
            </a:r>
          </a:p>
        </p:txBody>
      </p:sp>
    </p:spTree>
    <p:extLst>
      <p:ext uri="{BB962C8B-B14F-4D97-AF65-F5344CB8AC3E}">
        <p14:creationId xmlns:p14="http://schemas.microsoft.com/office/powerpoint/2010/main" val="151621029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7CD33EC-CE08-4AD1-A062-A073E6DFFBE9}"/>
              </a:ext>
            </a:extLst>
          </p:cNvPr>
          <p:cNvPicPr>
            <a:picLocks xmlns:a="http://schemas.openxmlformats.org/drawingml/2006/main" noChangeAspect="1"/>
          </p:cNvPicPr>
          <p:nvPr/>
        </p:nvPicPr>
        <p:blipFill>
          <a:blip xmlns:r="http://schemas.openxmlformats.org/officeDocument/2006/relationships" xmlns:a="http://schemas.openxmlformats.org/drawingml/2006/main" r:embed="R3cc09257dc2941e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25B5EA-7D5A-40FD-8CCD-14430735F0CA}"/>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Quién coordina y quién mueve los bloques</a:t>
            </a:r>
          </a:p>
        </p:txBody>
      </p:sp>
      <p:sp>
        <p:nvSpPr>
          <p:cNvPr id="3" name="">
            <a:extLst xmlns:a="http://schemas.openxmlformats.org/drawingml/2006/main">
              <a:ext uri="{FF2B5EF4-FFF2-40B4-BE49-F238E27FC236}">
                <a16:creationId xmlns:a16="http://schemas.microsoft.com/office/drawing/2014/main" id="{FAF76B48-591F-44CA-82E5-30A5F8EB9804}"/>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Plan y coordinación</a:t>
            </a:r>
          </a:p>
        </p:txBody>
      </p:sp>
      <p:sp>
        <p:nvSpPr>
          <p:cNvPr id="4" name="">
            <a:extLst xmlns:a="http://schemas.openxmlformats.org/drawingml/2006/main">
              <a:ext uri="{FF2B5EF4-FFF2-40B4-BE49-F238E27FC236}">
                <a16:creationId xmlns:a16="http://schemas.microsoft.com/office/drawing/2014/main" id="{940D0DE0-E2D8-43B7-99CC-9C0355D98D2A}"/>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ShuffleExchange expresa la redistribución. El driver organiza etapas y programa tareas según sus dependencias.</a:t>
            </a:r>
          </a:p>
        </p:txBody>
      </p:sp>
      <p:sp>
        <p:nvSpPr>
          <p:cNvPr id="5" name="">
            <a:extLst xmlns:a="http://schemas.openxmlformats.org/drawingml/2006/main">
              <a:ext uri="{FF2B5EF4-FFF2-40B4-BE49-F238E27FC236}">
                <a16:creationId xmlns:a16="http://schemas.microsoft.com/office/drawing/2014/main" id="{8AC2C4E7-88F1-4638-B3A7-69614BA400DB}"/>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Producción y localización</a:t>
            </a:r>
          </a:p>
        </p:txBody>
      </p:sp>
      <p:sp>
        <p:nvSpPr>
          <p:cNvPr id="6" name="">
            <a:extLst xmlns:a="http://schemas.openxmlformats.org/drawingml/2006/main">
              <a:ext uri="{FF2B5EF4-FFF2-40B4-BE49-F238E27FC236}">
                <a16:creationId xmlns:a16="http://schemas.microsoft.com/office/drawing/2014/main" id="{68041B1E-5B1A-48AA-8844-324455A76386}"/>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En los executors, los componentes de shuffle escriben los bloques. El driver mantiene información sobre sus ubicaciones.</a:t>
            </a:r>
          </a:p>
        </p:txBody>
      </p:sp>
      <p:sp>
        <p:nvSpPr>
          <p:cNvPr id="7" name="">
            <a:extLst xmlns:a="http://schemas.openxmlformats.org/drawingml/2006/main">
              <a:ext uri="{FF2B5EF4-FFF2-40B4-BE49-F238E27FC236}">
                <a16:creationId xmlns:a16="http://schemas.microsoft.com/office/drawing/2014/main" id="{93C855CA-C8CE-4248-9457-C3014BCBC620}"/>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Lectura y ejecución</a:t>
            </a:r>
          </a:p>
        </p:txBody>
      </p:sp>
      <p:sp>
        <p:nvSpPr>
          <p:cNvPr id="8" name="">
            <a:extLst xmlns:a="http://schemas.openxmlformats.org/drawingml/2006/main">
              <a:ext uri="{FF2B5EF4-FFF2-40B4-BE49-F238E27FC236}">
                <a16:creationId xmlns:a16="http://schemas.microsoft.com/office/drawing/2014/main" id="{25ECF380-471B-4D7B-95D8-62F04AB9E2B5}"/>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Las tareas consumidoras solicitan sus bloques a los productores o al servicio de shuffle y procesan los datos recibidos.</a:t>
            </a:r>
          </a:p>
        </p:txBody>
      </p:sp>
      <p:sp>
        <p:nvSpPr>
          <p:cNvPr id="9" name="">
            <a:extLst xmlns:a="http://schemas.openxmlformats.org/drawingml/2006/main">
              <a:ext uri="{FF2B5EF4-FFF2-40B4-BE49-F238E27FC236}">
                <a16:creationId xmlns:a16="http://schemas.microsoft.com/office/drawing/2014/main" id="{834635B1-8ADD-4B3D-A35E-AB681626C956}"/>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driver coordina el intercambio. El volumen completo de filas no atraviesa el driver.</a:t>
            </a:r>
          </a:p>
        </p:txBody>
      </p:sp>
      <p:sp>
        <p:nvSpPr>
          <p:cNvPr id="10" name="">
            <a:extLst xmlns:a="http://schemas.openxmlformats.org/drawingml/2006/main">
              <a:ext uri="{FF2B5EF4-FFF2-40B4-BE49-F238E27FC236}">
                <a16:creationId xmlns:a16="http://schemas.microsoft.com/office/drawing/2014/main" id="{C0421655-9A2D-47CB-AE99-80AD0C697355}"/>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F783C3B7-3131-4790-AAA8-D141FA59C0FB}"/>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15</a:t>
            </a:r>
          </a:p>
        </p:txBody>
      </p:sp>
    </p:spTree>
    <p:extLst>
      <p:ext uri="{BB962C8B-B14F-4D97-AF65-F5344CB8AC3E}">
        <p14:creationId xmlns:p14="http://schemas.microsoft.com/office/powerpoint/2010/main" val="19836073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8CE77C5-833C-4379-89DB-3524C71C82F6}"/>
              </a:ext>
            </a:extLst>
          </p:cNvPr>
          <p:cNvPicPr>
            <a:picLocks xmlns:a="http://schemas.openxmlformats.org/drawingml/2006/main" noChangeAspect="1"/>
          </p:cNvPicPr>
          <p:nvPr/>
        </p:nvPicPr>
        <p:blipFill>
          <a:blip xmlns:r="http://schemas.openxmlformats.org/officeDocument/2006/relationships" xmlns:a="http://schemas.openxmlformats.org/drawingml/2006/main" r:embed="R2aadfc52671a4a2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BDA014-41AE-4AEC-B281-D94A72EAC24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Sumas parciales y ubicación del resultado</a:t>
            </a:r>
          </a:p>
        </p:txBody>
      </p:sp>
      <p:graphicFrame>
        <p:nvGraphicFramePr>
          <p:cNvPr id="3" name="">
            <a:extLst xmlns:a="http://schemas.openxmlformats.org/drawingml/2006/main">
              <a:ext uri="{FF2B5EF4-FFF2-40B4-BE49-F238E27FC236}">
                <a16:creationId xmlns:a16="http://schemas.microsoft.com/office/drawing/2014/main" id="{906A80C7-2450-4086-B421-8E2155A3FA4A}"/>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Momento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Dónde ocurre</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Tarea sobre una partición</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Combina filas de cada clave dentro de la partición que procesa. Un executor puede ejecutar muchas tareas.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Bloques de shuffle</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Se escriben por destino. Una partición de consumo reúne bloques producidos en varios lugares.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Tarea consumidora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Recupera bloques y combina acumulados por clave. Su partición puede contener muchas claves.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Después del agregado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El resultado alimenta otro operador, se persiste o se escribe. collect() lo concentra en el driver.</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Ejemplo del bloque 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Seis filas y dos claves. Pandas reconstruye parciales didácticos; el plan muestra los operadores reales.</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3AA58534-9775-4047-BC58-0034CDBF4177}"/>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La reconstrucción de parciales explica el algoritmo. No lee los buffers internos de Spark.</a:t>
            </a:r>
          </a:p>
        </p:txBody>
      </p:sp>
      <p:sp>
        <p:nvSpPr>
          <p:cNvPr id="5" name="">
            <a:extLst xmlns:a="http://schemas.openxmlformats.org/drawingml/2006/main">
              <a:ext uri="{FF2B5EF4-FFF2-40B4-BE49-F238E27FC236}">
                <a16:creationId xmlns:a16="http://schemas.microsoft.com/office/drawing/2014/main" id="{2892E7DD-72E9-416F-B79C-F00637687176}"/>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A9C402EA-5B3E-487E-AE5A-6A76B73DCFCB}"/>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16</a:t>
            </a:r>
          </a:p>
        </p:txBody>
      </p:sp>
    </p:spTree>
    <p:extLst>
      <p:ext uri="{BB962C8B-B14F-4D97-AF65-F5344CB8AC3E}">
        <p14:creationId xmlns:p14="http://schemas.microsoft.com/office/powerpoint/2010/main" val="2031358032"/>
      </p:ext>
    </p:extLst>
  </p:cSld>
  <p:transition spd="med" advClick="1">
    <p:fade/>
  </p:transition>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132103A-95F9-4737-855F-0E2D98D29D0F}"/>
              </a:ext>
            </a:extLst>
          </p:cNvPr>
          <p:cNvPicPr>
            <a:picLocks xmlns:a="http://schemas.openxmlformats.org/drawingml/2006/main" noChangeAspect="1"/>
          </p:cNvPicPr>
          <p:nvPr/>
        </p:nvPicPr>
        <p:blipFill>
          <a:blip xmlns:r="http://schemas.openxmlformats.org/officeDocument/2006/relationships" xmlns:a="http://schemas.openxmlformats.org/drawingml/2006/main" r:embed="Rdb72be86dc40461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2D095AC-E600-4A5E-B0BF-51EC0C6CFDFF}"/>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Unidad de análisis y clave del join</a:t>
            </a:r>
          </a:p>
        </p:txBody>
      </p:sp>
      <p:graphicFrame>
        <p:nvGraphicFramePr>
          <p:cNvPr id="3" name="">
            <a:extLst xmlns:a="http://schemas.openxmlformats.org/drawingml/2006/main">
              <a:ext uri="{FF2B5EF4-FFF2-40B4-BE49-F238E27FC236}">
                <a16:creationId xmlns:a16="http://schemas.microsoft.com/office/drawing/2014/main" id="{77DC118E-7108-4AF5-9CC2-9D2453BAB2B0}"/>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Tabla</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Una fila representa</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rendimiento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Municipio, cultivo, estado físico y año. Su clave combina cuatro columnas.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municipios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Un código municipal con nombre y departamento. Una fila por codigo_municipio.</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Relación esperada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Muchos grupos de rendimiento pueden corresponder a un municipio.</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Clave de unión</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codigo_municipio, como texto de cinco dígitos.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Efecto esperado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Añadir atributos territoriales conservando las filas de rendimiento.</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7876ECFC-FE21-401E-A18D-7F33E22928E7}"/>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La clave del join puede ser solo una parte de la clave que identifica una fila del resultado.</a:t>
            </a:r>
          </a:p>
        </p:txBody>
      </p:sp>
      <p:sp>
        <p:nvSpPr>
          <p:cNvPr id="5" name="">
            <a:extLst xmlns:a="http://schemas.openxmlformats.org/drawingml/2006/main">
              <a:ext uri="{FF2B5EF4-FFF2-40B4-BE49-F238E27FC236}">
                <a16:creationId xmlns:a16="http://schemas.microsoft.com/office/drawing/2014/main" id="{A3CD8CED-73C5-4EB3-B9DC-5548B336B8A8}"/>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80BC0DCA-5DE3-410E-AE89-B58D56344B80}"/>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17</a:t>
            </a:r>
          </a:p>
        </p:txBody>
      </p:sp>
    </p:spTree>
    <p:extLst>
      <p:ext uri="{BB962C8B-B14F-4D97-AF65-F5344CB8AC3E}">
        <p14:creationId xmlns:p14="http://schemas.microsoft.com/office/powerpoint/2010/main" val="2100317642"/>
      </p:ext>
    </p:extLst>
  </p:cSld>
  <p:transition spd="med" advClick="1">
    <p:fade/>
  </p:transition>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CCFA6DA-1C75-476A-B2EE-19CF199BEBD9}"/>
              </a:ext>
            </a:extLst>
          </p:cNvPr>
          <p:cNvPicPr>
            <a:picLocks xmlns:a="http://schemas.openxmlformats.org/drawingml/2006/main" noChangeAspect="1"/>
          </p:cNvPicPr>
          <p:nvPr/>
        </p:nvPicPr>
        <p:blipFill>
          <a:blip xmlns:r="http://schemas.openxmlformats.org/officeDocument/2006/relationships" xmlns:a="http://schemas.openxmlformats.org/drawingml/2006/main" r:embed="R16ff5fcc19af4b0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8F0186-9DC1-456F-B3E4-60779A6D3BC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Semántica de los joins</a:t>
            </a:r>
          </a:p>
        </p:txBody>
      </p:sp>
      <p:graphicFrame>
        <p:nvGraphicFramePr>
          <p:cNvPr id="3" name="">
            <a:extLst xmlns:a="http://schemas.openxmlformats.org/drawingml/2006/main">
              <a:ext uri="{FF2B5EF4-FFF2-40B4-BE49-F238E27FC236}">
                <a16:creationId xmlns:a16="http://schemas.microsoft.com/office/drawing/2014/main" id="{6E208C00-0D52-46E1-A096-AD2B5D6049E9}"/>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Operación</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Qué devuelve en nuestro caso</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INNER JOIN</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Solo grupos de rendimiento cuyo municipio tiene correspondencia.</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LEFT JOIN</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Todos los grupos de rendimiento, con nulos en atributos sin correspondencia.</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LEFT ANTI JOIN</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Grupos de rendimiento cuyo código no existe en la dimensión.</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Clave única en la dimensión</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Como máximo una coincidencia por grupo de rendimiento.</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Clave duplicada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Una fila izquierda puede generar varias filas de salida.</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4AB6D4B3-B6C0-4312-B1E2-36C0CDAAF885}"/>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tipo de join decide qué filas sobreviven. La cardinalidad decide cuántas coincidencias aparecen.</a:t>
            </a:r>
          </a:p>
        </p:txBody>
      </p:sp>
      <p:sp>
        <p:nvSpPr>
          <p:cNvPr id="5" name="">
            <a:extLst xmlns:a="http://schemas.openxmlformats.org/drawingml/2006/main">
              <a:ext uri="{FF2B5EF4-FFF2-40B4-BE49-F238E27FC236}">
                <a16:creationId xmlns:a16="http://schemas.microsoft.com/office/drawing/2014/main" id="{02B3D7E9-17CD-4E6C-A2D2-0571D5624C91}"/>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86F3B1CF-DFFF-4285-9CA3-C82321DA1D5F}"/>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18</a:t>
            </a:r>
          </a:p>
        </p:txBody>
      </p:sp>
    </p:spTree>
    <p:extLst>
      <p:ext uri="{BB962C8B-B14F-4D97-AF65-F5344CB8AC3E}">
        <p14:creationId xmlns:p14="http://schemas.microsoft.com/office/powerpoint/2010/main" val="238355982"/>
      </p:ext>
    </p:extLst>
  </p:cSld>
  <p:transition spd="med" advClick="1">
    <p:fade/>
  </p:transition>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AF27B50-8A02-4292-803D-F8624FC027AA}"/>
              </a:ext>
            </a:extLst>
          </p:cNvPr>
          <p:cNvPicPr>
            <a:picLocks xmlns:a="http://schemas.openxmlformats.org/drawingml/2006/main" noChangeAspect="1"/>
          </p:cNvPicPr>
          <p:nvPr/>
        </p:nvPicPr>
        <p:blipFill>
          <a:blip xmlns:r="http://schemas.openxmlformats.org/officeDocument/2006/relationships" xmlns:a="http://schemas.openxmlformats.org/drawingml/2006/main" r:embed="R61adfc30e9c546e2"/>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B80E76-8672-41A2-86D3-E44AB6BF5B91}"/>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Cómo un duplicado multiplica filas</a:t>
            </a:r>
          </a:p>
        </p:txBody>
      </p:sp>
      <p:graphicFrame>
        <p:nvGraphicFramePr>
          <p:cNvPr id="3" name="">
            <a:extLst xmlns:a="http://schemas.openxmlformats.org/drawingml/2006/main">
              <a:ext uri="{FF2B5EF4-FFF2-40B4-BE49-F238E27FC236}">
                <a16:creationId xmlns:a16="http://schemas.microsoft.com/office/drawing/2014/main" id="{C8ED342B-034F-4BC2-B54E-CC34195A6EBE}"/>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Entrada o cálculo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Ejemplo didáctico</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Tabla de rendimiento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05001 / maíz, 05001 / papa, 11001 / maíz: tres filas.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Dimensión incorrecta</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Dos filas para 05001 y una para 11001.</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Coincidencias de 05001</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Dos grupos por dos coincidencias: cuatro filas.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Coincidencias de 11001</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Un grupo por una coincidencia: una fila.</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LEFT JOIN final</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Cinco filas. Las medidas de 05001 aparecen duplicadas.</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A8D8D224-8CD0-4944-9E5B-0EC6FF022439}"/>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Para claves no nulas: cada fila izquierda genera tantas coincidencias como filas derechas con su clave.</a:t>
            </a:r>
          </a:p>
        </p:txBody>
      </p:sp>
      <p:sp>
        <p:nvSpPr>
          <p:cNvPr id="5" name="">
            <a:extLst xmlns:a="http://schemas.openxmlformats.org/drawingml/2006/main">
              <a:ext uri="{FF2B5EF4-FFF2-40B4-BE49-F238E27FC236}">
                <a16:creationId xmlns:a16="http://schemas.microsoft.com/office/drawing/2014/main" id="{3649C925-4E53-43B5-B258-E33C5BB02F67}"/>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7C1D1CBD-8FDE-4007-B6BF-A5013A911405}"/>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19</a:t>
            </a:r>
          </a:p>
        </p:txBody>
      </p:sp>
    </p:spTree>
    <p:extLst>
      <p:ext uri="{BB962C8B-B14F-4D97-AF65-F5344CB8AC3E}">
        <p14:creationId xmlns:p14="http://schemas.microsoft.com/office/powerpoint/2010/main" val="1551183710"/>
      </p:ext>
    </p:extLst>
  </p:cSld>
  <p:transition spd="med" advClick="1">
    <p:fade/>
  </p:transition>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4D8CF63-FB28-46AC-B04D-87EF66F883C2}"/>
              </a:ext>
            </a:extLst>
          </p:cNvPr>
          <p:cNvPicPr>
            <a:picLocks xmlns:a="http://schemas.openxmlformats.org/drawingml/2006/main" noChangeAspect="1"/>
          </p:cNvPicPr>
          <p:nvPr/>
        </p:nvPicPr>
        <p:blipFill>
          <a:blip xmlns:r="http://schemas.openxmlformats.org/officeDocument/2006/relationships" xmlns:a="http://schemas.openxmlformats.org/drawingml/2006/main" r:embed="R8513fa82911b41f1"/>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CFEB68-8FA8-49A7-B6BA-F87E03B85002}"/>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Integridad antes de unir</a:t>
            </a:r>
          </a:p>
        </p:txBody>
      </p:sp>
      <p:pic>
        <p:nvPicPr>
          <p:cNvPr id="3" name="">
            <a:extLst xmlns:a="http://schemas.openxmlformats.org/drawingml/2006/main">
              <a:ext uri="{FF2B5EF4-FFF2-40B4-BE49-F238E27FC236}">
                <a16:creationId xmlns:a16="http://schemas.microsoft.com/office/drawing/2014/main" id="{66A3A3DA-6DAE-4DC4-B543-05389D412E62}"/>
              </a:ext>
            </a:extLst>
          </p:cNvPr>
          <p:cNvPicPr>
            <a:picLocks xmlns:a="http://schemas.openxmlformats.org/drawingml/2006/main" noChangeAspect="1"/>
          </p:cNvPicPr>
          <p:nvPr/>
        </p:nvPicPr>
        <p:blipFill>
          <a:blip xmlns:r="http://schemas.openxmlformats.org/officeDocument/2006/relationships" xmlns:a="http://schemas.openxmlformats.org/drawingml/2006/main" r:embed="Rc87b5b58e8ee431f"/>
          <a:stretch xmlns:a="http://schemas.openxmlformats.org/drawingml/2006/main"/>
        </p:blipFill>
        <p:spPr>
          <a:xfrm xmlns:a="http://schemas.openxmlformats.org/drawingml/2006/main">
            <a:off x="447675" y="1409700"/>
            <a:ext cx="6572250"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3DBDAE5-F032-4ECF-AB83-EAE6D1B8341D}"/>
              </a:ext>
            </a:extLst>
          </p:cNvPr>
          <p:cNvSpPr>
            <a:spLocks xmlns:a="http://schemas.openxmlformats.org/drawingml/2006/main" noGrp="1"/>
          </p:cNvSpPr>
          <p:nvPr/>
        </p:nvSpPr>
        <p:spPr>
          <a:xfrm xmlns:a="http://schemas.openxmlformats.org/drawingml/2006/main">
            <a:off x="7524750" y="157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Unicidad</a:t>
            </a:r>
          </a:p>
        </p:txBody>
      </p:sp>
      <p:sp>
        <p:nvSpPr>
          <p:cNvPr id="5" name="">
            <a:extLst xmlns:a="http://schemas.openxmlformats.org/drawingml/2006/main">
              <a:ext uri="{FF2B5EF4-FFF2-40B4-BE49-F238E27FC236}">
                <a16:creationId xmlns:a16="http://schemas.microsoft.com/office/drawing/2014/main" id="{D3E1155C-4F8C-4011-9D66-B96D7153F6FA}"/>
              </a:ext>
            </a:extLst>
          </p:cNvPr>
          <p:cNvSpPr>
            <a:spLocks xmlns:a="http://schemas.openxmlformats.org/drawingml/2006/main" noGrp="1"/>
          </p:cNvSpPr>
          <p:nvPr/>
        </p:nvSpPr>
        <p:spPr>
          <a:xfrm xmlns:a="http://schemas.openxmlformats.org/drawingml/2006/main">
            <a:off x="7524750" y="2009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Contar códigos con más de una fila en la dimensión. Resolver su significado antes del join.</a:t>
            </a:r>
          </a:p>
        </p:txBody>
      </p:sp>
      <p:sp>
        <p:nvSpPr>
          <p:cNvPr id="6" name="">
            <a:extLst xmlns:a="http://schemas.openxmlformats.org/drawingml/2006/main">
              <a:ext uri="{FF2B5EF4-FFF2-40B4-BE49-F238E27FC236}">
                <a16:creationId xmlns:a16="http://schemas.microsoft.com/office/drawing/2014/main" id="{588882A3-947E-433D-A3D4-2A32C2F0C0E6}"/>
              </a:ext>
            </a:extLst>
          </p:cNvPr>
          <p:cNvSpPr>
            <a:spLocks xmlns:a="http://schemas.openxmlformats.org/drawingml/2006/main" noGrp="1"/>
          </p:cNvSpPr>
          <p:nvPr/>
        </p:nvSpPr>
        <p:spPr>
          <a:xfrm xmlns:a="http://schemas.openxmlformats.org/drawingml/2006/main">
            <a:off x="7524750" y="29622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Nulos y formato</a:t>
            </a:r>
          </a:p>
        </p:txBody>
      </p:sp>
      <p:sp>
        <p:nvSpPr>
          <p:cNvPr id="7" name="">
            <a:extLst xmlns:a="http://schemas.openxmlformats.org/drawingml/2006/main">
              <a:ext uri="{FF2B5EF4-FFF2-40B4-BE49-F238E27FC236}">
                <a16:creationId xmlns:a16="http://schemas.microsoft.com/office/drawing/2014/main" id="{1DCA028C-F81D-4ED0-BEED-FA5B05839980}"/>
              </a:ext>
            </a:extLst>
          </p:cNvPr>
          <p:cNvSpPr>
            <a:spLocks xmlns:a="http://schemas.openxmlformats.org/drawingml/2006/main" noGrp="1"/>
          </p:cNvSpPr>
          <p:nvPr/>
        </p:nvSpPr>
        <p:spPr>
          <a:xfrm xmlns:a="http://schemas.openxmlformats.org/drawingml/2006/main">
            <a:off x="7524750" y="34004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Comprobar códigos presentes, texto y longitud. Un nulo no identifica un municipio.</a:t>
            </a:r>
          </a:p>
        </p:txBody>
      </p:sp>
      <p:sp>
        <p:nvSpPr>
          <p:cNvPr id="8" name="">
            <a:extLst xmlns:a="http://schemas.openxmlformats.org/drawingml/2006/main">
              <a:ext uri="{FF2B5EF4-FFF2-40B4-BE49-F238E27FC236}">
                <a16:creationId xmlns:a16="http://schemas.microsoft.com/office/drawing/2014/main" id="{2ED63402-6442-4D05-BEB7-5FA4777796C1}"/>
              </a:ext>
            </a:extLst>
          </p:cNvPr>
          <p:cNvSpPr>
            <a:spLocks xmlns:a="http://schemas.openxmlformats.org/drawingml/2006/main" noGrp="1"/>
          </p:cNvSpPr>
          <p:nvPr/>
        </p:nvSpPr>
        <p:spPr>
          <a:xfrm xmlns:a="http://schemas.openxmlformats.org/drawingml/2006/main">
            <a:off x="7524750" y="43529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Cobertura</a:t>
            </a:r>
          </a:p>
        </p:txBody>
      </p:sp>
      <p:sp>
        <p:nvSpPr>
          <p:cNvPr id="9" name="">
            <a:extLst xmlns:a="http://schemas.openxmlformats.org/drawingml/2006/main">
              <a:ext uri="{FF2B5EF4-FFF2-40B4-BE49-F238E27FC236}">
                <a16:creationId xmlns:a16="http://schemas.microsoft.com/office/drawing/2014/main" id="{53B9832A-8FAC-4ED0-9611-C644C83FB310}"/>
              </a:ext>
            </a:extLst>
          </p:cNvPr>
          <p:cNvSpPr>
            <a:spLocks xmlns:a="http://schemas.openxmlformats.org/drawingml/2006/main" noGrp="1"/>
          </p:cNvSpPr>
          <p:nvPr/>
        </p:nvSpPr>
        <p:spPr>
          <a:xfrm xmlns:a="http://schemas.openxmlformats.org/drawingml/2006/main">
            <a:off x="7524750" y="47910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Usar left_anti para conservar y revisar los grupos sin dimensión.</a:t>
            </a:r>
          </a:p>
        </p:txBody>
      </p:sp>
      <p:sp>
        <p:nvSpPr>
          <p:cNvPr id="10" name="">
            <a:extLst xmlns:a="http://schemas.openxmlformats.org/drawingml/2006/main">
              <a:ext uri="{FF2B5EF4-FFF2-40B4-BE49-F238E27FC236}">
                <a16:creationId xmlns:a16="http://schemas.microsoft.com/office/drawing/2014/main" id="{6604B0C8-5D25-4A4A-976D-CA8F246A3F92}"/>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Spark requiere construir estas comprobaciones explícitamente.</a:t>
            </a:r>
          </a:p>
        </p:txBody>
      </p:sp>
      <p:sp>
        <p:nvSpPr>
          <p:cNvPr id="11" name="">
            <a:extLst xmlns:a="http://schemas.openxmlformats.org/drawingml/2006/main">
              <a:ext uri="{FF2B5EF4-FFF2-40B4-BE49-F238E27FC236}">
                <a16:creationId xmlns:a16="http://schemas.microsoft.com/office/drawing/2014/main" id="{72A9372E-7D7B-4CD2-8E50-BBF4738A66B6}"/>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B2ABD7DE-AC71-4619-9BD7-32DC502BEF2C}"/>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20</a:t>
            </a:r>
          </a:p>
        </p:txBody>
      </p:sp>
    </p:spTree>
    <p:extLst>
      <p:ext uri="{BB962C8B-B14F-4D97-AF65-F5344CB8AC3E}">
        <p14:creationId xmlns:p14="http://schemas.microsoft.com/office/powerpoint/2010/main" val="177915915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D7711FB-9F07-4209-8E6C-E1FAFF533798}"/>
              </a:ext>
            </a:extLst>
          </p:cNvPr>
          <p:cNvPicPr>
            <a:picLocks xmlns:a="http://schemas.openxmlformats.org/drawingml/2006/main" noChangeAspect="1"/>
          </p:cNvPicPr>
          <p:nvPr/>
        </p:nvPicPr>
        <p:blipFill>
          <a:blip xmlns:r="http://schemas.openxmlformats.org/officeDocument/2006/relationships" xmlns:a="http://schemas.openxmlformats.org/drawingml/2006/main" r:embed="R37255ec36a08422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1124C6F-87C9-4443-B7BD-EDC06D0DC9F7}"/>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Dónde se mueven los datos del join</a:t>
            </a:r>
          </a:p>
        </p:txBody>
      </p:sp>
      <p:pic>
        <p:nvPicPr>
          <p:cNvPr id="3" name="">
            <a:extLst xmlns:a="http://schemas.openxmlformats.org/drawingml/2006/main">
              <a:ext uri="{FF2B5EF4-FFF2-40B4-BE49-F238E27FC236}">
                <a16:creationId xmlns:a16="http://schemas.microsoft.com/office/drawing/2014/main" id="{736023FA-E40B-4585-B577-95B5AA713EE9}"/>
              </a:ext>
            </a:extLst>
          </p:cNvPr>
          <p:cNvPicPr>
            <a:picLocks xmlns:a="http://schemas.openxmlformats.org/drawingml/2006/main" noChangeAspect="1"/>
          </p:cNvPicPr>
          <p:nvPr/>
        </p:nvPicPr>
        <p:blipFill>
          <a:blip xmlns:r="http://schemas.openxmlformats.org/officeDocument/2006/relationships" xmlns:a="http://schemas.openxmlformats.org/drawingml/2006/main" r:embed="Ra5c2c877e23a445f"/>
          <a:stretch xmlns:a="http://schemas.openxmlformats.org/drawingml/2006/main"/>
        </p:blipFill>
        <p:spPr>
          <a:xfrm xmlns:a="http://schemas.openxmlformats.org/drawingml/2006/main">
            <a:off x="2076470" y="1285875"/>
            <a:ext cx="8039060"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9D946A0-283B-472A-BDD6-3DBF84FC4C8E}"/>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La estrategia física cambia el movimiento de datos. La condición de igualdad conserva su significado.</a:t>
            </a:r>
          </a:p>
        </p:txBody>
      </p:sp>
      <p:sp>
        <p:nvSpPr>
          <p:cNvPr id="5" name="">
            <a:extLst xmlns:a="http://schemas.openxmlformats.org/drawingml/2006/main">
              <a:ext uri="{FF2B5EF4-FFF2-40B4-BE49-F238E27FC236}">
                <a16:creationId xmlns:a16="http://schemas.microsoft.com/office/drawing/2014/main" id="{08D39FA5-E6E4-4948-9536-7AE2B9DD2E0B}"/>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549A3868-3C12-48E7-BE44-EC51C9A1034E}"/>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21</a:t>
            </a:r>
          </a:p>
        </p:txBody>
      </p:sp>
    </p:spTree>
    <p:extLst>
      <p:ext uri="{BB962C8B-B14F-4D97-AF65-F5344CB8AC3E}">
        <p14:creationId xmlns:p14="http://schemas.microsoft.com/office/powerpoint/2010/main" val="1116295657"/>
      </p:ext>
    </p:extLst>
  </p:cSld>
  <p:transition spd="med" advClick="1">
    <p:fade/>
  </p:transition>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123F318-AD1D-4F7D-AE5A-9DED473D0D82}"/>
              </a:ext>
            </a:extLst>
          </p:cNvPr>
          <p:cNvPicPr>
            <a:picLocks xmlns:a="http://schemas.openxmlformats.org/drawingml/2006/main" noChangeAspect="1"/>
          </p:cNvPicPr>
          <p:nvPr/>
        </p:nvPicPr>
        <p:blipFill>
          <a:blip xmlns:r="http://schemas.openxmlformats.org/officeDocument/2006/relationships" xmlns:a="http://schemas.openxmlformats.org/drawingml/2006/main" r:embed="R0f9ce807d53642a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AE04B0-8AC2-4613-9D76-2A5583972569}"/>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Lectura del plan de un join</a:t>
            </a:r>
          </a:p>
        </p:txBody>
      </p:sp>
      <p:graphicFrame>
        <p:nvGraphicFramePr>
          <p:cNvPr id="3" name="">
            <a:extLst xmlns:a="http://schemas.openxmlformats.org/drawingml/2006/main">
              <a:ext uri="{FF2B5EF4-FFF2-40B4-BE49-F238E27FC236}">
                <a16:creationId xmlns:a16="http://schemas.microsoft.com/office/drawing/2014/main" id="{D9FBF0F4-DC0E-4D16-8CC2-98342EE91AD9}"/>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Operador que puede aparecer</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Interpretación</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Exchange hashpartitioning</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Distribuir una entrada por las claves de unión.</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SortMergeJoin</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Unir entradas compatibles ordenadas por clave.</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BroadcastExchange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Preparar y distribuir la relación que se difundirá.</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BroadcastHashJoin</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Usar la pequeña relación difundida para buscar coincidencias.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AdaptiveSparkPlan</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AQE puede revisar la estrategia con estadísticas observadas.</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C907E47F-8E34-4585-A487-5DF52815C9D5}"/>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Un join sin hint también puede utilizar broadcast. Hay que observar el plan real.</a:t>
            </a:r>
          </a:p>
        </p:txBody>
      </p:sp>
      <p:sp>
        <p:nvSpPr>
          <p:cNvPr id="5" name="">
            <a:extLst xmlns:a="http://schemas.openxmlformats.org/drawingml/2006/main">
              <a:ext uri="{FF2B5EF4-FFF2-40B4-BE49-F238E27FC236}">
                <a16:creationId xmlns:a16="http://schemas.microsoft.com/office/drawing/2014/main" id="{827D138F-6FFA-45C9-AC64-B16AA6398C66}"/>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BB71DFBB-A3AC-4EC5-86B1-82B110C99D44}"/>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22</a:t>
            </a:r>
          </a:p>
        </p:txBody>
      </p:sp>
    </p:spTree>
    <p:extLst>
      <p:ext uri="{BB962C8B-B14F-4D97-AF65-F5344CB8AC3E}">
        <p14:creationId xmlns:p14="http://schemas.microsoft.com/office/powerpoint/2010/main" val="986073124"/>
      </p:ext>
    </p:extLst>
  </p:cSld>
  <p:transition spd="med" advClick="1">
    <p:fade/>
  </p:transition>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878CBC1-5AC1-4E1A-9C15-08A65F360556}"/>
              </a:ext>
            </a:extLst>
          </p:cNvPr>
          <p:cNvPicPr>
            <a:picLocks xmlns:a="http://schemas.openxmlformats.org/drawingml/2006/main" noChangeAspect="1"/>
          </p:cNvPicPr>
          <p:nvPr/>
        </p:nvPicPr>
        <p:blipFill>
          <a:blip xmlns:r="http://schemas.openxmlformats.org/officeDocument/2006/relationships" xmlns:a="http://schemas.openxmlformats.org/drawingml/2006/main" r:embed="R9993eadee79c470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98CF25-E5D1-4CBC-A19E-AB7F247CEDF4}"/>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Coste y límites del broadcast</a:t>
            </a:r>
          </a:p>
        </p:txBody>
      </p:sp>
      <p:sp>
        <p:nvSpPr>
          <p:cNvPr id="3" name="">
            <a:extLst xmlns:a="http://schemas.openxmlformats.org/drawingml/2006/main">
              <a:ext uri="{FF2B5EF4-FFF2-40B4-BE49-F238E27FC236}">
                <a16:creationId xmlns:a16="http://schemas.microsoft.com/office/drawing/2014/main" id="{0D70F556-2FC8-4AA6-BC88-FA8B0F8C1BFF}"/>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Ahorro posible</a:t>
            </a:r>
          </a:p>
        </p:txBody>
      </p:sp>
      <p:sp>
        <p:nvSpPr>
          <p:cNvPr id="4" name="">
            <a:extLst xmlns:a="http://schemas.openxmlformats.org/drawingml/2006/main">
              <a:ext uri="{FF2B5EF4-FFF2-40B4-BE49-F238E27FC236}">
                <a16:creationId xmlns:a16="http://schemas.microsoft.com/office/drawing/2014/main" id="{B5700922-0C99-48F0-ACAD-B2AD34C8173B}"/>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Evita redistribuir por el join la tabla grande cuando la estrategia es aplicable.</a:t>
            </a:r>
          </a:p>
        </p:txBody>
      </p:sp>
      <p:sp>
        <p:nvSpPr>
          <p:cNvPr id="5" name="">
            <a:extLst xmlns:a="http://schemas.openxmlformats.org/drawingml/2006/main">
              <a:ext uri="{FF2B5EF4-FFF2-40B4-BE49-F238E27FC236}">
                <a16:creationId xmlns:a16="http://schemas.microsoft.com/office/drawing/2014/main" id="{18DFCFF2-6665-4535-87F9-2861EF0835AE}"/>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Coste de la copia</a:t>
            </a:r>
          </a:p>
        </p:txBody>
      </p:sp>
      <p:sp>
        <p:nvSpPr>
          <p:cNvPr id="6" name="">
            <a:extLst xmlns:a="http://schemas.openxmlformats.org/drawingml/2006/main">
              <a:ext uri="{FF2B5EF4-FFF2-40B4-BE49-F238E27FC236}">
                <a16:creationId xmlns:a16="http://schemas.microsoft.com/office/drawing/2014/main" id="{5E759F96-92C1-404A-82C4-4AE773705422}"/>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Cada executor debe alojar la relación difundida y las estructuras necesarias para usarla.</a:t>
            </a:r>
          </a:p>
        </p:txBody>
      </p:sp>
      <p:sp>
        <p:nvSpPr>
          <p:cNvPr id="7" name="">
            <a:extLst xmlns:a="http://schemas.openxmlformats.org/drawingml/2006/main">
              <a:ext uri="{FF2B5EF4-FFF2-40B4-BE49-F238E27FC236}">
                <a16:creationId xmlns:a16="http://schemas.microsoft.com/office/drawing/2014/main" id="{D5D9EAAA-1E7C-4663-A049-9B65D223F977}"/>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Criterio de elección</a:t>
            </a:r>
          </a:p>
        </p:txBody>
      </p:sp>
      <p:sp>
        <p:nvSpPr>
          <p:cNvPr id="8" name="">
            <a:extLst xmlns:a="http://schemas.openxmlformats.org/drawingml/2006/main">
              <a:ext uri="{FF2B5EF4-FFF2-40B4-BE49-F238E27FC236}">
                <a16:creationId xmlns:a16="http://schemas.microsoft.com/office/drawing/2014/main" id="{0D234A5C-73A3-452C-88EA-8BA9DFA96D65}"/>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Comprobar tamaño, memoria y plan. Comparar resultados antes de interpretar los tiempos.</a:t>
            </a:r>
          </a:p>
        </p:txBody>
      </p:sp>
      <p:sp>
        <p:nvSpPr>
          <p:cNvPr id="9" name="">
            <a:extLst xmlns:a="http://schemas.openxmlformats.org/drawingml/2006/main">
              <a:ext uri="{FF2B5EF4-FFF2-40B4-BE49-F238E27FC236}">
                <a16:creationId xmlns:a16="http://schemas.microsoft.com/office/drawing/2014/main" id="{CF23E655-FB38-45CD-AD5A-7B395ACE7F90}"/>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Una dimensión pequeña favorece broadcast. Más filas no siempre significan más bytes.</a:t>
            </a:r>
          </a:p>
        </p:txBody>
      </p:sp>
      <p:sp>
        <p:nvSpPr>
          <p:cNvPr id="10" name="">
            <a:extLst xmlns:a="http://schemas.openxmlformats.org/drawingml/2006/main">
              <a:ext uri="{FF2B5EF4-FFF2-40B4-BE49-F238E27FC236}">
                <a16:creationId xmlns:a16="http://schemas.microsoft.com/office/drawing/2014/main" id="{B60C73BB-34CB-4C34-A0A8-73EA76EB1499}"/>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5DC0E184-53D5-41E2-8636-797A3227F302}"/>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23</a:t>
            </a:r>
          </a:p>
        </p:txBody>
      </p:sp>
    </p:spTree>
    <p:extLst>
      <p:ext uri="{BB962C8B-B14F-4D97-AF65-F5344CB8AC3E}">
        <p14:creationId xmlns:p14="http://schemas.microsoft.com/office/powerpoint/2010/main" val="12870399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07932C2-6D73-461B-81D2-48F9D5CD4101}"/>
              </a:ext>
            </a:extLst>
          </p:cNvPr>
          <p:cNvPicPr>
            <a:picLocks xmlns:a="http://schemas.openxmlformats.org/drawingml/2006/main" noChangeAspect="1"/>
          </p:cNvPicPr>
          <p:nvPr/>
        </p:nvPicPr>
        <p:blipFill>
          <a:blip xmlns:r="http://schemas.openxmlformats.org/officeDocument/2006/relationships" xmlns:a="http://schemas.openxmlformats.org/drawingml/2006/main" r:embed="Re1df729f604748b2"/>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4CCA99-A959-4D18-B0E9-D93E881468EE}"/>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Agregación y ventana</a:t>
            </a:r>
          </a:p>
        </p:txBody>
      </p:sp>
      <p:graphicFrame>
        <p:nvGraphicFramePr>
          <p:cNvPr id="3" name="">
            <a:extLst xmlns:a="http://schemas.openxmlformats.org/drawingml/2006/main">
              <a:ext uri="{FF2B5EF4-FFF2-40B4-BE49-F238E27FC236}">
                <a16:creationId xmlns:a16="http://schemas.microsoft.com/office/drawing/2014/main" id="{E7279760-6DAA-4357-B2B4-D6C24EF719B4}"/>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groupBy</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Window con row_number</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Reúne filas por clave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Define qué filas pertenecen al mismo grupo de comparación.</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Produce una fila por grupo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Añade una posición a cada fila del grupo.</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Suma producción y área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Ordena rendimientos ya agregados.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Pierde el detalle que no agrupa</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Conserva las columnas de las filas originales.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Cambia la unidad de análisis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Mantiene la unidad hasta que se aplica un filtro al ranking.</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6742FC68-6BEA-40EA-972F-CA9331007C95}"/>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Primero se calcula el rendimiento municipal. Después se ordenan municipios comparables.</a:t>
            </a:r>
          </a:p>
        </p:txBody>
      </p:sp>
      <p:sp>
        <p:nvSpPr>
          <p:cNvPr id="5" name="">
            <a:extLst xmlns:a="http://schemas.openxmlformats.org/drawingml/2006/main">
              <a:ext uri="{FF2B5EF4-FFF2-40B4-BE49-F238E27FC236}">
                <a16:creationId xmlns:a16="http://schemas.microsoft.com/office/drawing/2014/main" id="{F632D940-1111-4C82-BEF7-B8E16B8AE9AA}"/>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69189837-48CA-4D74-AA2B-BFA6E5481CC1}"/>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24</a:t>
            </a:r>
          </a:p>
        </p:txBody>
      </p:sp>
    </p:spTree>
    <p:extLst>
      <p:ext uri="{BB962C8B-B14F-4D97-AF65-F5344CB8AC3E}">
        <p14:creationId xmlns:p14="http://schemas.microsoft.com/office/powerpoint/2010/main" val="579669567"/>
      </p:ext>
    </p:extLst>
  </p:cSld>
  <p:transition spd="med" advClick="1">
    <p:fade/>
  </p:transition>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53C5D24-7035-491F-9AFD-DA9188C228F6}"/>
              </a:ext>
            </a:extLst>
          </p:cNvPr>
          <p:cNvPicPr>
            <a:picLocks xmlns:a="http://schemas.openxmlformats.org/drawingml/2006/main" noChangeAspect="1"/>
          </p:cNvPicPr>
          <p:nvPr/>
        </p:nvPicPr>
        <p:blipFill>
          <a:blip xmlns:r="http://schemas.openxmlformats.org/officeDocument/2006/relationships" xmlns:a="http://schemas.openxmlformats.org/drawingml/2006/main" r:embed="R120dadd3ded7497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B9E4BA-7832-439E-8EE8-FEAA7F1199E5}"/>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Ranking y desempate reproducible</a:t>
            </a:r>
          </a:p>
        </p:txBody>
      </p:sp>
      <p:graphicFrame>
        <p:nvGraphicFramePr>
          <p:cNvPr id="3" name="">
            <a:extLst xmlns:a="http://schemas.openxmlformats.org/drawingml/2006/main">
              <a:ext uri="{FF2B5EF4-FFF2-40B4-BE49-F238E27FC236}">
                <a16:creationId xmlns:a16="http://schemas.microsoft.com/office/drawing/2014/main" id="{D8F7DE95-81C3-4A21-919E-7AEC5485337A}"/>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Municipio y rendimiento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Posición dentro del mismo cultivo, estado y año</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05001: 4,0 t/ha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1: mayor rendimiento.</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05002: 3,5 t/ha</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2: empate resuelto por código ascendente.</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05003: 3,5 t/ha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3: mismo rendimiento, código posterior.</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05004: 2,0 t/ha</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4: queda fuera del top 3.</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Regla completa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ORDER BY rendimiento_t_ha DESC, codigo_municipio ASC.</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FCDF70CE-DEAD-4304-B89E-DD8CEEB5729A}"/>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row_number asigna posiciones distintas. El código permite reproducir la selección ante empates.</a:t>
            </a:r>
          </a:p>
        </p:txBody>
      </p:sp>
      <p:sp>
        <p:nvSpPr>
          <p:cNvPr id="5" name="">
            <a:extLst xmlns:a="http://schemas.openxmlformats.org/drawingml/2006/main">
              <a:ext uri="{FF2B5EF4-FFF2-40B4-BE49-F238E27FC236}">
                <a16:creationId xmlns:a16="http://schemas.microsoft.com/office/drawing/2014/main" id="{AD4DCDC7-D309-44A2-AC2F-E177653263E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C988FE45-D322-4357-86DC-7675611D2FE5}"/>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25</a:t>
            </a:r>
          </a:p>
        </p:txBody>
      </p:sp>
    </p:spTree>
    <p:extLst>
      <p:ext uri="{BB962C8B-B14F-4D97-AF65-F5344CB8AC3E}">
        <p14:creationId xmlns:p14="http://schemas.microsoft.com/office/powerpoint/2010/main" val="911010598"/>
      </p:ext>
    </p:extLst>
  </p:cSld>
  <p:transition spd="med" advClick="1">
    <p:fade/>
  </p:transition>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F6F29C4-34F7-45AD-B90B-390B3F1C4302}"/>
              </a:ext>
            </a:extLst>
          </p:cNvPr>
          <p:cNvPicPr>
            <a:picLocks xmlns:a="http://schemas.openxmlformats.org/drawingml/2006/main" noChangeAspect="1"/>
          </p:cNvPicPr>
          <p:nvPr/>
        </p:nvPicPr>
        <p:blipFill>
          <a:blip xmlns:r="http://schemas.openxmlformats.org/officeDocument/2006/relationships" xmlns:a="http://schemas.openxmlformats.org/drawingml/2006/main" r:embed="Rc0fa6bf89912443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8FED80-37E5-4623-AF28-632FEB6A66F6}"/>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Cómo se ejecuta la ventana</a:t>
            </a:r>
          </a:p>
        </p:txBody>
      </p:sp>
      <p:graphicFrame>
        <p:nvGraphicFramePr>
          <p:cNvPr id="3" name="">
            <a:extLst xmlns:a="http://schemas.openxmlformats.org/drawingml/2006/main">
              <a:ext uri="{FF2B5EF4-FFF2-40B4-BE49-F238E27FC236}">
                <a16:creationId xmlns:a16="http://schemas.microsoft.com/office/drawing/2014/main" id="{0548EA9A-03CD-4822-AA68-407FD1F413BA}"/>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Operación física posible</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Trabajo que debe resolver</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Exchange por las claves de la ventana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Reunir filas del mismo cultivo, estado físico y año.</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Sort dentro de cada partición</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Ordenar por rendimiento descendente y código ascendente.</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Window con row_number</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Asignar posiciones según el orden de cada grupo lógico.</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Filtro de posición &lt;= 3</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Conservar hasta tres municipios por grupo.</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Un grupo muy grande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Puede concentrar trabajo y retrasar una tarea.</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7A3211D6-1173-45F8-9FC5-935119BFAEE4}"/>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Window.partitionBy define grupos lógicos. No asigna una máquina a cada cultivo.</a:t>
            </a:r>
          </a:p>
        </p:txBody>
      </p:sp>
      <p:sp>
        <p:nvSpPr>
          <p:cNvPr id="5" name="">
            <a:extLst xmlns:a="http://schemas.openxmlformats.org/drawingml/2006/main">
              <a:ext uri="{FF2B5EF4-FFF2-40B4-BE49-F238E27FC236}">
                <a16:creationId xmlns:a16="http://schemas.microsoft.com/office/drawing/2014/main" id="{AF33CA52-3D9D-4AB9-B071-F983EEEDE695}"/>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8E1AC708-21C4-4B07-AE65-9F994F0393CC}"/>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26</a:t>
            </a:r>
          </a:p>
        </p:txBody>
      </p:sp>
    </p:spTree>
    <p:extLst>
      <p:ext uri="{BB962C8B-B14F-4D97-AF65-F5344CB8AC3E}">
        <p14:creationId xmlns:p14="http://schemas.microsoft.com/office/powerpoint/2010/main" val="100081698"/>
      </p:ext>
    </p:extLst>
  </p:cSld>
  <p:transition spd="med" advClick="1">
    <p:fade/>
  </p:transition>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EEB4974-651F-47C6-9B9E-25559574A49A}"/>
              </a:ext>
            </a:extLst>
          </p:cNvPr>
          <p:cNvPicPr>
            <a:picLocks xmlns:a="http://schemas.openxmlformats.org/drawingml/2006/main" noChangeAspect="1"/>
          </p:cNvPicPr>
          <p:nvPr/>
        </p:nvPicPr>
        <p:blipFill>
          <a:blip xmlns:r="http://schemas.openxmlformats.org/officeDocument/2006/relationships" xmlns:a="http://schemas.openxmlformats.org/drawingml/2006/main" r:embed="Rc6b56707fe83471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934557C-FD5B-48DF-9CC1-C20FDCB3EE42}"/>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Particiones, AQE y equivalencia</a:t>
            </a:r>
          </a:p>
        </p:txBody>
      </p:sp>
      <p:pic>
        <p:nvPicPr>
          <p:cNvPr id="3" name="">
            <a:extLst xmlns:a="http://schemas.openxmlformats.org/drawingml/2006/main">
              <a:ext uri="{FF2B5EF4-FFF2-40B4-BE49-F238E27FC236}">
                <a16:creationId xmlns:a16="http://schemas.microsoft.com/office/drawing/2014/main" id="{E0FDE951-EFDB-40BD-874A-01B429B2AB84}"/>
              </a:ext>
            </a:extLst>
          </p:cNvPr>
          <p:cNvPicPr>
            <a:picLocks xmlns:a="http://schemas.openxmlformats.org/drawingml/2006/main" noChangeAspect="1"/>
          </p:cNvPicPr>
          <p:nvPr/>
        </p:nvPicPr>
        <p:blipFill>
          <a:blip xmlns:r="http://schemas.openxmlformats.org/officeDocument/2006/relationships" xmlns:a="http://schemas.openxmlformats.org/drawingml/2006/main" r:embed="R8149d5a0632b4e41"/>
          <a:stretch xmlns:a="http://schemas.openxmlformats.org/drawingml/2006/main"/>
        </p:blipFill>
        <p:spPr>
          <a:xfrm xmlns:a="http://schemas.openxmlformats.org/drawingml/2006/main">
            <a:off x="812800" y="1409700"/>
            <a:ext cx="5842000"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07A24A7-8D44-40A4-8851-E6E6C5A58D0B}"/>
              </a:ext>
            </a:extLst>
          </p:cNvPr>
          <p:cNvSpPr>
            <a:spLocks xmlns:a="http://schemas.openxmlformats.org/drawingml/2006/main" noGrp="1"/>
          </p:cNvSpPr>
          <p:nvPr/>
        </p:nvSpPr>
        <p:spPr>
          <a:xfrm xmlns:a="http://schemas.openxmlformats.org/drawingml/2006/main">
            <a:off x="7524750" y="157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Cantidad variable</a:t>
            </a:r>
          </a:p>
        </p:txBody>
      </p:sp>
      <p:sp>
        <p:nvSpPr>
          <p:cNvPr id="5" name="">
            <a:extLst xmlns:a="http://schemas.openxmlformats.org/drawingml/2006/main">
              <a:ext uri="{FF2B5EF4-FFF2-40B4-BE49-F238E27FC236}">
                <a16:creationId xmlns:a16="http://schemas.microsoft.com/office/drawing/2014/main" id="{9146812E-B7A9-45CA-9E2D-32914B5A9F08}"/>
              </a:ext>
            </a:extLst>
          </p:cNvPr>
          <p:cNvSpPr>
            <a:spLocks xmlns:a="http://schemas.openxmlformats.org/drawingml/2006/main" noGrp="1"/>
          </p:cNvSpPr>
          <p:nvPr/>
        </p:nvSpPr>
        <p:spPr>
          <a:xfrm xmlns:a="http://schemas.openxmlformats.org/drawingml/2006/main">
            <a:off x="7524750" y="2009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La lectura define la entrada. repartition, shuffle y AQE pueden cambiar la distribución.</a:t>
            </a:r>
          </a:p>
        </p:txBody>
      </p:sp>
      <p:sp>
        <p:nvSpPr>
          <p:cNvPr id="6" name="">
            <a:extLst xmlns:a="http://schemas.openxmlformats.org/drawingml/2006/main">
              <a:ext uri="{FF2B5EF4-FFF2-40B4-BE49-F238E27FC236}">
                <a16:creationId xmlns:a16="http://schemas.microsoft.com/office/drawing/2014/main" id="{85960D95-D980-4B19-8E3F-07CD8FEB43AC}"/>
              </a:ext>
            </a:extLst>
          </p:cNvPr>
          <p:cNvSpPr>
            <a:spLocks xmlns:a="http://schemas.openxmlformats.org/drawingml/2006/main" noGrp="1"/>
          </p:cNvSpPr>
          <p:nvPr/>
        </p:nvSpPr>
        <p:spPr>
          <a:xfrm xmlns:a="http://schemas.openxmlformats.org/drawingml/2006/main">
            <a:off x="7524750" y="29622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Cuatro escenarios</a:t>
            </a:r>
          </a:p>
        </p:txBody>
      </p:sp>
      <p:sp>
        <p:nvSpPr>
          <p:cNvPr id="7" name="">
            <a:extLst xmlns:a="http://schemas.openxmlformats.org/drawingml/2006/main">
              <a:ext uri="{FF2B5EF4-FFF2-40B4-BE49-F238E27FC236}">
                <a16:creationId xmlns:a16="http://schemas.microsoft.com/office/drawing/2014/main" id="{F3944BD7-A62A-4D72-81A6-1FEDC87A57A5}"/>
              </a:ext>
            </a:extLst>
          </p:cNvPr>
          <p:cNvSpPr>
            <a:spLocks xmlns:a="http://schemas.openxmlformats.org/drawingml/2006/main" noGrp="1"/>
          </p:cNvSpPr>
          <p:nvPr/>
        </p:nvSpPr>
        <p:spPr>
          <a:xfrm xmlns:a="http://schemas.openxmlformats.org/drawingml/2006/main">
            <a:off x="7524750" y="34004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El notebook 06 rev01 compara 4 y 2 particiones con AQE activo y con AQE inactivo.</a:t>
            </a:r>
          </a:p>
        </p:txBody>
      </p:sp>
      <p:sp>
        <p:nvSpPr>
          <p:cNvPr id="8" name="">
            <a:extLst xmlns:a="http://schemas.openxmlformats.org/drawingml/2006/main">
              <a:ext uri="{FF2B5EF4-FFF2-40B4-BE49-F238E27FC236}">
                <a16:creationId xmlns:a16="http://schemas.microsoft.com/office/drawing/2014/main" id="{AD7AABE6-C685-4557-97BD-9FD12565CB2A}"/>
              </a:ext>
            </a:extLst>
          </p:cNvPr>
          <p:cNvSpPr>
            <a:spLocks xmlns:a="http://schemas.openxmlformats.org/drawingml/2006/main" noGrp="1"/>
          </p:cNvSpPr>
          <p:nvPr/>
        </p:nvSpPr>
        <p:spPr>
          <a:xfrm xmlns:a="http://schemas.openxmlformats.org/drawingml/2006/main">
            <a:off x="7524750" y="43529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Control del significado</a:t>
            </a:r>
          </a:p>
        </p:txBody>
      </p:sp>
      <p:sp>
        <p:nvSpPr>
          <p:cNvPr id="9" name="">
            <a:extLst xmlns:a="http://schemas.openxmlformats.org/drawingml/2006/main">
              <a:ext uri="{FF2B5EF4-FFF2-40B4-BE49-F238E27FC236}">
                <a16:creationId xmlns:a16="http://schemas.microsoft.com/office/drawing/2014/main" id="{A9969AC9-0ADC-40A0-A7CF-118FCC77A877}"/>
              </a:ext>
            </a:extLst>
          </p:cNvPr>
          <p:cNvSpPr>
            <a:spLocks xmlns:a="http://schemas.openxmlformats.org/drawingml/2006/main" noGrp="1"/>
          </p:cNvSpPr>
          <p:nvPr/>
        </p:nvSpPr>
        <p:spPr>
          <a:xfrm xmlns:a="http://schemas.openxmlformats.org/drawingml/2006/main">
            <a:off x="7524750" y="47910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Cada salida debe conservar claves y medidas. El finally restaura los valores anteriores de configuración.</a:t>
            </a:r>
          </a:p>
        </p:txBody>
      </p:sp>
      <p:sp>
        <p:nvSpPr>
          <p:cNvPr id="10" name="">
            <a:extLst xmlns:a="http://schemas.openxmlformats.org/drawingml/2006/main">
              <a:ext uri="{FF2B5EF4-FFF2-40B4-BE49-F238E27FC236}">
                <a16:creationId xmlns:a16="http://schemas.microsoft.com/office/drawing/2014/main" id="{81276F4A-19DB-4A92-B36D-2F879A852F08}"/>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Los archivos Parquet de salida y las particiones configuradas responden a preguntas distintas.</a:t>
            </a:r>
          </a:p>
        </p:txBody>
      </p:sp>
      <p:sp>
        <p:nvSpPr>
          <p:cNvPr id="11" name="">
            <a:extLst xmlns:a="http://schemas.openxmlformats.org/drawingml/2006/main">
              <a:ext uri="{FF2B5EF4-FFF2-40B4-BE49-F238E27FC236}">
                <a16:creationId xmlns:a16="http://schemas.microsoft.com/office/drawing/2014/main" id="{70BF3332-B2F2-479A-A00D-8A16959369E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7164F18B-2B1E-47DC-B9BE-4605B7EBA098}"/>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27</a:t>
            </a:r>
          </a:p>
        </p:txBody>
      </p:sp>
    </p:spTree>
    <p:extLst>
      <p:ext uri="{BB962C8B-B14F-4D97-AF65-F5344CB8AC3E}">
        <p14:creationId xmlns:p14="http://schemas.microsoft.com/office/powerpoint/2010/main" val="130284901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DDD75F2-2B16-416C-9F27-11A2A3713692}"/>
              </a:ext>
            </a:extLst>
          </p:cNvPr>
          <p:cNvPicPr>
            <a:picLocks xmlns:a="http://schemas.openxmlformats.org/drawingml/2006/main" noChangeAspect="1"/>
          </p:cNvPicPr>
          <p:nvPr/>
        </p:nvPicPr>
        <p:blipFill>
          <a:blip xmlns:r="http://schemas.openxmlformats.org/officeDocument/2006/relationships" xmlns:a="http://schemas.openxmlformats.org/drawingml/2006/main" r:embed="R03f1a0ec534341b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AD2F97B-532C-4994-B2B6-803FB59809E0}"/>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Memoria de trabajo y spill a disco</a:t>
            </a:r>
          </a:p>
        </p:txBody>
      </p:sp>
      <p:sp>
        <p:nvSpPr>
          <p:cNvPr id="3" name="">
            <a:extLst xmlns:a="http://schemas.openxmlformats.org/drawingml/2006/main">
              <a:ext uri="{FF2B5EF4-FFF2-40B4-BE49-F238E27FC236}">
                <a16:creationId xmlns:a16="http://schemas.microsoft.com/office/drawing/2014/main" id="{4CD6E2BD-B4B6-4E85-BE7D-C9D64B2A181F}"/>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Cada tarea necesita espacio</a:t>
            </a:r>
          </a:p>
        </p:txBody>
      </p:sp>
      <p:sp>
        <p:nvSpPr>
          <p:cNvPr id="4" name="">
            <a:extLst xmlns:a="http://schemas.openxmlformats.org/drawingml/2006/main">
              <a:ext uri="{FF2B5EF4-FFF2-40B4-BE49-F238E27FC236}">
                <a16:creationId xmlns:a16="http://schemas.microsoft.com/office/drawing/2014/main" id="{5EFAF4F9-B22A-4437-8476-274706BD0293}"/>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Tablas hash, ordenamientos, descompresión y buffers compiten con otras tareas del mismo executor.</a:t>
            </a:r>
          </a:p>
        </p:txBody>
      </p:sp>
      <p:sp>
        <p:nvSpPr>
          <p:cNvPr id="5" name="">
            <a:extLst xmlns:a="http://schemas.openxmlformats.org/drawingml/2006/main">
              <a:ext uri="{FF2B5EF4-FFF2-40B4-BE49-F238E27FC236}">
                <a16:creationId xmlns:a16="http://schemas.microsoft.com/office/drawing/2014/main" id="{D83D8AB5-6A30-4288-AE9D-E4A6306CECA4}"/>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Cuando falta espacio</a:t>
            </a:r>
          </a:p>
        </p:txBody>
      </p:sp>
      <p:sp>
        <p:nvSpPr>
          <p:cNvPr id="6" name="">
            <a:extLst xmlns:a="http://schemas.openxmlformats.org/drawingml/2006/main">
              <a:ext uri="{FF2B5EF4-FFF2-40B4-BE49-F238E27FC236}">
                <a16:creationId xmlns:a16="http://schemas.microsoft.com/office/drawing/2014/main" id="{1C33223F-862A-45C9-8493-B18C91F9F84E}"/>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Operadores compatibles pueden derramar datos a disco y continuar, a costa de más I/O. Otros casos terminan en falta de memoria.</a:t>
            </a:r>
          </a:p>
        </p:txBody>
      </p:sp>
      <p:sp>
        <p:nvSpPr>
          <p:cNvPr id="7" name="">
            <a:extLst xmlns:a="http://schemas.openxmlformats.org/drawingml/2006/main">
              <a:ext uri="{FF2B5EF4-FFF2-40B4-BE49-F238E27FC236}">
                <a16:creationId xmlns:a16="http://schemas.microsoft.com/office/drawing/2014/main" id="{958D1D79-F743-4C66-BAF7-0E69E2326947}"/>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Por qué importa al crecer</a:t>
            </a:r>
          </a:p>
        </p:txBody>
      </p:sp>
      <p:sp>
        <p:nvSpPr>
          <p:cNvPr id="8" name="">
            <a:extLst xmlns:a="http://schemas.openxmlformats.org/drawingml/2006/main">
              <a:ext uri="{FF2B5EF4-FFF2-40B4-BE49-F238E27FC236}">
                <a16:creationId xmlns:a16="http://schemas.microsoft.com/office/drawing/2014/main" id="{2FFBCF42-436C-40F8-8EF0-41438985CF55}"/>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La RAM total del clúster no resuelve una clave o partición desproporcionada. Revisar distribución y concurrencia.</a:t>
            </a:r>
          </a:p>
        </p:txBody>
      </p:sp>
      <p:sp>
        <p:nvSpPr>
          <p:cNvPr id="9" name="">
            <a:extLst xmlns:a="http://schemas.openxmlformats.org/drawingml/2006/main">
              <a:ext uri="{FF2B5EF4-FFF2-40B4-BE49-F238E27FC236}">
                <a16:creationId xmlns:a16="http://schemas.microsoft.com/office/drawing/2014/main" id="{6C9A3453-01EC-4D37-961F-273BCF82F516}"/>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dataset no tiene que residir completo en RAM. El disco temporal también requiere capacidad.</a:t>
            </a:r>
          </a:p>
        </p:txBody>
      </p:sp>
      <p:sp>
        <p:nvSpPr>
          <p:cNvPr id="10" name="">
            <a:extLst xmlns:a="http://schemas.openxmlformats.org/drawingml/2006/main">
              <a:ext uri="{FF2B5EF4-FFF2-40B4-BE49-F238E27FC236}">
                <a16:creationId xmlns:a16="http://schemas.microsoft.com/office/drawing/2014/main" id="{0EFE54A9-799D-4853-AFCD-AD653734AC38}"/>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5F854045-5558-45F4-8309-001831BF3037}"/>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28</a:t>
            </a:r>
          </a:p>
        </p:txBody>
      </p:sp>
    </p:spTree>
    <p:extLst>
      <p:ext uri="{BB962C8B-B14F-4D97-AF65-F5344CB8AC3E}">
        <p14:creationId xmlns:p14="http://schemas.microsoft.com/office/powerpoint/2010/main" val="197439397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919CD96-7148-4450-BCCC-8D4944DF3591}"/>
              </a:ext>
            </a:extLst>
          </p:cNvPr>
          <p:cNvPicPr>
            <a:picLocks xmlns:a="http://schemas.openxmlformats.org/drawingml/2006/main" noChangeAspect="1"/>
          </p:cNvPicPr>
          <p:nvPr/>
        </p:nvPicPr>
        <p:blipFill>
          <a:blip xmlns:r="http://schemas.openxmlformats.org/officeDocument/2006/relationships" xmlns:a="http://schemas.openxmlformats.org/drawingml/2006/main" r:embed="Rc43f1d4c670d436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264F17-8872-4F0B-9562-2BD2B1A5E26C}"/>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Persistencia: reutilizar tiene un coste</a:t>
            </a:r>
          </a:p>
        </p:txBody>
      </p:sp>
      <p:sp>
        <p:nvSpPr>
          <p:cNvPr id="3" name="">
            <a:extLst xmlns:a="http://schemas.openxmlformats.org/drawingml/2006/main">
              <a:ext uri="{FF2B5EF4-FFF2-40B4-BE49-F238E27FC236}">
                <a16:creationId xmlns:a16="http://schemas.microsoft.com/office/drawing/2014/main" id="{732977F9-DB13-4E2A-B3B2-C495E6BAA7DC}"/>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Sin persistencia</a:t>
            </a:r>
          </a:p>
        </p:txBody>
      </p:sp>
      <p:sp>
        <p:nvSpPr>
          <p:cNvPr id="4" name="">
            <a:extLst xmlns:a="http://schemas.openxmlformats.org/drawingml/2006/main">
              <a:ext uri="{FF2B5EF4-FFF2-40B4-BE49-F238E27FC236}">
                <a16:creationId xmlns:a16="http://schemas.microsoft.com/office/drawing/2014/main" id="{FE03D281-ABC8-4631-B32D-4E88750D849D}"/>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Dos acciones sobre el mismo plan pueden volver a leer y calcular su linaje.</a:t>
            </a:r>
          </a:p>
        </p:txBody>
      </p:sp>
      <p:sp>
        <p:nvSpPr>
          <p:cNvPr id="5" name="">
            <a:extLst xmlns:a="http://schemas.openxmlformats.org/drawingml/2006/main">
              <a:ext uri="{FF2B5EF4-FFF2-40B4-BE49-F238E27FC236}">
                <a16:creationId xmlns:a16="http://schemas.microsoft.com/office/drawing/2014/main" id="{CB7D6E00-2DCE-4E15-8F72-D19BE93B81C0}"/>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Con persistencia</a:t>
            </a:r>
          </a:p>
        </p:txBody>
      </p:sp>
      <p:sp>
        <p:nvSpPr>
          <p:cNvPr id="6" name="">
            <a:extLst xmlns:a="http://schemas.openxmlformats.org/drawingml/2006/main">
              <a:ext uri="{FF2B5EF4-FFF2-40B4-BE49-F238E27FC236}">
                <a16:creationId xmlns:a16="http://schemas.microsoft.com/office/drawing/2014/main" id="{8441440D-8394-4F11-A59F-D12C95F8B050}"/>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Se conservan particiones calculadas según el nivel de almacenamiento. La primera acción construye la caché.</a:t>
            </a:r>
          </a:p>
        </p:txBody>
      </p:sp>
      <p:sp>
        <p:nvSpPr>
          <p:cNvPr id="7" name="">
            <a:extLst xmlns:a="http://schemas.openxmlformats.org/drawingml/2006/main">
              <a:ext uri="{FF2B5EF4-FFF2-40B4-BE49-F238E27FC236}">
                <a16:creationId xmlns:a16="http://schemas.microsoft.com/office/drawing/2014/main" id="{28FE9959-7E0C-487D-9CA7-6CDE1A44B82A}"/>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Decisión económica</a:t>
            </a:r>
          </a:p>
        </p:txBody>
      </p:sp>
      <p:sp>
        <p:nvSpPr>
          <p:cNvPr id="8" name="">
            <a:extLst xmlns:a="http://schemas.openxmlformats.org/drawingml/2006/main">
              <a:ext uri="{FF2B5EF4-FFF2-40B4-BE49-F238E27FC236}">
                <a16:creationId xmlns:a16="http://schemas.microsoft.com/office/drawing/2014/main" id="{3BB852FB-998C-436A-BAA1-CDC9285E6D8A}"/>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Persistir un intermedio reutilizado puede ahorrar trabajo. Cachear todo ocupa recursos y puede desplazar datos útiles.</a:t>
            </a:r>
          </a:p>
        </p:txBody>
      </p:sp>
      <p:sp>
        <p:nvSpPr>
          <p:cNvPr id="9" name="">
            <a:extLst xmlns:a="http://schemas.openxmlformats.org/drawingml/2006/main">
              <a:ext uri="{FF2B5EF4-FFF2-40B4-BE49-F238E27FC236}">
                <a16:creationId xmlns:a16="http://schemas.microsoft.com/office/drawing/2014/main" id="{1656EC1F-FB4F-4610-83E8-A6D58E2F054A}"/>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Medir la primera ejecución y las siguientes por separado. Liberar con unpersist().</a:t>
            </a:r>
          </a:p>
        </p:txBody>
      </p:sp>
      <p:sp>
        <p:nvSpPr>
          <p:cNvPr id="10" name="">
            <a:extLst xmlns:a="http://schemas.openxmlformats.org/drawingml/2006/main">
              <a:ext uri="{FF2B5EF4-FFF2-40B4-BE49-F238E27FC236}">
                <a16:creationId xmlns:a16="http://schemas.microsoft.com/office/drawing/2014/main" id="{6EE823A6-BF82-4AE0-B548-EDC1A3766576}"/>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E441F041-7851-4671-9A59-67DAA6D5689C}"/>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29</a:t>
            </a:r>
          </a:p>
        </p:txBody>
      </p:sp>
    </p:spTree>
    <p:extLst>
      <p:ext uri="{BB962C8B-B14F-4D97-AF65-F5344CB8AC3E}">
        <p14:creationId xmlns:p14="http://schemas.microsoft.com/office/powerpoint/2010/main" val="71035779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5213154-E9E9-4CA8-8986-78FF936A0F71}"/>
              </a:ext>
            </a:extLst>
          </p:cNvPr>
          <p:cNvPicPr>
            <a:picLocks xmlns:a="http://schemas.openxmlformats.org/drawingml/2006/main" noChangeAspect="1"/>
          </p:cNvPicPr>
          <p:nvPr/>
        </p:nvPicPr>
        <p:blipFill>
          <a:blip xmlns:r="http://schemas.openxmlformats.org/officeDocument/2006/relationships" xmlns:a="http://schemas.openxmlformats.org/drawingml/2006/main" r:embed="Re65eaad560b2458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A60EE27-6C0C-45CD-8EB5-47076389361A}"/>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Recuperación ante la pérdida de un executor</a:t>
            </a:r>
          </a:p>
        </p:txBody>
      </p:sp>
      <p:pic>
        <p:nvPicPr>
          <p:cNvPr id="3" name="">
            <a:extLst xmlns:a="http://schemas.openxmlformats.org/drawingml/2006/main">
              <a:ext uri="{FF2B5EF4-FFF2-40B4-BE49-F238E27FC236}">
                <a16:creationId xmlns:a16="http://schemas.microsoft.com/office/drawing/2014/main" id="{37E12ADF-12CA-4924-8241-045C15DDF861}"/>
              </a:ext>
            </a:extLst>
          </p:cNvPr>
          <p:cNvPicPr>
            <a:picLocks xmlns:a="http://schemas.openxmlformats.org/drawingml/2006/main" noChangeAspect="1"/>
          </p:cNvPicPr>
          <p:nvPr/>
        </p:nvPicPr>
        <p:blipFill>
          <a:blip xmlns:r="http://schemas.openxmlformats.org/officeDocument/2006/relationships" xmlns:a="http://schemas.openxmlformats.org/drawingml/2006/main" r:embed="R62fc8b19d82c4a48"/>
          <a:stretch xmlns:a="http://schemas.openxmlformats.org/drawingml/2006/main"/>
        </p:blipFill>
        <p:spPr>
          <a:xfrm xmlns:a="http://schemas.openxmlformats.org/drawingml/2006/main">
            <a:off x="381000" y="1457325"/>
            <a:ext cx="5715000" cy="428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DC376F6-40CC-4DDC-9E6B-0A8A680E83FB}"/>
              </a:ext>
            </a:extLst>
          </p:cNvPr>
          <p:cNvSpPr>
            <a:spLocks xmlns:a="http://schemas.openxmlformats.org/drawingml/2006/main" noGrp="1"/>
          </p:cNvSpPr>
          <p:nvPr/>
        </p:nvSpPr>
        <p:spPr>
          <a:xfrm xmlns:a="http://schemas.openxmlformats.org/drawingml/2006/main">
            <a:off x="6477000" y="15716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Antes del fallo</a:t>
            </a:r>
          </a:p>
        </p:txBody>
      </p:sp>
      <p:sp>
        <p:nvSpPr>
          <p:cNvPr id="5" name="">
            <a:extLst xmlns:a="http://schemas.openxmlformats.org/drawingml/2006/main">
              <a:ext uri="{FF2B5EF4-FFF2-40B4-BE49-F238E27FC236}">
                <a16:creationId xmlns:a16="http://schemas.microsoft.com/office/drawing/2014/main" id="{BE09EDC5-AAE7-4380-9695-9DD02507263C}"/>
              </a:ext>
            </a:extLst>
          </p:cNvPr>
          <p:cNvSpPr>
            <a:spLocks xmlns:a="http://schemas.openxmlformats.org/drawingml/2006/main" noGrp="1"/>
          </p:cNvSpPr>
          <p:nvPr/>
        </p:nvSpPr>
        <p:spPr>
          <a:xfrm xmlns:a="http://schemas.openxmlformats.org/drawingml/2006/main">
            <a:off x="6477000" y="200977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El driver conserva el plan y el seguimiento de tareas. Las fuentes durables siguen disponibles.</a:t>
            </a:r>
          </a:p>
        </p:txBody>
      </p:sp>
      <p:sp>
        <p:nvSpPr>
          <p:cNvPr id="6" name="">
            <a:extLst xmlns:a="http://schemas.openxmlformats.org/drawingml/2006/main">
              <a:ext uri="{FF2B5EF4-FFF2-40B4-BE49-F238E27FC236}">
                <a16:creationId xmlns:a16="http://schemas.microsoft.com/office/drawing/2014/main" id="{326A0E27-FD2A-4DC1-B60C-2DBB9A4497F1}"/>
              </a:ext>
            </a:extLst>
          </p:cNvPr>
          <p:cNvSpPr>
            <a:spLocks xmlns:a="http://schemas.openxmlformats.org/drawingml/2006/main" noGrp="1"/>
          </p:cNvSpPr>
          <p:nvPr/>
        </p:nvSpPr>
        <p:spPr>
          <a:xfrm xmlns:a="http://schemas.openxmlformats.org/drawingml/2006/main">
            <a:off x="6477000" y="296227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Después de la pérdida</a:t>
            </a:r>
          </a:p>
        </p:txBody>
      </p:sp>
      <p:sp>
        <p:nvSpPr>
          <p:cNvPr id="7" name="">
            <a:extLst xmlns:a="http://schemas.openxmlformats.org/drawingml/2006/main">
              <a:ext uri="{FF2B5EF4-FFF2-40B4-BE49-F238E27FC236}">
                <a16:creationId xmlns:a16="http://schemas.microsoft.com/office/drawing/2014/main" id="{6FA9BDF1-DEE5-4B61-9538-94DDEB392B60}"/>
              </a:ext>
            </a:extLst>
          </p:cNvPr>
          <p:cNvSpPr>
            <a:spLocks xmlns:a="http://schemas.openxmlformats.org/drawingml/2006/main" noGrp="1"/>
          </p:cNvSpPr>
          <p:nvPr/>
        </p:nvSpPr>
        <p:spPr>
          <a:xfrm xmlns:a="http://schemas.openxmlformats.org/drawingml/2006/main">
            <a:off x="6477000" y="340042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Las tareas pendientes o fallidas pueden reasignarse. Los bloques perdidos se reconstruyen cuando existe su dependencia.</a:t>
            </a:r>
          </a:p>
        </p:txBody>
      </p:sp>
      <p:sp>
        <p:nvSpPr>
          <p:cNvPr id="8" name="">
            <a:extLst xmlns:a="http://schemas.openxmlformats.org/drawingml/2006/main">
              <a:ext uri="{FF2B5EF4-FFF2-40B4-BE49-F238E27FC236}">
                <a16:creationId xmlns:a16="http://schemas.microsoft.com/office/drawing/2014/main" id="{69867031-EA34-4841-9522-BB08D1EEADDC}"/>
              </a:ext>
            </a:extLst>
          </p:cNvPr>
          <p:cNvSpPr>
            <a:spLocks xmlns:a="http://schemas.openxmlformats.org/drawingml/2006/main" noGrp="1"/>
          </p:cNvSpPr>
          <p:nvPr/>
        </p:nvSpPr>
        <p:spPr>
          <a:xfrm xmlns:a="http://schemas.openxmlformats.org/drawingml/2006/main">
            <a:off x="6477000" y="43529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Alcance de la garantía</a:t>
            </a:r>
          </a:p>
        </p:txBody>
      </p:sp>
      <p:sp>
        <p:nvSpPr>
          <p:cNvPr id="9" name="">
            <a:extLst xmlns:a="http://schemas.openxmlformats.org/drawingml/2006/main">
              <a:ext uri="{FF2B5EF4-FFF2-40B4-BE49-F238E27FC236}">
                <a16:creationId xmlns:a16="http://schemas.microsoft.com/office/drawing/2014/main" id="{C5FBEAA6-57CD-44B9-A0D1-0B5E3199FEA7}"/>
              </a:ext>
            </a:extLst>
          </p:cNvPr>
          <p:cNvSpPr>
            <a:spLocks xmlns:a="http://schemas.openxmlformats.org/drawingml/2006/main" noGrp="1"/>
          </p:cNvSpPr>
          <p:nvPr/>
        </p:nvSpPr>
        <p:spPr>
          <a:xfrm xmlns:a="http://schemas.openxmlformats.org/drawingml/2006/main">
            <a:off x="6477000" y="479107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Recalcular cuesta tiempo y puede repetir etapas. Perder el driver o la fuente requiere mecanismos adicionales.</a:t>
            </a:r>
          </a:p>
        </p:txBody>
      </p:sp>
      <p:sp>
        <p:nvSpPr>
          <p:cNvPr id="10" name="">
            <a:extLst xmlns:a="http://schemas.openxmlformats.org/drawingml/2006/main">
              <a:ext uri="{FF2B5EF4-FFF2-40B4-BE49-F238E27FC236}">
                <a16:creationId xmlns:a16="http://schemas.microsoft.com/office/drawing/2014/main" id="{8125E42D-0169-469E-A15A-A973F90BB240}"/>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linaje permite reconstruir trabajo. La recuperación de tareas no sustituye la durabilidad de los datos.</a:t>
            </a:r>
          </a:p>
        </p:txBody>
      </p:sp>
      <p:sp>
        <p:nvSpPr>
          <p:cNvPr id="11" name="">
            <a:extLst xmlns:a="http://schemas.openxmlformats.org/drawingml/2006/main">
              <a:ext uri="{FF2B5EF4-FFF2-40B4-BE49-F238E27FC236}">
                <a16:creationId xmlns:a16="http://schemas.microsoft.com/office/drawing/2014/main" id="{4460768E-7046-44F4-8398-C89196F09317}"/>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7874F1F1-F152-40EA-AC65-A378793F2DB7}"/>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30</a:t>
            </a:r>
          </a:p>
        </p:txBody>
      </p:sp>
    </p:spTree>
    <p:extLst>
      <p:ext uri="{BB962C8B-B14F-4D97-AF65-F5344CB8AC3E}">
        <p14:creationId xmlns:p14="http://schemas.microsoft.com/office/powerpoint/2010/main" val="22713334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C9FA630-5158-42A0-9C65-C382FE12C700}"/>
              </a:ext>
            </a:extLst>
          </p:cNvPr>
          <p:cNvPicPr>
            <a:picLocks xmlns:a="http://schemas.openxmlformats.org/drawingml/2006/main" noChangeAspect="1"/>
          </p:cNvPicPr>
          <p:nvPr/>
        </p:nvPicPr>
        <p:blipFill>
          <a:blip xmlns:r="http://schemas.openxmlformats.org/officeDocument/2006/relationships" xmlns:a="http://schemas.openxmlformats.org/drawingml/2006/main" r:embed="Re0a38f6834ce45b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77E5B9-A8F3-44FC-9211-20DFDE9A493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Sesgo: el trabajo no siempre se reparte bien</a:t>
            </a:r>
          </a:p>
        </p:txBody>
      </p:sp>
      <p:pic>
        <p:nvPicPr>
          <p:cNvPr id="3" name="">
            <a:extLst xmlns:a="http://schemas.openxmlformats.org/drawingml/2006/main">
              <a:ext uri="{FF2B5EF4-FFF2-40B4-BE49-F238E27FC236}">
                <a16:creationId xmlns:a16="http://schemas.microsoft.com/office/drawing/2014/main" id="{D21F8B94-D831-49BB-8BF0-98EB5B12A1D6}"/>
              </a:ext>
            </a:extLst>
          </p:cNvPr>
          <p:cNvPicPr>
            <a:picLocks xmlns:a="http://schemas.openxmlformats.org/drawingml/2006/main" noChangeAspect="1"/>
          </p:cNvPicPr>
          <p:nvPr/>
        </p:nvPicPr>
        <p:blipFill>
          <a:blip xmlns:r="http://schemas.openxmlformats.org/officeDocument/2006/relationships" xmlns:a="http://schemas.openxmlformats.org/drawingml/2006/main" r:embed="R00a46807bcc04307"/>
          <a:stretch xmlns:a="http://schemas.openxmlformats.org/drawingml/2006/main"/>
        </p:blipFill>
        <p:spPr>
          <a:xfrm xmlns:a="http://schemas.openxmlformats.org/drawingml/2006/main">
            <a:off x="401658" y="1409700"/>
            <a:ext cx="5673685"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638DC0B-9094-4747-BB1B-AB619A2271C5}"/>
              </a:ext>
            </a:extLst>
          </p:cNvPr>
          <p:cNvSpPr>
            <a:spLocks xmlns:a="http://schemas.openxmlformats.org/drawingml/2006/main" noGrp="1"/>
          </p:cNvSpPr>
          <p:nvPr/>
        </p:nvSpPr>
        <p:spPr>
          <a:xfrm xmlns:a="http://schemas.openxmlformats.org/drawingml/2006/main">
            <a:off x="6477000" y="15716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Ejemplo de distribución</a:t>
            </a:r>
          </a:p>
        </p:txBody>
      </p:sp>
      <p:sp>
        <p:nvSpPr>
          <p:cNvPr id="5" name="">
            <a:extLst xmlns:a="http://schemas.openxmlformats.org/drawingml/2006/main">
              <a:ext uri="{FF2B5EF4-FFF2-40B4-BE49-F238E27FC236}">
                <a16:creationId xmlns:a16="http://schemas.microsoft.com/office/drawing/2014/main" id="{7C1EF1FA-24B2-446C-B653-D54DC9884BB2}"/>
              </a:ext>
            </a:extLst>
          </p:cNvPr>
          <p:cNvSpPr>
            <a:spLocks xmlns:a="http://schemas.openxmlformats.org/drawingml/2006/main" noGrp="1"/>
          </p:cNvSpPr>
          <p:nvPr/>
        </p:nvSpPr>
        <p:spPr>
          <a:xfrm xmlns:a="http://schemas.openxmlformats.org/drawingml/2006/main">
            <a:off x="6477000" y="200977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Cuatro particiones contienen 1, 1, 1 y 9 GB: la última concentra el 75 % de los 12 GB.</a:t>
            </a:r>
          </a:p>
        </p:txBody>
      </p:sp>
      <p:sp>
        <p:nvSpPr>
          <p:cNvPr id="6" name="">
            <a:extLst xmlns:a="http://schemas.openxmlformats.org/drawingml/2006/main">
              <a:ext uri="{FF2B5EF4-FFF2-40B4-BE49-F238E27FC236}">
                <a16:creationId xmlns:a16="http://schemas.microsoft.com/office/drawing/2014/main" id="{4273E32F-8D08-4930-997B-BAB547E051F0}"/>
              </a:ext>
            </a:extLst>
          </p:cNvPr>
          <p:cNvSpPr>
            <a:spLocks xmlns:a="http://schemas.openxmlformats.org/drawingml/2006/main" noGrp="1"/>
          </p:cNvSpPr>
          <p:nvPr/>
        </p:nvSpPr>
        <p:spPr>
          <a:xfrm xmlns:a="http://schemas.openxmlformats.org/drawingml/2006/main">
            <a:off x="6477000" y="296227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Efecto sobre la consulta</a:t>
            </a:r>
          </a:p>
        </p:txBody>
      </p:sp>
      <p:sp>
        <p:nvSpPr>
          <p:cNvPr id="7" name="">
            <a:extLst xmlns:a="http://schemas.openxmlformats.org/drawingml/2006/main">
              <a:ext uri="{FF2B5EF4-FFF2-40B4-BE49-F238E27FC236}">
                <a16:creationId xmlns:a16="http://schemas.microsoft.com/office/drawing/2014/main" id="{BA2499B5-0A58-46D5-B9A6-7BD3776FB333}"/>
              </a:ext>
            </a:extLst>
          </p:cNvPr>
          <p:cNvSpPr>
            <a:spLocks xmlns:a="http://schemas.openxmlformats.org/drawingml/2006/main" noGrp="1"/>
          </p:cNvSpPr>
          <p:nvPr/>
        </p:nvSpPr>
        <p:spPr>
          <a:xfrm xmlns:a="http://schemas.openxmlformats.org/drawingml/2006/main">
            <a:off x="6477000" y="340042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Tres tareas terminan y una continúa. Añadir executors deja el mismo cuello si esa tarea no se divide.</a:t>
            </a:r>
          </a:p>
        </p:txBody>
      </p:sp>
      <p:sp>
        <p:nvSpPr>
          <p:cNvPr id="8" name="">
            <a:extLst xmlns:a="http://schemas.openxmlformats.org/drawingml/2006/main">
              <a:ext uri="{FF2B5EF4-FFF2-40B4-BE49-F238E27FC236}">
                <a16:creationId xmlns:a16="http://schemas.microsoft.com/office/drawing/2014/main" id="{D0CE96D5-CD23-4AFC-B1CC-AFEB61F55FC6}"/>
              </a:ext>
            </a:extLst>
          </p:cNvPr>
          <p:cNvSpPr>
            <a:spLocks xmlns:a="http://schemas.openxmlformats.org/drawingml/2006/main" noGrp="1"/>
          </p:cNvSpPr>
          <p:nvPr/>
        </p:nvSpPr>
        <p:spPr>
          <a:xfrm xmlns:a="http://schemas.openxmlformats.org/drawingml/2006/main">
            <a:off x="6477000" y="43529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Respuesta según la operación</a:t>
            </a:r>
          </a:p>
        </p:txBody>
      </p:sp>
      <p:sp>
        <p:nvSpPr>
          <p:cNvPr id="9" name="">
            <a:extLst xmlns:a="http://schemas.openxmlformats.org/drawingml/2006/main">
              <a:ext uri="{FF2B5EF4-FFF2-40B4-BE49-F238E27FC236}">
                <a16:creationId xmlns:a16="http://schemas.microsoft.com/office/drawing/2014/main" id="{87715DF0-7106-46DC-A2D3-E17A9DD4C34E}"/>
              </a:ext>
            </a:extLst>
          </p:cNvPr>
          <p:cNvSpPr>
            <a:spLocks xmlns:a="http://schemas.openxmlformats.org/drawingml/2006/main" noGrp="1"/>
          </p:cNvSpPr>
          <p:nvPr/>
        </p:nvSpPr>
        <p:spPr>
          <a:xfrm xmlns:a="http://schemas.openxmlformats.org/drawingml/2006/main">
            <a:off x="6477000" y="479107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Revisar claves y preagregar. AQE puede tratar ciertos joins sesgados; una ventana con un grupo enorme exige otra estrategia.</a:t>
            </a:r>
          </a:p>
        </p:txBody>
      </p:sp>
      <p:sp>
        <p:nvSpPr>
          <p:cNvPr id="10" name="">
            <a:extLst xmlns:a="http://schemas.openxmlformats.org/drawingml/2006/main">
              <a:ext uri="{FF2B5EF4-FFF2-40B4-BE49-F238E27FC236}">
                <a16:creationId xmlns:a16="http://schemas.microsoft.com/office/drawing/2014/main" id="{9C835DAC-0A0E-4DD7-8707-6B6F320CCBC0}"/>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Comparar el máximo con la mediana de duración y bytes por tarea.</a:t>
            </a:r>
          </a:p>
        </p:txBody>
      </p:sp>
      <p:sp>
        <p:nvSpPr>
          <p:cNvPr id="11" name="">
            <a:extLst xmlns:a="http://schemas.openxmlformats.org/drawingml/2006/main">
              <a:ext uri="{FF2B5EF4-FFF2-40B4-BE49-F238E27FC236}">
                <a16:creationId xmlns:a16="http://schemas.microsoft.com/office/drawing/2014/main" id="{8C511C1A-3E46-4329-9513-5937A2C76FE5}"/>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9A9C7628-F885-466E-B181-1271F3032E3E}"/>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31</a:t>
            </a:r>
          </a:p>
        </p:txBody>
      </p:sp>
    </p:spTree>
    <p:extLst>
      <p:ext uri="{BB962C8B-B14F-4D97-AF65-F5344CB8AC3E}">
        <p14:creationId xmlns:p14="http://schemas.microsoft.com/office/powerpoint/2010/main" val="96684166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2C99348-6D77-4263-9261-D1EFCFCD87F5}"/>
              </a:ext>
            </a:extLst>
          </p:cNvPr>
          <p:cNvPicPr>
            <a:picLocks xmlns:a="http://schemas.openxmlformats.org/drawingml/2006/main" noChangeAspect="1"/>
          </p:cNvPicPr>
          <p:nvPr/>
        </p:nvPicPr>
        <p:blipFill>
          <a:blip xmlns:r="http://schemas.openxmlformats.org/officeDocument/2006/relationships" xmlns:a="http://schemas.openxmlformats.org/drawingml/2006/main" r:embed="Rc920eeb5cdbe4e9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F982E55-226E-4CF6-BEE2-282358781412}"/>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Tres significados de partición</a:t>
            </a:r>
          </a:p>
        </p:txBody>
      </p:sp>
      <p:graphicFrame>
        <p:nvGraphicFramePr>
          <p:cNvPr id="3" name="">
            <a:extLst xmlns:a="http://schemas.openxmlformats.org/drawingml/2006/main">
              <a:ext uri="{FF2B5EF4-FFF2-40B4-BE49-F238E27FC236}">
                <a16:creationId xmlns:a16="http://schemas.microsoft.com/office/drawing/2014/main" id="{3EFEB5E9-F250-4A0C-A0EF-A6DAE58189FE}"/>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Concepto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Efecto y límite</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Directorio de almacenamiento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Ejemplo anio=2025. Facilita poda. Demasiadas claves crean muchos directorios pequeños.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Partición de ejecución</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Unidad de datos procesada por una tarea en una etapa. Se programa sobre executors.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Partición después del shuffle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Resultado de distribuir por clave. AQE puede ajustar su organización.</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Archivo de salida</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Depende de tareas, particionado de escritura y opciones. No equivale siempre a un executor.</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Un único archivo final</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coalesce(1) puede concentrar la escritura y limitar la capacidad de crecer.</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57D1EFB4-6A22-4929-8943-4DBD53E0CDB2}"/>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Elegir tamaños y cantidad a partir de bytes, tareas y coste de archivos, no del número de municipios.</a:t>
            </a:r>
          </a:p>
        </p:txBody>
      </p:sp>
      <p:sp>
        <p:nvSpPr>
          <p:cNvPr id="5" name="">
            <a:extLst xmlns:a="http://schemas.openxmlformats.org/drawingml/2006/main">
              <a:ext uri="{FF2B5EF4-FFF2-40B4-BE49-F238E27FC236}">
                <a16:creationId xmlns:a16="http://schemas.microsoft.com/office/drawing/2014/main" id="{78B2652F-E05C-4764-A67B-8C7E7076D9E5}"/>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74048745-B089-46D6-BFDE-3CEEDD85F322}"/>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32</a:t>
            </a:r>
          </a:p>
        </p:txBody>
      </p:sp>
    </p:spTree>
    <p:extLst>
      <p:ext uri="{BB962C8B-B14F-4D97-AF65-F5344CB8AC3E}">
        <p14:creationId xmlns:p14="http://schemas.microsoft.com/office/powerpoint/2010/main" val="1445930947"/>
      </p:ext>
    </p:extLst>
  </p:cSld>
  <p:transition spd="med" advClick="1">
    <p:fade/>
  </p:transition>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F8E5C90-C4F3-423D-90B1-90F1729B8657}"/>
              </a:ext>
            </a:extLst>
          </p:cNvPr>
          <p:cNvPicPr>
            <a:picLocks xmlns:a="http://schemas.openxmlformats.org/drawingml/2006/main" noChangeAspect="1"/>
          </p:cNvPicPr>
          <p:nvPr/>
        </p:nvPicPr>
        <p:blipFill>
          <a:blip xmlns:r="http://schemas.openxmlformats.org/officeDocument/2006/relationships" xmlns:a="http://schemas.openxmlformats.org/drawingml/2006/main" r:embed="R43d1136d0805456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406D04F-1496-4652-88D4-399B7528612D}"/>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Escalar capacidad y escalar rendimiento</a:t>
            </a:r>
          </a:p>
        </p:txBody>
      </p:sp>
      <p:sp>
        <p:nvSpPr>
          <p:cNvPr id="3" name="">
            <a:extLst xmlns:a="http://schemas.openxmlformats.org/drawingml/2006/main">
              <a:ext uri="{FF2B5EF4-FFF2-40B4-BE49-F238E27FC236}">
                <a16:creationId xmlns:a16="http://schemas.microsoft.com/office/drawing/2014/main" id="{094F8BC6-1474-4113-B0C5-F7AAAAD4DB92}"/>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Escalado vertical</a:t>
            </a:r>
          </a:p>
        </p:txBody>
      </p:sp>
      <p:sp>
        <p:nvSpPr>
          <p:cNvPr id="4" name="">
            <a:extLst xmlns:a="http://schemas.openxmlformats.org/drawingml/2006/main">
              <a:ext uri="{FF2B5EF4-FFF2-40B4-BE49-F238E27FC236}">
                <a16:creationId xmlns:a16="http://schemas.microsoft.com/office/drawing/2014/main" id="{ACBD6C92-FB3F-484C-A52E-1CDC33B7FD3C}"/>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Más recursos en una máquina pueden ampliar el trabajo local, con límites de RAM, CPU e I/O de ese equipo.</a:t>
            </a:r>
          </a:p>
        </p:txBody>
      </p:sp>
      <p:sp>
        <p:nvSpPr>
          <p:cNvPr id="5" name="">
            <a:extLst xmlns:a="http://schemas.openxmlformats.org/drawingml/2006/main">
              <a:ext uri="{FF2B5EF4-FFF2-40B4-BE49-F238E27FC236}">
                <a16:creationId xmlns:a16="http://schemas.microsoft.com/office/drawing/2014/main" id="{C3979869-9366-46C3-87AF-E710FE1E6EA2}"/>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Escalado horizontal</a:t>
            </a:r>
          </a:p>
        </p:txBody>
      </p:sp>
      <p:sp>
        <p:nvSpPr>
          <p:cNvPr id="6" name="">
            <a:extLst xmlns:a="http://schemas.openxmlformats.org/drawingml/2006/main">
              <a:ext uri="{FF2B5EF4-FFF2-40B4-BE49-F238E27FC236}">
                <a16:creationId xmlns:a16="http://schemas.microsoft.com/office/drawing/2014/main" id="{CF1C5D49-3766-4EC5-9EC4-9890CA387EDC}"/>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Más executors pueden procesar más particiones en paralelo y sostener conjuntos mayores, si almacenamiento y red acompañan.</a:t>
            </a:r>
          </a:p>
        </p:txBody>
      </p:sp>
      <p:sp>
        <p:nvSpPr>
          <p:cNvPr id="7" name="">
            <a:extLst xmlns:a="http://schemas.openxmlformats.org/drawingml/2006/main">
              <a:ext uri="{FF2B5EF4-FFF2-40B4-BE49-F238E27FC236}">
                <a16:creationId xmlns:a16="http://schemas.microsoft.com/office/drawing/2014/main" id="{ACEEFCD9-6322-4048-8F95-523AEAC83D25}"/>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Dos pruebas diferentes</a:t>
            </a:r>
          </a:p>
        </p:txBody>
      </p:sp>
      <p:sp>
        <p:nvSpPr>
          <p:cNvPr id="8" name="">
            <a:extLst xmlns:a="http://schemas.openxmlformats.org/drawingml/2006/main">
              <a:ext uri="{FF2B5EF4-FFF2-40B4-BE49-F238E27FC236}">
                <a16:creationId xmlns:a16="http://schemas.microsoft.com/office/drawing/2014/main" id="{9EDAEFE3-548B-4C50-B526-125F5A02CB9C}"/>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Carga fija: medir cuánto baja el tiempo. Carga por trabajador fija: observar si el tiempo se mantiene al crecer el volumen.</a:t>
            </a:r>
          </a:p>
        </p:txBody>
      </p:sp>
      <p:sp>
        <p:nvSpPr>
          <p:cNvPr id="9" name="">
            <a:extLst xmlns:a="http://schemas.openxmlformats.org/drawingml/2006/main">
              <a:ext uri="{FF2B5EF4-FFF2-40B4-BE49-F238E27FC236}">
                <a16:creationId xmlns:a16="http://schemas.microsoft.com/office/drawing/2014/main" id="{DFC8B175-D575-46D3-89C5-3AD4F88FCCFC}"/>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T ≈ lectura + cómputo paralelo + shuffle + coordinación + escritura.</a:t>
            </a:r>
          </a:p>
        </p:txBody>
      </p:sp>
      <p:sp>
        <p:nvSpPr>
          <p:cNvPr id="10" name="">
            <a:extLst xmlns:a="http://schemas.openxmlformats.org/drawingml/2006/main">
              <a:ext uri="{FF2B5EF4-FFF2-40B4-BE49-F238E27FC236}">
                <a16:creationId xmlns:a16="http://schemas.microsoft.com/office/drawing/2014/main" id="{97AA8F08-31CE-49BF-8A03-BD510AF6D751}"/>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F95C84FA-CFFC-426D-9870-4958C09B48EC}"/>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33</a:t>
            </a:r>
          </a:p>
        </p:txBody>
      </p:sp>
    </p:spTree>
    <p:extLst>
      <p:ext uri="{BB962C8B-B14F-4D97-AF65-F5344CB8AC3E}">
        <p14:creationId xmlns:p14="http://schemas.microsoft.com/office/powerpoint/2010/main" val="158607523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35C1A6E-9520-4709-AB70-14CA2E954C12}"/>
              </a:ext>
            </a:extLst>
          </p:cNvPr>
          <p:cNvPicPr>
            <a:picLocks xmlns:a="http://schemas.openxmlformats.org/drawingml/2006/main" noChangeAspect="1"/>
          </p:cNvPicPr>
          <p:nvPr/>
        </p:nvPicPr>
        <p:blipFill>
          <a:blip xmlns:r="http://schemas.openxmlformats.org/officeDocument/2006/relationships" xmlns:a="http://schemas.openxmlformats.org/drawingml/2006/main" r:embed="Rad574b7343624aa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F4AD3B1-67DA-4EDE-AD06-4EC13C1A6092}"/>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Más trabajadores: beneficio y límite</a:t>
            </a:r>
          </a:p>
        </p:txBody>
      </p:sp>
      <p:graphicFrame>
        <p:nvGraphicFramePr>
          <p:cNvPr id="3" name="Chart">
            <a:extLst xmlns:a="http://schemas.openxmlformats.org/drawingml/2006/main">
              <a:ext uri="{FF2B5EF4-FFF2-40B4-BE49-F238E27FC236}">
                <a16:creationId xmlns:a16="http://schemas.microsoft.com/office/drawing/2014/main" id="{BB55E5B6-D8BE-4BC8-B666-4050B08F4046}"/>
              </a:ext>
            </a:extLst>
          </p:cNvPr>
          <p:cNvGraphicFramePr/>
          <p:nvPr/>
        </p:nvGraphicFramePr>
        <p:xfrm>
          <a:off xmlns:a="http://schemas.openxmlformats.org/drawingml/2006/main" x="857250" y="1476375"/>
          <a:ext xmlns:a="http://schemas.openxmlformats.org/drawingml/2006/main" cx="7334250" cy="4000500"/>
        </p:xfrm>
        <a:graphic xmlns:a="http://schemas.openxmlformats.org/drawingml/2006/main">
          <a:graphicData uri="http://schemas.openxmlformats.org/drawingml/2006/chart">
            <c:chart xmlns:r="http://schemas.openxmlformats.org/officeDocument/2006/relationships" xmlns:c="http://schemas.openxmlformats.org/drawingml/2006/chart" r:id="Ra63e0da99f2e491b"/>
          </a:graphicData>
        </a:graphic>
      </p:graphicFrame>
      <p:sp>
        <p:nvSpPr>
          <p:cNvPr id="4" name="">
            <a:extLst xmlns:a="http://schemas.openxmlformats.org/drawingml/2006/main">
              <a:ext uri="{FF2B5EF4-FFF2-40B4-BE49-F238E27FC236}">
                <a16:creationId xmlns:a16="http://schemas.microsoft.com/office/drawing/2014/main" id="{8C33020C-F713-4A0B-923D-22A3D51B882D}"/>
              </a:ext>
            </a:extLst>
          </p:cNvPr>
          <p:cNvSpPr>
            <a:spLocks xmlns:a="http://schemas.openxmlformats.org/drawingml/2006/main" noGrp="1"/>
          </p:cNvSpPr>
          <p:nvPr/>
        </p:nvSpPr>
        <p:spPr>
          <a:xfrm xmlns:a="http://schemas.openxmlformats.org/drawingml/2006/main">
            <a:off x="8572500" y="171450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5546ED"/>
                </a:solidFill>
                <a:latin typeface="Calibri"/>
                <a:ea typeface="Calibri"/>
                <a:cs typeface="Calibri"/>
              </a:defRPr>
            </a:defPPr>
          </a:lstStyle>
          <a:p xmlns:a="http://schemas.openxmlformats.org/drawingml/2006/main">
            <a:pPr>
              <a:defRPr sz="2175" b="1">
                <a:solidFill>
                  <a:srgbClr val="5546ED"/>
                </a:solidFill>
                <a:latin typeface="Calibri"/>
                <a:ea typeface="Calibri"/>
                <a:cs typeface="Calibri"/>
              </a:defRPr>
            </a:pPr>
            <a:r>
              <a:rPr sz="2175" b="1">
                <a:solidFill>
                  <a:srgbClr val="5546ED"/>
                </a:solidFill>
                <a:latin typeface="Calibri"/>
                <a:ea typeface="Calibri"/>
                <a:cs typeface="Calibri"/>
              </a:rPr>
              <a:t>Carga fija</a:t>
            </a:r>
          </a:p>
        </p:txBody>
      </p:sp>
      <p:sp>
        <p:nvSpPr>
          <p:cNvPr id="5" name="">
            <a:extLst xmlns:a="http://schemas.openxmlformats.org/drawingml/2006/main">
              <a:ext uri="{FF2B5EF4-FFF2-40B4-BE49-F238E27FC236}">
                <a16:creationId xmlns:a16="http://schemas.microsoft.com/office/drawing/2014/main" id="{AB7E9198-718C-4314-83D4-5E27566C5939}"/>
              </a:ext>
            </a:extLst>
          </p:cNvPr>
          <p:cNvSpPr>
            <a:spLocks xmlns:a="http://schemas.openxmlformats.org/drawingml/2006/main" noGrp="1"/>
          </p:cNvSpPr>
          <p:nvPr/>
        </p:nvSpPr>
        <p:spPr>
          <a:xfrm xmlns:a="http://schemas.openxmlformats.org/drawingml/2006/main">
            <a:off x="8572500" y="2286000"/>
            <a:ext cx="276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203B68"/>
                </a:solidFill>
                <a:latin typeface="Calibri"/>
                <a:ea typeface="Calibri"/>
                <a:cs typeface="Calibri"/>
              </a:defRPr>
            </a:defPPr>
          </a:lstStyle>
          <a:p xmlns:a="http://schemas.openxmlformats.org/drawingml/2006/main">
            <a:pPr>
              <a:defRPr sz="1950" b="0">
                <a:solidFill>
                  <a:srgbClr val="203B68"/>
                </a:solidFill>
                <a:latin typeface="Calibri"/>
                <a:ea typeface="Calibri"/>
                <a:cs typeface="Calibri"/>
              </a:defRPr>
            </a:pPr>
            <a:r>
              <a:rPr sz="1950" b="0">
                <a:solidFill>
                  <a:srgbClr val="203B68"/>
                </a:solidFill>
                <a:latin typeface="Calibri"/>
                <a:ea typeface="Calibri"/>
                <a:cs typeface="Calibri"/>
              </a:rPr>
              <a:t>De 1 a 8 trabajadores: de 100 a 35,25 min. Aceleración de 2,84 veces.</a:t>
            </a:r>
          </a:p>
        </p:txBody>
      </p:sp>
      <p:sp>
        <p:nvSpPr>
          <p:cNvPr id="6" name="">
            <a:extLst xmlns:a="http://schemas.openxmlformats.org/drawingml/2006/main">
              <a:ext uri="{FF2B5EF4-FFF2-40B4-BE49-F238E27FC236}">
                <a16:creationId xmlns:a16="http://schemas.microsoft.com/office/drawing/2014/main" id="{9C528EE4-070C-4AEC-8EEC-24F003E83D7D}"/>
              </a:ext>
            </a:extLst>
          </p:cNvPr>
          <p:cNvSpPr>
            <a:spLocks xmlns:a="http://schemas.openxmlformats.org/drawingml/2006/main" noGrp="1"/>
          </p:cNvSpPr>
          <p:nvPr/>
        </p:nvSpPr>
        <p:spPr>
          <a:xfrm xmlns:a="http://schemas.openxmlformats.org/drawingml/2006/main">
            <a:off x="8572500" y="4048125"/>
            <a:ext cx="2762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203B68"/>
                </a:solidFill>
                <a:latin typeface="Calibri"/>
                <a:ea typeface="Calibri"/>
                <a:cs typeface="Calibri"/>
              </a:defRPr>
            </a:defPPr>
          </a:lstStyle>
          <a:p xmlns:a="http://schemas.openxmlformats.org/drawingml/2006/main">
            <a:pPr>
              <a:defRPr sz="1950" b="0">
                <a:solidFill>
                  <a:srgbClr val="203B68"/>
                </a:solidFill>
                <a:latin typeface="Calibri"/>
                <a:ea typeface="Calibri"/>
                <a:cs typeface="Calibri"/>
              </a:defRPr>
            </a:pPr>
            <a:r>
              <a:rPr sz="1950" b="0">
                <a:solidFill>
                  <a:srgbClr val="203B68"/>
                </a:solidFill>
                <a:latin typeface="Calibri"/>
                <a:ea typeface="Calibri"/>
                <a:cs typeface="Calibri"/>
              </a:rPr>
              <a:t>Con 16, el sobrecoste del modelo supera el beneficio adicional.</a:t>
            </a:r>
          </a:p>
        </p:txBody>
      </p:sp>
      <p:sp>
        <p:nvSpPr>
          <p:cNvPr id="7" name="">
            <a:extLst xmlns:a="http://schemas.openxmlformats.org/drawingml/2006/main">
              <a:ext uri="{FF2B5EF4-FFF2-40B4-BE49-F238E27FC236}">
                <a16:creationId xmlns:a16="http://schemas.microsoft.com/office/drawing/2014/main" id="{88C7065B-B227-41B8-9833-5472782AFEDF}"/>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Modelo didáctico de carga fija. T(N) = 10 + 90/N + 2(N − 1), en minutos. No es un benchmark.</a:t>
            </a:r>
          </a:p>
        </p:txBody>
      </p:sp>
      <p:sp>
        <p:nvSpPr>
          <p:cNvPr id="8" name="">
            <a:extLst xmlns:a="http://schemas.openxmlformats.org/drawingml/2006/main">
              <a:ext uri="{FF2B5EF4-FFF2-40B4-BE49-F238E27FC236}">
                <a16:creationId xmlns:a16="http://schemas.microsoft.com/office/drawing/2014/main" id="{779F2D89-C7A5-4FF2-BDD8-2A04D33AEC5E}"/>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9" name="">
            <a:extLst xmlns:a="http://schemas.openxmlformats.org/drawingml/2006/main">
              <a:ext uri="{FF2B5EF4-FFF2-40B4-BE49-F238E27FC236}">
                <a16:creationId xmlns:a16="http://schemas.microsoft.com/office/drawing/2014/main" id="{B0BF7B5C-AC7F-468B-AC8E-1D534274D885}"/>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34</a:t>
            </a:r>
          </a:p>
        </p:txBody>
      </p:sp>
    </p:spTree>
    <p:extLst>
      <p:ext uri="{BB962C8B-B14F-4D97-AF65-F5344CB8AC3E}">
        <p14:creationId xmlns:p14="http://schemas.microsoft.com/office/powerpoint/2010/main" val="1203962782"/>
      </p:ext>
    </p:extLst>
  </p:cSld>
  <p:transition spd="med" advClick="1">
    <p:fade/>
  </p:transition>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16E9BA5-3AC3-4279-9651-F44C19F948AF}"/>
              </a:ext>
            </a:extLst>
          </p:cNvPr>
          <p:cNvPicPr>
            <a:picLocks xmlns:a="http://schemas.openxmlformats.org/drawingml/2006/main" noChangeAspect="1"/>
          </p:cNvPicPr>
          <p:nvPr/>
        </p:nvPicPr>
        <p:blipFill>
          <a:blip xmlns:r="http://schemas.openxmlformats.org/officeDocument/2006/relationships" xmlns:a="http://schemas.openxmlformats.org/drawingml/2006/main" r:embed="Rd71138d15b204cd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CB3AF0-855E-4CD7-8B0E-DF0AF2927679}"/>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Spark UI: evidencia del poder y del límite</a:t>
            </a:r>
          </a:p>
        </p:txBody>
      </p:sp>
      <p:graphicFrame>
        <p:nvGraphicFramePr>
          <p:cNvPr id="3" name="">
            <a:extLst xmlns:a="http://schemas.openxmlformats.org/drawingml/2006/main">
              <a:ext uri="{FF2B5EF4-FFF2-40B4-BE49-F238E27FC236}">
                <a16:creationId xmlns:a16="http://schemas.microsoft.com/office/drawing/2014/main" id="{BC2A567A-2D04-4149-9798-304F7EB46C84}"/>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Qué se observa</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Qué permite diagnosticar</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SQL y plan físico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Operadores elegidos, exchanges y cambios adaptativos.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Tasks por etapa</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Paralelismo utilizado y tareas mucho más lentas que la mediana.</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Shuffle read/write y espera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Volumen transferido y posible límite de red o lectura de bloques.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Spill, GC y executors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Presión de memoria, coste de disco, recolección y recursos infrautilizados.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Duración total y salida equivalente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Comparación justa entre configuraciones, sin cambiar la pregunta.</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FBB0C53D-9FD4-453B-A5EC-D30A9D017A60}"/>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En local suele estar en http://localhost:4040 mientras la aplicación está activa.</a:t>
            </a:r>
          </a:p>
        </p:txBody>
      </p:sp>
      <p:sp>
        <p:nvSpPr>
          <p:cNvPr id="5" name="">
            <a:extLst xmlns:a="http://schemas.openxmlformats.org/drawingml/2006/main">
              <a:ext uri="{FF2B5EF4-FFF2-40B4-BE49-F238E27FC236}">
                <a16:creationId xmlns:a16="http://schemas.microsoft.com/office/drawing/2014/main" id="{B9EE2F06-8471-4C6E-8A90-335CFB086DBD}"/>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CA7770BC-8EA0-44F7-9482-FC3607EEB89A}"/>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35</a:t>
            </a:r>
          </a:p>
        </p:txBody>
      </p:sp>
    </p:spTree>
    <p:extLst>
      <p:ext uri="{BB962C8B-B14F-4D97-AF65-F5344CB8AC3E}">
        <p14:creationId xmlns:p14="http://schemas.microsoft.com/office/powerpoint/2010/main" val="297618961"/>
      </p:ext>
    </p:extLst>
  </p:cSld>
  <p:transition spd="med" advClick="1">
    <p:fade/>
  </p:transition>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F0A9CDE-6341-4DE0-A41D-C811CCE176E7}"/>
              </a:ext>
            </a:extLst>
          </p:cNvPr>
          <p:cNvPicPr>
            <a:picLocks xmlns:a="http://schemas.openxmlformats.org/drawingml/2006/main" noChangeAspect="1"/>
          </p:cNvPicPr>
          <p:nvPr/>
        </p:nvPicPr>
        <p:blipFill>
          <a:blip xmlns:r="http://schemas.openxmlformats.org/officeDocument/2006/relationships" xmlns:a="http://schemas.openxmlformats.org/drawingml/2006/main" r:embed="R2c17a4aa9a314f0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A80939-38C1-47B7-A2D0-EF6876CDF4DF}"/>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Expresiones nativas y funciones Python</a:t>
            </a:r>
          </a:p>
        </p:txBody>
      </p:sp>
      <p:sp>
        <p:nvSpPr>
          <p:cNvPr id="3" name="">
            <a:extLst xmlns:a="http://schemas.openxmlformats.org/drawingml/2006/main">
              <a:ext uri="{FF2B5EF4-FFF2-40B4-BE49-F238E27FC236}">
                <a16:creationId xmlns:a16="http://schemas.microsoft.com/office/drawing/2014/main" id="{5BC950B2-7E80-417D-B4ED-7B3C2B266F26}"/>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Expresiones de Spark SQL</a:t>
            </a:r>
          </a:p>
        </p:txBody>
      </p:sp>
      <p:sp>
        <p:nvSpPr>
          <p:cNvPr id="4" name="">
            <a:extLst xmlns:a="http://schemas.openxmlformats.org/drawingml/2006/main">
              <a:ext uri="{FF2B5EF4-FFF2-40B4-BE49-F238E27FC236}">
                <a16:creationId xmlns:a16="http://schemas.microsoft.com/office/drawing/2014/main" id="{1DCA263A-A648-4489-82C6-3465334CF0A2}"/>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Filtros, sumas y joins expresados con operadores nativos permiten al motor analizar y optimizar la consulta.</a:t>
            </a:r>
          </a:p>
        </p:txBody>
      </p:sp>
      <p:sp>
        <p:nvSpPr>
          <p:cNvPr id="5" name="">
            <a:extLst xmlns:a="http://schemas.openxmlformats.org/drawingml/2006/main">
              <a:ext uri="{FF2B5EF4-FFF2-40B4-BE49-F238E27FC236}">
                <a16:creationId xmlns:a16="http://schemas.microsoft.com/office/drawing/2014/main" id="{EE894CBF-DC87-4425-9318-DD192728A5E2}"/>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UDF Python</a:t>
            </a:r>
          </a:p>
        </p:txBody>
      </p:sp>
      <p:sp>
        <p:nvSpPr>
          <p:cNvPr id="6" name="">
            <a:extLst xmlns:a="http://schemas.openxmlformats.org/drawingml/2006/main">
              <a:ext uri="{FF2B5EF4-FFF2-40B4-BE49-F238E27FC236}">
                <a16:creationId xmlns:a16="http://schemas.microsoft.com/office/drawing/2014/main" id="{6340CAC7-966D-45A6-828E-E05F550374A4}"/>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Puede añadir intercambio JVM/Python y limitar optimizaciones. Su coste depende del tipo y forma de ejecución.</a:t>
            </a:r>
          </a:p>
        </p:txBody>
      </p:sp>
      <p:sp>
        <p:nvSpPr>
          <p:cNvPr id="7" name="">
            <a:extLst xmlns:a="http://schemas.openxmlformats.org/drawingml/2006/main">
              <a:ext uri="{FF2B5EF4-FFF2-40B4-BE49-F238E27FC236}">
                <a16:creationId xmlns:a16="http://schemas.microsoft.com/office/drawing/2014/main" id="{80F161FB-6495-451E-B801-8ECF17C1838B}"/>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Regla para el taller</a:t>
            </a:r>
          </a:p>
        </p:txBody>
      </p:sp>
      <p:sp>
        <p:nvSpPr>
          <p:cNvPr id="8" name="">
            <a:extLst xmlns:a="http://schemas.openxmlformats.org/drawingml/2006/main">
              <a:ext uri="{FF2B5EF4-FFF2-40B4-BE49-F238E27FC236}">
                <a16:creationId xmlns:a16="http://schemas.microsoft.com/office/drawing/2014/main" id="{D9B33EB5-0AF1-4370-AD38-630E46F5C927}"/>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Preferir funciones nativas para el cálculo agrícola. Examinar el plan antes de introducir lógica fila por fila.</a:t>
            </a:r>
          </a:p>
        </p:txBody>
      </p:sp>
      <p:sp>
        <p:nvSpPr>
          <p:cNvPr id="9" name="">
            <a:extLst xmlns:a="http://schemas.openxmlformats.org/drawingml/2006/main">
              <a:ext uri="{FF2B5EF4-FFF2-40B4-BE49-F238E27FC236}">
                <a16:creationId xmlns:a16="http://schemas.microsoft.com/office/drawing/2014/main" id="{AAFE4D22-2F4D-4682-BE78-9A568F90E3AA}"/>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PySpark es la interfaz. El cálculo de un DataFrame no se convierte automáticamente en un bucle Python.</a:t>
            </a:r>
          </a:p>
        </p:txBody>
      </p:sp>
      <p:sp>
        <p:nvSpPr>
          <p:cNvPr id="10" name="">
            <a:extLst xmlns:a="http://schemas.openxmlformats.org/drawingml/2006/main">
              <a:ext uri="{FF2B5EF4-FFF2-40B4-BE49-F238E27FC236}">
                <a16:creationId xmlns:a16="http://schemas.microsoft.com/office/drawing/2014/main" id="{FA1AC152-2F22-4A49-BE72-11BEBDC85908}"/>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3119F4FF-A6E6-4B9C-B4E4-D88A4601CFC3}"/>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36</a:t>
            </a:r>
          </a:p>
        </p:txBody>
      </p:sp>
    </p:spTree>
    <p:extLst>
      <p:ext uri="{BB962C8B-B14F-4D97-AF65-F5344CB8AC3E}">
        <p14:creationId xmlns:p14="http://schemas.microsoft.com/office/powerpoint/2010/main" val="188887943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435C26F-BDF3-4CDD-9FA9-7FE06B889018}"/>
              </a:ext>
            </a:extLst>
          </p:cNvPr>
          <p:cNvPicPr>
            <a:picLocks xmlns:a="http://schemas.openxmlformats.org/drawingml/2006/main" noChangeAspect="1"/>
          </p:cNvPicPr>
          <p:nvPr/>
        </p:nvPicPr>
        <p:blipFill>
          <a:blip xmlns:r="http://schemas.openxmlformats.org/officeDocument/2006/relationships" xmlns:a="http://schemas.openxmlformats.org/drawingml/2006/main" r:embed="Re644e8ce0fc44f70"/>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520407F-577B-4B9D-A81A-0AA33F870394}"/>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Notebooks y productos conectados</a:t>
            </a:r>
          </a:p>
        </p:txBody>
      </p:sp>
      <p:graphicFrame>
        <p:nvGraphicFramePr>
          <p:cNvPr id="3" name="">
            <a:extLst xmlns:a="http://schemas.openxmlformats.org/drawingml/2006/main">
              <a:ext uri="{FF2B5EF4-FFF2-40B4-BE49-F238E27FC236}">
                <a16:creationId xmlns:a16="http://schemas.microsoft.com/office/drawing/2014/main" id="{7747A001-E137-427A-8CA4-1C9C2CADF9D9}"/>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6000750"/>
                <a:gridCol w="4972050"/>
              </a:tblGrid>
              <a:tr h="838200">
                <a:tc>
                  <a:txBody>
                    <a:bodyPr/>
                    <a:lstStyle/>
                    <a:p>
                      <a:r>
                        <a:rPr sz="1800" b="1">
                          <a:solidFill>
                            <a:srgbClr val="FFFFFF"/>
                          </a:solidFill>
                          <a:latin typeface="Calibri"/>
                          <a:ea typeface="Calibri"/>
                          <a:cs typeface="Calibri"/>
                        </a:rPr>
                        <a:t>Notebook</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Entrada y producto principal</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838200">
                <a:tc>
                  <a:txBody>
                    <a:bodyPr/>
                    <a:lstStyle/>
                    <a:p>
                      <a:r>
                        <a:rPr sz="1800" b="0">
                          <a:solidFill>
                            <a:srgbClr val="203B68"/>
                          </a:solidFill>
                          <a:latin typeface="Calibri"/>
                          <a:ea typeface="Calibri"/>
                          <a:cs typeface="Calibri"/>
                        </a:rPr>
                        <a:t>05_Spark_lectura_y_agregacion.ipynb</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Prepara EVA y dimensión en kit/salidas/E07.</a:t>
                      </a:r>
                    </a:p>
                  </a:txBody>
                  <a:tcPr marL="91440" marR="91440" marT="45720" marB="45720">
                    <a:lnR w="9525">
                      <a:solidFill>
                        <a:srgbClr val="C8D8DE"/>
                      </a:solidFill>
                    </a:lnR>
                    <a:lnB w="9525">
                      <a:solidFill>
                        <a:srgbClr val="C8D8DE"/>
                      </a:solidFill>
                    </a:lnB>
                    <a:solidFill>
                      <a:srgbClr val="F4F8F8"/>
                    </a:solidFill>
                  </a:tcPr>
                </a:tc>
              </a:tr>
              <a:tr h="838200">
                <a:tc>
                  <a:txBody>
                    <a:bodyPr/>
                    <a:lstStyle/>
                    <a:p>
                      <a:r>
                        <a:rPr sz="1800" b="0">
                          <a:solidFill>
                            <a:srgbClr val="203B68"/>
                          </a:solidFill>
                          <a:latin typeface="Calibri"/>
                          <a:ea typeface="Calibri"/>
                          <a:cs typeface="Calibri"/>
                        </a:rPr>
                        <a:t>06_Spark_joins_y_ventanas_rev01.ipynb</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Lee E07. Escribe resultados, event logs y evidencias en kit/salidas/E07_rev01.</a:t>
                      </a:r>
                    </a:p>
                  </a:txBody>
                  <a:tcPr marL="91440" marR="91440" marT="45720" marB="45720">
                    <a:lnR w="9525">
                      <a:solidFill>
                        <a:srgbClr val="C8D8DE"/>
                      </a:solidFill>
                    </a:lnR>
                    <a:lnB w="9525">
                      <a:solidFill>
                        <a:srgbClr val="C8D8DE"/>
                      </a:solidFill>
                    </a:lnB>
                    <a:solidFill>
                      <a:srgbClr val="E9F0F1"/>
                    </a:solidFill>
                  </a:tcPr>
                </a:tc>
              </a:tr>
              <a:tr h="838200">
                <a:tc>
                  <a:txBody>
                    <a:bodyPr/>
                    <a:lstStyle/>
                    <a:p>
                      <a:r>
                        <a:rPr sz="1800" b="0">
                          <a:solidFill>
                            <a:srgbClr val="203B68"/>
                          </a:solidFill>
                          <a:latin typeface="Calibri"/>
                          <a:ea typeface="Calibri"/>
                          <a:cs typeface="Calibri"/>
                        </a:rPr>
                        <a:t>E08_Geoespacial.ipynb</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AGROSAVIA, DIVIPOLA y geometrías. Sus salidas continúan en kit/salidas/E08.</a:t>
                      </a:r>
                    </a:p>
                  </a:txBody>
                  <a:tcPr marL="91440" marR="91440" marT="45720" marB="45720">
                    <a:lnR w="9525">
                      <a:solidFill>
                        <a:srgbClr val="C8D8DE"/>
                      </a:solidFill>
                    </a:lnR>
                    <a:lnB w="9525">
                      <a:solidFill>
                        <a:srgbClr val="C8D8DE"/>
                      </a:solidFill>
                    </a:lnB>
                    <a:solidFill>
                      <a:srgbClr val="F4F8F8"/>
                    </a:solidFill>
                  </a:tcPr>
                </a:tc>
              </a:tr>
              <a:tr h="838200">
                <a:tc>
                  <a:txBody>
                    <a:bodyPr/>
                    <a:lstStyle/>
                    <a:p>
                      <a:r>
                        <a:rPr sz="1800" b="0">
                          <a:solidFill>
                            <a:srgbClr val="203B68"/>
                          </a:solidFill>
                          <a:latin typeface="Calibri"/>
                          <a:ea typeface="Calibri"/>
                          <a:cs typeface="Calibri"/>
                        </a:rPr>
                        <a:t>E09_Geoespacial.ipynb</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SoilGrids, WoSIS e IGAC. Sus salidas continúan en kit/salidas/E09.</a:t>
                      </a:r>
                    </a:p>
                  </a:txBody>
                  <a:tcPr marL="91440" marR="91440" marT="45720" marB="45720">
                    <a:lnR w="9525">
                      <a:solidFill>
                        <a:srgbClr val="C8D8DE"/>
                      </a:solidFill>
                    </a:lnR>
                    <a:lnB w="9525">
                      <a:solidFill>
                        <a:srgbClr val="C8D8DE"/>
                      </a:solidFill>
                    </a:lnB>
                    <a:solidFill>
                      <a:srgbClr val="E9F0F1"/>
                    </a:solidFill>
                  </a:tcPr>
                </a:tc>
              </a:tr>
            </a:tbl>
          </a:graphicData>
        </a:graphic>
      </p:graphicFrame>
      <p:sp>
        <p:nvSpPr>
          <p:cNvPr id="4" name="">
            <a:extLst xmlns:a="http://schemas.openxmlformats.org/drawingml/2006/main">
              <a:ext uri="{FF2B5EF4-FFF2-40B4-BE49-F238E27FC236}">
                <a16:creationId xmlns:a16="http://schemas.microsoft.com/office/drawing/2014/main" id="{97B9E11F-35FB-4273-AB4A-280888E566F0}"/>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Notebook 06 rev01 disponible en dev, commit 270dc9d. Los originales de E07 se conservan.</a:t>
            </a:r>
          </a:p>
        </p:txBody>
      </p:sp>
      <p:sp>
        <p:nvSpPr>
          <p:cNvPr id="5" name="">
            <a:extLst xmlns:a="http://schemas.openxmlformats.org/drawingml/2006/main">
              <a:ext uri="{FF2B5EF4-FFF2-40B4-BE49-F238E27FC236}">
                <a16:creationId xmlns:a16="http://schemas.microsoft.com/office/drawing/2014/main" id="{DF7C4CBB-4576-4FFB-A032-E643E2E11F1E}"/>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B24695F4-D4CF-49E5-B2C6-82C03CCC225C}"/>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37</a:t>
            </a:r>
          </a:p>
        </p:txBody>
      </p:sp>
    </p:spTree>
    <p:extLst>
      <p:ext uri="{BB962C8B-B14F-4D97-AF65-F5344CB8AC3E}">
        <p14:creationId xmlns:p14="http://schemas.microsoft.com/office/powerpoint/2010/main" val="1539021428"/>
      </p:ext>
    </p:extLst>
  </p:cSld>
  <p:transition spd="med" advClick="1">
    <p:fade/>
  </p:transition>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9D6B8DA-45C7-4B9F-AA38-E5CB11418F00}"/>
              </a:ext>
            </a:extLst>
          </p:cNvPr>
          <p:cNvPicPr>
            <a:picLocks xmlns:a="http://schemas.openxmlformats.org/drawingml/2006/main" noChangeAspect="1"/>
          </p:cNvPicPr>
          <p:nvPr/>
        </p:nvPicPr>
        <p:blipFill>
          <a:blip xmlns:r="http://schemas.openxmlformats.org/officeDocument/2006/relationships" xmlns:a="http://schemas.openxmlformats.org/drawingml/2006/main" r:embed="Rc73281f47641417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8674AD7-6EB4-4DD1-8DA0-771EF7F3C0D0}"/>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Sección 0: sesión observable</a:t>
            </a:r>
          </a:p>
        </p:txBody>
      </p:sp>
      <p:sp>
        <p:nvSpPr>
          <p:cNvPr id="3" name="">
            <a:extLst xmlns:a="http://schemas.openxmlformats.org/drawingml/2006/main">
              <a:ext uri="{FF2B5EF4-FFF2-40B4-BE49-F238E27FC236}">
                <a16:creationId xmlns:a16="http://schemas.microsoft.com/office/drawing/2014/main" id="{EAE917F8-F510-4DFF-89D8-B67736B5C301}"/>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spark = (SparkSession.builder.master("local[2]")</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.appName("Curso-BigData-E07-06-rev01")</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.config("spark.task.cpus", "1")</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.config("spark.sql.shuffle.partitions", "4")</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.config("spark.sql.adaptive.enabled", "true")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.config("spark.local.dir",</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str(OUT / "temporales_spark"))</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.config("spark.eventLog.enabled", "true")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.config("spark.eventLog.dir",</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(OUT / "event_logs").as_uri())</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.getOrCreate())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sc = spark.sparkContext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print(sc.uiWebUrl)</a:t>
            </a:r>
          </a:p>
        </p:txBody>
      </p:sp>
      <p:sp>
        <p:nvSpPr>
          <p:cNvPr id="4" name="">
            <a:extLst xmlns:a="http://schemas.openxmlformats.org/drawingml/2006/main">
              <a:ext uri="{FF2B5EF4-FFF2-40B4-BE49-F238E27FC236}">
                <a16:creationId xmlns:a16="http://schemas.microsoft.com/office/drawing/2014/main" id="{EA9932C9-D3AB-4F1D-A012-5233355FF2CD}"/>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Antes de iniciar</a:t>
            </a:r>
          </a:p>
        </p:txBody>
      </p:sp>
      <p:sp>
        <p:nvSpPr>
          <p:cNvPr id="5" name="">
            <a:extLst xmlns:a="http://schemas.openxmlformats.org/drawingml/2006/main">
              <a:ext uri="{FF2B5EF4-FFF2-40B4-BE49-F238E27FC236}">
                <a16:creationId xmlns:a16="http://schemas.microsoft.com/office/drawing/2014/main" id="{2A25FF44-87F8-4649-A79B-1211E51088B8}"/>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Ejecutar la celda completa: prepara rutas, entorno y directorios de registro.</a:t>
            </a:r>
          </a:p>
        </p:txBody>
      </p:sp>
      <p:sp>
        <p:nvSpPr>
          <p:cNvPr id="6" name="">
            <a:extLst xmlns:a="http://schemas.openxmlformats.org/drawingml/2006/main">
              <a:ext uri="{FF2B5EF4-FFF2-40B4-BE49-F238E27FC236}">
                <a16:creationId xmlns:a16="http://schemas.microsoft.com/office/drawing/2014/main" id="{30201AA5-E3E7-42BD-8959-AD0C57355AA3}"/>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Recursos</a:t>
            </a:r>
          </a:p>
        </p:txBody>
      </p:sp>
      <p:sp>
        <p:nvSpPr>
          <p:cNvPr id="7" name="">
            <a:extLst xmlns:a="http://schemas.openxmlformats.org/drawingml/2006/main">
              <a:ext uri="{FF2B5EF4-FFF2-40B4-BE49-F238E27FC236}">
                <a16:creationId xmlns:a16="http://schemas.microsoft.com/office/drawing/2014/main" id="{AF8C7CAD-E2DB-44B4-B6CA-CAEF4724C4CE}"/>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local[2] y una CPU por tarea permiten hasta dos tareas locales a la vez.</a:t>
            </a:r>
          </a:p>
        </p:txBody>
      </p:sp>
      <p:sp>
        <p:nvSpPr>
          <p:cNvPr id="8" name="">
            <a:extLst xmlns:a="http://schemas.openxmlformats.org/drawingml/2006/main">
              <a:ext uri="{FF2B5EF4-FFF2-40B4-BE49-F238E27FC236}">
                <a16:creationId xmlns:a16="http://schemas.microsoft.com/office/drawing/2014/main" id="{F8D49EE5-4B0D-47A1-B772-4E90231B3D0F}"/>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Fragmento de la sección 0. Detener el contexto anterior antes de aplicar esta configuración.</a:t>
            </a:r>
          </a:p>
        </p:txBody>
      </p:sp>
      <p:sp>
        <p:nvSpPr>
          <p:cNvPr id="9" name="">
            <a:extLst xmlns:a="http://schemas.openxmlformats.org/drawingml/2006/main">
              <a:ext uri="{FF2B5EF4-FFF2-40B4-BE49-F238E27FC236}">
                <a16:creationId xmlns:a16="http://schemas.microsoft.com/office/drawing/2014/main" id="{5CEA4FD8-FFCA-4EF8-85E1-599140BE9D2E}"/>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A97DBEDE-0030-4BCA-BF49-D603F7A67E01}"/>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38</a:t>
            </a:r>
          </a:p>
        </p:txBody>
      </p:sp>
    </p:spTree>
    <p:extLst>
      <p:ext uri="{BB962C8B-B14F-4D97-AF65-F5344CB8AC3E}">
        <p14:creationId xmlns:p14="http://schemas.microsoft.com/office/powerpoint/2010/main" val="1739748248"/>
      </p:ext>
    </p:extLst>
  </p:cSld>
  <p:transition spd="med" advClick="1">
    <p:fade/>
  </p:transition>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BE4054E-64BE-447C-8E2C-A4AED6FABECC}"/>
              </a:ext>
            </a:extLst>
          </p:cNvPr>
          <p:cNvPicPr>
            <a:picLocks xmlns:a="http://schemas.openxmlformats.org/drawingml/2006/main" noChangeAspect="1"/>
          </p:cNvPicPr>
          <p:nvPr/>
        </p:nvPicPr>
        <p:blipFill>
          <a:blip xmlns:r="http://schemas.openxmlformats.org/officeDocument/2006/relationships" xmlns:a="http://schemas.openxmlformats.org/drawingml/2006/main" r:embed="R644e06af349648b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6F1749F-F7C7-40E3-BFD9-164D20834061}"/>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Bloque A: reconstruir sumas por partición</a:t>
            </a:r>
          </a:p>
        </p:txBody>
      </p:sp>
      <p:sp>
        <p:nvSpPr>
          <p:cNvPr id="3" name="">
            <a:extLst xmlns:a="http://schemas.openxmlformats.org/drawingml/2006/main">
              <a:ext uri="{FF2B5EF4-FFF2-40B4-BE49-F238E27FC236}">
                <a16:creationId xmlns:a16="http://schemas.microsoft.com/office/drawing/2014/main" id="{18A12379-1A3D-4B50-8D59-0C50686E26C1}"/>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distribucion = entrada_demo.withColumn(</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"particion_entrada", F.spark_partition_id()</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).toPandas()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parciales_didacticos = distribucion.groupby(</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["particion_entrada", "clave"], as_index=False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)[["produccion_t", "area_ha"]].sum()</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display(parciales_didacticos)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plan_demo_antes = guardar_plan(</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resultado_demo, "demo_plan_antes.txt")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filas_resultado_demo = resultado_demo.collect()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plan_demo_despues = guardar_plan(</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resultado_demo, "demo_plan_despues.txt")</a:t>
            </a:r>
          </a:p>
        </p:txBody>
      </p:sp>
      <p:sp>
        <p:nvSpPr>
          <p:cNvPr id="4" name="">
            <a:extLst xmlns:a="http://schemas.openxmlformats.org/drawingml/2006/main">
              <a:ext uri="{FF2B5EF4-FFF2-40B4-BE49-F238E27FC236}">
                <a16:creationId xmlns:a16="http://schemas.microsoft.com/office/drawing/2014/main" id="{7E38182E-7447-42EF-8A5E-40EEEB64FDF6}"/>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Seis filas</a:t>
            </a:r>
          </a:p>
        </p:txBody>
      </p:sp>
      <p:sp>
        <p:nvSpPr>
          <p:cNvPr id="5" name="">
            <a:extLst xmlns:a="http://schemas.openxmlformats.org/drawingml/2006/main">
              <a:ext uri="{FF2B5EF4-FFF2-40B4-BE49-F238E27FC236}">
                <a16:creationId xmlns:a16="http://schemas.microsoft.com/office/drawing/2014/main" id="{6CB98E6D-7149-4352-A530-7E44561FB170}"/>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Ejecutar completo el bloque A. Reconstruir los parciales con Pandas desde la distribución observada.</a:t>
            </a:r>
          </a:p>
        </p:txBody>
      </p:sp>
      <p:sp>
        <p:nvSpPr>
          <p:cNvPr id="6" name="">
            <a:extLst xmlns:a="http://schemas.openxmlformats.org/drawingml/2006/main">
              <a:ext uri="{FF2B5EF4-FFF2-40B4-BE49-F238E27FC236}">
                <a16:creationId xmlns:a16="http://schemas.microsoft.com/office/drawing/2014/main" id="{D7CC86C9-650E-4080-A950-E8F31E5C3451}"/>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Plan nativo</a:t>
            </a:r>
          </a:p>
        </p:txBody>
      </p:sp>
      <p:sp>
        <p:nvSpPr>
          <p:cNvPr id="7" name="">
            <a:extLst xmlns:a="http://schemas.openxmlformats.org/drawingml/2006/main">
              <a:ext uri="{FF2B5EF4-FFF2-40B4-BE49-F238E27FC236}">
                <a16:creationId xmlns:a16="http://schemas.microsoft.com/office/drawing/2014/main" id="{4133790E-A7AD-4E17-B6FF-592C7A4D26E6}"/>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Buscar agregación parcial, Exchange y final. La reconstrucción no lee buffers internos.</a:t>
            </a:r>
          </a:p>
        </p:txBody>
      </p:sp>
      <p:sp>
        <p:nvSpPr>
          <p:cNvPr id="8" name="">
            <a:extLst xmlns:a="http://schemas.openxmlformats.org/drawingml/2006/main">
              <a:ext uri="{FF2B5EF4-FFF2-40B4-BE49-F238E27FC236}">
                <a16:creationId xmlns:a16="http://schemas.microsoft.com/office/drawing/2014/main" id="{F3F26947-952D-476C-BA86-C2F1923FF04B}"/>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Resultado didáctico: A = 40 t / 10 ha = 4 t/ha. B = 15 t / 5 ha = 3 t/ha.</a:t>
            </a:r>
          </a:p>
        </p:txBody>
      </p:sp>
      <p:sp>
        <p:nvSpPr>
          <p:cNvPr id="9" name="">
            <a:extLst xmlns:a="http://schemas.openxmlformats.org/drawingml/2006/main">
              <a:ext uri="{FF2B5EF4-FFF2-40B4-BE49-F238E27FC236}">
                <a16:creationId xmlns:a16="http://schemas.microsoft.com/office/drawing/2014/main" id="{3C422ADA-37CB-48F7-9BDE-BD42AD6A2897}"/>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F5D89197-47B7-43CC-8A40-450FB2B94365}"/>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39</a:t>
            </a:r>
          </a:p>
        </p:txBody>
      </p:sp>
    </p:spTree>
    <p:extLst>
      <p:ext uri="{BB962C8B-B14F-4D97-AF65-F5344CB8AC3E}">
        <p14:creationId xmlns:p14="http://schemas.microsoft.com/office/powerpoint/2010/main" val="478534976"/>
      </p:ext>
    </p:extLst>
  </p:cSld>
  <p:transition spd="med" advClick="1">
    <p:fade/>
  </p:transition>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6FD6A23-925C-4C12-824C-1E1B3F10324A}"/>
              </a:ext>
            </a:extLst>
          </p:cNvPr>
          <p:cNvPicPr>
            <a:picLocks xmlns:a="http://schemas.openxmlformats.org/drawingml/2006/main" noChangeAspect="1"/>
          </p:cNvPicPr>
          <p:nvPr/>
        </p:nvPicPr>
        <p:blipFill>
          <a:blip xmlns:r="http://schemas.openxmlformats.org/officeDocument/2006/relationships" xmlns:a="http://schemas.openxmlformats.org/drawingml/2006/main" r:embed="Rc22263acbd7047f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0000F1-D47C-4944-8412-DD8FB2D9C212}"/>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Bloque B: ocho particiones y dos hilos</a:t>
            </a:r>
          </a:p>
        </p:txBody>
      </p:sp>
      <p:sp>
        <p:nvSpPr>
          <p:cNvPr id="3" name="">
            <a:extLst xmlns:a="http://schemas.openxmlformats.org/drawingml/2006/main">
              <a:ext uri="{FF2B5EF4-FFF2-40B4-BE49-F238E27FC236}">
                <a16:creationId xmlns:a16="http://schemas.microsoft.com/office/drawing/2014/main" id="{02A8CA62-FFE5-4743-9901-3186AA429282}"/>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sonda = spark.range(0, 1_000_000,</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numPartitions=8)</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consulta_sonda = (sonda.select(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F.spark_partition_id().alias("particion_entrada"),</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F.sin(F.col("id").cast("double")).alias("senal"))</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.groupBy("particion_entrada")</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.agg(F.count("*").alias("filas"),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F.sum("senal").alias("suma_senal")))</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sonda_pd = pd.DataFrame([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r.asDict() for r in consulta_sonda.collect()])</a:t>
            </a:r>
          </a:p>
        </p:txBody>
      </p:sp>
      <p:sp>
        <p:nvSpPr>
          <p:cNvPr id="4" name="">
            <a:extLst xmlns:a="http://schemas.openxmlformats.org/drawingml/2006/main">
              <a:ext uri="{FF2B5EF4-FFF2-40B4-BE49-F238E27FC236}">
                <a16:creationId xmlns:a16="http://schemas.microsoft.com/office/drawing/2014/main" id="{E7F2AA06-362B-4D5F-A58C-2857B4108FF4}"/>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Sonda sintética</a:t>
            </a:r>
          </a:p>
        </p:txBody>
      </p:sp>
      <p:sp>
        <p:nvSpPr>
          <p:cNvPr id="5" name="">
            <a:extLst xmlns:a="http://schemas.openxmlformats.org/drawingml/2006/main">
              <a:ext uri="{FF2B5EF4-FFF2-40B4-BE49-F238E27FC236}">
                <a16:creationId xmlns:a16="http://schemas.microsoft.com/office/drawing/2014/main" id="{9423B188-275F-47AA-B35E-D17E3CDCA82B}"/>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Un millón de números. Operaciones nativas, sin UDF Python y sin duplicar datos agrícolas.</a:t>
            </a:r>
          </a:p>
        </p:txBody>
      </p:sp>
      <p:sp>
        <p:nvSpPr>
          <p:cNvPr id="6" name="">
            <a:extLst xmlns:a="http://schemas.openxmlformats.org/drawingml/2006/main">
              <a:ext uri="{FF2B5EF4-FFF2-40B4-BE49-F238E27FC236}">
                <a16:creationId xmlns:a16="http://schemas.microsoft.com/office/drawing/2014/main" id="{DBD79B73-C754-4DE0-80A0-869D239BA428}"/>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Observación</a:t>
            </a:r>
          </a:p>
        </p:txBody>
      </p:sp>
      <p:sp>
        <p:nvSpPr>
          <p:cNvPr id="7" name="">
            <a:extLst xmlns:a="http://schemas.openxmlformats.org/drawingml/2006/main">
              <a:ext uri="{FF2B5EF4-FFF2-40B4-BE49-F238E27FC236}">
                <a16:creationId xmlns:a16="http://schemas.microsoft.com/office/drawing/2014/main" id="{7BBC501E-9A86-4273-81C7-5E8C636E5B03}"/>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Revisar tareas del grupo REV01_CONCURRENCIA en la UI y en tareas_sonda.csv.</a:t>
            </a:r>
          </a:p>
        </p:txBody>
      </p:sp>
      <p:sp>
        <p:nvSpPr>
          <p:cNvPr id="8" name="">
            <a:extLst xmlns:a="http://schemas.openxmlformats.org/drawingml/2006/main">
              <a:ext uri="{FF2B5EF4-FFF2-40B4-BE49-F238E27FC236}">
                <a16:creationId xmlns:a16="http://schemas.microsoft.com/office/drawing/2014/main" id="{480E6481-B066-4E1A-95EE-856F32031A0E}"/>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Se esperan ocho grupos de entrada y un millón de filas en total. El tiempo se observa, no se exige.</a:t>
            </a:r>
          </a:p>
        </p:txBody>
      </p:sp>
      <p:sp>
        <p:nvSpPr>
          <p:cNvPr id="9" name="">
            <a:extLst xmlns:a="http://schemas.openxmlformats.org/drawingml/2006/main">
              <a:ext uri="{FF2B5EF4-FFF2-40B4-BE49-F238E27FC236}">
                <a16:creationId xmlns:a16="http://schemas.microsoft.com/office/drawing/2014/main" id="{E9802035-4FEE-41A4-B1FD-E731E1B1FEAE}"/>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172AA85B-4926-4234-B2B7-0B858689AAF0}"/>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40</a:t>
            </a:r>
          </a:p>
        </p:txBody>
      </p:sp>
    </p:spTree>
    <p:extLst>
      <p:ext uri="{BB962C8B-B14F-4D97-AF65-F5344CB8AC3E}">
        <p14:creationId xmlns:p14="http://schemas.microsoft.com/office/powerpoint/2010/main" val="1549126734"/>
      </p:ext>
    </p:extLst>
  </p:cSld>
  <p:transition spd="med" advClick="1">
    <p:fade/>
  </p:transition>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0DBE74A-D8A8-4626-960C-6804EABB90F5}"/>
              </a:ext>
            </a:extLst>
          </p:cNvPr>
          <p:cNvPicPr>
            <a:picLocks xmlns:a="http://schemas.openxmlformats.org/drawingml/2006/main" noChangeAspect="1"/>
          </p:cNvPicPr>
          <p:nvPr/>
        </p:nvPicPr>
        <p:blipFill>
          <a:blip xmlns:r="http://schemas.openxmlformats.org/officeDocument/2006/relationships" xmlns:a="http://schemas.openxmlformats.org/drawingml/2006/main" r:embed="R1a50699e85bd42a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93C22D-4599-405F-82D4-99C8A70702D9}"/>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Concurrencia: capacidad y evidencia</a:t>
            </a:r>
          </a:p>
        </p:txBody>
      </p:sp>
      <p:graphicFrame>
        <p:nvGraphicFramePr>
          <p:cNvPr id="3" name="">
            <a:extLst xmlns:a="http://schemas.openxmlformats.org/drawingml/2006/main">
              <a:ext uri="{FF2B5EF4-FFF2-40B4-BE49-F238E27FC236}">
                <a16:creationId xmlns:a16="http://schemas.microsoft.com/office/drawing/2014/main" id="{53D4C986-50F6-481B-A4DC-339A62F15F3F}"/>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Dato observado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Interpretación correcta</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maxTasks de la UI</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Capacidad reportada para tareas en ese entorno. En local puede aparecer el identificador driver.</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Inicio y duración de tareas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Permiten buscar un par de la misma etapa con al menos 10 ms de solapamiento.</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Solapamientos mínimos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Las notificaciones asíncronas pueden superponer intervalos de tareas que se relevan.</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Sin par claro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Registrar ausencia de evidencia y revisar el timeline. No inventar una medición de dos tareas.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Qué no se deduce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Estos intervalos no miden CPU utilizada ni el máximo exacto de tareas ejecutándose.</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A9727349-B26C-41DE-A872-5CD1AF5EB1D0}"/>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Bloque B guarda concurrencia_observada.json y tareas_sonda.csv dentro de evidencias.</a:t>
            </a:r>
          </a:p>
        </p:txBody>
      </p:sp>
      <p:sp>
        <p:nvSpPr>
          <p:cNvPr id="5" name="">
            <a:extLst xmlns:a="http://schemas.openxmlformats.org/drawingml/2006/main">
              <a:ext uri="{FF2B5EF4-FFF2-40B4-BE49-F238E27FC236}">
                <a16:creationId xmlns:a16="http://schemas.microsoft.com/office/drawing/2014/main" id="{52EFB3CB-C0FA-4F75-A5E9-38F63C9CFA15}"/>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BF87EC46-1AA8-4845-A767-DAB6DFAE28AF}"/>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41</a:t>
            </a:r>
          </a:p>
        </p:txBody>
      </p:sp>
    </p:spTree>
    <p:extLst>
      <p:ext uri="{BB962C8B-B14F-4D97-AF65-F5344CB8AC3E}">
        <p14:creationId xmlns:p14="http://schemas.microsoft.com/office/powerpoint/2010/main" val="2071822710"/>
      </p:ext>
    </p:extLst>
  </p:cSld>
  <p:transition spd="med" advClick="1">
    <p:fade/>
  </p:transition>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3B84FD2-98F6-47A9-BB08-F29E46958D05}"/>
              </a:ext>
            </a:extLst>
          </p:cNvPr>
          <p:cNvPicPr>
            <a:picLocks xmlns:a="http://schemas.openxmlformats.org/drawingml/2006/main" noChangeAspect="1"/>
          </p:cNvPicPr>
          <p:nvPr/>
        </p:nvPicPr>
        <p:blipFill>
          <a:blip xmlns:r="http://schemas.openxmlformats.org/officeDocument/2006/relationships" xmlns:a="http://schemas.openxmlformats.org/drawingml/2006/main" r:embed="Rcbd9c0d1c643461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99C984B-F584-430C-8511-D2EBD445C89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Datos de partida: entradas y salidas</a:t>
            </a:r>
          </a:p>
        </p:txBody>
      </p:sp>
      <p:sp>
        <p:nvSpPr>
          <p:cNvPr id="3" name="">
            <a:extLst xmlns:a="http://schemas.openxmlformats.org/drawingml/2006/main">
              <a:ext uri="{FF2B5EF4-FFF2-40B4-BE49-F238E27FC236}">
                <a16:creationId xmlns:a16="http://schemas.microsoft.com/office/drawing/2014/main" id="{34B0F377-E771-4F99-9217-05CC3FB08889}"/>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ENTRADA = KIT / "salidas/E07"</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OUT = KIT / "salidas/E07_rev01"</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rendimiento = spark.read.parquet(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str(ENTRADA / "spark_rendimiento"))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municipios = spark.read.parquet(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str(ENTRADA / "dim_municipio.parquet"))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eva = spark.read.parquet(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str(ENTRADA / "eva.parquet"))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claves = ["codigo_municipio", "cultivo",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"estado_fisico", "anio"]</a:t>
            </a:r>
          </a:p>
        </p:txBody>
      </p:sp>
      <p:sp>
        <p:nvSpPr>
          <p:cNvPr id="4" name="">
            <a:extLst xmlns:a="http://schemas.openxmlformats.org/drawingml/2006/main">
              <a:ext uri="{FF2B5EF4-FFF2-40B4-BE49-F238E27FC236}">
                <a16:creationId xmlns:a16="http://schemas.microsoft.com/office/drawing/2014/main" id="{BF368A3A-4C7D-4BA6-8C04-B59E3ED5DCEC}"/>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Origen</a:t>
            </a:r>
          </a:p>
        </p:txBody>
      </p:sp>
      <p:sp>
        <p:nvSpPr>
          <p:cNvPr id="5" name="">
            <a:extLst xmlns:a="http://schemas.openxmlformats.org/drawingml/2006/main">
              <a:ext uri="{FF2B5EF4-FFF2-40B4-BE49-F238E27FC236}">
                <a16:creationId xmlns:a16="http://schemas.microsoft.com/office/drawing/2014/main" id="{398CB525-EE95-4D6E-A91D-033FD3D0520F}"/>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Los productos de 05 se leen desde ENTRADA. OUT pertenece a la revisión.</a:t>
            </a:r>
          </a:p>
        </p:txBody>
      </p:sp>
      <p:sp>
        <p:nvSpPr>
          <p:cNvPr id="6" name="">
            <a:extLst xmlns:a="http://schemas.openxmlformats.org/drawingml/2006/main">
              <a:ext uri="{FF2B5EF4-FFF2-40B4-BE49-F238E27FC236}">
                <a16:creationId xmlns:a16="http://schemas.microsoft.com/office/drawing/2014/main" id="{91AD4072-4D83-465C-A423-70129EB5AF03}"/>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Comprobación</a:t>
            </a:r>
          </a:p>
        </p:txBody>
      </p:sp>
      <p:sp>
        <p:nvSpPr>
          <p:cNvPr id="7" name="">
            <a:extLst xmlns:a="http://schemas.openxmlformats.org/drawingml/2006/main">
              <a:ext uri="{FF2B5EF4-FFF2-40B4-BE49-F238E27FC236}">
                <a16:creationId xmlns:a16="http://schemas.microsoft.com/office/drawing/2014/main" id="{83B0F54F-E5CC-47AC-8FBB-A82A97BA1D47}"/>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Revisar esquema y particiones de entrada. Cuatro particiones de shuffle no fijan la lectura.</a:t>
            </a:r>
          </a:p>
        </p:txBody>
      </p:sp>
      <p:sp>
        <p:nvSpPr>
          <p:cNvPr id="8" name="">
            <a:extLst xmlns:a="http://schemas.openxmlformats.org/drawingml/2006/main">
              <a:ext uri="{FF2B5EF4-FFF2-40B4-BE49-F238E27FC236}">
                <a16:creationId xmlns:a16="http://schemas.microsoft.com/office/drawing/2014/main" id="{C705242A-59C9-4CFE-B0CC-FA849912882C}"/>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06 rev01, Datos de partida. La sección 0 detecta el repositorio o permite asignar REPOSITORIO.</a:t>
            </a:r>
          </a:p>
        </p:txBody>
      </p:sp>
      <p:sp>
        <p:nvSpPr>
          <p:cNvPr id="9" name="">
            <a:extLst xmlns:a="http://schemas.openxmlformats.org/drawingml/2006/main">
              <a:ext uri="{FF2B5EF4-FFF2-40B4-BE49-F238E27FC236}">
                <a16:creationId xmlns:a16="http://schemas.microsoft.com/office/drawing/2014/main" id="{7CB7C9CB-D5D4-4015-8DB5-9A61CD7CFA7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29D71C75-A22A-46DF-BC2B-6F6C65ED9B5C}"/>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42</a:t>
            </a:r>
          </a:p>
        </p:txBody>
      </p:sp>
    </p:spTree>
    <p:extLst>
      <p:ext uri="{BB962C8B-B14F-4D97-AF65-F5344CB8AC3E}">
        <p14:creationId xmlns:p14="http://schemas.microsoft.com/office/powerpoint/2010/main" val="47590731"/>
      </p:ext>
    </p:extLst>
  </p:cSld>
  <p:transition spd="med" advClick="1">
    <p:fade/>
  </p:transition>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7A2C3F8-E7B4-4315-BDE0-ADCD0350624C}"/>
              </a:ext>
            </a:extLst>
          </p:cNvPr>
          <p:cNvPicPr>
            <a:picLocks xmlns:a="http://schemas.openxmlformats.org/drawingml/2006/main" noChangeAspect="1"/>
          </p:cNvPicPr>
          <p:nvPr/>
        </p:nvPicPr>
        <p:blipFill>
          <a:blip xmlns:r="http://schemas.openxmlformats.org/officeDocument/2006/relationships" xmlns:a="http://schemas.openxmlformats.org/drawingml/2006/main" r:embed="R016fbfab736840e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48B345-96AB-491D-B70D-8E420F6AD07F}"/>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Sección 1: comprobar la dimensión</a:t>
            </a:r>
          </a:p>
        </p:txBody>
      </p:sp>
      <p:sp>
        <p:nvSpPr>
          <p:cNvPr id="3" name="">
            <a:extLst xmlns:a="http://schemas.openxmlformats.org/drawingml/2006/main">
              <a:ext uri="{FF2B5EF4-FFF2-40B4-BE49-F238E27FC236}">
                <a16:creationId xmlns:a16="http://schemas.microsoft.com/office/drawing/2014/main" id="{48517E8D-8170-4906-9C26-E65671C45F27}"/>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duplicados = (municipios.groupBy("codigo_municipio")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.count().filter(F.col("count") &gt; 1))</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assert duplicados.count() == 0</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assert municipios.filter(</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F.col("codigo_municipio").isNull()).count() == 0</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sin_dimension = rendimiento.join(</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municipios.select("codigo_municipio"),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"codigo_municipio", "left_anti")</a:t>
            </a:r>
          </a:p>
        </p:txBody>
      </p:sp>
      <p:sp>
        <p:nvSpPr>
          <p:cNvPr id="4" name="">
            <a:extLst xmlns:a="http://schemas.openxmlformats.org/drawingml/2006/main">
              <a:ext uri="{FF2B5EF4-FFF2-40B4-BE49-F238E27FC236}">
                <a16:creationId xmlns:a16="http://schemas.microsoft.com/office/drawing/2014/main" id="{3AC8C66A-293E-4EEB-9C1B-6A6A30D28E60}"/>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5B7E69C7-ACB4-4511-A1AA-936111C0D3B6}"/>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Validar unicidad y nulos antes de añadir atributos.</a:t>
            </a:r>
          </a:p>
        </p:txBody>
      </p:sp>
      <p:sp>
        <p:nvSpPr>
          <p:cNvPr id="6" name="">
            <a:extLst xmlns:a="http://schemas.openxmlformats.org/drawingml/2006/main">
              <a:ext uri="{FF2B5EF4-FFF2-40B4-BE49-F238E27FC236}">
                <a16:creationId xmlns:a16="http://schemas.microsoft.com/office/drawing/2014/main" id="{A2C342BE-5508-49DE-9540-B1BFBE778E9A}"/>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Interpretación</a:t>
            </a:r>
          </a:p>
        </p:txBody>
      </p:sp>
      <p:sp>
        <p:nvSpPr>
          <p:cNvPr id="7" name="">
            <a:extLst xmlns:a="http://schemas.openxmlformats.org/drawingml/2006/main">
              <a:ext uri="{FF2B5EF4-FFF2-40B4-BE49-F238E27FC236}">
                <a16:creationId xmlns:a16="http://schemas.microsoft.com/office/drawing/2014/main" id="{A86E9AE6-E6EB-499E-97F5-F5207E993F24}"/>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Examinar sin_dimension y explicar qué se perdería con INNER JOIN.</a:t>
            </a:r>
          </a:p>
        </p:txBody>
      </p:sp>
      <p:sp>
        <p:nvSpPr>
          <p:cNvPr id="8" name="">
            <a:extLst xmlns:a="http://schemas.openxmlformats.org/drawingml/2006/main">
              <a:ext uri="{FF2B5EF4-FFF2-40B4-BE49-F238E27FC236}">
                <a16:creationId xmlns:a16="http://schemas.microsoft.com/office/drawing/2014/main" id="{3FB59A0D-B3A6-4848-84D2-BC5F293EC391}"/>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06 rev01, paso 1. Los grupos sin dimensión se guardan para revisión.</a:t>
            </a:r>
          </a:p>
        </p:txBody>
      </p:sp>
      <p:sp>
        <p:nvSpPr>
          <p:cNvPr id="9" name="">
            <a:extLst xmlns:a="http://schemas.openxmlformats.org/drawingml/2006/main">
              <a:ext uri="{FF2B5EF4-FFF2-40B4-BE49-F238E27FC236}">
                <a16:creationId xmlns:a16="http://schemas.microsoft.com/office/drawing/2014/main" id="{167AA951-DEF2-460C-8889-1D1D79EDEB9D}"/>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CA39D348-703C-486B-B5B3-F47994C5DFC9}"/>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43</a:t>
            </a:r>
          </a:p>
        </p:txBody>
      </p:sp>
    </p:spTree>
    <p:extLst>
      <p:ext uri="{BB962C8B-B14F-4D97-AF65-F5344CB8AC3E}">
        <p14:creationId xmlns:p14="http://schemas.microsoft.com/office/powerpoint/2010/main" val="490392776"/>
      </p:ext>
    </p:extLst>
  </p:cSld>
  <p:transition spd="med" advClick="1">
    <p:fade/>
  </p:transition>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1233305-7BDA-48CE-9086-0B667F46EAAD}"/>
              </a:ext>
            </a:extLst>
          </p:cNvPr>
          <p:cNvPicPr>
            <a:picLocks xmlns:a="http://schemas.openxmlformats.org/drawingml/2006/main" noChangeAspect="1"/>
          </p:cNvPicPr>
          <p:nvPr/>
        </p:nvPicPr>
        <p:blipFill>
          <a:blip xmlns:r="http://schemas.openxmlformats.org/officeDocument/2006/relationships" xmlns:a="http://schemas.openxmlformats.org/drawingml/2006/main" r:embed="Rec3ff617f5c44940"/>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4E263A-83CD-4387-82FC-85D618763A3B}"/>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Sección 2: comparar estrategias de join</a:t>
            </a:r>
          </a:p>
        </p:txBody>
      </p:sp>
      <p:sp>
        <p:nvSpPr>
          <p:cNvPr id="3" name="">
            <a:extLst xmlns:a="http://schemas.openxmlformats.org/drawingml/2006/main">
              <a:ext uri="{FF2B5EF4-FFF2-40B4-BE49-F238E27FC236}">
                <a16:creationId xmlns:a16="http://schemas.microsoft.com/office/drawing/2014/main" id="{AB6BBCCA-E043-491C-990A-436F30073BFE}"/>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filas_antes = rendimiento.count()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union_normal = rendimiento.join(</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municipios, "codigo_municipio", "left")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union_broadcast = rendimiento.join(</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F.broadcast(municipios), "codigo_municipio", "left")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union_normal.explain("formatted")</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union_broadcast.explain("formatted")</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assert union_broadcast.count() == filas_antes</a:t>
            </a:r>
          </a:p>
        </p:txBody>
      </p:sp>
      <p:sp>
        <p:nvSpPr>
          <p:cNvPr id="4" name="">
            <a:extLst xmlns:a="http://schemas.openxmlformats.org/drawingml/2006/main">
              <a:ext uri="{FF2B5EF4-FFF2-40B4-BE49-F238E27FC236}">
                <a16:creationId xmlns:a16="http://schemas.microsoft.com/office/drawing/2014/main" id="{EBA81E9D-297F-448A-93E0-08819B8320D9}"/>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85B4664A-B794-430F-9524-0F70473B9B86}"/>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Localizar estrategia y posibles intercambios en ambos planes.</a:t>
            </a:r>
          </a:p>
        </p:txBody>
      </p:sp>
      <p:sp>
        <p:nvSpPr>
          <p:cNvPr id="6" name="">
            <a:extLst xmlns:a="http://schemas.openxmlformats.org/drawingml/2006/main">
              <a:ext uri="{FF2B5EF4-FFF2-40B4-BE49-F238E27FC236}">
                <a16:creationId xmlns:a16="http://schemas.microsoft.com/office/drawing/2014/main" id="{855F4CD8-0B98-455E-BF17-3A23BEFEA695}"/>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Interpretación</a:t>
            </a:r>
          </a:p>
        </p:txBody>
      </p:sp>
      <p:sp>
        <p:nvSpPr>
          <p:cNvPr id="7" name="">
            <a:extLst xmlns:a="http://schemas.openxmlformats.org/drawingml/2006/main">
              <a:ext uri="{FF2B5EF4-FFF2-40B4-BE49-F238E27FC236}">
                <a16:creationId xmlns:a16="http://schemas.microsoft.com/office/drawing/2014/main" id="{D9F6D01B-7DAA-40BA-B770-246C1598171D}"/>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Si ambos usan broadcast, explicar por qué el optimizador pudo elegirlo.</a:t>
            </a:r>
          </a:p>
        </p:txBody>
      </p:sp>
      <p:sp>
        <p:nvSpPr>
          <p:cNvPr id="8" name="">
            <a:extLst xmlns:a="http://schemas.openxmlformats.org/drawingml/2006/main">
              <a:ext uri="{FF2B5EF4-FFF2-40B4-BE49-F238E27FC236}">
                <a16:creationId xmlns:a16="http://schemas.microsoft.com/office/drawing/2014/main" id="{D43929E3-8B8E-48D4-BF53-70EAD8D76E09}"/>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06 rev01, paso 2. Comprobar también el conteo de union_normal.</a:t>
            </a:r>
          </a:p>
        </p:txBody>
      </p:sp>
      <p:sp>
        <p:nvSpPr>
          <p:cNvPr id="9" name="">
            <a:extLst xmlns:a="http://schemas.openxmlformats.org/drawingml/2006/main">
              <a:ext uri="{FF2B5EF4-FFF2-40B4-BE49-F238E27FC236}">
                <a16:creationId xmlns:a16="http://schemas.microsoft.com/office/drawing/2014/main" id="{A8FE9421-7D51-4E0C-BA8D-4AA3F7278D5B}"/>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3ADEB5C1-D328-4C15-8DB4-C53547334B6C}"/>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44</a:t>
            </a:r>
          </a:p>
        </p:txBody>
      </p:sp>
    </p:spTree>
    <p:extLst>
      <p:ext uri="{BB962C8B-B14F-4D97-AF65-F5344CB8AC3E}">
        <p14:creationId xmlns:p14="http://schemas.microsoft.com/office/powerpoint/2010/main" val="2051171530"/>
      </p:ext>
    </p:extLst>
  </p:cSld>
  <p:transition spd="med" advClick="1">
    <p:fade/>
  </p:transition>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E3235EA-4266-48B7-AFC0-10CE6879A99E}"/>
              </a:ext>
            </a:extLst>
          </p:cNvPr>
          <p:cNvPicPr>
            <a:picLocks xmlns:a="http://schemas.openxmlformats.org/drawingml/2006/main" noChangeAspect="1"/>
          </p:cNvPicPr>
          <p:nvPr/>
        </p:nvPicPr>
        <p:blipFill>
          <a:blip xmlns:r="http://schemas.openxmlformats.org/officeDocument/2006/relationships" xmlns:a="http://schemas.openxmlformats.org/drawingml/2006/main" r:embed="R42c72767025c48d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5DCB96D-BDAD-4579-B5B9-95E1605729C3}"/>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Sección 2: materializar y verificar</a:t>
            </a:r>
          </a:p>
        </p:txBody>
      </p:sp>
      <p:sp>
        <p:nvSpPr>
          <p:cNvPr id="3" name="">
            <a:extLst xmlns:a="http://schemas.openxmlformats.org/drawingml/2006/main">
              <a:ext uri="{FF2B5EF4-FFF2-40B4-BE49-F238E27FC236}">
                <a16:creationId xmlns:a16="http://schemas.microsoft.com/office/drawing/2014/main" id="{4A616B1F-9AEB-4DB9-9F78-0D6B45FF4FE3}"/>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Celda de escritura del notebook:</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union_broadcast.write.mode("overwrite").parquet(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str(OUT / "rendimiento_municipal"))</a:t>
            </a:r>
          </a:p>
          <a:p xmlns:a="http://schemas.openxmlformats.org/drawingml/2006/main">
            <a:r>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Verificación posterior del agregado pequeño: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normal_pd = union_normal.toPandas()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union_pd = pd.read_parquet(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OUT / "rendimiento_municipal")</a:t>
            </a:r>
          </a:p>
        </p:txBody>
      </p:sp>
      <p:sp>
        <p:nvSpPr>
          <p:cNvPr id="4" name="">
            <a:extLst xmlns:a="http://schemas.openxmlformats.org/drawingml/2006/main">
              <a:ext uri="{FF2B5EF4-FFF2-40B4-BE49-F238E27FC236}">
                <a16:creationId xmlns:a16="http://schemas.microsoft.com/office/drawing/2014/main" id="{0336D7F5-34E9-4012-B11F-1EE5E565BBC9}"/>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60BB242A-785C-4FDE-8BAA-E0A044521EB5}"/>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Medir la celda de escritura y comparar resultados ordenados por claves.</a:t>
            </a:r>
          </a:p>
        </p:txBody>
      </p:sp>
      <p:sp>
        <p:nvSpPr>
          <p:cNvPr id="6" name="">
            <a:extLst xmlns:a="http://schemas.openxmlformats.org/drawingml/2006/main">
              <a:ext uri="{FF2B5EF4-FFF2-40B4-BE49-F238E27FC236}">
                <a16:creationId xmlns:a16="http://schemas.microsoft.com/office/drawing/2014/main" id="{5425AB88-15E7-4069-BA7D-9A1F9FABA54C}"/>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Comprobación</a:t>
            </a:r>
          </a:p>
        </p:txBody>
      </p:sp>
      <p:sp>
        <p:nvSpPr>
          <p:cNvPr id="7" name="">
            <a:extLst xmlns:a="http://schemas.openxmlformats.org/drawingml/2006/main">
              <a:ext uri="{FF2B5EF4-FFF2-40B4-BE49-F238E27FC236}">
                <a16:creationId xmlns:a16="http://schemas.microsoft.com/office/drawing/2014/main" id="{145E79C7-C975-4031-8208-6F871D015867}"/>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El notebook contrasta todas las columnas con assert_frame_equal.</a:t>
            </a:r>
          </a:p>
        </p:txBody>
      </p:sp>
      <p:sp>
        <p:nvSpPr>
          <p:cNvPr id="8" name="">
            <a:extLst xmlns:a="http://schemas.openxmlformats.org/drawingml/2006/main">
              <a:ext uri="{FF2B5EF4-FFF2-40B4-BE49-F238E27FC236}">
                <a16:creationId xmlns:a16="http://schemas.microsoft.com/office/drawing/2014/main" id="{3C25C7D1-82EB-4BDA-93FB-B99DB3F636C7}"/>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06 rev01, paso 2. %%time va en la primera línea de la celda que se desea medir.</a:t>
            </a:r>
          </a:p>
        </p:txBody>
      </p:sp>
      <p:sp>
        <p:nvSpPr>
          <p:cNvPr id="9" name="">
            <a:extLst xmlns:a="http://schemas.openxmlformats.org/drawingml/2006/main">
              <a:ext uri="{FF2B5EF4-FFF2-40B4-BE49-F238E27FC236}">
                <a16:creationId xmlns:a16="http://schemas.microsoft.com/office/drawing/2014/main" id="{C29CA8DA-DDCE-41C7-91EB-B93A0576BAB8}"/>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E5A818DE-4B70-40B8-87CC-690AC6949380}"/>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45</a:t>
            </a:r>
          </a:p>
        </p:txBody>
      </p:sp>
    </p:spTree>
    <p:extLst>
      <p:ext uri="{BB962C8B-B14F-4D97-AF65-F5344CB8AC3E}">
        <p14:creationId xmlns:p14="http://schemas.microsoft.com/office/powerpoint/2010/main" val="601991560"/>
      </p:ext>
    </p:extLst>
  </p:cSld>
  <p:transition spd="med" advClick="1">
    <p:fade/>
  </p:transition>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11B5FF1-D60A-47A5-AE42-2FA6092E9FEA}"/>
              </a:ext>
            </a:extLst>
          </p:cNvPr>
          <p:cNvPicPr>
            <a:picLocks xmlns:a="http://schemas.openxmlformats.org/drawingml/2006/main" noChangeAspect="1"/>
          </p:cNvPicPr>
          <p:nvPr/>
        </p:nvPicPr>
        <p:blipFill>
          <a:blip xmlns:r="http://schemas.openxmlformats.org/officeDocument/2006/relationships" xmlns:a="http://schemas.openxmlformats.org/drawingml/2006/main" r:embed="R88ad4235101e4c62"/>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9BEDB0-E67A-4396-BF46-7DEE83C86AAC}"/>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Sección 3: construir el top 3</a:t>
            </a:r>
          </a:p>
        </p:txBody>
      </p:sp>
      <p:sp>
        <p:nvSpPr>
          <p:cNvPr id="3" name="">
            <a:extLst xmlns:a="http://schemas.openxmlformats.org/drawingml/2006/main">
              <a:ext uri="{FF2B5EF4-FFF2-40B4-BE49-F238E27FC236}">
                <a16:creationId xmlns:a16="http://schemas.microsoft.com/office/drawing/2014/main" id="{1A655D88-AAC9-46C3-A6A4-6A35E897B09F}"/>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from pyspark.sql.window import Window</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ventana = Window.partitionBy(</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"cultivo", "estado_fisico", "anio").orderBy(</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F.col("rendimiento_t_ha").desc(),</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F.col("codigo_municipio").asc())</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ranking = rendimiento.withColumn(</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"posicion", F.row_number().over(ventana))</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top3 = ranking.filter(F.col("posicion") &lt;= 3)</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top3.explain("formatted")</a:t>
            </a:r>
          </a:p>
        </p:txBody>
      </p:sp>
      <p:sp>
        <p:nvSpPr>
          <p:cNvPr id="4" name="">
            <a:extLst xmlns:a="http://schemas.openxmlformats.org/drawingml/2006/main">
              <a:ext uri="{FF2B5EF4-FFF2-40B4-BE49-F238E27FC236}">
                <a16:creationId xmlns:a16="http://schemas.microsoft.com/office/drawing/2014/main" id="{E4F869D8-AA7A-4DAE-8753-667D6FA52C1D}"/>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5AAE35CA-D249-4C9A-BB95-CAD8D1B10877}"/>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Identificar grupos de comparación y regla de desempate.</a:t>
            </a:r>
          </a:p>
        </p:txBody>
      </p:sp>
      <p:sp>
        <p:nvSpPr>
          <p:cNvPr id="6" name="">
            <a:extLst xmlns:a="http://schemas.openxmlformats.org/drawingml/2006/main">
              <a:ext uri="{FF2B5EF4-FFF2-40B4-BE49-F238E27FC236}">
                <a16:creationId xmlns:a16="http://schemas.microsoft.com/office/drawing/2014/main" id="{75F7AF0A-E159-4F2F-AB11-3198153996EA}"/>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Observación</a:t>
            </a:r>
          </a:p>
        </p:txBody>
      </p:sp>
      <p:sp>
        <p:nvSpPr>
          <p:cNvPr id="7" name="">
            <a:extLst xmlns:a="http://schemas.openxmlformats.org/drawingml/2006/main">
              <a:ext uri="{FF2B5EF4-FFF2-40B4-BE49-F238E27FC236}">
                <a16:creationId xmlns:a16="http://schemas.microsoft.com/office/drawing/2014/main" id="{74FB31B5-558E-4F94-890B-9E58454CBAC3}"/>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Relacionar Exchange, Sort y Window con el recorrido explicado. Revisar la ejecución de escritura en la UI.</a:t>
            </a:r>
          </a:p>
        </p:txBody>
      </p:sp>
      <p:sp>
        <p:nvSpPr>
          <p:cNvPr id="8" name="">
            <a:extLst xmlns:a="http://schemas.openxmlformats.org/drawingml/2006/main">
              <a:ext uri="{FF2B5EF4-FFF2-40B4-BE49-F238E27FC236}">
                <a16:creationId xmlns:a16="http://schemas.microsoft.com/office/drawing/2014/main" id="{DDAE64AF-9FD7-4053-A6C2-84AC6DB947BD}"/>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06 rev01, paso 3. La acción posterior escribe spark_top3.</a:t>
            </a:r>
          </a:p>
        </p:txBody>
      </p:sp>
      <p:sp>
        <p:nvSpPr>
          <p:cNvPr id="9" name="">
            <a:extLst xmlns:a="http://schemas.openxmlformats.org/drawingml/2006/main">
              <a:ext uri="{FF2B5EF4-FFF2-40B4-BE49-F238E27FC236}">
                <a16:creationId xmlns:a16="http://schemas.microsoft.com/office/drawing/2014/main" id="{00834C09-9DB4-4051-9450-2B61496837D3}"/>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CA4CE531-4B1C-4B20-B1D4-AF3F8686EA83}"/>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46</a:t>
            </a:r>
          </a:p>
        </p:txBody>
      </p:sp>
    </p:spTree>
    <p:extLst>
      <p:ext uri="{BB962C8B-B14F-4D97-AF65-F5344CB8AC3E}">
        <p14:creationId xmlns:p14="http://schemas.microsoft.com/office/powerpoint/2010/main" val="686607074"/>
      </p:ext>
    </p:extLst>
  </p:cSld>
  <p:transition spd="med" advClick="1">
    <p:fade/>
  </p:transition>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3FF4A82-157B-45B1-9290-8EB1369F86BF}"/>
              </a:ext>
            </a:extLst>
          </p:cNvPr>
          <p:cNvPicPr>
            <a:picLocks xmlns:a="http://schemas.openxmlformats.org/drawingml/2006/main" noChangeAspect="1"/>
          </p:cNvPicPr>
          <p:nvPr/>
        </p:nvPicPr>
        <p:blipFill>
          <a:blip xmlns:r="http://schemas.openxmlformats.org/officeDocument/2006/relationships" xmlns:a="http://schemas.openxmlformats.org/drawingml/2006/main" r:embed="R6bbaa02b1ab9490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F6931B-3EDF-4798-B12C-06C77048E53B}"/>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Sección 4: verificar la ventana con SQL</a:t>
            </a:r>
          </a:p>
        </p:txBody>
      </p:sp>
      <p:sp>
        <p:nvSpPr>
          <p:cNvPr id="3" name="">
            <a:extLst xmlns:a="http://schemas.openxmlformats.org/drawingml/2006/main">
              <a:ext uri="{FF2B5EF4-FFF2-40B4-BE49-F238E27FC236}">
                <a16:creationId xmlns:a16="http://schemas.microsoft.com/office/drawing/2014/main" id="{60AFDBA7-A3EA-4D1B-97BF-C91794970ABE}"/>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SELECT * FROM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SELECT *, ROW_NUMBER() OVER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PARTITION BY cultivo, estado_fisico, anio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ORDER BY rendimiento_t_ha DESC,</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codigo_municipio ASC</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 AS posicion</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FROM rendimiento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WHERE posicion &lt;= 3</a:t>
            </a:r>
          </a:p>
        </p:txBody>
      </p:sp>
      <p:sp>
        <p:nvSpPr>
          <p:cNvPr id="4" name="">
            <a:extLst xmlns:a="http://schemas.openxmlformats.org/drawingml/2006/main">
              <a:ext uri="{FF2B5EF4-FFF2-40B4-BE49-F238E27FC236}">
                <a16:creationId xmlns:a16="http://schemas.microsoft.com/office/drawing/2014/main" id="{9CDFA3A1-F554-4BAE-9592-052B9CB27E31}"/>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E51973F9-22C7-4645-A346-AF0BFA2F1AAF}"/>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Ejecutar SQL en DuckDB sobre el mismo agregado Spark.</a:t>
            </a:r>
          </a:p>
        </p:txBody>
      </p:sp>
      <p:sp>
        <p:nvSpPr>
          <p:cNvPr id="6" name="">
            <a:extLst xmlns:a="http://schemas.openxmlformats.org/drawingml/2006/main">
              <a:ext uri="{FF2B5EF4-FFF2-40B4-BE49-F238E27FC236}">
                <a16:creationId xmlns:a16="http://schemas.microsoft.com/office/drawing/2014/main" id="{D68FC13C-254F-45BB-8C35-650F71CD5C2D}"/>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Comprobación</a:t>
            </a:r>
          </a:p>
        </p:txBody>
      </p:sp>
      <p:sp>
        <p:nvSpPr>
          <p:cNvPr id="7" name="">
            <a:extLst xmlns:a="http://schemas.openxmlformats.org/drawingml/2006/main">
              <a:ext uri="{FF2B5EF4-FFF2-40B4-BE49-F238E27FC236}">
                <a16:creationId xmlns:a16="http://schemas.microsoft.com/office/drawing/2014/main" id="{0C250BE5-CE4C-463C-A4C8-5DAC6B7891E8}"/>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Comparar todas las filas ordenadas. Cada grupo tiene como máximo tres.</a:t>
            </a:r>
          </a:p>
        </p:txBody>
      </p:sp>
      <p:sp>
        <p:nvSpPr>
          <p:cNvPr id="8" name="">
            <a:extLst xmlns:a="http://schemas.openxmlformats.org/drawingml/2006/main">
              <a:ext uri="{FF2B5EF4-FFF2-40B4-BE49-F238E27FC236}">
                <a16:creationId xmlns:a16="http://schemas.microsoft.com/office/drawing/2014/main" id="{F0FC2158-20DB-43B3-AC6D-CB641610DABC}"/>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06 rev01, sección 4. DuckDB lee ENTRADA/spark_rendimiento. El top 3 se escribe en OUT.</a:t>
            </a:r>
          </a:p>
        </p:txBody>
      </p:sp>
      <p:sp>
        <p:nvSpPr>
          <p:cNvPr id="9" name="">
            <a:extLst xmlns:a="http://schemas.openxmlformats.org/drawingml/2006/main">
              <a:ext uri="{FF2B5EF4-FFF2-40B4-BE49-F238E27FC236}">
                <a16:creationId xmlns:a16="http://schemas.microsoft.com/office/drawing/2014/main" id="{85070B57-CD7B-478F-B742-79FA833567D7}"/>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632F179D-B53D-4AAE-AA11-ADD9A2401368}"/>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47</a:t>
            </a:r>
          </a:p>
        </p:txBody>
      </p:sp>
    </p:spTree>
    <p:extLst>
      <p:ext uri="{BB962C8B-B14F-4D97-AF65-F5344CB8AC3E}">
        <p14:creationId xmlns:p14="http://schemas.microsoft.com/office/powerpoint/2010/main" val="437018401"/>
      </p:ext>
    </p:extLst>
  </p:cSld>
  <p:transition spd="med" advClick="1">
    <p:fade/>
  </p:transition>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73ABB1B-194E-428A-9BE6-ABED0EE664CC}"/>
              </a:ext>
            </a:extLst>
          </p:cNvPr>
          <p:cNvPicPr>
            <a:picLocks xmlns:a="http://schemas.openxmlformats.org/drawingml/2006/main" noChangeAspect="1"/>
          </p:cNvPicPr>
          <p:nvPr/>
        </p:nvPicPr>
        <p:blipFill>
          <a:blip xmlns:r="http://schemas.openxmlformats.org/officeDocument/2006/relationships" xmlns:a="http://schemas.openxmlformats.org/drawingml/2006/main" r:embed="R4282b2898b734bb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2D278C-3576-4B0F-AC79-2D409F51F78F}"/>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Sección 5: cuatro escenarios de particionado</a:t>
            </a:r>
          </a:p>
        </p:txBody>
      </p:sp>
      <p:sp>
        <p:nvSpPr>
          <p:cNvPr id="3" name="">
            <a:extLst xmlns:a="http://schemas.openxmlformats.org/drawingml/2006/main">
              <a:ext uri="{FF2B5EF4-FFF2-40B4-BE49-F238E27FC236}">
                <a16:creationId xmlns:a16="http://schemas.microsoft.com/office/drawing/2014/main" id="{6DA04A5C-7B0A-4AEF-88C7-17327034DE60}"/>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config_antes = {k: spark.conf.get(k) for k in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"spark.sql.shuffle.partitions",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"spark.sql.adaptive.enabled"]}</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for aqe in [True, False]: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spark.conf.set("spark.sql.adaptive.enabled",</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str(aqe).lower())</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for numero in [4, 2]:</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spark.conf.set("spark.sql.shuffle.partitions",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str(numero))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 Reconstruir, escribir y comparar consulta.</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El finally de la celda restaura config_antes.</a:t>
            </a:r>
          </a:p>
        </p:txBody>
      </p:sp>
      <p:sp>
        <p:nvSpPr>
          <p:cNvPr id="4" name="">
            <a:extLst xmlns:a="http://schemas.openxmlformats.org/drawingml/2006/main">
              <a:ext uri="{FF2B5EF4-FFF2-40B4-BE49-F238E27FC236}">
                <a16:creationId xmlns:a16="http://schemas.microsoft.com/office/drawing/2014/main" id="{17510C15-4194-4FF3-80DE-EF682B103643}"/>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Experimento</a:t>
            </a:r>
          </a:p>
        </p:txBody>
      </p:sp>
      <p:sp>
        <p:nvSpPr>
          <p:cNvPr id="5" name="">
            <a:extLst xmlns:a="http://schemas.openxmlformats.org/drawingml/2006/main">
              <a:ext uri="{FF2B5EF4-FFF2-40B4-BE49-F238E27FC236}">
                <a16:creationId xmlns:a16="http://schemas.microsoft.com/office/drawing/2014/main" id="{4C39B264-3D3F-4EAD-9976-D7E54B4657B3}"/>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Ejecutar completa la sección 5. Comparar 4 y 2 con AQE activo e inactivo.</a:t>
            </a:r>
          </a:p>
        </p:txBody>
      </p:sp>
      <p:sp>
        <p:nvSpPr>
          <p:cNvPr id="6" name="">
            <a:extLst xmlns:a="http://schemas.openxmlformats.org/drawingml/2006/main">
              <a:ext uri="{FF2B5EF4-FFF2-40B4-BE49-F238E27FC236}">
                <a16:creationId xmlns:a16="http://schemas.microsoft.com/office/drawing/2014/main" id="{2111A80F-3CCA-4C0F-B81F-241546207DC8}"/>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Resultado</a:t>
            </a:r>
          </a:p>
        </p:txBody>
      </p:sp>
      <p:sp>
        <p:nvSpPr>
          <p:cNvPr id="7" name="">
            <a:extLst xmlns:a="http://schemas.openxmlformats.org/drawingml/2006/main">
              <a:ext uri="{FF2B5EF4-FFF2-40B4-BE49-F238E27FC236}">
                <a16:creationId xmlns:a16="http://schemas.microsoft.com/office/drawing/2014/main" id="{78A9172F-BB0B-47E8-AB07-BC43757A5A1A}"/>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Registrar archivos Parquet, grupos y equivalencia. No equiparar archivos con executors.</a:t>
            </a:r>
          </a:p>
        </p:txBody>
      </p:sp>
      <p:sp>
        <p:nvSpPr>
          <p:cNvPr id="8" name="">
            <a:extLst xmlns:a="http://schemas.openxmlformats.org/drawingml/2006/main">
              <a:ext uri="{FF2B5EF4-FFF2-40B4-BE49-F238E27FC236}">
                <a16:creationId xmlns:a16="http://schemas.microsoft.com/office/drawing/2014/main" id="{EF63772A-42CE-4EEF-8F12-1BFD0E967022}"/>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plan previo es inicial. Revisar la ejecución final de escritura en SQL/Stages o en los event logs.</a:t>
            </a:r>
          </a:p>
        </p:txBody>
      </p:sp>
      <p:sp>
        <p:nvSpPr>
          <p:cNvPr id="9" name="">
            <a:extLst xmlns:a="http://schemas.openxmlformats.org/drawingml/2006/main">
              <a:ext uri="{FF2B5EF4-FFF2-40B4-BE49-F238E27FC236}">
                <a16:creationId xmlns:a16="http://schemas.microsoft.com/office/drawing/2014/main" id="{70D595C3-FCA1-4F9B-8728-7F14627B6ABE}"/>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A805C4CE-1CE2-49EE-A091-1D44D0B2066A}"/>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48</a:t>
            </a:r>
          </a:p>
        </p:txBody>
      </p:sp>
    </p:spTree>
    <p:extLst>
      <p:ext uri="{BB962C8B-B14F-4D97-AF65-F5344CB8AC3E}">
        <p14:creationId xmlns:p14="http://schemas.microsoft.com/office/powerpoint/2010/main" val="246347896"/>
      </p:ext>
    </p:extLst>
  </p:cSld>
  <p:transition spd="med" advClick="1">
    <p:fade/>
  </p:transition>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DDBF83D-1625-4314-8F71-5B935BBEEF3B}"/>
              </a:ext>
            </a:extLst>
          </p:cNvPr>
          <p:cNvPicPr>
            <a:picLocks xmlns:a="http://schemas.openxmlformats.org/drawingml/2006/main" noChangeAspect="1"/>
          </p:cNvPicPr>
          <p:nvPr/>
        </p:nvPicPr>
        <p:blipFill>
          <a:blip xmlns:r="http://schemas.openxmlformats.org/officeDocument/2006/relationships" xmlns:a="http://schemas.openxmlformats.org/drawingml/2006/main" r:embed="R66dc55d0ad3e488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DF5F96-67D3-4781-A718-5107A0976D7A}"/>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Sección 6: localizar los archivos temporales</a:t>
            </a:r>
          </a:p>
        </p:txBody>
      </p:sp>
      <p:sp>
        <p:nvSpPr>
          <p:cNvPr id="3" name="">
            <a:extLst xmlns:a="http://schemas.openxmlformats.org/drawingml/2006/main">
              <a:ext uri="{FF2B5EF4-FFF2-40B4-BE49-F238E27FC236}">
                <a16:creationId xmlns:a16="http://schemas.microsoft.com/office/drawing/2014/main" id="{A72FEA30-CC48-4CB0-A4CD-E4BFE640F9AB}"/>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disk_manager = (sc._jsc.sc().env()</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.blockManager().diskBlockManager())</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directorios_reales =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Path(d.getAbsolutePath())</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for d in disk_manager.localDirs()]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print(directorios_reales)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inventario_final = inventario("antes_stop")</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print("Salidas Parquet:",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[e["salida"] for e in evidencia])</a:t>
            </a:r>
          </a:p>
        </p:txBody>
      </p:sp>
      <p:sp>
        <p:nvSpPr>
          <p:cNvPr id="4" name="">
            <a:extLst xmlns:a="http://schemas.openxmlformats.org/drawingml/2006/main">
              <a:ext uri="{FF2B5EF4-FFF2-40B4-BE49-F238E27FC236}">
                <a16:creationId xmlns:a16="http://schemas.microsoft.com/office/drawing/2014/main" id="{469C0926-5DE0-43AD-A4B7-2EA3E829FEAC}"/>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Ruta efectiva</a:t>
            </a:r>
          </a:p>
        </p:txBody>
      </p:sp>
      <p:sp>
        <p:nvSpPr>
          <p:cNvPr id="5" name="">
            <a:extLst xmlns:a="http://schemas.openxmlformats.org/drawingml/2006/main">
              <a:ext uri="{FF2B5EF4-FFF2-40B4-BE49-F238E27FC236}">
                <a16:creationId xmlns:a16="http://schemas.microsoft.com/office/drawing/2014/main" id="{DD55524C-6970-4916-8764-D6DA7D790B5D}"/>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Las funciones de observación se preparan en la sección 0. Consultar antes de cerrar Spark.</a:t>
            </a:r>
          </a:p>
        </p:txBody>
      </p:sp>
      <p:sp>
        <p:nvSpPr>
          <p:cNvPr id="6" name="">
            <a:extLst xmlns:a="http://schemas.openxmlformats.org/drawingml/2006/main">
              <a:ext uri="{FF2B5EF4-FFF2-40B4-BE49-F238E27FC236}">
                <a16:creationId xmlns:a16="http://schemas.microsoft.com/office/drawing/2014/main" id="{D3B93679-B6E8-43ED-A4D8-D546E7C34246}"/>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Inventario</a:t>
            </a:r>
          </a:p>
        </p:txBody>
      </p:sp>
      <p:sp>
        <p:nvSpPr>
          <p:cNvPr id="7" name="">
            <a:extLst xmlns:a="http://schemas.openxmlformats.org/drawingml/2006/main">
              <a:ext uri="{FF2B5EF4-FFF2-40B4-BE49-F238E27FC236}">
                <a16:creationId xmlns:a16="http://schemas.microsoft.com/office/drawing/2014/main" id="{6CF2977B-E7A8-4333-9524-6C565935618C}"/>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Guarda rutas y tamaños presentes. No representa todos los archivos que existieron.</a:t>
            </a:r>
          </a:p>
        </p:txBody>
      </p:sp>
      <p:sp>
        <p:nvSpPr>
          <p:cNvPr id="8" name="">
            <a:extLst xmlns:a="http://schemas.openxmlformats.org/drawingml/2006/main">
              <a:ext uri="{FF2B5EF4-FFF2-40B4-BE49-F238E27FC236}">
                <a16:creationId xmlns:a16="http://schemas.microsoft.com/office/drawing/2014/main" id="{7764A304-777A-4CDB-94EC-3494FCD6C85A}"/>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API interna de Spark 4.0.1 clásico. En un clúster remoto esta consulta inspeccionaría el driver.</a:t>
            </a:r>
          </a:p>
        </p:txBody>
      </p:sp>
      <p:sp>
        <p:nvSpPr>
          <p:cNvPr id="9" name="">
            <a:extLst xmlns:a="http://schemas.openxmlformats.org/drawingml/2006/main">
              <a:ext uri="{FF2B5EF4-FFF2-40B4-BE49-F238E27FC236}">
                <a16:creationId xmlns:a16="http://schemas.microsoft.com/office/drawing/2014/main" id="{1035F30B-60E0-47E5-9188-F641AAB04616}"/>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D058FC14-EB59-4F60-BD67-BDC798A37D8A}"/>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49</a:t>
            </a:r>
          </a:p>
        </p:txBody>
      </p:sp>
    </p:spTree>
    <p:extLst>
      <p:ext uri="{BB962C8B-B14F-4D97-AF65-F5344CB8AC3E}">
        <p14:creationId xmlns:p14="http://schemas.microsoft.com/office/powerpoint/2010/main" val="513768724"/>
      </p:ext>
    </p:extLst>
  </p:cSld>
  <p:transition spd="med" advClick="1">
    <p:fade/>
  </p:transition>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D15EB7B-267C-4F56-AF18-A173912E8A51}"/>
              </a:ext>
            </a:extLst>
          </p:cNvPr>
          <p:cNvPicPr>
            <a:picLocks xmlns:a="http://schemas.openxmlformats.org/drawingml/2006/main" noChangeAspect="1"/>
          </p:cNvPicPr>
          <p:nvPr/>
        </p:nvPicPr>
        <p:blipFill>
          <a:blip xmlns:r="http://schemas.openxmlformats.org/officeDocument/2006/relationships" xmlns:a="http://schemas.openxmlformats.org/drawingml/2006/main" r:embed="R80031a16722547f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1403FC-ED16-45D0-A4FC-5EF3EEFBCC5F}"/>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Bloques, salidas y registros de ejecución</a:t>
            </a:r>
          </a:p>
        </p:txBody>
      </p:sp>
      <p:graphicFrame>
        <p:nvGraphicFramePr>
          <p:cNvPr id="3" name="">
            <a:extLst xmlns:a="http://schemas.openxmlformats.org/drawingml/2006/main">
              <a:ext uri="{FF2B5EF4-FFF2-40B4-BE49-F238E27FC236}">
                <a16:creationId xmlns:a16="http://schemas.microsoft.com/office/drawing/2014/main" id="{7FB86CE6-3B82-42E7-B647-1FB00D4D07F1}"/>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Ubicación o patrón</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Qué contiene</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blockmgr-* / shuffle_*.data e index</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Bloques e índices del intercambio. Su presencia no prueba spill por presión de memoria.</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temp_shuffle_* y temp_local_*</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Temporales del operador. Pueden eliminarse antes del inventario.</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aqe_activo/shuffle_4 y similares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Salidas Parquet del experimento. No son directorios internos del shuffle.</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event_logs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Eventos y métricas para revisión posterior. No contienen los bloques de datos del shuffle.</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evidencias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Planes, inventarios y métricas capturados por esta revisión.</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F89DDEDE-074F-4593-A4FC-332E228A1C1B}"/>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Todas las salidas de rev01 parten de kit/salidas/E07_rev01. Comprobar por separado la ruta efectiva.</a:t>
            </a:r>
          </a:p>
        </p:txBody>
      </p:sp>
      <p:sp>
        <p:nvSpPr>
          <p:cNvPr id="5" name="">
            <a:extLst xmlns:a="http://schemas.openxmlformats.org/drawingml/2006/main">
              <a:ext uri="{FF2B5EF4-FFF2-40B4-BE49-F238E27FC236}">
                <a16:creationId xmlns:a16="http://schemas.microsoft.com/office/drawing/2014/main" id="{E2A33A47-EF9F-4139-BD2D-BC68AE4E26D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ACFA51A1-9E8D-4683-A600-03A5E6DF6BA0}"/>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50</a:t>
            </a:r>
          </a:p>
        </p:txBody>
      </p:sp>
    </p:spTree>
    <p:extLst>
      <p:ext uri="{BB962C8B-B14F-4D97-AF65-F5344CB8AC3E}">
        <p14:creationId xmlns:p14="http://schemas.microsoft.com/office/powerpoint/2010/main" val="1629362913"/>
      </p:ext>
    </p:extLst>
  </p:cSld>
  <p:transition spd="med" advClick="1">
    <p:fade/>
  </p:transition>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E555017-E0BC-4C03-AEBF-B54A11E6E2AE}"/>
              </a:ext>
            </a:extLst>
          </p:cNvPr>
          <p:cNvPicPr>
            <a:picLocks xmlns:a="http://schemas.openxmlformats.org/drawingml/2006/main" noChangeAspect="1"/>
          </p:cNvPicPr>
          <p:nvPr/>
        </p:nvPicPr>
        <p:blipFill>
          <a:blip xmlns:r="http://schemas.openxmlformats.org/officeDocument/2006/relationships" xmlns:a="http://schemas.openxmlformats.org/drawingml/2006/main" r:embed="R22bad071dc35455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0DF1D9C-8809-4915-8869-4B2CD19DA177}"/>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Sección 7: medir shuffle y spill</a:t>
            </a:r>
          </a:p>
        </p:txBody>
      </p:sp>
      <p:sp>
        <p:nvSpPr>
          <p:cNvPr id="3" name="">
            <a:extLst xmlns:a="http://schemas.openxmlformats.org/drawingml/2006/main">
              <a:ext uri="{FF2B5EF4-FFF2-40B4-BE49-F238E27FC236}">
                <a16:creationId xmlns:a16="http://schemas.microsoft.com/office/drawing/2014/main" id="{17E99335-1411-4673-9F1C-00F187472965}"/>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etapas_finales = capturar_metricas("antes_stop")</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if etapas_finales is not None: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completas = [e for e in etapas_finales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if e["status"] == "COMPLETE"]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resumen_disco =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k: sum(e.get(k, 0) for e in completas)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for k in ["shuffleWriteBytes",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"shuffleReadBytes",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"memoryBytesSpilled",</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"diskBytesSpilled"]}</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print(resumen_disco)</a:t>
            </a:r>
          </a:p>
        </p:txBody>
      </p:sp>
      <p:sp>
        <p:nvSpPr>
          <p:cNvPr id="4" name="">
            <a:extLst xmlns:a="http://schemas.openxmlformats.org/drawingml/2006/main">
              <a:ext uri="{FF2B5EF4-FFF2-40B4-BE49-F238E27FC236}">
                <a16:creationId xmlns:a16="http://schemas.microsoft.com/office/drawing/2014/main" id="{C0728843-1C3D-44B0-B3AA-2E76E84E0BF5}"/>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Dos métricas</a:t>
            </a:r>
          </a:p>
        </p:txBody>
      </p:sp>
      <p:sp>
        <p:nvSpPr>
          <p:cNvPr id="5" name="">
            <a:extLst xmlns:a="http://schemas.openxmlformats.org/drawingml/2006/main">
              <a:ext uri="{FF2B5EF4-FFF2-40B4-BE49-F238E27FC236}">
                <a16:creationId xmlns:a16="http://schemas.microsoft.com/office/drawing/2014/main" id="{E7B0312A-93AC-4ECE-A9FC-F1682B19EA50}"/>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Shuffle Write registra intercambio. Spill (Disk) registra derrames adicionales a disco.</a:t>
            </a:r>
          </a:p>
        </p:txBody>
      </p:sp>
      <p:sp>
        <p:nvSpPr>
          <p:cNvPr id="6" name="">
            <a:extLst xmlns:a="http://schemas.openxmlformats.org/drawingml/2006/main">
              <a:ext uri="{FF2B5EF4-FFF2-40B4-BE49-F238E27FC236}">
                <a16:creationId xmlns:a16="http://schemas.microsoft.com/office/drawing/2014/main" id="{22A3F34F-C5DB-4568-ABA0-188D403B6C9D}"/>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Cero o ausencia</a:t>
            </a:r>
          </a:p>
        </p:txBody>
      </p:sp>
      <p:sp>
        <p:nvSpPr>
          <p:cNvPr id="7" name="">
            <a:extLst xmlns:a="http://schemas.openxmlformats.org/drawingml/2006/main">
              <a:ext uri="{FF2B5EF4-FFF2-40B4-BE49-F238E27FC236}">
                <a16:creationId xmlns:a16="http://schemas.microsoft.com/office/drawing/2014/main" id="{02385C7C-CA2F-4E95-A767-DDAEC53C31D9}"/>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Cero spill es válido. Si falla la captura, registrar evidencia incompleta, no cero.</a:t>
            </a:r>
          </a:p>
        </p:txBody>
      </p:sp>
      <p:sp>
        <p:nvSpPr>
          <p:cNvPr id="8" name="">
            <a:extLst xmlns:a="http://schemas.openxmlformats.org/drawingml/2006/main">
              <a:ext uri="{FF2B5EF4-FFF2-40B4-BE49-F238E27FC236}">
                <a16:creationId xmlns:a16="http://schemas.microsoft.com/office/drawing/2014/main" id="{48E3397E-FF53-4963-984D-DA78F89A1511}"/>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resumen acumula intentos de etapa completos de la aplicación. No corresponde a un único join.</a:t>
            </a:r>
          </a:p>
        </p:txBody>
      </p:sp>
      <p:sp>
        <p:nvSpPr>
          <p:cNvPr id="9" name="">
            <a:extLst xmlns:a="http://schemas.openxmlformats.org/drawingml/2006/main">
              <a:ext uri="{FF2B5EF4-FFF2-40B4-BE49-F238E27FC236}">
                <a16:creationId xmlns:a16="http://schemas.microsoft.com/office/drawing/2014/main" id="{6A37BCE9-5D53-403D-A606-1B7000E6563D}"/>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9E227E53-4C93-4F61-AD8C-42DE73A8D20C}"/>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51</a:t>
            </a:r>
          </a:p>
        </p:txBody>
      </p:sp>
    </p:spTree>
    <p:extLst>
      <p:ext uri="{BB962C8B-B14F-4D97-AF65-F5344CB8AC3E}">
        <p14:creationId xmlns:p14="http://schemas.microsoft.com/office/powerpoint/2010/main" val="1505785675"/>
      </p:ext>
    </p:extLst>
  </p:cSld>
  <p:transition spd="med" advClick="1">
    <p:fade/>
  </p:transition>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62EE553-3079-4EC6-A737-3CC0642D1C0E}"/>
              </a:ext>
            </a:extLst>
          </p:cNvPr>
          <p:cNvPicPr>
            <a:picLocks xmlns:a="http://schemas.openxmlformats.org/drawingml/2006/main" noChangeAspect="1"/>
          </p:cNvPicPr>
          <p:nvPr/>
        </p:nvPicPr>
        <p:blipFill>
          <a:blip xmlns:r="http://schemas.openxmlformats.org/officeDocument/2006/relationships" xmlns:a="http://schemas.openxmlformats.org/drawingml/2006/main" r:embed="R7bea99df34e249b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42B4D8-A09D-44B7-904F-54E18F946A06}"/>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Evidencia, interpretación y cierre</a:t>
            </a:r>
          </a:p>
        </p:txBody>
      </p:sp>
      <p:graphicFrame>
        <p:nvGraphicFramePr>
          <p:cNvPr id="3" name="">
            <a:extLst xmlns:a="http://schemas.openxmlformats.org/drawingml/2006/main">
              <a:ext uri="{FF2B5EF4-FFF2-40B4-BE49-F238E27FC236}">
                <a16:creationId xmlns:a16="http://schemas.microsoft.com/office/drawing/2014/main" id="{64AC7685-9E7C-4D03-9164-9713B37AFB61}"/>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Bloque del notebook</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Evidencia que debe explicar el estudiante</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A y B</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Parciales didácticos y plan. Tareas con solapamiento claro, separado de la capacidad reportada.</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Secciones 1–5</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Cardinalidad, ranking equivalente y cuatro escenarios de particionado.</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Secciones 6–7</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Inventarios, rutas efectivas y métricas de Shuffle Write y spill.</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Sección 8</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Completar respuestas en control_joins_ventanas_rev01.json con los valores observados.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Sección 9</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Detener Spark después de inspeccionar. Los inventarios y event logs conservan evidencia.</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39D1B850-CE38-4646-B082-6080DCD83473}"/>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Si faltan métricas, registrar evidencia incompleta. Un spill de cero bytes es una observación válida.</a:t>
            </a:r>
          </a:p>
        </p:txBody>
      </p:sp>
      <p:sp>
        <p:nvSpPr>
          <p:cNvPr id="5" name="">
            <a:extLst xmlns:a="http://schemas.openxmlformats.org/drawingml/2006/main">
              <a:ext uri="{FF2B5EF4-FFF2-40B4-BE49-F238E27FC236}">
                <a16:creationId xmlns:a16="http://schemas.microsoft.com/office/drawing/2014/main" id="{6F2C09B5-84DD-4A57-9295-7F6A3C8A60FB}"/>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7173D6DD-E607-4F91-ADE0-54F72648454A}"/>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52</a:t>
            </a:r>
          </a:p>
        </p:txBody>
      </p:sp>
    </p:spTree>
    <p:extLst>
      <p:ext uri="{BB962C8B-B14F-4D97-AF65-F5344CB8AC3E}">
        <p14:creationId xmlns:p14="http://schemas.microsoft.com/office/powerpoint/2010/main" val="749097512"/>
      </p:ext>
    </p:extLst>
  </p:cSld>
  <p:transition spd="med" advClick="1">
    <p:fade/>
  </p:transition>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1614D57-16E8-4E7F-8FE7-A16E966D990F}"/>
              </a:ext>
            </a:extLst>
          </p:cNvPr>
          <p:cNvPicPr>
            <a:picLocks xmlns:a="http://schemas.openxmlformats.org/drawingml/2006/main" noChangeAspect="1"/>
          </p:cNvPicPr>
          <p:nvPr/>
        </p:nvPicPr>
        <p:blipFill>
          <a:blip xmlns:r="http://schemas.openxmlformats.org/officeDocument/2006/relationships" xmlns:a="http://schemas.openxmlformats.org/drawingml/2006/main" r:embed="R06a266702e554dc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33B275-7C9C-43A1-A91F-8BD09265DBEE}"/>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Integración territorial: la misma exigencia</a:t>
            </a:r>
          </a:p>
        </p:txBody>
      </p:sp>
      <p:pic>
        <p:nvPicPr>
          <p:cNvPr id="3" name="">
            <a:extLst xmlns:a="http://schemas.openxmlformats.org/drawingml/2006/main">
              <a:ext uri="{FF2B5EF4-FFF2-40B4-BE49-F238E27FC236}">
                <a16:creationId xmlns:a16="http://schemas.microsoft.com/office/drawing/2014/main" id="{EFF7C7D5-1194-49F9-9161-5DE81D5403DA}"/>
              </a:ext>
            </a:extLst>
          </p:cNvPr>
          <p:cNvPicPr>
            <a:picLocks xmlns:a="http://schemas.openxmlformats.org/drawingml/2006/main" noChangeAspect="1"/>
          </p:cNvPicPr>
          <p:nvPr/>
        </p:nvPicPr>
        <p:blipFill>
          <a:blip xmlns:r="http://schemas.openxmlformats.org/officeDocument/2006/relationships" xmlns:a="http://schemas.openxmlformats.org/drawingml/2006/main" r:embed="Rb15dc16ba76a40aa"/>
          <a:stretch xmlns:a="http://schemas.openxmlformats.org/drawingml/2006/main"/>
        </p:blipFill>
        <p:spPr>
          <a:xfrm xmlns:a="http://schemas.openxmlformats.org/drawingml/2006/main">
            <a:off x="812800" y="1409700"/>
            <a:ext cx="5842000"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60919DA-ADB9-40D4-A5F2-E04ABC27E996}"/>
              </a:ext>
            </a:extLst>
          </p:cNvPr>
          <p:cNvSpPr>
            <a:spLocks xmlns:a="http://schemas.openxmlformats.org/drawingml/2006/main" noGrp="1"/>
          </p:cNvSpPr>
          <p:nvPr/>
        </p:nvSpPr>
        <p:spPr>
          <a:xfrm xmlns:a="http://schemas.openxmlformats.org/drawingml/2006/main">
            <a:off x="7524750" y="157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Clave tabular</a:t>
            </a:r>
          </a:p>
        </p:txBody>
      </p:sp>
      <p:sp>
        <p:nvSpPr>
          <p:cNvPr id="5" name="">
            <a:extLst xmlns:a="http://schemas.openxmlformats.org/drawingml/2006/main">
              <a:ext uri="{FF2B5EF4-FFF2-40B4-BE49-F238E27FC236}">
                <a16:creationId xmlns:a16="http://schemas.microsoft.com/office/drawing/2014/main" id="{CED5E2F1-BF94-4949-8DBE-AE6AAB04BC5D}"/>
              </a:ext>
            </a:extLst>
          </p:cNvPr>
          <p:cNvSpPr>
            <a:spLocks xmlns:a="http://schemas.openxmlformats.org/drawingml/2006/main" noGrp="1"/>
          </p:cNvSpPr>
          <p:nvPr/>
        </p:nvSpPr>
        <p:spPr>
          <a:xfrm xmlns:a="http://schemas.openxmlformats.org/drawingml/2006/main">
            <a:off x="7524750" y="2009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El código municipal relaciona registros con una entidad territorial.</a:t>
            </a:r>
          </a:p>
        </p:txBody>
      </p:sp>
      <p:sp>
        <p:nvSpPr>
          <p:cNvPr id="6" name="">
            <a:extLst xmlns:a="http://schemas.openxmlformats.org/drawingml/2006/main">
              <a:ext uri="{FF2B5EF4-FFF2-40B4-BE49-F238E27FC236}">
                <a16:creationId xmlns:a16="http://schemas.microsoft.com/office/drawing/2014/main" id="{CB1B6E47-0CBA-4290-92F9-87ABF0B814E6}"/>
              </a:ext>
            </a:extLst>
          </p:cNvPr>
          <p:cNvSpPr>
            <a:spLocks xmlns:a="http://schemas.openxmlformats.org/drawingml/2006/main" noGrp="1"/>
          </p:cNvSpPr>
          <p:nvPr/>
        </p:nvSpPr>
        <p:spPr>
          <a:xfrm xmlns:a="http://schemas.openxmlformats.org/drawingml/2006/main">
            <a:off x="7524750" y="29622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Soporte espacial</a:t>
            </a:r>
          </a:p>
        </p:txBody>
      </p:sp>
      <p:sp>
        <p:nvSpPr>
          <p:cNvPr id="7" name="">
            <a:extLst xmlns:a="http://schemas.openxmlformats.org/drawingml/2006/main">
              <a:ext uri="{FF2B5EF4-FFF2-40B4-BE49-F238E27FC236}">
                <a16:creationId xmlns:a16="http://schemas.microsoft.com/office/drawing/2014/main" id="{A26FC0D9-34E5-47A0-8AB4-DDC295DE5439}"/>
              </a:ext>
            </a:extLst>
          </p:cNvPr>
          <p:cNvSpPr>
            <a:spLocks xmlns:a="http://schemas.openxmlformats.org/drawingml/2006/main" noGrp="1"/>
          </p:cNvSpPr>
          <p:nvPr/>
        </p:nvSpPr>
        <p:spPr>
          <a:xfrm xmlns:a="http://schemas.openxmlformats.org/drawingml/2006/main">
            <a:off x="7524750" y="34004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La geometría, el píxel o el perfil determina a qué lugar y extensión corresponde el dato.</a:t>
            </a:r>
          </a:p>
        </p:txBody>
      </p:sp>
      <p:sp>
        <p:nvSpPr>
          <p:cNvPr id="8" name="">
            <a:extLst xmlns:a="http://schemas.openxmlformats.org/drawingml/2006/main">
              <a:ext uri="{FF2B5EF4-FFF2-40B4-BE49-F238E27FC236}">
                <a16:creationId xmlns:a16="http://schemas.microsoft.com/office/drawing/2014/main" id="{4E446B03-C317-4349-9429-B9FFEEC55517}"/>
              </a:ext>
            </a:extLst>
          </p:cNvPr>
          <p:cNvSpPr>
            <a:spLocks xmlns:a="http://schemas.openxmlformats.org/drawingml/2006/main" noGrp="1"/>
          </p:cNvSpPr>
          <p:nvPr/>
        </p:nvSpPr>
        <p:spPr>
          <a:xfrm xmlns:a="http://schemas.openxmlformats.org/drawingml/2006/main">
            <a:off x="7524750" y="43529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Unidad de análisis</a:t>
            </a:r>
          </a:p>
        </p:txBody>
      </p:sp>
      <p:sp>
        <p:nvSpPr>
          <p:cNvPr id="9" name="">
            <a:extLst xmlns:a="http://schemas.openxmlformats.org/drawingml/2006/main">
              <a:ext uri="{FF2B5EF4-FFF2-40B4-BE49-F238E27FC236}">
                <a16:creationId xmlns:a16="http://schemas.microsoft.com/office/drawing/2014/main" id="{2ADDA443-BA27-4FDB-AC13-135D01CAB9AA}"/>
              </a:ext>
            </a:extLst>
          </p:cNvPr>
          <p:cNvSpPr>
            <a:spLocks xmlns:a="http://schemas.openxmlformats.org/drawingml/2006/main" noGrp="1"/>
          </p:cNvSpPr>
          <p:nvPr/>
        </p:nvSpPr>
        <p:spPr>
          <a:xfrm xmlns:a="http://schemas.openxmlformats.org/drawingml/2006/main">
            <a:off x="7524750" y="47910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Antes de unir, decidir qué representa cada fila y qué comparación permite.</a:t>
            </a:r>
          </a:p>
        </p:txBody>
      </p:sp>
      <p:sp>
        <p:nvSpPr>
          <p:cNvPr id="10" name="">
            <a:extLst xmlns:a="http://schemas.openxmlformats.org/drawingml/2006/main">
              <a:ext uri="{FF2B5EF4-FFF2-40B4-BE49-F238E27FC236}">
                <a16:creationId xmlns:a16="http://schemas.microsoft.com/office/drawing/2014/main" id="{9D2C2C6A-8E58-4C9E-884B-FE336C53D4C6}"/>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E08 usa AGROSAVIA y geometrías. E09 examina predicciones y observaciones de suelo.</a:t>
            </a:r>
          </a:p>
        </p:txBody>
      </p:sp>
      <p:sp>
        <p:nvSpPr>
          <p:cNvPr id="11" name="">
            <a:extLst xmlns:a="http://schemas.openxmlformats.org/drawingml/2006/main">
              <a:ext uri="{FF2B5EF4-FFF2-40B4-BE49-F238E27FC236}">
                <a16:creationId xmlns:a16="http://schemas.microsoft.com/office/drawing/2014/main" id="{9B26D44D-DC62-4654-8910-B06EAB7B59BE}"/>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D1264061-A889-4991-828C-BBB09553D791}"/>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53</a:t>
            </a:r>
          </a:p>
        </p:txBody>
      </p:sp>
    </p:spTree>
    <p:extLst>
      <p:ext uri="{BB962C8B-B14F-4D97-AF65-F5344CB8AC3E}">
        <p14:creationId xmlns:p14="http://schemas.microsoft.com/office/powerpoint/2010/main" val="211150798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3030C6E-BEDC-443D-BC27-19BD11E57C39}"/>
              </a:ext>
            </a:extLst>
          </p:cNvPr>
          <p:cNvPicPr>
            <a:picLocks xmlns:a="http://schemas.openxmlformats.org/drawingml/2006/main" noChangeAspect="1"/>
          </p:cNvPicPr>
          <p:nvPr/>
        </p:nvPicPr>
        <p:blipFill>
          <a:blip xmlns:r="http://schemas.openxmlformats.org/officeDocument/2006/relationships" xmlns:a="http://schemas.openxmlformats.org/drawingml/2006/main" r:embed="Reb7796368d624c9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B01599-EE59-41AF-8481-9574D277432A}"/>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Vector, ráster y tabla</a:t>
            </a:r>
          </a:p>
        </p:txBody>
      </p:sp>
      <p:graphicFrame>
        <p:nvGraphicFramePr>
          <p:cNvPr id="3" name="">
            <a:extLst xmlns:a="http://schemas.openxmlformats.org/drawingml/2006/main">
              <a:ext uri="{FF2B5EF4-FFF2-40B4-BE49-F238E27FC236}">
                <a16:creationId xmlns:a16="http://schemas.microsoft.com/office/drawing/2014/main" id="{7BA07EC4-1FBB-4C7E-A101-4721EECE0D1D}"/>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Representación</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Qué contiene y qué operación requiere</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Vector</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Puntos, líneas o polígonos con atributos. Intersección y unión por código.</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Ráster</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Matriz de celdas con transformación, CRS y valores de una variable.</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Tabla de horizontes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Varias profundidades por perfil. El perfil puede repetirse sin ser duplicado.</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Clave territorial</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Identifica una entidad administrativa. No indica por sí sola la posición de un perfil.</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Compatibilidad</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Lugar, área, período, profundidad y método deben apoyar la comparación.</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6133FF3C-ED9A-4C11-B4EC-C9DD619CE633}"/>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Una fila, una geometría y un píxel representan soportes diferentes.</a:t>
            </a:r>
          </a:p>
        </p:txBody>
      </p:sp>
      <p:sp>
        <p:nvSpPr>
          <p:cNvPr id="5" name="">
            <a:extLst xmlns:a="http://schemas.openxmlformats.org/drawingml/2006/main">
              <a:ext uri="{FF2B5EF4-FFF2-40B4-BE49-F238E27FC236}">
                <a16:creationId xmlns:a16="http://schemas.microsoft.com/office/drawing/2014/main" id="{00F82B0D-2F29-4A3E-B6FA-61F5CDB6F8D8}"/>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70B7FB09-08B8-4F23-BF45-395CBC33E3A7}"/>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54</a:t>
            </a:r>
          </a:p>
        </p:txBody>
      </p:sp>
    </p:spTree>
    <p:extLst>
      <p:ext uri="{BB962C8B-B14F-4D97-AF65-F5344CB8AC3E}">
        <p14:creationId xmlns:p14="http://schemas.microsoft.com/office/powerpoint/2010/main" val="1840316792"/>
      </p:ext>
    </p:extLst>
  </p:cSld>
  <p:transition spd="med" advClick="1">
    <p:fade/>
  </p:transition>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D98ACD2-8ADD-43A2-81D8-FBC7751F1EBB}"/>
              </a:ext>
            </a:extLst>
          </p:cNvPr>
          <p:cNvPicPr>
            <a:picLocks xmlns:a="http://schemas.openxmlformats.org/drawingml/2006/main" noChangeAspect="1"/>
          </p:cNvPicPr>
          <p:nvPr/>
        </p:nvPicPr>
        <p:blipFill>
          <a:blip xmlns:r="http://schemas.openxmlformats.org/officeDocument/2006/relationships" xmlns:a="http://schemas.openxmlformats.org/drawingml/2006/main" r:embed="R4db6740f1825485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6F2048-DF3A-4DE7-B012-41F8DD573C25}"/>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CRS: identificar y transformar</a:t>
            </a:r>
          </a:p>
        </p:txBody>
      </p:sp>
      <p:graphicFrame>
        <p:nvGraphicFramePr>
          <p:cNvPr id="3" name="">
            <a:extLst xmlns:a="http://schemas.openxmlformats.org/drawingml/2006/main">
              <a:ext uri="{FF2B5EF4-FFF2-40B4-BE49-F238E27FC236}">
                <a16:creationId xmlns:a16="http://schemas.microsoft.com/office/drawing/2014/main" id="{0055507C-7E4A-4643-804D-6E3C13FF2453}"/>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Operación</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Efecto sobre los datos</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Consultar .crs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Conocer cómo interpretar las coordenadas.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set_crs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Asignar la referencia a coordenadas existentes. No las transforma.</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to_crs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Recalcular coordenadas en otro sistema de referencia.</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WGS84 / EPSG:4326</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Coordenadas geográficas. Los grados no son hectáreas.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EPSG:9377 en el ejercicio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Sistema proyectado usado para medir área. Dividir m² por 10 000 para ha.</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8DBE9B0A-A45E-47B0-8CCE-F25038A99A8D}"/>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Compartir CRS es requisito para operar, pero no garantiza coincidencia espacial.</a:t>
            </a:r>
          </a:p>
        </p:txBody>
      </p:sp>
      <p:sp>
        <p:nvSpPr>
          <p:cNvPr id="5" name="">
            <a:extLst xmlns:a="http://schemas.openxmlformats.org/drawingml/2006/main">
              <a:ext uri="{FF2B5EF4-FFF2-40B4-BE49-F238E27FC236}">
                <a16:creationId xmlns:a16="http://schemas.microsoft.com/office/drawing/2014/main" id="{72A4B281-B41A-482B-96BF-37B3EDAC71C1}"/>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4C75F574-0F25-4F3B-BE85-A434E1CC1F8F}"/>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55</a:t>
            </a:r>
          </a:p>
        </p:txBody>
      </p:sp>
    </p:spTree>
    <p:extLst>
      <p:ext uri="{BB962C8B-B14F-4D97-AF65-F5344CB8AC3E}">
        <p14:creationId xmlns:p14="http://schemas.microsoft.com/office/powerpoint/2010/main" val="1667781349"/>
      </p:ext>
    </p:extLst>
  </p:cSld>
  <p:transition spd="med" advClick="1">
    <p:fade/>
  </p:transition>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2FF632C-6093-46A9-86C4-8AAF7C0124D2}"/>
              </a:ext>
            </a:extLst>
          </p:cNvPr>
          <p:cNvPicPr>
            <a:picLocks xmlns:a="http://schemas.openxmlformats.org/drawingml/2006/main" noChangeAspect="1"/>
          </p:cNvPicPr>
          <p:nvPr/>
        </p:nvPicPr>
        <p:blipFill>
          <a:blip xmlns:r="http://schemas.openxmlformats.org/officeDocument/2006/relationships" xmlns:a="http://schemas.openxmlformats.org/drawingml/2006/main" r:embed="Rd16b0301813d40b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F757FA-4E9E-43DC-BD03-91F98613BDD5}"/>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Calidad de las geometrías</a:t>
            </a:r>
          </a:p>
        </p:txBody>
      </p:sp>
      <p:pic>
        <p:nvPicPr>
          <p:cNvPr id="3" name="">
            <a:extLst xmlns:a="http://schemas.openxmlformats.org/drawingml/2006/main">
              <a:ext uri="{FF2B5EF4-FFF2-40B4-BE49-F238E27FC236}">
                <a16:creationId xmlns:a16="http://schemas.microsoft.com/office/drawing/2014/main" id="{E7FA635B-CF71-478A-9992-47B6BDE5182F}"/>
              </a:ext>
            </a:extLst>
          </p:cNvPr>
          <p:cNvPicPr>
            <a:picLocks xmlns:a="http://schemas.openxmlformats.org/drawingml/2006/main" noChangeAspect="1"/>
          </p:cNvPicPr>
          <p:nvPr/>
        </p:nvPicPr>
        <p:blipFill>
          <a:blip xmlns:r="http://schemas.openxmlformats.org/officeDocument/2006/relationships" xmlns:a="http://schemas.openxmlformats.org/drawingml/2006/main" r:embed="R5bdd3393b0da4668"/>
          <a:stretch xmlns:a="http://schemas.openxmlformats.org/drawingml/2006/main"/>
        </p:blipFill>
        <p:spPr>
          <a:xfrm xmlns:a="http://schemas.openxmlformats.org/drawingml/2006/main">
            <a:off x="447675" y="1409700"/>
            <a:ext cx="6572250"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3C8D8AC-9852-4EAA-A4EA-FFF3DAB66DED}"/>
              </a:ext>
            </a:extLst>
          </p:cNvPr>
          <p:cNvSpPr>
            <a:spLocks xmlns:a="http://schemas.openxmlformats.org/drawingml/2006/main" noGrp="1"/>
          </p:cNvSpPr>
          <p:nvPr/>
        </p:nvSpPr>
        <p:spPr>
          <a:xfrm xmlns:a="http://schemas.openxmlformats.org/drawingml/2006/main">
            <a:off x="7524750" y="157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Ausentes o vacías</a:t>
            </a:r>
          </a:p>
        </p:txBody>
      </p:sp>
      <p:sp>
        <p:nvSpPr>
          <p:cNvPr id="5" name="">
            <a:extLst xmlns:a="http://schemas.openxmlformats.org/drawingml/2006/main">
              <a:ext uri="{FF2B5EF4-FFF2-40B4-BE49-F238E27FC236}">
                <a16:creationId xmlns:a16="http://schemas.microsoft.com/office/drawing/2014/main" id="{92BB9AA3-9D23-4EAD-B591-F44372F0B821}"/>
              </a:ext>
            </a:extLst>
          </p:cNvPr>
          <p:cNvSpPr>
            <a:spLocks xmlns:a="http://schemas.openxmlformats.org/drawingml/2006/main" noGrp="1"/>
          </p:cNvSpPr>
          <p:nvPr/>
        </p:nvSpPr>
        <p:spPr>
          <a:xfrm xmlns:a="http://schemas.openxmlformats.org/drawingml/2006/main">
            <a:off x="7524750" y="2009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No proporcionan una superficie válida para la operación esperada.</a:t>
            </a:r>
          </a:p>
        </p:txBody>
      </p:sp>
      <p:sp>
        <p:nvSpPr>
          <p:cNvPr id="6" name="">
            <a:extLst xmlns:a="http://schemas.openxmlformats.org/drawingml/2006/main">
              <a:ext uri="{FF2B5EF4-FFF2-40B4-BE49-F238E27FC236}">
                <a16:creationId xmlns:a16="http://schemas.microsoft.com/office/drawing/2014/main" id="{5DCA4C5B-86DE-4CBD-B737-2D513008C8DE}"/>
              </a:ext>
            </a:extLst>
          </p:cNvPr>
          <p:cNvSpPr>
            <a:spLocks xmlns:a="http://schemas.openxmlformats.org/drawingml/2006/main" noGrp="1"/>
          </p:cNvSpPr>
          <p:nvPr/>
        </p:nvSpPr>
        <p:spPr>
          <a:xfrm xmlns:a="http://schemas.openxmlformats.org/drawingml/2006/main">
            <a:off x="7524750" y="29622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Inválidas</a:t>
            </a:r>
          </a:p>
        </p:txBody>
      </p:sp>
      <p:sp>
        <p:nvSpPr>
          <p:cNvPr id="7" name="">
            <a:extLst xmlns:a="http://schemas.openxmlformats.org/drawingml/2006/main">
              <a:ext uri="{FF2B5EF4-FFF2-40B4-BE49-F238E27FC236}">
                <a16:creationId xmlns:a16="http://schemas.microsoft.com/office/drawing/2014/main" id="{232EFCD9-6FA1-4669-B6C1-B0B2194C0242}"/>
              </a:ext>
            </a:extLst>
          </p:cNvPr>
          <p:cNvSpPr>
            <a:spLocks xmlns:a="http://schemas.openxmlformats.org/drawingml/2006/main" noGrp="1"/>
          </p:cNvSpPr>
          <p:nvPr/>
        </p:nvSpPr>
        <p:spPr>
          <a:xfrm xmlns:a="http://schemas.openxmlformats.org/drawingml/2006/main">
            <a:off x="7524750" y="34004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Anillos y límites pueden infringir reglas geométricas. Registrar y revisar antes de reparar.</a:t>
            </a:r>
          </a:p>
        </p:txBody>
      </p:sp>
      <p:sp>
        <p:nvSpPr>
          <p:cNvPr id="8" name="">
            <a:extLst xmlns:a="http://schemas.openxmlformats.org/drawingml/2006/main">
              <a:ext uri="{FF2B5EF4-FFF2-40B4-BE49-F238E27FC236}">
                <a16:creationId xmlns:a16="http://schemas.microsoft.com/office/drawing/2014/main" id="{341D7BD6-008E-40AE-B10A-3041AF124742}"/>
              </a:ext>
            </a:extLst>
          </p:cNvPr>
          <p:cNvSpPr>
            <a:spLocks xmlns:a="http://schemas.openxmlformats.org/drawingml/2006/main" noGrp="1"/>
          </p:cNvSpPr>
          <p:nvPr/>
        </p:nvSpPr>
        <p:spPr>
          <a:xfrm xmlns:a="http://schemas.openxmlformats.org/drawingml/2006/main">
            <a:off x="7524750" y="43529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Después de reparar</a:t>
            </a:r>
          </a:p>
        </p:txBody>
      </p:sp>
      <p:sp>
        <p:nvSpPr>
          <p:cNvPr id="9" name="">
            <a:extLst xmlns:a="http://schemas.openxmlformats.org/drawingml/2006/main">
              <a:ext uri="{FF2B5EF4-FFF2-40B4-BE49-F238E27FC236}">
                <a16:creationId xmlns:a16="http://schemas.microsoft.com/office/drawing/2014/main" id="{881FD217-A187-4C25-800F-56FFE3B9986A}"/>
              </a:ext>
            </a:extLst>
          </p:cNvPr>
          <p:cNvSpPr>
            <a:spLocks xmlns:a="http://schemas.openxmlformats.org/drawingml/2006/main" noGrp="1"/>
          </p:cNvSpPr>
          <p:nvPr/>
        </p:nvSpPr>
        <p:spPr>
          <a:xfrm xmlns:a="http://schemas.openxmlformats.org/drawingml/2006/main">
            <a:off x="7524750" y="47910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make_valid puede cambiar el tipo de geometría. Revisar el resultado y conservar los originales.</a:t>
            </a:r>
          </a:p>
        </p:txBody>
      </p:sp>
      <p:sp>
        <p:nvSpPr>
          <p:cNvPr id="10" name="">
            <a:extLst xmlns:a="http://schemas.openxmlformats.org/drawingml/2006/main">
              <a:ext uri="{FF2B5EF4-FFF2-40B4-BE49-F238E27FC236}">
                <a16:creationId xmlns:a16="http://schemas.microsoft.com/office/drawing/2014/main" id="{6F149748-F59A-4385-9BAE-8E8D0541B9C1}"/>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La reparación permite operar. Su efecto sobre el significado también requiere revisión.</a:t>
            </a:r>
          </a:p>
        </p:txBody>
      </p:sp>
      <p:sp>
        <p:nvSpPr>
          <p:cNvPr id="11" name="">
            <a:extLst xmlns:a="http://schemas.openxmlformats.org/drawingml/2006/main">
              <a:ext uri="{FF2B5EF4-FFF2-40B4-BE49-F238E27FC236}">
                <a16:creationId xmlns:a16="http://schemas.microsoft.com/office/drawing/2014/main" id="{1EFACADC-189F-4F7E-BD54-FD6F0F5E6096}"/>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26AB4875-F56F-41A9-B39A-000B49D12899}"/>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56</a:t>
            </a:r>
          </a:p>
        </p:txBody>
      </p:sp>
    </p:spTree>
    <p:extLst>
      <p:ext uri="{BB962C8B-B14F-4D97-AF65-F5344CB8AC3E}">
        <p14:creationId xmlns:p14="http://schemas.microsoft.com/office/powerpoint/2010/main" val="14056756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15B5173-3D1B-4C70-B173-B3C8BD9B96A4}"/>
              </a:ext>
            </a:extLst>
          </p:cNvPr>
          <p:cNvPicPr>
            <a:picLocks xmlns:a="http://schemas.openxmlformats.org/drawingml/2006/main" noChangeAspect="1"/>
          </p:cNvPicPr>
          <p:nvPr/>
        </p:nvPicPr>
        <p:blipFill>
          <a:blip xmlns:r="http://schemas.openxmlformats.org/officeDocument/2006/relationships" xmlns:a="http://schemas.openxmlformats.org/drawingml/2006/main" r:embed="Ra40a559b4a874a2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BBBB2E-AD91-426E-BE09-51BD255CCB0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Join tabular antes de dibujar el mapa</a:t>
            </a:r>
          </a:p>
        </p:txBody>
      </p:sp>
      <p:graphicFrame>
        <p:nvGraphicFramePr>
          <p:cNvPr id="3" name="">
            <a:extLst xmlns:a="http://schemas.openxmlformats.org/drawingml/2006/main">
              <a:ext uri="{FF2B5EF4-FFF2-40B4-BE49-F238E27FC236}">
                <a16:creationId xmlns:a16="http://schemas.microsoft.com/office/drawing/2014/main" id="{EEEDB29C-693A-40C5-B82F-C9A5537CB775}"/>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Paso de E08</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Control de significado y cardinalidad</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AGROSAVIA con DIVIPOLA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Conciliar departamento y municipio. Evitar nombres municipales ambiguos.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Seleccionar un año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Contar registros por codigo_municipio en ese año.</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Municipios DANE con la tabla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LEFT JOIN con validate="one_to_one".</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Sin correspondencia</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Mantener faltantes y reportar códigos de la tabla sin geometría.</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Lectura del mapa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Representa registros del archivo, no cobertura ni representatividad del suelo.</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6773FA6B-D589-424F-ABFB-D7EB630F5245}"/>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número de municipios debe conservarse después de la unión izquierda.</a:t>
            </a:r>
          </a:p>
        </p:txBody>
      </p:sp>
      <p:sp>
        <p:nvSpPr>
          <p:cNvPr id="5" name="">
            <a:extLst xmlns:a="http://schemas.openxmlformats.org/drawingml/2006/main">
              <a:ext uri="{FF2B5EF4-FFF2-40B4-BE49-F238E27FC236}">
                <a16:creationId xmlns:a16="http://schemas.microsoft.com/office/drawing/2014/main" id="{54B6DD6C-44B4-4534-9A26-76FF006A9BCD}"/>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F54AE591-8B2E-4439-97B7-460B3C4D435F}"/>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57</a:t>
            </a:r>
          </a:p>
        </p:txBody>
      </p:sp>
    </p:spTree>
    <p:extLst>
      <p:ext uri="{BB962C8B-B14F-4D97-AF65-F5344CB8AC3E}">
        <p14:creationId xmlns:p14="http://schemas.microsoft.com/office/powerpoint/2010/main" val="462111200"/>
      </p:ext>
    </p:extLst>
  </p:cSld>
  <p:transition spd="med" advClick="1">
    <p:fade/>
  </p:transition>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988C2A1-3F90-441F-9B17-0E66DA0D902C}"/>
              </a:ext>
            </a:extLst>
          </p:cNvPr>
          <p:cNvPicPr>
            <a:picLocks xmlns:a="http://schemas.openxmlformats.org/drawingml/2006/main" noChangeAspect="1"/>
          </p:cNvPicPr>
          <p:nvPr/>
        </p:nvPicPr>
        <p:blipFill>
          <a:blip xmlns:r="http://schemas.openxmlformats.org/officeDocument/2006/relationships" xmlns:a="http://schemas.openxmlformats.org/drawingml/2006/main" r:embed="Ra337c10550a7439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9D27AF-9BD7-4AD7-A716-B83FE59178C0}"/>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Intersección de polígonos y municipios</a:t>
            </a:r>
          </a:p>
        </p:txBody>
      </p:sp>
      <p:pic>
        <p:nvPicPr>
          <p:cNvPr id="3" name="">
            <a:extLst xmlns:a="http://schemas.openxmlformats.org/drawingml/2006/main">
              <a:ext uri="{FF2B5EF4-FFF2-40B4-BE49-F238E27FC236}">
                <a16:creationId xmlns:a16="http://schemas.microsoft.com/office/drawing/2014/main" id="{818FF942-F091-431D-9B4F-3AF62E62700F}"/>
              </a:ext>
            </a:extLst>
          </p:cNvPr>
          <p:cNvPicPr>
            <a:picLocks xmlns:a="http://schemas.openxmlformats.org/drawingml/2006/main" noChangeAspect="1"/>
          </p:cNvPicPr>
          <p:nvPr/>
        </p:nvPicPr>
        <p:blipFill>
          <a:blip xmlns:r="http://schemas.openxmlformats.org/officeDocument/2006/relationships" xmlns:a="http://schemas.openxmlformats.org/drawingml/2006/main" r:embed="R5ae285703c144541"/>
          <a:stretch xmlns:a="http://schemas.openxmlformats.org/drawingml/2006/main"/>
        </p:blipFill>
        <p:spPr>
          <a:xfrm xmlns:a="http://schemas.openxmlformats.org/drawingml/2006/main">
            <a:off x="1571625" y="1285875"/>
            <a:ext cx="9048750"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D5054E6-FDAE-42EA-BDE1-45C74DF1355F}"/>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área de la intersección mide el recorte. Los atributos de área originales no se actualizan solos.</a:t>
            </a:r>
          </a:p>
        </p:txBody>
      </p:sp>
      <p:sp>
        <p:nvSpPr>
          <p:cNvPr id="5" name="">
            <a:extLst xmlns:a="http://schemas.openxmlformats.org/drawingml/2006/main">
              <a:ext uri="{FF2B5EF4-FFF2-40B4-BE49-F238E27FC236}">
                <a16:creationId xmlns:a16="http://schemas.microsoft.com/office/drawing/2014/main" id="{5F4EC3C3-B047-4D85-BD6C-ED0D07672623}"/>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C051DB11-6065-4D6C-B2B1-C493400F0661}"/>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58</a:t>
            </a:r>
          </a:p>
        </p:txBody>
      </p:sp>
    </p:spTree>
    <p:extLst>
      <p:ext uri="{BB962C8B-B14F-4D97-AF65-F5344CB8AC3E}">
        <p14:creationId xmlns:p14="http://schemas.microsoft.com/office/powerpoint/2010/main" val="1594356121"/>
      </p:ext>
    </p:extLst>
  </p:cSld>
  <p:transition spd="med" advClick="1">
    <p:fade/>
  </p:transition>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FAD507B-86B3-4A6C-9810-063F6D8A6329}"/>
              </a:ext>
            </a:extLst>
          </p:cNvPr>
          <p:cNvPicPr>
            <a:picLocks xmlns:a="http://schemas.openxmlformats.org/drawingml/2006/main" noChangeAspect="1"/>
          </p:cNvPicPr>
          <p:nvPr/>
        </p:nvPicPr>
        <p:blipFill>
          <a:blip xmlns:r="http://schemas.openxmlformats.org/officeDocument/2006/relationships" xmlns:a="http://schemas.openxmlformats.org/drawingml/2006/main" r:embed="R5ebb4c38294e4f5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7F27D7-537F-4176-B455-9CB34B0B1B8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El denominador cambia la interpretación</a:t>
            </a:r>
          </a:p>
        </p:txBody>
      </p:sp>
      <p:graphicFrame>
        <p:nvGraphicFramePr>
          <p:cNvPr id="3" name="">
            <a:extLst xmlns:a="http://schemas.openxmlformats.org/drawingml/2006/main">
              <a:ext uri="{FF2B5EF4-FFF2-40B4-BE49-F238E27FC236}">
                <a16:creationId xmlns:a16="http://schemas.microsoft.com/office/drawing/2014/main" id="{2DE4009D-76CD-4B53-903A-1E7D88BF04EB}"/>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Cálculo didáctico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Conclusión permitida</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Municipio de 1 000 ha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Superficie municipal completa del ejemplo.</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Muestra disponible de 100 ha</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Solo conocemos el tema dentro de esa superficie.</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Clase A en 40 ha de la muestra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40/100 = 40 % del área observada en la muestra.</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40/1 000 = 4 %</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Fracción municipal observada como A, si la geometría y cobertura lo permiten.</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Área sin observar</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Las otras 900 ha no tienen clasificación demostrada por esta muestra.</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B5415AD9-8B11-48F0-90DF-7229CB515E3B}"/>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La muestra de cinco polígonos por tema no representa cobertura municipal completa.</a:t>
            </a:r>
          </a:p>
        </p:txBody>
      </p:sp>
      <p:sp>
        <p:nvSpPr>
          <p:cNvPr id="5" name="">
            <a:extLst xmlns:a="http://schemas.openxmlformats.org/drawingml/2006/main">
              <a:ext uri="{FF2B5EF4-FFF2-40B4-BE49-F238E27FC236}">
                <a16:creationId xmlns:a16="http://schemas.microsoft.com/office/drawing/2014/main" id="{11B2C4F7-A265-4C48-BEBC-E5E9DDDA42A4}"/>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005A625D-2B49-4485-A692-6130786B8F01}"/>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59</a:t>
            </a:r>
          </a:p>
        </p:txBody>
      </p:sp>
    </p:spTree>
    <p:extLst>
      <p:ext uri="{BB962C8B-B14F-4D97-AF65-F5344CB8AC3E}">
        <p14:creationId xmlns:p14="http://schemas.microsoft.com/office/powerpoint/2010/main" val="1712888132"/>
      </p:ext>
    </p:extLst>
  </p:cSld>
  <p:transition spd="med" advClick="1">
    <p:fade/>
  </p:transition>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A2AEA73-F029-4729-B660-16EB723CECF2}"/>
              </a:ext>
            </a:extLst>
          </p:cNvPr>
          <p:cNvPicPr>
            <a:picLocks xmlns:a="http://schemas.openxmlformats.org/drawingml/2006/main" noChangeAspect="1"/>
          </p:cNvPicPr>
          <p:nvPr/>
        </p:nvPicPr>
        <p:blipFill>
          <a:blip xmlns:r="http://schemas.openxmlformats.org/officeDocument/2006/relationships" xmlns:a="http://schemas.openxmlformats.org/drawingml/2006/main" r:embed="Rce2c0958dacc4721"/>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8BB0CF-37B5-4530-9EB1-0B030DCE44E2}"/>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E08: leer y unir por código</a:t>
            </a:r>
          </a:p>
        </p:txBody>
      </p:sp>
      <p:sp>
        <p:nvSpPr>
          <p:cNvPr id="3" name="">
            <a:extLst xmlns:a="http://schemas.openxmlformats.org/drawingml/2006/main">
              <a:ext uri="{FF2B5EF4-FFF2-40B4-BE49-F238E27FC236}">
                <a16:creationId xmlns:a16="http://schemas.microsoft.com/office/drawing/2014/main" id="{6FABE862-D8A5-4C01-B47F-90C5F3F4C5AD}"/>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municipios = gpd.read_file(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"zip://" + str(RAW / "dane_municipios.zip"),</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engine="pyogrio")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print(municipios.crs)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Después de preparar tabla en el paso 2:</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mapa = municipios.merge(tabla, how="left",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on="codigo_municipio", validate="one_to_one",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indicator=True)</a:t>
            </a:r>
          </a:p>
        </p:txBody>
      </p:sp>
      <p:sp>
        <p:nvSpPr>
          <p:cNvPr id="4" name="">
            <a:extLst xmlns:a="http://schemas.openxmlformats.org/drawingml/2006/main">
              <a:ext uri="{FF2B5EF4-FFF2-40B4-BE49-F238E27FC236}">
                <a16:creationId xmlns:a16="http://schemas.microsoft.com/office/drawing/2014/main" id="{73704420-F509-49B7-AC8B-BE7520FF6803}"/>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D22BF0DC-398E-4286-A206-3FB2C5F3BE1B}"/>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Ejecutar pasos 1 y 2. Revisar códigos, año elegido y faltantes.</a:t>
            </a:r>
          </a:p>
        </p:txBody>
      </p:sp>
      <p:sp>
        <p:nvSpPr>
          <p:cNvPr id="6" name="">
            <a:extLst xmlns:a="http://schemas.openxmlformats.org/drawingml/2006/main">
              <a:ext uri="{FF2B5EF4-FFF2-40B4-BE49-F238E27FC236}">
                <a16:creationId xmlns:a16="http://schemas.microsoft.com/office/drawing/2014/main" id="{E524454D-077F-4507-A494-91F045169B23}"/>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Comprobación</a:t>
            </a:r>
          </a:p>
        </p:txBody>
      </p:sp>
      <p:sp>
        <p:nvSpPr>
          <p:cNvPr id="7" name="">
            <a:extLst xmlns:a="http://schemas.openxmlformats.org/drawingml/2006/main">
              <a:ext uri="{FF2B5EF4-FFF2-40B4-BE49-F238E27FC236}">
                <a16:creationId xmlns:a16="http://schemas.microsoft.com/office/drawing/2014/main" id="{CD3D2CC4-9509-4C59-AAE4-26E71945A18F}"/>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La unión conserva los municipios y permite identificar los no asociados.</a:t>
            </a:r>
          </a:p>
        </p:txBody>
      </p:sp>
      <p:sp>
        <p:nvSpPr>
          <p:cNvPr id="8" name="">
            <a:extLst xmlns:a="http://schemas.openxmlformats.org/drawingml/2006/main">
              <a:ext uri="{FF2B5EF4-FFF2-40B4-BE49-F238E27FC236}">
                <a16:creationId xmlns:a16="http://schemas.microsoft.com/office/drawing/2014/main" id="{E0373456-9D46-43F5-8F10-9B77F005F211}"/>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E08_Geoespacial.ipynb. En este notebook OUT apunta a kit/salidas/E08.</a:t>
            </a:r>
          </a:p>
        </p:txBody>
      </p:sp>
      <p:sp>
        <p:nvSpPr>
          <p:cNvPr id="9" name="">
            <a:extLst xmlns:a="http://schemas.openxmlformats.org/drawingml/2006/main">
              <a:ext uri="{FF2B5EF4-FFF2-40B4-BE49-F238E27FC236}">
                <a16:creationId xmlns:a16="http://schemas.microsoft.com/office/drawing/2014/main" id="{A3B35704-5067-4266-ACF9-0A4BE0454BFF}"/>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EE45C125-D600-4ECF-919F-51B11AE032D6}"/>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60</a:t>
            </a:r>
          </a:p>
        </p:txBody>
      </p:sp>
    </p:spTree>
    <p:extLst>
      <p:ext uri="{BB962C8B-B14F-4D97-AF65-F5344CB8AC3E}">
        <p14:creationId xmlns:p14="http://schemas.microsoft.com/office/powerpoint/2010/main" val="617464635"/>
      </p:ext>
    </p:extLst>
  </p:cSld>
  <p:transition spd="med" advClick="1">
    <p:fade/>
  </p:transition>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5A8B3B9-5C74-4831-BD6B-2A652BC5D952}"/>
              </a:ext>
            </a:extLst>
          </p:cNvPr>
          <p:cNvPicPr>
            <a:picLocks xmlns:a="http://schemas.openxmlformats.org/drawingml/2006/main" noChangeAspect="1"/>
          </p:cNvPicPr>
          <p:nvPr/>
        </p:nvPicPr>
        <p:blipFill>
          <a:blip xmlns:r="http://schemas.openxmlformats.org/officeDocument/2006/relationships" xmlns:a="http://schemas.openxmlformats.org/drawingml/2006/main" r:embed="R4869dc1488af458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FC166F-4FE1-4A40-8C11-C0319873F1BF}"/>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E08: recortar y medir áreas</a:t>
            </a:r>
          </a:p>
        </p:txBody>
      </p:sp>
      <p:sp>
        <p:nvSpPr>
          <p:cNvPr id="3" name="">
            <a:extLst xmlns:a="http://schemas.openxmlformats.org/drawingml/2006/main">
              <a:ext uri="{FF2B5EF4-FFF2-40B4-BE49-F238E27FC236}">
                <a16:creationId xmlns:a16="http://schemas.microsoft.com/office/drawing/2014/main" id="{01BF2BB5-D247-4A02-9E53-B3737BA46C4B}"/>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recorte = gpd.overlay(muestra,</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municipios_recorte, how="intersection",</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keep_geom_type=False)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recorte["area_interseccion_ha"] =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recorte.to_crs(9377).area / 10000)</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recorte = recorte.loc[</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recorte.area_interseccion_ha &gt; 0].copy()</a:t>
            </a:r>
          </a:p>
        </p:txBody>
      </p:sp>
      <p:sp>
        <p:nvSpPr>
          <p:cNvPr id="4" name="">
            <a:extLst xmlns:a="http://schemas.openxmlformats.org/drawingml/2006/main">
              <a:ext uri="{FF2B5EF4-FFF2-40B4-BE49-F238E27FC236}">
                <a16:creationId xmlns:a16="http://schemas.microsoft.com/office/drawing/2014/main" id="{1F4FC46E-DB81-4DC0-AA8F-5BAD9BD60D42}"/>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FA6703AF-96A8-42DC-BCBE-104C588DD7EB}"/>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Ejecutar el paso 3 con geometrías revisadas y CRS compatibles.</a:t>
            </a:r>
          </a:p>
        </p:txBody>
      </p:sp>
      <p:sp>
        <p:nvSpPr>
          <p:cNvPr id="6" name="">
            <a:extLst xmlns:a="http://schemas.openxmlformats.org/drawingml/2006/main">
              <a:ext uri="{FF2B5EF4-FFF2-40B4-BE49-F238E27FC236}">
                <a16:creationId xmlns:a16="http://schemas.microsoft.com/office/drawing/2014/main" id="{D38CD34C-15FE-4D3C-9071-DDF9E285BBC1}"/>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Comprobación</a:t>
            </a:r>
          </a:p>
        </p:txBody>
      </p:sp>
      <p:sp>
        <p:nvSpPr>
          <p:cNvPr id="7" name="">
            <a:extLst xmlns:a="http://schemas.openxmlformats.org/drawingml/2006/main">
              <a:ext uri="{FF2B5EF4-FFF2-40B4-BE49-F238E27FC236}">
                <a16:creationId xmlns:a16="http://schemas.microsoft.com/office/drawing/2014/main" id="{186BD56C-9E71-49B3-BC58-14E02E474D7D}"/>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Explicar por qué el área pertenece a la intersección y qué cambió en la unidad de análisis.</a:t>
            </a:r>
          </a:p>
        </p:txBody>
      </p:sp>
      <p:sp>
        <p:nvSpPr>
          <p:cNvPr id="8" name="">
            <a:extLst xmlns:a="http://schemas.openxmlformats.org/drawingml/2006/main">
              <a:ext uri="{FF2B5EF4-FFF2-40B4-BE49-F238E27FC236}">
                <a16:creationId xmlns:a16="http://schemas.microsoft.com/office/drawing/2014/main" id="{18D658A0-2F2D-4F4B-A90C-8AD569FD2EC3}"/>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bucle del notebook procesa igac_capacidad e igac_quimica por separado.</a:t>
            </a:r>
          </a:p>
        </p:txBody>
      </p:sp>
      <p:sp>
        <p:nvSpPr>
          <p:cNvPr id="9" name="">
            <a:extLst xmlns:a="http://schemas.openxmlformats.org/drawingml/2006/main">
              <a:ext uri="{FF2B5EF4-FFF2-40B4-BE49-F238E27FC236}">
                <a16:creationId xmlns:a16="http://schemas.microsoft.com/office/drawing/2014/main" id="{BB30A135-D001-48BA-BED6-CC7D111C405B}"/>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DB3D9AFF-06B9-4C3D-A5C2-7173566B2045}"/>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61</a:t>
            </a:r>
          </a:p>
        </p:txBody>
      </p:sp>
    </p:spTree>
    <p:extLst>
      <p:ext uri="{BB962C8B-B14F-4D97-AF65-F5344CB8AC3E}">
        <p14:creationId xmlns:p14="http://schemas.microsoft.com/office/powerpoint/2010/main" val="1360345126"/>
      </p:ext>
    </p:extLst>
  </p:cSld>
  <p:transition spd="med" advClick="1">
    <p:fade/>
  </p:transition>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2F2D9A0-15DC-4613-A8F1-63C0F65A950B}"/>
              </a:ext>
            </a:extLst>
          </p:cNvPr>
          <p:cNvPicPr>
            <a:picLocks xmlns:a="http://schemas.openxmlformats.org/drawingml/2006/main" noChangeAspect="1"/>
          </p:cNvPicPr>
          <p:nvPr/>
        </p:nvPicPr>
        <p:blipFill>
          <a:blip xmlns:r="http://schemas.openxmlformats.org/officeDocument/2006/relationships" xmlns:a="http://schemas.openxmlformats.org/drawingml/2006/main" r:embed="Rdec435d47a8f42d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DADA96-76F0-4BE5-9642-19DB6F7ABF21}"/>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E08: exportar y verificar</a:t>
            </a:r>
          </a:p>
        </p:txBody>
      </p:sp>
      <p:sp>
        <p:nvSpPr>
          <p:cNvPr id="3" name="">
            <a:extLst xmlns:a="http://schemas.openxmlformats.org/drawingml/2006/main">
              <a:ext uri="{FF2B5EF4-FFF2-40B4-BE49-F238E27FC236}">
                <a16:creationId xmlns:a16="http://schemas.microsoft.com/office/drawing/2014/main" id="{39F59E44-B562-418D-98D1-609230A8CB4F}"/>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resultado.to_file(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OUT / "intersecciones_muestra.gpkg",</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layer="intersecciones", driver="GPKG", mode="w")</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recuperado = gpd.read_file(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OUT / "intersecciones_muestra.gpkg",</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layer="intersecciones")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assert len(recuperado) == len(resultado)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assert recuperado.crs == resultado.crs</a:t>
            </a:r>
          </a:p>
        </p:txBody>
      </p:sp>
      <p:sp>
        <p:nvSpPr>
          <p:cNvPr id="4" name="">
            <a:extLst xmlns:a="http://schemas.openxmlformats.org/drawingml/2006/main">
              <a:ext uri="{FF2B5EF4-FFF2-40B4-BE49-F238E27FC236}">
                <a16:creationId xmlns:a16="http://schemas.microsoft.com/office/drawing/2014/main" id="{749C7C93-E88D-4A34-9532-D2C8A6952E6A}"/>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1CA671CE-E528-4955-9D44-96792A18475E}"/>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Ejecutar el resto del notebook y revisar los dos mapas.</a:t>
            </a:r>
          </a:p>
        </p:txBody>
      </p:sp>
      <p:sp>
        <p:nvSpPr>
          <p:cNvPr id="6" name="">
            <a:extLst xmlns:a="http://schemas.openxmlformats.org/drawingml/2006/main">
              <a:ext uri="{FF2B5EF4-FFF2-40B4-BE49-F238E27FC236}">
                <a16:creationId xmlns:a16="http://schemas.microsoft.com/office/drawing/2014/main" id="{915CEDDE-B847-4190-B042-1E369FD6A45C}"/>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Comprobación</a:t>
            </a:r>
          </a:p>
        </p:txBody>
      </p:sp>
      <p:sp>
        <p:nvSpPr>
          <p:cNvPr id="7" name="">
            <a:extLst xmlns:a="http://schemas.openxmlformats.org/drawingml/2006/main">
              <a:ext uri="{FF2B5EF4-FFF2-40B4-BE49-F238E27FC236}">
                <a16:creationId xmlns:a16="http://schemas.microsoft.com/office/drawing/2014/main" id="{110B249E-C2D9-4370-BFC9-9CC03985A074}"/>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Verificar también columnas y leyendas con alcance explícito de muestra.</a:t>
            </a:r>
          </a:p>
        </p:txBody>
      </p:sp>
      <p:sp>
        <p:nvSpPr>
          <p:cNvPr id="8" name="">
            <a:extLst xmlns:a="http://schemas.openxmlformats.org/drawingml/2006/main">
              <a:ext uri="{FF2B5EF4-FFF2-40B4-BE49-F238E27FC236}">
                <a16:creationId xmlns:a16="http://schemas.microsoft.com/office/drawing/2014/main" id="{D737D0D7-1337-40B1-9E17-60768870900B}"/>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Productos: mapa_agrosavia.png, mapa_intersecciones.png y control_geografico.json.</a:t>
            </a:r>
          </a:p>
        </p:txBody>
      </p:sp>
      <p:sp>
        <p:nvSpPr>
          <p:cNvPr id="9" name="">
            <a:extLst xmlns:a="http://schemas.openxmlformats.org/drawingml/2006/main">
              <a:ext uri="{FF2B5EF4-FFF2-40B4-BE49-F238E27FC236}">
                <a16:creationId xmlns:a16="http://schemas.microsoft.com/office/drawing/2014/main" id="{B1C89DC8-97DE-44B2-80C2-C54121136DB8}"/>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D2F15EA2-E6A8-4C84-8E57-99CA4EAAC1BD}"/>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62</a:t>
            </a:r>
          </a:p>
        </p:txBody>
      </p:sp>
    </p:spTree>
    <p:extLst>
      <p:ext uri="{BB962C8B-B14F-4D97-AF65-F5344CB8AC3E}">
        <p14:creationId xmlns:p14="http://schemas.microsoft.com/office/powerpoint/2010/main" val="543099818"/>
      </p:ext>
    </p:extLst>
  </p:cSld>
  <p:transition spd="med" advClick="1">
    <p:fade/>
  </p:transition>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E12D280-D1F3-4E0B-9B20-CE09E66D26D9}"/>
              </a:ext>
            </a:extLst>
          </p:cNvPr>
          <p:cNvPicPr>
            <a:picLocks xmlns:a="http://schemas.openxmlformats.org/drawingml/2006/main" noChangeAspect="1"/>
          </p:cNvPicPr>
          <p:nvPr/>
        </p:nvPicPr>
        <p:blipFill>
          <a:blip xmlns:r="http://schemas.openxmlformats.org/officeDocument/2006/relationships" xmlns:a="http://schemas.openxmlformats.org/drawingml/2006/main" r:embed="R9a56bcc35985461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AB18621-BC41-4ADF-95D9-0A268822506B}"/>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Soporte espacial y profundidad</a:t>
            </a:r>
          </a:p>
        </p:txBody>
      </p:sp>
      <p:pic>
        <p:nvPicPr>
          <p:cNvPr id="3" name="">
            <a:extLst xmlns:a="http://schemas.openxmlformats.org/drawingml/2006/main">
              <a:ext uri="{FF2B5EF4-FFF2-40B4-BE49-F238E27FC236}">
                <a16:creationId xmlns:a16="http://schemas.microsoft.com/office/drawing/2014/main" id="{CF4AB6C0-CF6C-45DD-AD78-FA72668C26F2}"/>
              </a:ext>
            </a:extLst>
          </p:cNvPr>
          <p:cNvPicPr>
            <a:picLocks xmlns:a="http://schemas.openxmlformats.org/drawingml/2006/main" noChangeAspect="1"/>
          </p:cNvPicPr>
          <p:nvPr/>
        </p:nvPicPr>
        <p:blipFill>
          <a:blip xmlns:r="http://schemas.openxmlformats.org/officeDocument/2006/relationships" xmlns:a="http://schemas.openxmlformats.org/drawingml/2006/main" r:embed="R744892feaeda4d91"/>
          <a:stretch xmlns:a="http://schemas.openxmlformats.org/drawingml/2006/main"/>
        </p:blipFill>
        <p:spPr>
          <a:xfrm xmlns:a="http://schemas.openxmlformats.org/drawingml/2006/main">
            <a:off x="1571625" y="1285875"/>
            <a:ext cx="9048750"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EB4307-1F44-4ABF-8985-FA074EF8FEF3}"/>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Comparar requiere compatibilidad de lugar, área, profundidad y método.</a:t>
            </a:r>
          </a:p>
        </p:txBody>
      </p:sp>
      <p:sp>
        <p:nvSpPr>
          <p:cNvPr id="5" name="">
            <a:extLst xmlns:a="http://schemas.openxmlformats.org/drawingml/2006/main">
              <a:ext uri="{FF2B5EF4-FFF2-40B4-BE49-F238E27FC236}">
                <a16:creationId xmlns:a16="http://schemas.microsoft.com/office/drawing/2014/main" id="{EAA9B947-C83E-4017-9AE8-0C3C09568D37}"/>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CD5BAC86-325B-43BF-9F4A-9E9A79A3401D}"/>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63</a:t>
            </a:r>
          </a:p>
        </p:txBody>
      </p:sp>
    </p:spTree>
    <p:extLst>
      <p:ext uri="{BB962C8B-B14F-4D97-AF65-F5344CB8AC3E}">
        <p14:creationId xmlns:p14="http://schemas.microsoft.com/office/powerpoint/2010/main" val="1381641029"/>
      </p:ext>
    </p:extLst>
  </p:cSld>
  <p:transition spd="med" advClick="1">
    <p:fade/>
  </p:transition>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97CF996-FF84-4367-B028-0534E3BDCB8F}"/>
              </a:ext>
            </a:extLst>
          </p:cNvPr>
          <p:cNvPicPr>
            <a:picLocks xmlns:a="http://schemas.openxmlformats.org/drawingml/2006/main" noChangeAspect="1"/>
          </p:cNvPicPr>
          <p:nvPr/>
        </p:nvPicPr>
        <p:blipFill>
          <a:blip xmlns:r="http://schemas.openxmlformats.org/officeDocument/2006/relationships" xmlns:a="http://schemas.openxmlformats.org/drawingml/2006/main" r:embed="Rf03bcc84728b4ab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353E06-0F7B-4799-8CA3-C553C557C2A5}"/>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Valores ráster y unidades de pH</a:t>
            </a:r>
          </a:p>
        </p:txBody>
      </p:sp>
      <p:graphicFrame>
        <p:nvGraphicFramePr>
          <p:cNvPr id="3" name="">
            <a:extLst xmlns:a="http://schemas.openxmlformats.org/drawingml/2006/main">
              <a:ext uri="{FF2B5EF4-FFF2-40B4-BE49-F238E27FC236}">
                <a16:creationId xmlns:a16="http://schemas.microsoft.com/office/drawing/2014/main" id="{105F03B1-A6F1-44F0-B268-F881DB0167BB}"/>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Dato de SoilGrids en E09</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Cómo interpretarlo</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Banda y profundidad</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Predicción de pH para 0–5 cm en la muestra del kit.</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Valor almacenado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El factor del ejercicio es pH = valor / 10.</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Ejemplo de conversión</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65 almacenado corresponde a pH 6,5.</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Transformación y CRS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Ubican cada celda en el espacio. La matriz sola no basta.</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Estadística del recorte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Describe las celdas incluidas en el dominio y la máscara definidos.</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A5EBD176-5A89-4587-BB67-D516F1D03A70}"/>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La conversión de unidades no convierte una predicción en una medición de campo.</a:t>
            </a:r>
          </a:p>
        </p:txBody>
      </p:sp>
      <p:sp>
        <p:nvSpPr>
          <p:cNvPr id="5" name="">
            <a:extLst xmlns:a="http://schemas.openxmlformats.org/drawingml/2006/main">
              <a:ext uri="{FF2B5EF4-FFF2-40B4-BE49-F238E27FC236}">
                <a16:creationId xmlns:a16="http://schemas.microsoft.com/office/drawing/2014/main" id="{736A414C-15F1-40D4-9AC2-D19AB0F422E4}"/>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540C476A-9F70-4B09-8AF6-A7D661645590}"/>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64</a:t>
            </a:r>
          </a:p>
        </p:txBody>
      </p:sp>
    </p:spTree>
    <p:extLst>
      <p:ext uri="{BB962C8B-B14F-4D97-AF65-F5344CB8AC3E}">
        <p14:creationId xmlns:p14="http://schemas.microsoft.com/office/powerpoint/2010/main" val="1225836661"/>
      </p:ext>
    </p:extLst>
  </p:cSld>
  <p:transition spd="med" advClick="1">
    <p:fade/>
  </p:transition>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FE59406-7866-4B28-96F3-9B2AE1CB2C2B}"/>
              </a:ext>
            </a:extLst>
          </p:cNvPr>
          <p:cNvPicPr>
            <a:picLocks xmlns:a="http://schemas.openxmlformats.org/drawingml/2006/main" noChangeAspect="1"/>
          </p:cNvPicPr>
          <p:nvPr/>
        </p:nvPicPr>
        <p:blipFill>
          <a:blip xmlns:r="http://schemas.openxmlformats.org/officeDocument/2006/relationships" xmlns:a="http://schemas.openxmlformats.org/drawingml/2006/main" r:embed="R1e5a35f29ad04df0"/>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2A1836-FE8F-4D80-96AD-085D979363C6}"/>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NoData, cero y máscara analítica</a:t>
            </a:r>
          </a:p>
        </p:txBody>
      </p:sp>
      <p:graphicFrame>
        <p:nvGraphicFramePr>
          <p:cNvPr id="3" name="">
            <a:extLst xmlns:a="http://schemas.openxmlformats.org/drawingml/2006/main">
              <a:ext uri="{FF2B5EF4-FFF2-40B4-BE49-F238E27FC236}">
                <a16:creationId xmlns:a16="http://schemas.microsoft.com/office/drawing/2014/main" id="{4F237DC6-A578-4994-8088-9650F21BE697}"/>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Situación</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Decisión del ejercicio</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NoData declarado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read(masked=True) respeta la máscara informada por el archivo.</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Ceros sin NoData</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188 celdas cero en la muestra. Se registran como pendientes de revisión.</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Dominio de trabajo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Se excluyen provisionalmente valores &lt;= 0 o &gt; 140 antes de dividir por 10.</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Original conservado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La máscara analítica no reescribe el archivo fuente.</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Estadística reportada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Media de pH sin los ceros por revisar, con la decisión documentada.</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FF1ECF30-100F-4282-AA16-995332EB4923}"/>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Cero, dato ausente y valor descartado por una regla no significan lo mismo.</a:t>
            </a:r>
          </a:p>
        </p:txBody>
      </p:sp>
      <p:sp>
        <p:nvSpPr>
          <p:cNvPr id="5" name="">
            <a:extLst xmlns:a="http://schemas.openxmlformats.org/drawingml/2006/main">
              <a:ext uri="{FF2B5EF4-FFF2-40B4-BE49-F238E27FC236}">
                <a16:creationId xmlns:a16="http://schemas.microsoft.com/office/drawing/2014/main" id="{116C5E6E-32D8-46E8-9E3F-6AB925C57F8F}"/>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6EB2DA6E-CD95-42CE-AA13-D26AA38729B4}"/>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65</a:t>
            </a:r>
          </a:p>
        </p:txBody>
      </p:sp>
    </p:spTree>
    <p:extLst>
      <p:ext uri="{BB962C8B-B14F-4D97-AF65-F5344CB8AC3E}">
        <p14:creationId xmlns:p14="http://schemas.microsoft.com/office/powerpoint/2010/main" val="1308084140"/>
      </p:ext>
    </p:extLst>
  </p:cSld>
  <p:transition spd="med" advClick="1">
    <p:fade/>
  </p:transition>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AF5B508-6CFC-4C85-9BA6-72521B78AF90}"/>
              </a:ext>
            </a:extLst>
          </p:cNvPr>
          <p:cNvPicPr>
            <a:picLocks xmlns:a="http://schemas.openxmlformats.org/drawingml/2006/main" noChangeAspect="1"/>
          </p:cNvPicPr>
          <p:nvPr/>
        </p:nvPicPr>
        <p:blipFill>
          <a:blip xmlns:r="http://schemas.openxmlformats.org/officeDocument/2006/relationships" xmlns:a="http://schemas.openxmlformats.org/drawingml/2006/main" r:embed="R85078a48259d442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0238EF-64CC-4906-B866-58A07FAFF95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Perfil, horizonte y número de sitios</a:t>
            </a:r>
          </a:p>
        </p:txBody>
      </p:sp>
      <p:graphicFrame>
        <p:nvGraphicFramePr>
          <p:cNvPr id="3" name="">
            <a:extLst xmlns:a="http://schemas.openxmlformats.org/drawingml/2006/main">
              <a:ext uri="{FF2B5EF4-FFF2-40B4-BE49-F238E27FC236}">
                <a16:creationId xmlns:a16="http://schemas.microsoft.com/office/drawing/2014/main" id="{6C1482D6-1687-4F3A-A5CB-D8A11D7478CF}"/>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Unidad</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Ejemplo de lectura</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profile_id</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Identifica un sitio o perfil del conjunto.</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upper_depth / lower_depth</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Intervalo de profundidad de una observación.</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Diez registros del archivo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Pueden corresponder a varias profundidades en el mismo perfil.</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Tres perfiles distintos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Referencia del corte docente de WoSIS. No son diez sitios independientes.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Método e incertidumbre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Revisar method_options y positional_uncertainty.</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B30E0655-D603-41B4-9FC4-BA894C4BA668}"/>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Una repetición de profile_id puede ser correcta si representa otro horizonte.</a:t>
            </a:r>
          </a:p>
        </p:txBody>
      </p:sp>
      <p:sp>
        <p:nvSpPr>
          <p:cNvPr id="5" name="">
            <a:extLst xmlns:a="http://schemas.openxmlformats.org/drawingml/2006/main">
              <a:ext uri="{FF2B5EF4-FFF2-40B4-BE49-F238E27FC236}">
                <a16:creationId xmlns:a16="http://schemas.microsoft.com/office/drawing/2014/main" id="{93C242B6-22DF-47D2-BD2A-D1DBB9441451}"/>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F8E2F14B-A460-403F-8F43-4C4A0EF5778B}"/>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66</a:t>
            </a:r>
          </a:p>
        </p:txBody>
      </p:sp>
    </p:spTree>
    <p:extLst>
      <p:ext uri="{BB962C8B-B14F-4D97-AF65-F5344CB8AC3E}">
        <p14:creationId xmlns:p14="http://schemas.microsoft.com/office/powerpoint/2010/main" val="84935427"/>
      </p:ext>
    </p:extLst>
  </p:cSld>
  <p:transition spd="med" advClick="1">
    <p:fade/>
  </p:transition>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16DC1C8-66BF-4666-9094-B01F71FB4FAB}"/>
              </a:ext>
            </a:extLst>
          </p:cNvPr>
          <p:cNvPicPr>
            <a:picLocks xmlns:a="http://schemas.openxmlformats.org/drawingml/2006/main" noChangeAspect="1"/>
          </p:cNvPicPr>
          <p:nvPr/>
        </p:nvPicPr>
        <p:blipFill>
          <a:blip xmlns:r="http://schemas.openxmlformats.org/officeDocument/2006/relationships" xmlns:a="http://schemas.openxmlformats.org/drawingml/2006/main" r:embed="Rb0a017241202487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77B7EC4-6D33-4731-9E04-D47DF68EED22}"/>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Condiciones para validar una predicción</a:t>
            </a:r>
          </a:p>
        </p:txBody>
      </p:sp>
      <p:pic>
        <p:nvPicPr>
          <p:cNvPr id="3" name="">
            <a:extLst xmlns:a="http://schemas.openxmlformats.org/drawingml/2006/main">
              <a:ext uri="{FF2B5EF4-FFF2-40B4-BE49-F238E27FC236}">
                <a16:creationId xmlns:a16="http://schemas.microsoft.com/office/drawing/2014/main" id="{6535EC51-EF48-446C-9F3D-232D149B7BF1}"/>
              </a:ext>
            </a:extLst>
          </p:cNvPr>
          <p:cNvPicPr>
            <a:picLocks xmlns:a="http://schemas.openxmlformats.org/drawingml/2006/main" noChangeAspect="1"/>
          </p:cNvPicPr>
          <p:nvPr/>
        </p:nvPicPr>
        <p:blipFill>
          <a:blip xmlns:r="http://schemas.openxmlformats.org/officeDocument/2006/relationships" xmlns:a="http://schemas.openxmlformats.org/drawingml/2006/main" r:embed="R0685f2c82e054d95"/>
          <a:stretch xmlns:a="http://schemas.openxmlformats.org/drawingml/2006/main"/>
        </p:blipFill>
        <p:spPr>
          <a:xfrm xmlns:a="http://schemas.openxmlformats.org/drawingml/2006/main">
            <a:off x="447675" y="1409700"/>
            <a:ext cx="6572250"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726B225-58FA-443C-9678-36F3BE8EF628}"/>
              </a:ext>
            </a:extLst>
          </p:cNvPr>
          <p:cNvSpPr>
            <a:spLocks xmlns:a="http://schemas.openxmlformats.org/drawingml/2006/main" noGrp="1"/>
          </p:cNvSpPr>
          <p:nvPr/>
        </p:nvSpPr>
        <p:spPr>
          <a:xfrm xmlns:a="http://schemas.openxmlformats.org/drawingml/2006/main">
            <a:off x="7524750" y="157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Coincidencia espacial</a:t>
            </a:r>
          </a:p>
        </p:txBody>
      </p:sp>
      <p:sp>
        <p:nvSpPr>
          <p:cNvPr id="5" name="">
            <a:extLst xmlns:a="http://schemas.openxmlformats.org/drawingml/2006/main">
              <a:ext uri="{FF2B5EF4-FFF2-40B4-BE49-F238E27FC236}">
                <a16:creationId xmlns:a16="http://schemas.microsoft.com/office/drawing/2014/main" id="{83B8B950-FDDF-4519-8A4F-819D78083163}"/>
              </a:ext>
            </a:extLst>
          </p:cNvPr>
          <p:cNvSpPr>
            <a:spLocks xmlns:a="http://schemas.openxmlformats.org/drawingml/2006/main" noGrp="1"/>
          </p:cNvSpPr>
          <p:nvPr/>
        </p:nvSpPr>
        <p:spPr>
          <a:xfrm xmlns:a="http://schemas.openxmlformats.org/drawingml/2006/main">
            <a:off x="7524750" y="2009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El punto debe caer dentro del recorte y ubicarse con precisión suficiente.</a:t>
            </a:r>
          </a:p>
        </p:txBody>
      </p:sp>
      <p:sp>
        <p:nvSpPr>
          <p:cNvPr id="6" name="">
            <a:extLst xmlns:a="http://schemas.openxmlformats.org/drawingml/2006/main">
              <a:ext uri="{FF2B5EF4-FFF2-40B4-BE49-F238E27FC236}">
                <a16:creationId xmlns:a16="http://schemas.microsoft.com/office/drawing/2014/main" id="{0F7C8A2F-2F31-44CF-9F1B-4A91F24690FC}"/>
              </a:ext>
            </a:extLst>
          </p:cNvPr>
          <p:cNvSpPr>
            <a:spLocks xmlns:a="http://schemas.openxmlformats.org/drawingml/2006/main" noGrp="1"/>
          </p:cNvSpPr>
          <p:nvPr/>
        </p:nvSpPr>
        <p:spPr>
          <a:xfrm xmlns:a="http://schemas.openxmlformats.org/drawingml/2006/main">
            <a:off x="7524750" y="29622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Profundidad y método</a:t>
            </a:r>
          </a:p>
        </p:txBody>
      </p:sp>
      <p:sp>
        <p:nvSpPr>
          <p:cNvPr id="7" name="">
            <a:extLst xmlns:a="http://schemas.openxmlformats.org/drawingml/2006/main">
              <a:ext uri="{FF2B5EF4-FFF2-40B4-BE49-F238E27FC236}">
                <a16:creationId xmlns:a16="http://schemas.microsoft.com/office/drawing/2014/main" id="{C2CF364C-768D-4843-B736-DC5DB0415868}"/>
              </a:ext>
            </a:extLst>
          </p:cNvPr>
          <p:cNvSpPr>
            <a:spLocks xmlns:a="http://schemas.openxmlformats.org/drawingml/2006/main" noGrp="1"/>
          </p:cNvSpPr>
          <p:nvPr/>
        </p:nvSpPr>
        <p:spPr>
          <a:xfrm xmlns:a="http://schemas.openxmlformats.org/drawingml/2006/main">
            <a:off x="7524750" y="34004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La observación debe medir una variable comparable al intervalo y método de la predicción.</a:t>
            </a:r>
          </a:p>
        </p:txBody>
      </p:sp>
      <p:sp>
        <p:nvSpPr>
          <p:cNvPr id="8" name="">
            <a:extLst xmlns:a="http://schemas.openxmlformats.org/drawingml/2006/main">
              <a:ext uri="{FF2B5EF4-FFF2-40B4-BE49-F238E27FC236}">
                <a16:creationId xmlns:a16="http://schemas.microsoft.com/office/drawing/2014/main" id="{DA30E28A-0F28-4BA1-83E3-2A0AE3C99596}"/>
              </a:ext>
            </a:extLst>
          </p:cNvPr>
          <p:cNvSpPr>
            <a:spLocks xmlns:a="http://schemas.openxmlformats.org/drawingml/2006/main" noGrp="1"/>
          </p:cNvSpPr>
          <p:nvPr/>
        </p:nvSpPr>
        <p:spPr>
          <a:xfrm xmlns:a="http://schemas.openxmlformats.org/drawingml/2006/main">
            <a:off x="7524750" y="43529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Diseño de comparación</a:t>
            </a:r>
          </a:p>
        </p:txBody>
      </p:sp>
      <p:sp>
        <p:nvSpPr>
          <p:cNvPr id="9" name="">
            <a:extLst xmlns:a="http://schemas.openxmlformats.org/drawingml/2006/main">
              <a:ext uri="{FF2B5EF4-FFF2-40B4-BE49-F238E27FC236}">
                <a16:creationId xmlns:a16="http://schemas.microsoft.com/office/drawing/2014/main" id="{A943D455-DA93-4873-A7CC-9E88419C3DE2}"/>
              </a:ext>
            </a:extLst>
          </p:cNvPr>
          <p:cNvSpPr>
            <a:spLocks xmlns:a="http://schemas.openxmlformats.org/drawingml/2006/main" noGrp="1"/>
          </p:cNvSpPr>
          <p:nvPr/>
        </p:nvSpPr>
        <p:spPr>
          <a:xfrm xmlns:a="http://schemas.openxmlformats.org/drawingml/2006/main">
            <a:off x="7524750" y="47910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Definir selección de perfiles, tratamiento de horizontes y métrica antes de calcular errores.</a:t>
            </a:r>
          </a:p>
        </p:txBody>
      </p:sp>
      <p:sp>
        <p:nvSpPr>
          <p:cNvPr id="10" name="">
            <a:extLst xmlns:a="http://schemas.openxmlformats.org/drawingml/2006/main">
              <a:ext uri="{FF2B5EF4-FFF2-40B4-BE49-F238E27FC236}">
                <a16:creationId xmlns:a16="http://schemas.microsoft.com/office/drawing/2014/main" id="{2FE2CF92-1DE2-4B1F-A3F4-E705A5A920DB}"/>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Sin observaciones compatibles se documenta la limitación. No se inventa un error de validación.</a:t>
            </a:r>
          </a:p>
        </p:txBody>
      </p:sp>
      <p:sp>
        <p:nvSpPr>
          <p:cNvPr id="11" name="">
            <a:extLst xmlns:a="http://schemas.openxmlformats.org/drawingml/2006/main">
              <a:ext uri="{FF2B5EF4-FFF2-40B4-BE49-F238E27FC236}">
                <a16:creationId xmlns:a16="http://schemas.microsoft.com/office/drawing/2014/main" id="{7EB51612-75E1-4A2C-B39D-6327AE567FE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B5B920F6-5A78-4F19-869C-555E40B21177}"/>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67</a:t>
            </a:r>
          </a:p>
        </p:txBody>
      </p:sp>
    </p:spTree>
    <p:extLst>
      <p:ext uri="{BB962C8B-B14F-4D97-AF65-F5344CB8AC3E}">
        <p14:creationId xmlns:p14="http://schemas.microsoft.com/office/powerpoint/2010/main" val="154023939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CE9E977-5BC0-480D-B53C-4FA54359C7D4}"/>
              </a:ext>
            </a:extLst>
          </p:cNvPr>
          <p:cNvPicPr>
            <a:picLocks xmlns:a="http://schemas.openxmlformats.org/drawingml/2006/main" noChangeAspect="1"/>
          </p:cNvPicPr>
          <p:nvPr/>
        </p:nvPicPr>
        <p:blipFill>
          <a:blip xmlns:r="http://schemas.openxmlformats.org/officeDocument/2006/relationships" xmlns:a="http://schemas.openxmlformats.org/drawingml/2006/main" r:embed="R544712f6c51840a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9CA7ED-A3BF-4FFD-B14A-01CB06A87093}"/>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E09: leer y enmascarar</a:t>
            </a:r>
          </a:p>
        </p:txBody>
      </p:sp>
      <p:sp>
        <p:nvSpPr>
          <p:cNvPr id="3" name="">
            <a:extLst xmlns:a="http://schemas.openxmlformats.org/drawingml/2006/main">
              <a:ext uri="{FF2B5EF4-FFF2-40B4-BE49-F238E27FC236}">
                <a16:creationId xmlns:a16="http://schemas.microsoft.com/office/drawing/2014/main" id="{6799830E-595B-4DAC-8E69-E6EBA13D3803}"/>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with rasterio.open(RAW / "soilgrids.tif") as src:</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valores = src.read(1, masked=True).astype(float)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transformacion = src.transform</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crs_suelo = src.crs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limites_suelo = src.bounds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ph = np.ma.masked_where(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(valores &lt;= 0) | (valores &gt; 140), valores) / 10</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print(valores.shape, ph.count())</a:t>
            </a:r>
          </a:p>
        </p:txBody>
      </p:sp>
      <p:sp>
        <p:nvSpPr>
          <p:cNvPr id="4" name="">
            <a:extLst xmlns:a="http://schemas.openxmlformats.org/drawingml/2006/main">
              <a:ext uri="{FF2B5EF4-FFF2-40B4-BE49-F238E27FC236}">
                <a16:creationId xmlns:a16="http://schemas.microsoft.com/office/drawing/2014/main" id="{865BA5B7-4492-40D8-91B8-04E6CBAE46BA}"/>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6CEAA426-A636-4961-A61F-C45410958D8D}"/>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Ejecutar el paso 1 y explicar cada metadato conservado.</a:t>
            </a:r>
          </a:p>
        </p:txBody>
      </p:sp>
      <p:sp>
        <p:nvSpPr>
          <p:cNvPr id="6" name="">
            <a:extLst xmlns:a="http://schemas.openxmlformats.org/drawingml/2006/main">
              <a:ext uri="{FF2B5EF4-FFF2-40B4-BE49-F238E27FC236}">
                <a16:creationId xmlns:a16="http://schemas.microsoft.com/office/drawing/2014/main" id="{C5E01C9F-F2F9-45D8-A950-33747A1A109F}"/>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Comprobación</a:t>
            </a:r>
          </a:p>
        </p:txBody>
      </p:sp>
      <p:sp>
        <p:nvSpPr>
          <p:cNvPr id="7" name="">
            <a:extLst xmlns:a="http://schemas.openxmlformats.org/drawingml/2006/main">
              <a:ext uri="{FF2B5EF4-FFF2-40B4-BE49-F238E27FC236}">
                <a16:creationId xmlns:a16="http://schemas.microsoft.com/office/drawing/2014/main" id="{A068845C-BE06-4BA8-8E51-CF52291E4C16}"/>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Contar ceros, revisar NoData y justificar la máscara antes de interpretar la media.</a:t>
            </a:r>
          </a:p>
        </p:txBody>
      </p:sp>
      <p:sp>
        <p:nvSpPr>
          <p:cNvPr id="8" name="">
            <a:extLst xmlns:a="http://schemas.openxmlformats.org/drawingml/2006/main">
              <a:ext uri="{FF2B5EF4-FFF2-40B4-BE49-F238E27FC236}">
                <a16:creationId xmlns:a16="http://schemas.microsoft.com/office/drawing/2014/main" id="{CB5197A0-FB0A-4407-8BF7-D1B0F70FA39F}"/>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E09_Geoespacial.ipynb. Referencia: 42 × 44 celdas, 188 ceros y 1 660 celdas retenidas.</a:t>
            </a:r>
          </a:p>
        </p:txBody>
      </p:sp>
      <p:sp>
        <p:nvSpPr>
          <p:cNvPr id="9" name="">
            <a:extLst xmlns:a="http://schemas.openxmlformats.org/drawingml/2006/main">
              <a:ext uri="{FF2B5EF4-FFF2-40B4-BE49-F238E27FC236}">
                <a16:creationId xmlns:a16="http://schemas.microsoft.com/office/drawing/2014/main" id="{1EB5EF98-BF6D-4878-AD60-3E26A5EA1B6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59B2A32C-833D-4743-8000-F9E07949E78A}"/>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68</a:t>
            </a:r>
          </a:p>
        </p:txBody>
      </p:sp>
    </p:spTree>
    <p:extLst>
      <p:ext uri="{BB962C8B-B14F-4D97-AF65-F5344CB8AC3E}">
        <p14:creationId xmlns:p14="http://schemas.microsoft.com/office/powerpoint/2010/main" val="1535333130"/>
      </p:ext>
    </p:extLst>
  </p:cSld>
  <p:transition spd="med" advClick="1">
    <p:fade/>
  </p:transition>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727F13B-0ADD-48A5-9494-7146D7985C4E}"/>
              </a:ext>
            </a:extLst>
          </p:cNvPr>
          <p:cNvPicPr>
            <a:picLocks xmlns:a="http://schemas.openxmlformats.org/drawingml/2006/main" noChangeAspect="1"/>
          </p:cNvPicPr>
          <p:nvPr/>
        </p:nvPicPr>
        <p:blipFill>
          <a:blip xmlns:r="http://schemas.openxmlformats.org/officeDocument/2006/relationships" xmlns:a="http://schemas.openxmlformats.org/drawingml/2006/main" r:embed="R9984e23d028f422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9E2CA4A-40E8-4265-B856-4DBFA8FA3589}"/>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E09: ubicar los perfiles</a:t>
            </a:r>
          </a:p>
        </p:txBody>
      </p:sp>
      <p:sp>
        <p:nvSpPr>
          <p:cNvPr id="3" name="">
            <a:extLst xmlns:a="http://schemas.openxmlformats.org/drawingml/2006/main">
              <a:ext uri="{FF2B5EF4-FFF2-40B4-BE49-F238E27FC236}">
                <a16:creationId xmlns:a16="http://schemas.microsoft.com/office/drawing/2014/main" id="{C2ABE114-EA20-4871-AC7F-6133A4C137D8}"/>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perfiles = gpd.read_file(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RAW / "wosis.json", engine="pyogrio")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perfiles = perfiles.to_crs(crs_suelo)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dentro = perfiles.geometry.intersects(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box(*limites_suelo))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print("Registros:", len(perfiles))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print("Perfiles:", perfiles.profile_id.nunique())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print("Dentro del recorte:", int(dentro.sum()))</a:t>
            </a:r>
          </a:p>
        </p:txBody>
      </p:sp>
      <p:sp>
        <p:nvSpPr>
          <p:cNvPr id="4" name="">
            <a:extLst xmlns:a="http://schemas.openxmlformats.org/drawingml/2006/main">
              <a:ext uri="{FF2B5EF4-FFF2-40B4-BE49-F238E27FC236}">
                <a16:creationId xmlns:a16="http://schemas.microsoft.com/office/drawing/2014/main" id="{15A407D6-20D4-4B9D-878C-F1133023CA33}"/>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8F551603-A93A-44F0-8D86-02B298C7C658}"/>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Revisar mapa y tabla por perfil y profundidad.</a:t>
            </a:r>
          </a:p>
        </p:txBody>
      </p:sp>
      <p:sp>
        <p:nvSpPr>
          <p:cNvPr id="6" name="">
            <a:extLst xmlns:a="http://schemas.openxmlformats.org/drawingml/2006/main">
              <a:ext uri="{FF2B5EF4-FFF2-40B4-BE49-F238E27FC236}">
                <a16:creationId xmlns:a16="http://schemas.microsoft.com/office/drawing/2014/main" id="{6BFCDFDB-B8DE-4414-A71A-0338D8C619E9}"/>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Interpretación</a:t>
            </a:r>
          </a:p>
        </p:txBody>
      </p:sp>
      <p:sp>
        <p:nvSpPr>
          <p:cNvPr id="7" name="">
            <a:extLst xmlns:a="http://schemas.openxmlformats.org/drawingml/2006/main">
              <a:ext uri="{FF2B5EF4-FFF2-40B4-BE49-F238E27FC236}">
                <a16:creationId xmlns:a16="http://schemas.microsoft.com/office/drawing/2014/main" id="{62DA8771-3AD3-4703-ABF2-81CA8E669A98}"/>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Distinguir horizontes dentro del recorte de sitios independientes y de píxeles válidos.</a:t>
            </a:r>
          </a:p>
        </p:txBody>
      </p:sp>
      <p:sp>
        <p:nvSpPr>
          <p:cNvPr id="8" name="">
            <a:extLst xmlns:a="http://schemas.openxmlformats.org/drawingml/2006/main">
              <a:ext uri="{FF2B5EF4-FFF2-40B4-BE49-F238E27FC236}">
                <a16:creationId xmlns:a16="http://schemas.microsoft.com/office/drawing/2014/main" id="{C85BCAD4-5022-40A6-8CC6-DFA21C2EFA65}"/>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notebook dibuja los perfiles que intersectan la extensión y guarda perfiles_wosis.csv.</a:t>
            </a:r>
          </a:p>
        </p:txBody>
      </p:sp>
      <p:sp>
        <p:nvSpPr>
          <p:cNvPr id="9" name="">
            <a:extLst xmlns:a="http://schemas.openxmlformats.org/drawingml/2006/main">
              <a:ext uri="{FF2B5EF4-FFF2-40B4-BE49-F238E27FC236}">
                <a16:creationId xmlns:a16="http://schemas.microsoft.com/office/drawing/2014/main" id="{8526E87E-0421-4F65-9607-A3D2EE088923}"/>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36FF56B5-E995-479D-BF15-DE5F8B830EA6}"/>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69</a:t>
            </a:r>
          </a:p>
        </p:txBody>
      </p:sp>
    </p:spTree>
    <p:extLst>
      <p:ext uri="{BB962C8B-B14F-4D97-AF65-F5344CB8AC3E}">
        <p14:creationId xmlns:p14="http://schemas.microsoft.com/office/powerpoint/2010/main" val="2146619902"/>
      </p:ext>
    </p:extLst>
  </p:cSld>
  <p:transition spd="med" advClick="1">
    <p:fade/>
  </p:transition>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2785177-BF06-4292-808D-BAB3380EB842}"/>
              </a:ext>
            </a:extLst>
          </p:cNvPr>
          <p:cNvPicPr>
            <a:picLocks xmlns:a="http://schemas.openxmlformats.org/drawingml/2006/main" noChangeAspect="1"/>
          </p:cNvPicPr>
          <p:nvPr/>
        </p:nvPicPr>
        <p:blipFill>
          <a:blip xmlns:r="http://schemas.openxmlformats.org/officeDocument/2006/relationships" xmlns:a="http://schemas.openxmlformats.org/drawingml/2006/main" r:embed="Ra7b484200c8a4a4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F8DCF9-16C4-4788-828B-037BA39DE38D}"/>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E09: contrastar las fuentes</a:t>
            </a:r>
          </a:p>
        </p:txBody>
      </p:sp>
      <p:graphicFrame>
        <p:nvGraphicFramePr>
          <p:cNvPr id="3" name="">
            <a:extLst xmlns:a="http://schemas.openxmlformats.org/drawingml/2006/main">
              <a:ext uri="{FF2B5EF4-FFF2-40B4-BE49-F238E27FC236}">
                <a16:creationId xmlns:a16="http://schemas.microsoft.com/office/drawing/2014/main" id="{5EB2074C-1D83-4C96-8C10-BF81C426E8E4}"/>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Fuente</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Pregunta para interpretar sus atributos</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SoilGrids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¿Qué variable, escala y profundidad predice cada celda?</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WoSIS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¿Dónde, a qué profundidad y con qué método se obtuvo cada observación?</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IGAC química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¿Qué intervalos temáticos representan los polígonos de la muestra?</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IGAC correlación</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¿Qué taxonomía describen sus atributos? Es una tabla sin geometría en este archivo.</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Conclusión del estudiante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Precisar qué fuentes son comparables y qué información falta.</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78989BC1-DF48-4483-B937-B1A943F07490}"/>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Productos de E09: mapa_suelo.png, perfiles_wosis.csv y control_suelo.json.</a:t>
            </a:r>
          </a:p>
        </p:txBody>
      </p:sp>
      <p:sp>
        <p:nvSpPr>
          <p:cNvPr id="5" name="">
            <a:extLst xmlns:a="http://schemas.openxmlformats.org/drawingml/2006/main">
              <a:ext uri="{FF2B5EF4-FFF2-40B4-BE49-F238E27FC236}">
                <a16:creationId xmlns:a16="http://schemas.microsoft.com/office/drawing/2014/main" id="{47BF674E-58AC-4F64-9069-305ED5E632F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CA1DBBE7-6457-4D72-8974-0EFCAE51F886}"/>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70</a:t>
            </a:r>
          </a:p>
        </p:txBody>
      </p:sp>
    </p:spTree>
    <p:extLst>
      <p:ext uri="{BB962C8B-B14F-4D97-AF65-F5344CB8AC3E}">
        <p14:creationId xmlns:p14="http://schemas.microsoft.com/office/powerpoint/2010/main" val="1447355363"/>
      </p:ext>
    </p:extLst>
  </p:cSld>
  <p:transition spd="med" advClick="1">
    <p:fade/>
  </p:transition>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30AC70B-54AC-4B9F-AF60-63AA1A149CA6}"/>
              </a:ext>
            </a:extLst>
          </p:cNvPr>
          <p:cNvPicPr>
            <a:picLocks xmlns:a="http://schemas.openxmlformats.org/drawingml/2006/main" noChangeAspect="1"/>
          </p:cNvPicPr>
          <p:nvPr/>
        </p:nvPicPr>
        <p:blipFill>
          <a:blip xmlns:r="http://schemas.openxmlformats.org/officeDocument/2006/relationships" xmlns:a="http://schemas.openxmlformats.org/drawingml/2006/main" r:embed="Rd0944e7aca3a4a5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CE4F9AB-56F3-4290-A0D0-A3E56A189919}"/>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Integración de la evidencia</a:t>
            </a:r>
          </a:p>
        </p:txBody>
      </p:sp>
      <p:graphicFrame>
        <p:nvGraphicFramePr>
          <p:cNvPr id="3" name="">
            <a:extLst xmlns:a="http://schemas.openxmlformats.org/drawingml/2006/main">
              <a:ext uri="{FF2B5EF4-FFF2-40B4-BE49-F238E27FC236}">
                <a16:creationId xmlns:a16="http://schemas.microsoft.com/office/drawing/2014/main" id="{1308C789-D1A4-48D2-AFF2-EF66A1A11DD5}"/>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Pregunta de la clase</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Producto que la sustenta</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¿El cálculo y el ranking son correctos?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Control rev01, top3_verificado.csv, planes y métricas observadas.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¿Las uniones conservan su significado?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Claves, cardinalidad y grupos sin dimensión.</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¿Qué área representa el mapa?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Control geográfico, intersecciones y alcance de la muestra.</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¿Qué representa cada valor de suelo?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Unidades, profundidad, máscara y tabla de perfiles.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¿Qué se puede concluir?</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Interpretación que respeta cobertura y soporte de cada fuente.</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15843CB8-97B0-422A-9BA5-BB9DD0215B52}"/>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Cada conclusión debe señalar qué dato, operación y comprobación la sostienen.</a:t>
            </a:r>
          </a:p>
        </p:txBody>
      </p:sp>
      <p:sp>
        <p:nvSpPr>
          <p:cNvPr id="5" name="">
            <a:extLst xmlns:a="http://schemas.openxmlformats.org/drawingml/2006/main">
              <a:ext uri="{FF2B5EF4-FFF2-40B4-BE49-F238E27FC236}">
                <a16:creationId xmlns:a16="http://schemas.microsoft.com/office/drawing/2014/main" id="{4D0164D8-A3F4-4B83-8023-F076CE8C4E7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37D568EC-F65F-436E-9F29-D89B47E0EA48}"/>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71</a:t>
            </a:r>
          </a:p>
        </p:txBody>
      </p:sp>
    </p:spTree>
    <p:extLst>
      <p:ext uri="{BB962C8B-B14F-4D97-AF65-F5344CB8AC3E}">
        <p14:creationId xmlns:p14="http://schemas.microsoft.com/office/powerpoint/2010/main" val="628043289"/>
      </p:ext>
    </p:extLst>
  </p:cSld>
  <p:transition spd="med" advClick="1">
    <p:fade/>
  </p:transition>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3C950CA-83B5-477B-8F8F-A03871886EAF}"/>
              </a:ext>
            </a:extLst>
          </p:cNvPr>
          <p:cNvPicPr>
            <a:picLocks xmlns:a="http://schemas.openxmlformats.org/drawingml/2006/main" noChangeAspect="1"/>
          </p:cNvPicPr>
          <p:nvPr/>
        </p:nvPicPr>
        <p:blipFill>
          <a:blip xmlns:r="http://schemas.openxmlformats.org/officeDocument/2006/relationships" xmlns:a="http://schemas.openxmlformats.org/drawingml/2006/main" r:embed="R616a495cfb82405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38D4F5-921B-4831-B4CE-F032BDAA5375}"/>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Discusión: una consulta territorial a escala</a:t>
            </a:r>
          </a:p>
        </p:txBody>
      </p:sp>
      <p:graphicFrame>
        <p:nvGraphicFramePr>
          <p:cNvPr id="3" name="">
            <a:extLst xmlns:a="http://schemas.openxmlformats.org/drawingml/2006/main">
              <a:ext uri="{FF2B5EF4-FFF2-40B4-BE49-F238E27FC236}">
                <a16:creationId xmlns:a16="http://schemas.microsoft.com/office/drawing/2014/main" id="{259073A7-2E32-433C-B6D7-DD4D212CA1B2}"/>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Escenario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Decisión que se debe justificar</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El histórico EVA crece a TB</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Qué cálculos se distribuyen, qué claves generan shuffle y qué métricas observar.</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La dimensión sigue siendo pequeña</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Si broadcast es aplicable y cabe en cada executor.</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Las geometrías crecen</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Si el procesamiento local sigue siendo suficiente y cómo conservar controles.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Los perfiles no coinciden con el recorte</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Qué comparación debe posponerse y qué datos adicionales se necesitan.</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El ranking cambia entre ejecuciones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Revisar datos, orden, desempate y equivalencia antes de explicar el cambio.</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96F28A31-A871-437B-AD34-4891CA0B79B1}"/>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La arquitectura permite ejecutar. La unidad de análisis y los controles permiten interpretar.</a:t>
            </a:r>
          </a:p>
        </p:txBody>
      </p:sp>
      <p:sp>
        <p:nvSpPr>
          <p:cNvPr id="5" name="">
            <a:extLst xmlns:a="http://schemas.openxmlformats.org/drawingml/2006/main">
              <a:ext uri="{FF2B5EF4-FFF2-40B4-BE49-F238E27FC236}">
                <a16:creationId xmlns:a16="http://schemas.microsoft.com/office/drawing/2014/main" id="{F4C2375F-34B5-4C35-9E6C-9F42DBFC204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B62C9D41-43A7-42C3-9F12-5E365CCDAC6A}"/>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72</a:t>
            </a:r>
          </a:p>
        </p:txBody>
      </p:sp>
    </p:spTree>
    <p:extLst>
      <p:ext uri="{BB962C8B-B14F-4D97-AF65-F5344CB8AC3E}">
        <p14:creationId xmlns:p14="http://schemas.microsoft.com/office/powerpoint/2010/main" val="1886573061"/>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2026-10-17T13:09:39.4690000Z</dcterms:created>
  <dcterms:modified xsi:type="dcterms:W3CDTF">2026-10-17T13:09:39.4690000Z</dcterms:modified>
</coreProperties>
</file>