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22f4179c434c9b" /><Relationship Type="http://schemas.openxmlformats.org/officeDocument/2006/relationships/extended-properties" Target="/docProps/app.xml" Id="R6fe6963292b94181" /><Relationship Type="http://schemas.openxmlformats.org/officeDocument/2006/relationships/officeDocument" Target="/ppt/presentation.xml" Id="R2476998c599f43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1f0109fcb7486a"/>
  </p:sldMasterIdLst>
  <p:notesMasterIdLst>
    <p:notesMasterId xmlns:r="http://schemas.openxmlformats.org/officeDocument/2006/relationships" r:id="R5d59ee1be61f474c"/>
  </p:notesMasterIdLst>
  <p:sldIdLst>
    <p:sldId xmlns:r="http://schemas.openxmlformats.org/officeDocument/2006/relationships" id="256" r:id="R9020e1c6f61c49ab"/>
    <p:sldId xmlns:r="http://schemas.openxmlformats.org/officeDocument/2006/relationships" id="257" r:id="R4e2d552a1e3c4764"/>
    <p:sldId xmlns:r="http://schemas.openxmlformats.org/officeDocument/2006/relationships" id="258" r:id="R7cfe122e66654570"/>
    <p:sldId xmlns:r="http://schemas.openxmlformats.org/officeDocument/2006/relationships" id="259" r:id="Rc9d876018c6b444d"/>
    <p:sldId xmlns:r="http://schemas.openxmlformats.org/officeDocument/2006/relationships" id="260" r:id="R828b189b59844e60"/>
    <p:sldId xmlns:r="http://schemas.openxmlformats.org/officeDocument/2006/relationships" id="261" r:id="Rb15ec15ea2974784"/>
    <p:sldId xmlns:r="http://schemas.openxmlformats.org/officeDocument/2006/relationships" id="262" r:id="R6cd652bc34094184"/>
    <p:sldId xmlns:r="http://schemas.openxmlformats.org/officeDocument/2006/relationships" id="263" r:id="R814c372fd4d848e5"/>
    <p:sldId xmlns:r="http://schemas.openxmlformats.org/officeDocument/2006/relationships" id="264" r:id="Rc84289654a234020"/>
    <p:sldId xmlns:r="http://schemas.openxmlformats.org/officeDocument/2006/relationships" id="265" r:id="R4895952df5904031"/>
    <p:sldId xmlns:r="http://schemas.openxmlformats.org/officeDocument/2006/relationships" id="266" r:id="R3207cdd058cf49a9"/>
    <p:sldId xmlns:r="http://schemas.openxmlformats.org/officeDocument/2006/relationships" id="267" r:id="R0ab372c2d2a44ac3"/>
    <p:sldId xmlns:r="http://schemas.openxmlformats.org/officeDocument/2006/relationships" id="268" r:id="Re1a68ec84c764117"/>
    <p:sldId xmlns:r="http://schemas.openxmlformats.org/officeDocument/2006/relationships" id="269" r:id="R66440408cead4762"/>
    <p:sldId xmlns:r="http://schemas.openxmlformats.org/officeDocument/2006/relationships" id="270" r:id="R0a494ddd875441c1"/>
    <p:sldId xmlns:r="http://schemas.openxmlformats.org/officeDocument/2006/relationships" id="271" r:id="R5ca99ef2361249b8"/>
    <p:sldId xmlns:r="http://schemas.openxmlformats.org/officeDocument/2006/relationships" id="272" r:id="Rd61981a3465e4961"/>
    <p:sldId xmlns:r="http://schemas.openxmlformats.org/officeDocument/2006/relationships" id="273" r:id="Re2f39e3164c843a2"/>
    <p:sldId xmlns:r="http://schemas.openxmlformats.org/officeDocument/2006/relationships" id="274" r:id="Rf2949502624f4fa2"/>
    <p:sldId xmlns:r="http://schemas.openxmlformats.org/officeDocument/2006/relationships" id="275" r:id="R175f9b892bb7466a"/>
    <p:sldId xmlns:r="http://schemas.openxmlformats.org/officeDocument/2006/relationships" id="276" r:id="Rb96af93717fb4cca"/>
    <p:sldId xmlns:r="http://schemas.openxmlformats.org/officeDocument/2006/relationships" id="277" r:id="Rcfc21e691b03479e"/>
    <p:sldId xmlns:r="http://schemas.openxmlformats.org/officeDocument/2006/relationships" id="278" r:id="R490692661fd4428b"/>
    <p:sldId xmlns:r="http://schemas.openxmlformats.org/officeDocument/2006/relationships" id="279" r:id="R232da4021b854abd"/>
    <p:sldId xmlns:r="http://schemas.openxmlformats.org/officeDocument/2006/relationships" id="280" r:id="Rca022babe9e744d8"/>
    <p:sldId xmlns:r="http://schemas.openxmlformats.org/officeDocument/2006/relationships" id="281" r:id="R8b87207668ef47e1"/>
    <p:sldId xmlns:r="http://schemas.openxmlformats.org/officeDocument/2006/relationships" id="282" r:id="R9b7be4c72ff243d0"/>
    <p:sldId xmlns:r="http://schemas.openxmlformats.org/officeDocument/2006/relationships" id="283" r:id="R09940197a9d242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e3895315b74970" /><Relationship Type="http://schemas.openxmlformats.org/officeDocument/2006/relationships/slideMaster" Target="/ppt/slideMasters/slideMaster1.xml" Id="Rb01f0109fcb7486a" /><Relationship Type="http://schemas.openxmlformats.org/officeDocument/2006/relationships/notesMaster" Target="/ppt/notesMasters/notesMaster1.xml" Id="R5d59ee1be61f474c" /><Relationship Type="http://schemas.openxmlformats.org/officeDocument/2006/relationships/presProps" Target="/ppt/presProps.xml" Id="R3326624597f44678" /><Relationship Type="http://schemas.openxmlformats.org/officeDocument/2006/relationships/tableStyles" Target="/ppt/tableStyles.xml" Id="R873f4458bc0c477a" /><Relationship Type="http://schemas.openxmlformats.org/officeDocument/2006/relationships/slide" Target="/ppt/slides/slide1.xml" Id="R9020e1c6f61c49ab" /><Relationship Type="http://schemas.openxmlformats.org/officeDocument/2006/relationships/slide" Target="/ppt/slides/slide2.xml" Id="R4e2d552a1e3c4764" /><Relationship Type="http://schemas.openxmlformats.org/officeDocument/2006/relationships/slide" Target="/ppt/slides/slide3.xml" Id="R7cfe122e66654570" /><Relationship Type="http://schemas.openxmlformats.org/officeDocument/2006/relationships/slide" Target="/ppt/slides/slide4.xml" Id="Rc9d876018c6b444d" /><Relationship Type="http://schemas.openxmlformats.org/officeDocument/2006/relationships/slide" Target="/ppt/slides/slide5.xml" Id="R828b189b59844e60" /><Relationship Type="http://schemas.openxmlformats.org/officeDocument/2006/relationships/slide" Target="/ppt/slides/slide6.xml" Id="Rb15ec15ea2974784" /><Relationship Type="http://schemas.openxmlformats.org/officeDocument/2006/relationships/slide" Target="/ppt/slides/slide7.xml" Id="R6cd652bc34094184" /><Relationship Type="http://schemas.openxmlformats.org/officeDocument/2006/relationships/slide" Target="/ppt/slides/slide8.xml" Id="R814c372fd4d848e5" /><Relationship Type="http://schemas.openxmlformats.org/officeDocument/2006/relationships/slide" Target="/ppt/slides/slide9.xml" Id="Rc84289654a234020" /><Relationship Type="http://schemas.openxmlformats.org/officeDocument/2006/relationships/slide" Target="/ppt/slides/slide10.xml" Id="R4895952df5904031" /><Relationship Type="http://schemas.openxmlformats.org/officeDocument/2006/relationships/slide" Target="/ppt/slides/slide11.xml" Id="R3207cdd058cf49a9" /><Relationship Type="http://schemas.openxmlformats.org/officeDocument/2006/relationships/slide" Target="/ppt/slides/slide12.xml" Id="R0ab372c2d2a44ac3" /><Relationship Type="http://schemas.openxmlformats.org/officeDocument/2006/relationships/slide" Target="/ppt/slides/slide13.xml" Id="Re1a68ec84c764117" /><Relationship Type="http://schemas.openxmlformats.org/officeDocument/2006/relationships/slide" Target="/ppt/slides/slide14.xml" Id="R66440408cead4762" /><Relationship Type="http://schemas.openxmlformats.org/officeDocument/2006/relationships/slide" Target="/ppt/slides/slide15.xml" Id="R0a494ddd875441c1" /><Relationship Type="http://schemas.openxmlformats.org/officeDocument/2006/relationships/slide" Target="/ppt/slides/slide16.xml" Id="R5ca99ef2361249b8" /><Relationship Type="http://schemas.openxmlformats.org/officeDocument/2006/relationships/slide" Target="/ppt/slides/slide17.xml" Id="Rd61981a3465e4961" /><Relationship Type="http://schemas.openxmlformats.org/officeDocument/2006/relationships/slide" Target="/ppt/slides/slide18.xml" Id="Re2f39e3164c843a2" /><Relationship Type="http://schemas.openxmlformats.org/officeDocument/2006/relationships/slide" Target="/ppt/slides/slide19.xml" Id="Rf2949502624f4fa2" /><Relationship Type="http://schemas.openxmlformats.org/officeDocument/2006/relationships/slide" Target="/ppt/slides/slide20.xml" Id="R175f9b892bb7466a" /><Relationship Type="http://schemas.openxmlformats.org/officeDocument/2006/relationships/slide" Target="/ppt/slides/slide21.xml" Id="Rb96af93717fb4cca" /><Relationship Type="http://schemas.openxmlformats.org/officeDocument/2006/relationships/slide" Target="/ppt/slides/slide22.xml" Id="Rcfc21e691b03479e" /><Relationship Type="http://schemas.openxmlformats.org/officeDocument/2006/relationships/slide" Target="/ppt/slides/slide23.xml" Id="R490692661fd4428b" /><Relationship Type="http://schemas.openxmlformats.org/officeDocument/2006/relationships/slide" Target="/ppt/slides/slide24.xml" Id="R232da4021b854abd" /><Relationship Type="http://schemas.openxmlformats.org/officeDocument/2006/relationships/slide" Target="/ppt/slides/slide25.xml" Id="Rca022babe9e744d8" /><Relationship Type="http://schemas.openxmlformats.org/officeDocument/2006/relationships/slide" Target="/ppt/slides/slide26.xml" Id="R8b87207668ef47e1" /><Relationship Type="http://schemas.openxmlformats.org/officeDocument/2006/relationships/slide" Target="/ppt/slides/slide27.xml" Id="R9b7be4c72ff243d0" /><Relationship Type="http://schemas.openxmlformats.org/officeDocument/2006/relationships/slide" Target="/ppt/slides/slide28.xml" Id="R09940197a9d242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2a79365a0142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6f28151f984ad0" /><Relationship Type="http://schemas.openxmlformats.org/officeDocument/2006/relationships/notesMaster" Target="/ppt/notesMasters/notesMaster1.xml" Id="Rc115be34668e45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5f8f300b824cc6" /><Relationship Type="http://schemas.openxmlformats.org/officeDocument/2006/relationships/notesMaster" Target="/ppt/notesMasters/notesMaster1.xml" Id="R81db368cb3b54d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a80b204b01467c" /><Relationship Type="http://schemas.openxmlformats.org/officeDocument/2006/relationships/notesMaster" Target="/ppt/notesMasters/notesMaster1.xml" Id="R8a9b69fca8504c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044df3838743cd" /><Relationship Type="http://schemas.openxmlformats.org/officeDocument/2006/relationships/notesMaster" Target="/ppt/notesMasters/notesMaster1.xml" Id="R30bc457c960049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205c58a7914f69" /><Relationship Type="http://schemas.openxmlformats.org/officeDocument/2006/relationships/notesMaster" Target="/ppt/notesMasters/notesMaster1.xml" Id="R5255fda8a38246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ae2bee433e4dc9" /><Relationship Type="http://schemas.openxmlformats.org/officeDocument/2006/relationships/notesMaster" Target="/ppt/notesMasters/notesMaster1.xml" Id="Re965f97cf4cb49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8522cabea94f9e" /><Relationship Type="http://schemas.openxmlformats.org/officeDocument/2006/relationships/notesMaster" Target="/ppt/notesMasters/notesMaster1.xml" Id="Rc5ec96e011a444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5f1b4d42d64d44" /><Relationship Type="http://schemas.openxmlformats.org/officeDocument/2006/relationships/notesMaster" Target="/ppt/notesMasters/notesMaster1.xml" Id="R4a39ceed31a049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350e2ffd1d4232" /><Relationship Type="http://schemas.openxmlformats.org/officeDocument/2006/relationships/notesMaster" Target="/ppt/notesMasters/notesMaster1.xml" Id="R807b57bf953b40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1f6e903a1e4803" /><Relationship Type="http://schemas.openxmlformats.org/officeDocument/2006/relationships/notesMaster" Target="/ppt/notesMasters/notesMaster1.xml" Id="Rbef38d7faff248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ed28ef6be147f5" /><Relationship Type="http://schemas.openxmlformats.org/officeDocument/2006/relationships/notesMaster" Target="/ppt/notesMasters/notesMaster1.xml" Id="R681a8d31b79c46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4de95c4f764189" /><Relationship Type="http://schemas.openxmlformats.org/officeDocument/2006/relationships/notesMaster" Target="/ppt/notesMasters/notesMaster1.xml" Id="Re5ad9a8ccc644b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8afa65a2954c26" /><Relationship Type="http://schemas.openxmlformats.org/officeDocument/2006/relationships/notesMaster" Target="/ppt/notesMasters/notesMaster1.xml" Id="R318063856d4140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db26da06384ac8" /><Relationship Type="http://schemas.openxmlformats.org/officeDocument/2006/relationships/notesMaster" Target="/ppt/notesMasters/notesMaster1.xml" Id="Rd4172a2a758c45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1c6efb92b64dfe" /><Relationship Type="http://schemas.openxmlformats.org/officeDocument/2006/relationships/notesMaster" Target="/ppt/notesMasters/notesMaster1.xml" Id="Rcc0b62d397e640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815aa62f764975" /><Relationship Type="http://schemas.openxmlformats.org/officeDocument/2006/relationships/notesMaster" Target="/ppt/notesMasters/notesMaster1.xml" Id="Re17643e04be847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a0f21d557e497d" /><Relationship Type="http://schemas.openxmlformats.org/officeDocument/2006/relationships/notesMaster" Target="/ppt/notesMasters/notesMaster1.xml" Id="Rca9bce3e194943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9521216305f4604" /><Relationship Type="http://schemas.openxmlformats.org/officeDocument/2006/relationships/notesMaster" Target="/ppt/notesMasters/notesMaster1.xml" Id="R8b7fa0d8dc7d4ab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6f70fa47584eb6" /><Relationship Type="http://schemas.openxmlformats.org/officeDocument/2006/relationships/notesMaster" Target="/ppt/notesMasters/notesMaster1.xml" Id="R6dfb01bef4974c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41c66da27fe480d" /><Relationship Type="http://schemas.openxmlformats.org/officeDocument/2006/relationships/notesMaster" Target="/ppt/notesMasters/notesMaster1.xml" Id="R6dd555a66f6242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cca5b62dded44ad" /><Relationship Type="http://schemas.openxmlformats.org/officeDocument/2006/relationships/notesMaster" Target="/ppt/notesMasters/notesMaster1.xml" Id="R14afdb95e6ca4da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a5f0c53a0794ce5" /><Relationship Type="http://schemas.openxmlformats.org/officeDocument/2006/relationships/notesMaster" Target="/ppt/notesMasters/notesMaster1.xml" Id="Rfa5fbb1c5336465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0babdc3c1414db3" /><Relationship Type="http://schemas.openxmlformats.org/officeDocument/2006/relationships/notesMaster" Target="/ppt/notesMasters/notesMaster1.xml" Id="Re016456d7415401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91eff4496694162" /><Relationship Type="http://schemas.openxmlformats.org/officeDocument/2006/relationships/notesMaster" Target="/ppt/notesMasters/notesMaster1.xml" Id="R9b4445ba7d6545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4c37e6892854a24" /><Relationship Type="http://schemas.openxmlformats.org/officeDocument/2006/relationships/notesMaster" Target="/ppt/notesMasters/notesMaster1.xml" Id="Rd32c4040c2aa498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1ba1ae03e0c4064" /><Relationship Type="http://schemas.openxmlformats.org/officeDocument/2006/relationships/notesMaster" Target="/ppt/notesMasters/notesMaster1.xml" Id="R6d09efac9a5d47e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1540de8c1204058" /><Relationship Type="http://schemas.openxmlformats.org/officeDocument/2006/relationships/notesMaster" Target="/ppt/notesMasters/notesMaster1.xml" Id="R278167acd11f4e4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a3e63cfcd50498e" /><Relationship Type="http://schemas.openxmlformats.org/officeDocument/2006/relationships/notesMaster" Target="/ppt/notesMasters/notesMaster1.xml" Id="R174a3b69d71042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 sesión como una investigación: comprender por qué una solución correcta puede ser lenta, cómo medirla y cómo tomar una decisión responsable de capacidad.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los resultados en voz alta. La sesión no busca “encontrar el motor ganador”; busca construir una explicación causal y una decisión defendible.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dos hipótesis antes de mostrar teoría. Recuperar experiencias de la sesión de Spark: lectura, plan, shuffle y collect.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cada bloque responde a la pregunta anterior. La secuencia evita presentar comandos sin un modelo que permita interpretarlos.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latencia de throughput con un ejemplo: una sola consulta frente a muchas consultas sostenidas. Aclarar que la corrección es condición de entrada, no una métrica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el recorrido de izquierda a derecha. Preguntar: ¿Parquet actúa sobre lectura o sobre agregación? ¿Un clúster elimina el parseo? ¿collect cambia dónde se materializa el resultado?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Introducir el principio del cuello de botella. El diagnóstico debe vincular una observación con un recurso; no basta con decir “Spark es lento” o “Polars es rápido”.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Contrastar la muestra con el conjunto completo. No extrapolar linealmente desde 3.000 filas. La muestra sirve para validar lógica y entorno; el volumen completo sirve para estudiar rendimiento.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big-data-postgraduate/talleres/P04.md</a:t>
            </a:r>
          </a:p>
          <a:p xmlns:a="http://schemas.openxmlformats.org/drawingml/2006/main">
            <a:r>
              <a:t>big-data-postgraduate/docs/controles-docente.md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Hacer que el grupo clasifique cinco variables del experimento. Reforzar: comparable no significa idéntico internamente, sino equivalente en pregunta, población y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 de comparar tiempos, ejecutar controles de conteos, claves y sumas. P04 exige cinco opciones con la misma agregación y 16 columnas derivadas.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big-data-postgraduate/talleres/P04.md</a:t>
            </a:r>
          </a:p>
          <a:p xmlns:a="http://schemas.openxmlformats.org/drawingml/2006/main">
            <a:r>
              <a:t>big-data-postgraduate/talleres/E10.md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los cinco pasos con los campos de registro. Separar claramente lo que se fija antes de ejecutar y lo que se conserva después.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big-data-postgraduate/talleres/E10.md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datos son hipotéticos y sólo sirven para practicar. Ordenar mentalmente las observaciones y calcular la mediana; no eliminar la ejecución lenta sin una causa documentada.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caché del motor y caché del sistema operativo. No intentar “vaciar caché” si el procedimiento no es seguro y reproducible; documentar la condición observada.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presentar Parquet como universalmente más rápido. Explicar el mecanismo: menos bytes, menos parseo y posible proyección. El beneficio depende de la consulta y del motor.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con PQRS: 38 columnas de origen y 16 columnas derivadas en la salida del ejercicio. Preguntar cuáles columnas requiere realmente la agregación.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con sesiones previas de Spark. En Polars, scan_parquet mantiene la consulta lazy; read_csv(...).lazy() ya leyó el archivo. En DuckDB, COPY puede escribir sin materializar en Python.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big-data-postgraduate/docs/manual-pandas.md</a:t>
            </a:r>
          </a:p>
          <a:p xmlns:a="http://schemas.openxmlformats.org/drawingml/2006/main">
            <a:r>
              <a:t>big-data-postgraduate/docs/manual-polars.md</a:t>
            </a:r>
          </a:p>
          <a:p xmlns:a="http://schemas.openxmlformats.org/drawingml/2006/main">
            <a:r>
              <a:t>big-data-postgraduate/docs/manual-duckdb.md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 tabla como heurística, no como ley. La decisión final debe validarse con el workload real y los límites operativos.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45 minutos. Antes de ejecutar, cada equipo escribe una hipótesis y define qué resultado debe ser idéntico.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big-data-postgraduate/talleres/E10.md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mezclar tiempos de notebook con tiempos CLI. El CLI incluye arranque, lectura, consulta y exportación. La práctica del usuario para este fin de semana conserva dos ejercicios: Spark y Polars, comparados contra pandas.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big-data-postgraduate/talleres/P04.md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a cada equipo dejar lista su tabla cruda de mediciones antes del receso.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Aplicar el orden a los resultados reales. Evitar frases absolutas como “Polars siempre es X veces más rápido”.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Convertir cada observación en una hipótesis comprobable. No hacer varios cambios simultáneos.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Derivar intuitivamente el límite: el 10 % serial no desaparece. Explicar que la situación real suele ser menos favorable por coordinación.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Vincular con Spark: el speedup depende de cómo se reparte el trabajo, no sólo del número de núcleos.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Comprobar unidades en clase. Preguntar qué cambia si la tasa es 1 GB/s, si se leen sólo tres columnas o si el almacenamiento es remoto.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como esquema de decisión final. GPU y plataformas administradas sólo entran cuando existe un workload compatible y una restricción medida.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sábado se realizan únicamente dos ejercicios: uno con Spark y otro con Polars, ambos comparados contra pandas cuando corresponda. El informe debe conectar teoría, medición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volviendo a los cuatro resultados de aprendizaje. Pedir una conclusión de un minuto por equipo usando la estructura: observé, explico, limito y decido.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570dcbf4549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9fd28a4ba42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452f77cc6d44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1926499cc42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f363db87d44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c58bb57a84f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F1EC68-49E4-4E89-9BC5-2E1539701D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C66B9A-B563-46C0-AA45-B58E1A7A35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76A648-A501-439C-8956-892B9FF34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7B14FF-67C1-4BF7-9F6E-9BE973731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D82B08-3E4D-42FF-B3D1-98D1BCC95B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E705BD-C038-4381-8C24-A94EBDC64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989548-ABC2-4FDE-BFB9-2EEBC24C2E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5F91B1-B826-4136-A274-DD61E5E862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57E618-70F8-413D-8CF7-C22A570E2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398D84-50F0-4F44-880E-136B74280A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32fe32992b4ee5" /><Relationship Type="http://schemas.openxmlformats.org/officeDocument/2006/relationships/slideLayout" Target="/ppt/slideLayouts/slideLayout1.xml" Id="R179c395bcf3e41a2" /><Relationship Type="http://schemas.openxmlformats.org/officeDocument/2006/relationships/slideLayout" Target="/ppt/slideLayouts/slideLayout2.xml" Id="R8a487c0236f9490e" /><Relationship Type="http://schemas.openxmlformats.org/officeDocument/2006/relationships/slideLayout" Target="/ppt/slideLayouts/slideLayout3.xml" Id="Ra7b4f74787ad4ef5" /><Relationship Type="http://schemas.openxmlformats.org/officeDocument/2006/relationships/slideLayout" Target="/ppt/slideLayouts/slideLayout4.xml" Id="Ref915cd8a97b4da7" /><Relationship Type="http://schemas.openxmlformats.org/officeDocument/2006/relationships/slideLayout" Target="/ppt/slideLayouts/slideLayout5.xml" Id="R7cc9d73d7c9546cc" /><Relationship Type="http://schemas.openxmlformats.org/officeDocument/2006/relationships/slideLayout" Target="/ppt/slideLayouts/slideLayout6.xml" Id="R46315bafe98240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9c395bcf3e41a2"/>
    <p:sldLayoutId xmlns:r="http://schemas.openxmlformats.org/officeDocument/2006/relationships" id="2147483650" r:id="R8a487c0236f9490e"/>
    <p:sldLayoutId xmlns:r="http://schemas.openxmlformats.org/officeDocument/2006/relationships" id="2147483651" r:id="Ra7b4f74787ad4ef5"/>
    <p:sldLayoutId xmlns:r="http://schemas.openxmlformats.org/officeDocument/2006/relationships" id="2147483652" r:id="Ref915cd8a97b4da7"/>
    <p:sldLayoutId xmlns:r="http://schemas.openxmlformats.org/officeDocument/2006/relationships" id="2147483653" r:id="R7cc9d73d7c9546cc"/>
    <p:sldLayoutId xmlns:r="http://schemas.openxmlformats.org/officeDocument/2006/relationships" id="2147483654" r:id="R46315bafe98240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ffe4878cb94044" /><Relationship Type="http://schemas.openxmlformats.org/officeDocument/2006/relationships/image" Target="/ppt/media/image.png" Id="R90b2fa83b2b34c0e" /><Relationship Type="http://schemas.openxmlformats.org/officeDocument/2006/relationships/image" Target="/ppt/media/image2.png" Id="R8f542dcc11704a8d" /><Relationship Type="http://schemas.openxmlformats.org/officeDocument/2006/relationships/notesSlide" Target="/ppt/notesSlides/notesSlide1.xml" Id="Rbb4bd07eba4c45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ac8210d7d4b81" /><Relationship Type="http://schemas.openxmlformats.org/officeDocument/2006/relationships/image" Target="/ppt/media/image3.png" Id="R165fba1fce91477d" /><Relationship Type="http://schemas.openxmlformats.org/officeDocument/2006/relationships/notesSlide" Target="/ppt/notesSlides/notesSlide2.xml" Id="Rf7cf04c84a9440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1e062a314847b5" /><Relationship Type="http://schemas.openxmlformats.org/officeDocument/2006/relationships/image" Target="/ppt/media/image4.png" Id="R6931648223b7424d" /><Relationship Type="http://schemas.openxmlformats.org/officeDocument/2006/relationships/image" Target="/ppt/media/image5.png" Id="Rb9468ee835674c4d" /><Relationship Type="http://schemas.openxmlformats.org/officeDocument/2006/relationships/notesSlide" Target="/ppt/notesSlides/notesSlide3.xml" Id="R7144b0524b7c49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e6b9f182b14f0b" /><Relationship Type="http://schemas.openxmlformats.org/officeDocument/2006/relationships/image" Target="/ppt/media/image6.png" Id="R5ea37cf7cd7e4240" /><Relationship Type="http://schemas.openxmlformats.org/officeDocument/2006/relationships/notesSlide" Target="/ppt/notesSlides/notesSlide4.xml" Id="Rbfe88723fe244b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75a421da44aef" /><Relationship Type="http://schemas.openxmlformats.org/officeDocument/2006/relationships/image" Target="/ppt/media/image7.png" Id="Re6b09f7fb5cc48ba" /><Relationship Type="http://schemas.openxmlformats.org/officeDocument/2006/relationships/notesSlide" Target="/ppt/notesSlides/notesSlide5.xml" Id="R5263e98904ee49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d36799690b4d9b" /><Relationship Type="http://schemas.openxmlformats.org/officeDocument/2006/relationships/image" Target="/ppt/media/image8.png" Id="R79d970fb1f8d4d72" /><Relationship Type="http://schemas.openxmlformats.org/officeDocument/2006/relationships/image" Target="/ppt/media/image9.png" Id="R52aa1c30e68d46d8" /><Relationship Type="http://schemas.openxmlformats.org/officeDocument/2006/relationships/notesSlide" Target="/ppt/notesSlides/notesSlide6.xml" Id="R804b45b539224c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d7a09285bf45b2" /><Relationship Type="http://schemas.openxmlformats.org/officeDocument/2006/relationships/image" Target="/ppt/media/image10.png" Id="R046d3b1b43e94e57" /><Relationship Type="http://schemas.openxmlformats.org/officeDocument/2006/relationships/notesSlide" Target="/ppt/notesSlides/notesSlide7.xml" Id="R07580c5cc42744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82ed9a7224d5e" /><Relationship Type="http://schemas.openxmlformats.org/officeDocument/2006/relationships/image" Target="/ppt/media/image11.png" Id="Rfb51e9daf1514cf3" /><Relationship Type="http://schemas.openxmlformats.org/officeDocument/2006/relationships/notesSlide" Target="/ppt/notesSlides/notesSlide8.xml" Id="R84e5ed97bd1245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373b4054448bd" /><Relationship Type="http://schemas.openxmlformats.org/officeDocument/2006/relationships/image" Target="/ppt/media/image12.png" Id="R79042f8fe4084c07" /><Relationship Type="http://schemas.openxmlformats.org/officeDocument/2006/relationships/notesSlide" Target="/ppt/notesSlides/notesSlide9.xml" Id="R3d500f75709749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22e5f63add4b3b" /><Relationship Type="http://schemas.openxmlformats.org/officeDocument/2006/relationships/image" Target="/ppt/media/image13.png" Id="R22e966ea22334b93" /><Relationship Type="http://schemas.openxmlformats.org/officeDocument/2006/relationships/image" Target="/ppt/media/image14.png" Id="R30666a12eab44587" /><Relationship Type="http://schemas.openxmlformats.org/officeDocument/2006/relationships/notesSlide" Target="/ppt/notesSlides/notesSlide10.xml" Id="R62914ee1bbd546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a86decc73441e" /><Relationship Type="http://schemas.openxmlformats.org/officeDocument/2006/relationships/image" Target="/ppt/media/image15.png" Id="R8679ba6d25c247ae" /><Relationship Type="http://schemas.openxmlformats.org/officeDocument/2006/relationships/notesSlide" Target="/ppt/notesSlides/notesSlide11.xml" Id="Rbc540b1b981746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338e9512c42d2" /><Relationship Type="http://schemas.openxmlformats.org/officeDocument/2006/relationships/image" Target="/ppt/media/image16.png" Id="Rbe88e2665b4f41d9" /><Relationship Type="http://schemas.openxmlformats.org/officeDocument/2006/relationships/image" Target="/ppt/media/image17.png" Id="R0d22e47cf7094198" /><Relationship Type="http://schemas.openxmlformats.org/officeDocument/2006/relationships/notesSlide" Target="/ppt/notesSlides/notesSlide12.xml" Id="Rc2dc4c4cc4734e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bac17a7a3437e" /><Relationship Type="http://schemas.openxmlformats.org/officeDocument/2006/relationships/image" Target="/ppt/media/image18.png" Id="R44972f1293bf4e7a" /><Relationship Type="http://schemas.openxmlformats.org/officeDocument/2006/relationships/notesSlide" Target="/ppt/notesSlides/notesSlide13.xml" Id="R846f5fe2af8644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ef33bdbd5400b" /><Relationship Type="http://schemas.openxmlformats.org/officeDocument/2006/relationships/image" Target="/ppt/media/image19.png" Id="R5d1c3d8ba5164399" /><Relationship Type="http://schemas.openxmlformats.org/officeDocument/2006/relationships/image" Target="/ppt/media/image20.png" Id="Rf4e0ce20032a4df6" /><Relationship Type="http://schemas.openxmlformats.org/officeDocument/2006/relationships/notesSlide" Target="/ppt/notesSlides/notesSlide14.xml" Id="R9e54fcd20a4046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1783817124b07" /><Relationship Type="http://schemas.openxmlformats.org/officeDocument/2006/relationships/image" Target="/ppt/media/image21.png" Id="R7495bbcaf9554205" /><Relationship Type="http://schemas.openxmlformats.org/officeDocument/2006/relationships/image" Target="/ppt/media/image22.png" Id="Rced8df2c43884f04" /><Relationship Type="http://schemas.openxmlformats.org/officeDocument/2006/relationships/notesSlide" Target="/ppt/notesSlides/notesSlide15.xml" Id="Rb4391d3863b5434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3ebf6002c477b" /><Relationship Type="http://schemas.openxmlformats.org/officeDocument/2006/relationships/image" Target="/ppt/media/image23.png" Id="R9e0c9c4a2cbc4307" /><Relationship Type="http://schemas.openxmlformats.org/officeDocument/2006/relationships/notesSlide" Target="/ppt/notesSlides/notesSlide16.xml" Id="Rd93641f937014d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9a7375a88c4cac" /><Relationship Type="http://schemas.openxmlformats.org/officeDocument/2006/relationships/image" Target="/ppt/media/image24.png" Id="R5d620a8fc87245c7" /><Relationship Type="http://schemas.openxmlformats.org/officeDocument/2006/relationships/notesSlide" Target="/ppt/notesSlides/notesSlide17.xml" Id="Rf44180309c074ab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35c4316a64e25" /><Relationship Type="http://schemas.openxmlformats.org/officeDocument/2006/relationships/image" Target="/ppt/media/image25.png" Id="R3c41d67627184e97" /><Relationship Type="http://schemas.openxmlformats.org/officeDocument/2006/relationships/notesSlide" Target="/ppt/notesSlides/notesSlide18.xml" Id="R2c1f9941a7f049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2f128d8e742bb" /><Relationship Type="http://schemas.openxmlformats.org/officeDocument/2006/relationships/image" Target="/ppt/media/image26.png" Id="R9b0722c2e2d54924" /><Relationship Type="http://schemas.openxmlformats.org/officeDocument/2006/relationships/notesSlide" Target="/ppt/notesSlides/notesSlide19.xml" Id="R236573ec6a62417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7e89df7e84c0e" /><Relationship Type="http://schemas.openxmlformats.org/officeDocument/2006/relationships/image" Target="/ppt/media/image27.png" Id="R23852529ad484286" /><Relationship Type="http://schemas.openxmlformats.org/officeDocument/2006/relationships/notesSlide" Target="/ppt/notesSlides/notesSlide20.xml" Id="Rb817f9c23e5445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f29a466cb40cc" /><Relationship Type="http://schemas.openxmlformats.org/officeDocument/2006/relationships/image" Target="/ppt/media/image28.png" Id="R80bd1c9bebf046a6" /><Relationship Type="http://schemas.openxmlformats.org/officeDocument/2006/relationships/notesSlide" Target="/ppt/notesSlides/notesSlide21.xml" Id="R787eca8818cb4bf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f9d99555d498a" /><Relationship Type="http://schemas.openxmlformats.org/officeDocument/2006/relationships/image" Target="/ppt/media/image29.png" Id="R157b7db16e014cd9" /><Relationship Type="http://schemas.openxmlformats.org/officeDocument/2006/relationships/notesSlide" Target="/ppt/notesSlides/notesSlide22.xml" Id="R9316cbb641e442c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af4e25a3624bfd" /><Relationship Type="http://schemas.openxmlformats.org/officeDocument/2006/relationships/image" Target="/ppt/media/image30.png" Id="R7e33cab6d2d444df" /><Relationship Type="http://schemas.openxmlformats.org/officeDocument/2006/relationships/notesSlide" Target="/ppt/notesSlides/notesSlide23.xml" Id="R0815ee1142e6473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6f19b14d84cb4" /><Relationship Type="http://schemas.openxmlformats.org/officeDocument/2006/relationships/image" Target="/ppt/media/image31.png" Id="R59ff607dd0eb4480" /><Relationship Type="http://schemas.openxmlformats.org/officeDocument/2006/relationships/image" Target="/ppt/media/image32.png" Id="Reaf9d28fe2f7437a" /><Relationship Type="http://schemas.openxmlformats.org/officeDocument/2006/relationships/notesSlide" Target="/ppt/notesSlides/notesSlide24.xml" Id="R0d5907ada9454a2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d45bbcf254aef" /><Relationship Type="http://schemas.openxmlformats.org/officeDocument/2006/relationships/image" Target="/ppt/media/image33.png" Id="Rd2ec632623ba49a5" /><Relationship Type="http://schemas.openxmlformats.org/officeDocument/2006/relationships/notesSlide" Target="/ppt/notesSlides/notesSlide25.xml" Id="Reb1af6d451aa411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3bdfcecbc4219" /><Relationship Type="http://schemas.openxmlformats.org/officeDocument/2006/relationships/image" Target="/ppt/media/image34.png" Id="Rf039ed66d9384bba" /><Relationship Type="http://schemas.openxmlformats.org/officeDocument/2006/relationships/notesSlide" Target="/ppt/notesSlides/notesSlide26.xml" Id="R1ce26ba2f588469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c330d1101434d" /><Relationship Type="http://schemas.openxmlformats.org/officeDocument/2006/relationships/image" Target="/ppt/media/image35.png" Id="Rd4a3a21e02364073" /><Relationship Type="http://schemas.openxmlformats.org/officeDocument/2006/relationships/notesSlide" Target="/ppt/notesSlides/notesSlide27.xml" Id="R8843050f3e464f7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dfe6894c7a4edf" /><Relationship Type="http://schemas.openxmlformats.org/officeDocument/2006/relationships/image" Target="/ppt/media/image36.png" Id="R07d7d19ac33743d3" /><Relationship Type="http://schemas.openxmlformats.org/officeDocument/2006/relationships/notesSlide" Target="/ppt/notesSlides/notesSlide28.xml" Id="R95f1b3a29ea14f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02982-55D2-4098-9B86-66C0B8E178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2fa83b2b34c0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90D9E-3032-4C15-9E6A-58D040C2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Curso de Postgrado:</a:t>
            </a:r>
          </a:p>
          <a:p xmlns:a="http://schemas.openxmlformats.org/drawingml/2006/main">
            <a: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BigData</a:t>
            </a:r>
          </a:p>
          <a:p xmlns:a="http://schemas.openxmlformats.org/drawingml/2006/main">
            <a: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Especialización en</a:t>
            </a:r>
          </a:p>
          <a:p xmlns:a="http://schemas.openxmlformats.org/drawingml/2006/main">
            <a: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Bases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1078C-7C01-4343-AB44-9B47C4CE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561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Rendimiento y</a:t>
            </a:r>
          </a:p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escalabilidad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FB0A0-6883-49E7-BD36-A941C44AF5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42dcc11704a8d"/>
          <a:stretch xmlns:a="http://schemas.openxmlformats.org/drawingml/2006/main"/>
        </p:blipFill>
        <p:spPr>
          <a:xfrm xmlns:a="http://schemas.openxmlformats.org/drawingml/2006/main">
            <a:off x="6667500" y="1524000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26E10-B44E-4898-B6D9-20AD0225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Sesión 07 · Viernes 23 de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71E9F-D86A-4830-983D-E3BBE5AA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18:00–21:15 · Esteban Hernández, PhD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8FBE9-6388-4E9B-B93D-4FDA076B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CE70D-50B7-4398-B976-9F7E894C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17112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539A7-C149-4F06-84DB-BCA1984C27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fba1fce91477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1A640-C1FD-4F7D-B70D-3153D983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Propósito de aprendizaje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7707E-74A9-44F6-89E8-3C80A2BA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Inicio: por qué medimos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CBAC2-5A31-4126-9334-8BE38841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Al finalizar la sesión, el estudiante podrá: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D85F1-B731-4D3A-95ED-C60B9FD9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93179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EXPLICAR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F463D-C316-4342-8693-760A38C6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2143125"/>
            <a:ext cx="770953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Dónde se consume el tiempo: lectura, cómputo, movimiento de datos y materialización.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C7FFC-AD5B-47AA-ACE7-DF5AA248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93179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DISEÑAR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7A6DE-27E2-48C0-8A1D-894E7B66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3028950"/>
            <a:ext cx="770953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Un experimento comparable entre formatos y motores, con variables controladas.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82D85-0334-4501-B378-9B98A706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93179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INTERPRETAR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6E195-76EA-41A4-B767-F366899C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3914775"/>
            <a:ext cx="770953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Tiempo, memoria, variación y corrección antes de recomendar una tecnología.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C78B0-E7D5-49F7-9D3B-9026B36C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293179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DECIDIR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007E5-AB0A-41D1-B1AF-011768E7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800600"/>
            <a:ext cx="770953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Qué optimizar primero y cuándo escalar recursos, con evidencia reproducible.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24B90-069D-47B9-8062-6DFE93CB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D1581-97EF-40F0-9B1F-5BCA7925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691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9FF51-7D6F-4627-890E-ECF3BED956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1648223b7424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1F077-9473-48B6-A687-984B10CD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Pregunta orientadora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969B7-5033-4406-B7EE-996F662B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Inicio: conectar la experiencia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5DE70-E9AE-4119-9D8B-1535F28D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383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475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475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475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475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475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475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475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475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475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142A4B"/>
                </a:solidFill>
                <a:latin typeface="Calibri"/>
                <a:ea typeface="Calibri"/>
                <a:cs typeface="Calibri"/>
              </a:rPr>
              <a:t>Si la pregunta y los datos son los mismos, ¿por qué cambia el tiempo?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B6503-4AA9-40C4-AC8B-F70AD75FCA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68ee835674c4d"/>
          <a:stretch xmlns:a="http://schemas.openxmlformats.org/drawingml/2006/main"/>
        </p:blipFill>
        <p:spPr>
          <a:xfrm xmlns:a="http://schemas.openxmlformats.org/drawingml/2006/main">
            <a:off x="4167188" y="2381250"/>
            <a:ext cx="3857625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3BB6E-B8D5-438C-BD42-2E46A12B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9144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E23F5-55C8-40A6-9735-FC8630AC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53050"/>
            <a:ext cx="880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La respuesta no está en una sola cifra: está en el camino que recorren los datos.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262FF-15D8-4C3F-933F-0820D2B2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BA12F-0806-4F60-B5A4-54176EEF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8681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26B1D0-54C6-4C05-B744-0E47E47C90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37cf7cd7e424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B3D62-CEFC-4FCC-BE91-BADA5B48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Ruta de la sesión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08BEF-48C8-4322-9B65-7094362A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Inicio: una historia completa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AF6D0-8F7F-46D2-B35E-D88AB978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0092D-EA17-4BEF-84F0-A08F8F19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09917-C3B6-45A7-B957-90CD029C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Formular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pregunta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874B7-F56C-47F1-969C-547578A2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" y="252412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E51B8-74E3-4624-BD4F-3078CA79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238375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9B21B-92D7-402F-96A8-76E9C229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85D5F-F856-4739-820C-2D1E3FAB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2552700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Modelar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costo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9D94C-7B15-4AEE-A49F-E600A187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252412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2B81F-7D45-4A19-A681-9C274560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2238375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7FEF9-CD92-4959-85FB-B4DFA7CD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ED51E-38F7-4026-AD58-C59CDCA2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552700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Diseñar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medición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9F114-844C-43A6-9966-F2934CF5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252412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213A8-BB1A-405B-999C-7132BF6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2238375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C45F5-B7A9-439E-8324-F3D1C164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56B79-1D86-4B13-B175-9DA70109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552700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Ejecutar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y validar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21AC4-F79F-4A66-9549-660A59EE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0" y="252412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529A1-1503-499F-85AC-5578895F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38375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DC1B1-4353-4A56-BD78-94E6BE25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D5C3B-A911-4522-8032-D043B9C6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552700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Interpretar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y decidir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2E1D5-3C32-4A92-A82B-8A0AD1D4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Teoría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10C47-B587-4D95-AFF8-E6CF5468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576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Experimento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A683CB-2CDD-4B21-BF2F-E31633E3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57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Evidencia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E23394-F3C8-4872-9D28-E6D6DADD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57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Decisión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E31660-6FF3-4160-A160-9D145297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53000"/>
            <a:ext cx="9810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8B5F4-6006-4E7B-A717-7F09866B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19675"/>
            <a:ext cx="946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Dos aplicaciones: E10 (CSV vs Parquet) y P04 (pandas vs Polars, con Spark como referencia distribuida).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639E8D-DA9A-4EE3-B6DF-2AB20568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420570-BDC0-4192-A4F3-3D86046F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0651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931F9-B15C-4D4F-896B-95A0E9D938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09f7fb5cc48b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FC018-5A5F-4B42-BB63-C84079FE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¿Qué significa “rendimiento”?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9E905-D8B4-4B40-836A-E88D2382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conceptos fundamentales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4DE6C-769D-43CD-96F4-3068DC6723C9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6191250"/>
                <a:gridCol w="2381250"/>
              </a:tblGrid>
              <a:tr h="7620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Concepto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Pregunta que responde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Unidad típica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Latencia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¿Cuánto tarda una ejecución completa?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 o min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Throughput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¿Cuánto procesa por unidad de tiempo?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filas/s o MB/s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Uso de recursos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¿Qué capacidad consume para lograrlo?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RAM, CPU, I/O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Corrección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¿El resultado conserva la misma población y lógica?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controles y diferencias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49F2F-66DB-40F6-B462-56DDAAD0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971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6EF45-DC94-413B-8C47-0A8EAE6A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734050"/>
            <a:ext cx="937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Más rápido no significa mejor si cambia la respuesta o desplaza el costo fuera de la medición.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78A30-91AF-4E3B-B38F-30D6B4F3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E75B3-1657-4D65-9FD0-DBB2AB17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3801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0E3D4B-2306-42B5-BC74-8CB7FB1677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970fb1f8d4d7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F73FC-A6C9-4B75-8606-15CFC89D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¿Dónde se consume el tiempo?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69F82-F1C7-451B-B1CF-1A260359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descomponer antes de optimizar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D2BDD-01DC-4564-8C54-EDD912E3B8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a1c30e68d46d8"/>
          <a:stretch xmlns:a="http://schemas.openxmlformats.org/drawingml/2006/main"/>
        </p:blipFill>
        <p:spPr>
          <a:xfrm xmlns:a="http://schemas.openxmlformats.org/drawingml/2006/main">
            <a:off x="666750" y="2095500"/>
            <a:ext cx="3714750" cy="2476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46002-78F0-4197-80DF-CFDD8A7A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119824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C6198-5988-4F02-84D6-64DB7813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F1888-1065-4EFD-86DD-03C6698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52700"/>
            <a:ext cx="100774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Leer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0E8D3-88E5-4D80-AB33-17A30AE4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870" y="252412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278A8-3B89-48C0-BAD0-A8793A40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470" y="2238375"/>
            <a:ext cx="119824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651DE-52D8-4D4C-8872-BBE49875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8078D-10B0-4A40-95FE-14BA4C70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2552700"/>
            <a:ext cx="100774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Decodificar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ED1A1-908C-4BEF-8522-DADFFCC0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715" y="252412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B7FA8-B76C-40B0-A6AC-8040226E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315" y="2238375"/>
            <a:ext cx="119824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21BE4-042A-4E6B-B08B-A0F268E3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565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73DBA-79B1-4C04-B4EB-D6A3C163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565" y="2552700"/>
            <a:ext cx="100774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Transformar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EB838-5968-4618-8B30-8F59E40E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560" y="252412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708F4-1B4F-4DE9-9812-03D9E8E3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160" y="2238375"/>
            <a:ext cx="119824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F1655-39F6-4A93-BF0C-2341D694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41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CD0AF-E38C-40F4-8769-915723C6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410" y="2552700"/>
            <a:ext cx="100774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Agrupar /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mover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EDE7F3-1317-468A-A05D-ADF6C586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8405" y="252412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84E22C-F8F6-4376-9201-6FB8E561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7005" y="2238375"/>
            <a:ext cx="119824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57270A-6C5C-4069-8144-467E3C84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2255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98318-650B-46A1-9873-FB384CA5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2255" y="2552700"/>
            <a:ext cx="100774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Escribir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A0E361-0EEE-48BD-A89D-09D05419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Tiempo total = suma de etapas + esperas + coordinación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14AF8C-C4A8-4635-B7DC-4BACDA05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291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Una mejora sólo importa si reduce el cuello de botella dominante.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7FE7B8-E096-4273-903F-F3730262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AE1603-E10C-45A4-AFE2-0C7ACF20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44268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D9778-8CBB-4FE2-A44D-537540F84D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d3b1b43e94e5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4B9B9-877B-4677-AF54-C0793C37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Cuellos de botella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A518E-0D9A-45F6-BC38-DDCE912D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el recurso dominante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A3B9E-322C-4568-9D4F-E9B3F529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93179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DISCO / 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6A803-DEA8-4864-8B5F-63170B68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1666875"/>
            <a:ext cx="770953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motor espera bytes: formato, compresión, particiones y localidad importan.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6021D-099C-4EF2-8ADA-9DF3C7ED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93179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C0476-9D7D-4A92-97F0-5D93DBA9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2667000"/>
            <a:ext cx="770953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Parsear texto, convertir tipos, comprimir o evaluar expresiones consume ciclos.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B492A-9ED2-4F1A-B88A-E3D15183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93179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MEMORIA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D2BE0-0406-4D5E-B4B4-EFD10049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3667125"/>
            <a:ext cx="770953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Si los estados o datos no caben, aparece presión, derrame o fallo.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03366-712A-40FB-BA4E-A8C7D902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93179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COORDINACIÓN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304E0-3273-4127-AD14-B82B901F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667250"/>
            <a:ext cx="770953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Particiones, shuffle, arranque y serialización agregan trabajo no productivo.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9E16A-BD43-40CB-9FC4-2F39C08E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98154-D7BB-4A8B-A528-75B49B18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05475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Escalar el recurso equivocado puede aumentar el costo sin reducir la latencia.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4CDE3-B883-4B80-A0FA-AB3920D5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8CE9A-C44C-4898-AC3D-49D8E2E2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08390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68538-1A03-42C2-A38E-2D00571E4D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1e9daf1514cf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E51FE-A58B-4617-AC27-40B6D608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Caso de aplicación: PQRS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A836E-C617-4B18-B87C-5F1FA511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Aplicación: del dato real a la pregunta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FF401-1E0A-40D5-859A-CAC60858DC1E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333750"/>
                <a:gridCol w="4191000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Corte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Volumen aproximado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Registros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Muestras docentes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≈ 2,235 MB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3.000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PQRS 2023-II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532,70 MB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716.697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PQRS 2024-I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576,71 MB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781.601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PQRS 2024-II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706,84 MB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946.468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Total completo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≈ 1,816 GB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2.444.766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58668-F53E-422E-B431-9650111E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9906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00F3D-8A9F-436F-B737-0459B5E6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29300"/>
            <a:ext cx="956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En 3.000 filas domina el arranque; en 2,4 millones aparecen lectura, memoria y paralelismo.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FBDE4-25F1-473D-A3CE-E7EEF7AE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A83CD-BBCA-4B33-B1A7-40193403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87334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53C66-4F8B-4B8F-84C7-F813499045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42f8fe4084c0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340C1-46DD-4423-AF0F-8999C3F0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Diseño experimental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3D4E8-5E54-4688-9D44-3BDA13D1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Método: cambiar una variable a la vez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83141-6BBD-4FF1-9C35-BCFDB282C1B0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714750"/>
                <a:gridCol w="4667250"/>
              </a:tblGrid>
              <a:tr h="7429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Tipo de variable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Ejemplo en la sesión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Razón pedagógica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Independiente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motor o formato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Es lo que se compara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Dependiente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tiempo, RAM, throughput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Es el efecto observado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Controlada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población, consulta, salida, equipo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Evita atribuciones falsas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Contextual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versión, hilos, caché, temperatura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Permite reproducir e interpretar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49C06-3D54-49EE-AE2C-B28A6490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67375"/>
            <a:ext cx="990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960F7-C3ED-418A-9357-7A0E9FE3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34050"/>
            <a:ext cx="956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Si cambian el motor, la consulta y la población al mismo tiempo, el resultado no explica nada.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C6003-7680-4C21-97B2-93903C6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8DAEB-7D6A-4B22-9467-0D91E79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4462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48DC4-8366-41D2-8B30-16B8EC80BA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966ea22334b9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3DAB4-BB76-45EA-AC8B-C6A402D6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Comparación justa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385A3-8771-469C-9F8C-6666CDC6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Método: contrato de equivalencia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258DA-ACCF-437C-BE8D-7D4DD700FF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66a12eab44587"/>
          <a:stretch xmlns:a="http://schemas.openxmlformats.org/drawingml/2006/main"/>
        </p:blipFill>
        <p:spPr>
          <a:xfrm xmlns:a="http://schemas.openxmlformats.org/drawingml/2006/main">
            <a:off x="571500" y="1916906"/>
            <a:ext cx="4286250" cy="3214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189F6-77C5-46B0-AAC1-19D2AB8F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66875"/>
            <a:ext cx="1710214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MISMAS FILAS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AB9F8-BE67-4375-8A95-4BBF36EE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71" y="1666875"/>
            <a:ext cx="4497229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Igual corte, filtros, política de nulos y exclusiones.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F091E-EF03-40E2-895B-78279DEC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43175"/>
            <a:ext cx="1710214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MISMA PREGUNTA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46323-BAA0-4BA6-8011-F6512A0A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71" y="2543175"/>
            <a:ext cx="4497229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Iguales agrupaciones, medidas y reglas de ordenamiento.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0A29A-41BE-4C87-986A-8DFAB026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19475"/>
            <a:ext cx="1710214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MISMA SALIDA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AC5A3-A52D-4E52-AF74-2F6FBB8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71" y="3419475"/>
            <a:ext cx="4497229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Mismas columnas derivadas, tipos y granularidad.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7E2C9-42E0-43EF-8901-6E3477BC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95775"/>
            <a:ext cx="1710214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MISMA FRONTERA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446CB-69ED-4184-9A5C-0B347267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71" y="4295775"/>
            <a:ext cx="4497229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Definir si el tiempo incluye arranque, lectura y escritura.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942B2-D0E7-490C-B69A-227EE269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0067D-32B1-4F0A-9451-A994AB00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574334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9C6C2A-8668-4635-93C4-5CB31ACB97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9ba6d25c247a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F3FB0-468A-4D33-B162-AF400C94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Protocolo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5BF67-67E0-4911-9A6B-67BF8630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Método: medir con disciplina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76367-DDC1-4DC7-B90D-DE1A6122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9EC76-C121-4DD5-97C9-5F7603BF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626EA-63AF-4E1A-B07E-1AC68E09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Registrar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entorno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AE482-CB91-4116-924D-4EB07B85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" y="20002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9954C-A167-4BEB-90AD-2F649510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1714500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57D84-F13C-4BA1-8A27-9310FC9F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17811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198B6-83C4-4AB2-A023-EBE4D7FA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2028825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Calentar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una vez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52448-0FE9-4896-988C-BF4169D4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20002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70F9E-9BAF-4DAC-817E-42ACD177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714500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8DF9B-49B0-44A9-BD5D-488E1568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17811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9B84D-43B3-43B0-9DAF-5D01D0DD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028825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Repetir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5 veces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83AA2-948D-4FB4-A03B-72ED14DF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20002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003F1-E604-4419-A3D9-373BC283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1714500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C3519-D6E2-41C2-AE37-52C85E06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17811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5D418-9F2C-4AF0-BF52-053E8A87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028825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Conservar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cada ejecución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AFE7B3-395F-4996-BB34-2276BF3A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0" y="20002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91026-CEE9-449A-B9C7-974B604D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1714500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D86E5-8378-4223-95EF-6F9C94C6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17811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643A30-AACD-4B87-A723-770FB38D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028825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Resumir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 mediana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BC0C0-4CB4-487A-B5DC-9C601CD7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47625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CF9196-765D-4ED9-9E66-4EAAED09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47625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9D7000-CFE4-48C8-84EA-C73D1FF3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Registrar antes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47F0C6-CFB2-49D4-9645-F621A3BC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81425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Equipo y RAM · motor y versión</a:t>
            </a:r>
          </a:p>
          <a:p xmlns:a="http://schemas.openxmlformats.org/drawingml/2006/main">
            <a: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Hilos · formato y tamaño</a:t>
            </a:r>
          </a:p>
          <a:p xmlns:a="http://schemas.openxmlformats.org/drawingml/2006/main">
            <a: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Consulta y frontera temporal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7D8AB3-FCCA-4F18-8E2E-7D8179FC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Conservar después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C79B93-90CF-4769-8718-04C2AEF7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81425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Tiempo individual · pico de RAM</a:t>
            </a:r>
          </a:p>
          <a:p xmlns:a="http://schemas.openxmlformats.org/drawingml/2006/main">
            <a: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Conteos y sumas · errores</a:t>
            </a:r>
          </a:p>
          <a:p xmlns:a="http://schemas.openxmlformats.org/drawingml/2006/main">
            <a: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Archivos producidos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E73333-3FB8-41F7-946C-5F004703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72125"/>
            <a:ext cx="8477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EDE481-80C4-46CC-BD06-FFFED1BA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638800"/>
            <a:ext cx="813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Una tabla vale si otro equipo puede reconstruir cómo se obtuvo.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2D8722-9E20-40ED-B7C5-21F379C0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BC47C8-0DD1-457B-8723-DF9A01A3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1272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C847E-5428-4D7B-9C07-BFBFF3C75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8e2665b4f41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2E223-08EB-4B5E-8F7B-3DD20A08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¿Por qué repetir?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8E878-449C-4A87-BD72-7EA4437D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Método: separar señal y ruido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95E45-01C9-4344-BDE0-474C079A13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2e47cf7094198"/>
          <a:stretch xmlns:a="http://schemas.openxmlformats.org/drawingml/2006/main"/>
        </p:blipFill>
        <p:spPr>
          <a:xfrm xmlns:a="http://schemas.openxmlformats.org/drawingml/2006/main">
            <a:off x="666750" y="2095500"/>
            <a:ext cx="3714750" cy="24765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7AB40-17BD-4716-B954-F3EDDBD8B20A}"/>
              </a:ext>
            </a:extLst>
          </p:cNvPr>
          <p:cNvGraphicFramePr/>
          <p:nvPr/>
        </p:nvGraphicFramePr>
        <p:xfrm>
          <a:off xmlns:a="http://schemas.openxmlformats.org/drawingml/2006/main" x="4714875" y="1762125"/>
          <a:ext xmlns:a="http://schemas.openxmlformats.org/drawingml/2006/main" cx="67627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714750"/>
                <a:gridCol w="1619250"/>
              </a:tblGrid>
              <a:tr h="762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Formato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Cinco repeticiones hipotéticas (s)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Mediana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CSV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4,8 · 4,6 · 5,1 · 4,7 · 4,9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4,8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Parquet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1,9 · 2,0 · 1,8 · 2,1 · 1,9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1,9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Razón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4,8 / 1,9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≈ 2,53×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27996-CCEE-4620-8788-F5BB404B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95875"/>
            <a:ext cx="63817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1C445-2025-4092-9B5F-B27AE2CC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162550"/>
            <a:ext cx="6038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La mediana resume; las cinco observaciones explican la variación.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022CD-214F-429C-A21F-358E5419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7DA9C-CF6F-4B00-82DC-0D054D3C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440747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689BB-4E8E-44E4-91F1-92C27B75CE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72f1293bf4e7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D3C08-6D6A-400D-8B70-F9244C66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Caché y calentamiento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5CC81-724A-4513-AC81-E456ED25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la segunda ejecución no es la primera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6AA3F-3920-48FA-8857-10E0CFEB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19112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F8D4B-EE15-4B3C-8360-F4D8BE9C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519112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077CB-EFE5-4ABE-BB26-BB915BCE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28800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Primera ejecución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81DA0-EAB7-4DC3-AF75-05FC8F12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471487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Puede incluir: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• arranque del proceso</a:t>
            </a:r>
          </a:p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• compilación o planificación</a:t>
            </a:r>
          </a:p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• lectura desde almacenamiento</a:t>
            </a:r>
          </a:p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• creación de cachés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2AB51-AF0A-4EA3-B046-5BDD8D85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Ejecuciones posteriores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F1D81-2729-4B95-A3E3-A57A610E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71487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Pueden aprovechar: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• caché del sistema operativo</a:t>
            </a:r>
          </a:p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• metadatos ya leídos</a:t>
            </a:r>
          </a:p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• procesos activos</a:t>
            </a:r>
          </a:p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• páginas todavía en memoria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86716-7E8F-4951-95A3-CE698FB8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BF92F-6290-4637-AA94-2CCA7D48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43550"/>
            <a:ext cx="880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Declarar “una ejecución de calentamiento”; no afirmar “disco frío” si no se controló.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F40F7-C63D-4966-934A-46CFE36E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4605B-F9F0-4719-8A28-29C20969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119987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3A358-7577-4220-BD9F-6A6D39EE3C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c3d8ba516439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CD5D6-1BF4-41D1-8D4F-3E80D1F9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CSV y Parquet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ED001-F9D5-4B2D-9D5B-88A4613D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el formato cambia el trabajo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8902D-E75D-42F0-9359-3E3B12FD34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0ce20032a4df6"/>
          <a:stretch xmlns:a="http://schemas.openxmlformats.org/drawingml/2006/main"/>
        </p:blipFill>
        <p:spPr>
          <a:xfrm xmlns:a="http://schemas.openxmlformats.org/drawingml/2006/main">
            <a:off x="666750" y="2047875"/>
            <a:ext cx="3714750" cy="24765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54537-3E26-45F1-B426-0E34A511EA71}"/>
              </a:ext>
            </a:extLst>
          </p:cNvPr>
          <p:cNvGraphicFramePr/>
          <p:nvPr/>
        </p:nvGraphicFramePr>
        <p:xfrm>
          <a:off xmlns:a="http://schemas.openxmlformats.org/drawingml/2006/main" x="4572000" y="1619250"/>
          <a:ext xmlns:a="http://schemas.openxmlformats.org/drawingml/2006/main" cx="695325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571750"/>
                <a:gridCol w="2667000"/>
              </a:tblGrid>
              <a:tr h="64293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Aspecto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CSV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Parquet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Organización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filas de texto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columnas tipadas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Tipos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se infieren o declaran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se almacenan en el esquema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Proyección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suele parsear la fila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puede leer sólo columnas necesarias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Compresión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general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por columnas y codificaciones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Uso típico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intercambio simple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analítica repetida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9608A-9491-4E80-AB04-34D24FB7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E3DE5-9168-43CE-9E22-BC935FF9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129052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6153E-AA77-4F75-80B6-B5BDE944D5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5bbcaf955420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E07DB-D89A-4706-AFFE-8DD451AF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Lectura por filas y por columnas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29982-376D-4338-AA4E-FB47E104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por qué la proyección importa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30060-63CC-440B-971D-12C8029F5D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8df2c43884f04"/>
          <a:stretch xmlns:a="http://schemas.openxmlformats.org/drawingml/2006/main"/>
        </p:blipFill>
        <p:spPr>
          <a:xfrm xmlns:a="http://schemas.openxmlformats.org/drawingml/2006/main">
            <a:off x="3667125" y="1619250"/>
            <a:ext cx="4857750" cy="3238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BF764-555E-44CB-A961-891AA4BF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006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Consulta: seleccionar 3 columnas de una tabla con 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6F534-011A-4937-A591-0DFCDAFB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72125"/>
            <a:ext cx="904875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E381D-0C3A-4119-8137-44EB5613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638800"/>
            <a:ext cx="8705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En un formato columnar, la consulta puede evitar leer columnas que no necesita.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E9269-A9E8-4CEF-8828-6B142B53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905B3-BE3E-4955-8F5E-4B4E3A83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51386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4F4A9-986F-4E2B-BDDB-E13122012E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c9c4a2cbc430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129E0-D0A3-4E0A-81BB-CF78BE90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Modelos de ejecución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C0142-E465-4FB9-949D-4E88B5D0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motores distintos, costos distintos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3512C-A352-4EC6-8503-AD7A7B03C925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809875"/>
                <a:gridCol w="3571875"/>
                <a:gridCol w="3048000"/>
              </a:tblGrid>
              <a:tr h="800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Modelo dominante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Fortaleza que se prueba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Límite a vigilar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pandas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eager, en memoria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ecosistema y claridad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memoria y un solo proceso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Polars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columnar, lazy, multihilo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proyección y paralelismo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materialización final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DuckDB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SQL vectorizado sobre archivos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consulta sin cargar todo a Python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resultado traído al cliente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Spark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lazy y distribuido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particiones y escala horizontal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arranque, shuffle y coordinación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68A0F-34ED-46FC-815A-AA45326F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10250"/>
            <a:ext cx="9429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09625-4EB1-483D-9498-1C9BF9C7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876925"/>
            <a:ext cx="908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No comparar marcas: comparar el plan de ejecución y la frontera del trabajo medido.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DDBAA-CA6E-4000-BBD4-2DEA69D3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B5B5F-7C7C-4F90-BA08-87726A44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947814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AE45C-9653-424F-B0A8-CB6E156D28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20a8fc87245c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C68FB-58CE-4B5F-A29A-9509AD49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Esquema de aplicación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7AC19-251D-4E2B-AC3B-A21EFCC7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Decisión: elegir según la restricción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C5BE4-61AC-4189-B1F1-55BE01A9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4479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FF6B0-DD63-4EB2-8F5E-A15CF1BD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F2F70-E52A-4311-AE75-A5A0F84A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2574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¿Cabe en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memoria?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4E5BB-09FC-4516-889D-08DB2DF8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3837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8B2CD-AEC0-451C-AE3D-D31E7975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52625"/>
            <a:ext cx="24479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168E0-5216-4C93-8135-C41AD7AC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19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ACD42-DD2E-4647-B63A-69E83788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66950"/>
            <a:ext cx="22574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¿Se repite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consulta?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173B0-4D19-4E9E-B616-B88C9EB5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3837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3D81F-A9C6-4FFC-A347-7B35AA29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24479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F9EA1-FC54-4CE5-91D3-28B1DA64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F0254-60B0-4372-AF27-9F10C4C4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22574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¿Hay shuffle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o joins grandes?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3697A-AFB8-46F5-8DCD-A7995289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3837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762DB-F010-4067-B730-EFA171C2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952625"/>
            <a:ext cx="24479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ACDAE0-1CF9-405F-9822-47E66BDE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19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59057-06D4-494A-8258-83BC70FD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66950"/>
            <a:ext cx="22574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¿La salida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es pequeña?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A8BC9-E571-4319-82B5-1D0E92E2418A}"/>
              </a:ext>
            </a:extLst>
          </p:cNvPr>
          <p:cNvGraphicFramePr/>
          <p:nvPr/>
        </p:nvGraphicFramePr>
        <p:xfrm>
          <a:off xmlns:a="http://schemas.openxmlformats.org/drawingml/2006/main" x="1428750" y="3571875"/>
          <a:ext xmlns:a="http://schemas.openxmlformats.org/drawingml/2006/main" cx="93345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4667250"/>
              </a:tblGrid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Condición observada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Primera acción razonable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Cabe y prima simplicidad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pandas con tipos y usecols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Columnas y filtros selectivos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Parquet + Polars lazy o DuckDB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Datos superan un equipo / requieren tolerancia a fallos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Spark distribuido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Salida enorme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escribir particionada; evitar collect / .df() completo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DD967-B076-4CA9-8E75-103E8679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D65AA-62EE-4B98-81B2-9660487A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883517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C2054-A65B-4FB6-9B0A-42FD0457B7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1d67627184e9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EF0EB-4397-430B-A184-67FD6886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Ejercicio 1 · E10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12F51-F06C-4E9F-AFF3-DCB54AF1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Práctica guiada: formato y consulta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14EE7-0F15-49A7-9780-CDC83DD9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Pregunta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48428-2DFD-4BFC-B615-E02D7F23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66875"/>
            <a:ext cx="871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¿Cuánto cambia el costo al consultar la misma tabla en CSV y Parquet?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D1EA2-8D8A-4A1C-85F4-990A1409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085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42A4B"/>
          </a:solidFill>
          <a:ln xmlns:a="http://schemas.openxmlformats.org/drawingml/2006/main" w="11430">
            <a:solidFill>
              <a:srgbClr val="142A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00DC5-BF6C-4547-ADCB-201854CC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28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 talleres.py consultas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 talleres.py benchmark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# revisar benchmark.csv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# contrastar población, sumas, tiempos y tamaños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02F88-5567-4FA4-A997-8F0CED3D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93179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OBSERVAR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7DB54-4F37-4931-ACDC-AA2C066C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572000"/>
            <a:ext cx="770953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159.616 registros válidos, dos hilos, un calentamiento y cinco repeticiones.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56691-9AA6-4B50-AC02-0FEB9E3B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293179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EXPLICAR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E7750-6444-4E36-940D-BAB03183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5314950"/>
            <a:ext cx="770953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Qué parte del ahorro proviene de lectura, tipos y proyección.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BEE22-AA48-489E-B7D6-A182489F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B1721-835A-45F5-B28B-F53F5C8C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385297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611FD-4E94-45F8-9484-46F0008904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722c2e2d5492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459FC-9ECA-4CC7-8B15-25F0C1AF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Ejercicio 2 · P04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E450F-7416-4F2E-AE3F-9EB76851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Práctica guiada: pandas, Polars y referencia Spark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1157F-2FDE-403F-8B6F-3853C82D1BC0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143500"/>
                <a:gridCol w="3905250"/>
              </a:tblGrid>
              <a:tr h="6858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Paso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Evidencia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1. Validar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ejecutar sobre 3.000 filas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misma salida de 16 columnas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2. Medir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pandas y Polars sobre el conjunto completo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3 repeticiones + warmup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3. Referenciar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revisar el mismo workload en Spark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plan, particiones y costo de arranque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4. Interpretar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separar lectura, cómputo y escritura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conclusión acotada al equipo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60585-A5A0-4371-AC7C-D30DFC30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C61E1-EBCA-4F31-955A-E8939CC6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95925"/>
            <a:ext cx="1003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La comparación principal del ejercicio es pandas vs Polars; Spark explica cuándo la distribución compensa su sobrecosto.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46554-6C7B-4987-9B6C-23676F21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EC3C9-46CD-4ADA-AB18-0C2ED8E0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312944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2940E-9F31-4E70-9309-707E165442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52529ad48428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504BC-563C-4C88-8AE3-75A7FAC8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Receso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80D6F-7AE5-4287-8CC3-89B55570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Pausa y reorganización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09DE1-E7E6-4533-BDD7-424FB90B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47875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20:00–20:15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010DF-7710-47D7-BA0C-238022EA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43250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Al volver: interpretar resultados, escalamiento y decisión de capacidad.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25800-BAA5-4094-8679-09B13799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24375"/>
            <a:ext cx="8001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E6F91-347E-49A8-AE36-58B3952D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91050"/>
            <a:ext cx="765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Conserve todas las ejecuciones. No descarte todavía los tiempos “raros”.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43FD6-DA6C-416B-871D-26EE2358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4B1AD-7EE0-424E-84E9-F20AA403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135237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02055-3953-4A59-99C0-4287E1E802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d1c9bebf046a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40262-C088-4477-B8F8-C8E069BA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Leer resultados sin engañarse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05E41-3CC2-4957-AD99-E8ECD901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Interpretación: corrección antes que velocidad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4E2BD-12E3-4A53-AE18-78A74C21D098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59055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Orden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Pregunta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Decisión si falla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¿Mismas filas, claves y medidas?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detener la comparación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¿Misma frontera temporal?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rehacer o separar resultados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¿La variación es comprensible?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investigar outliers y caché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¿El tiempo mejora el objetivo?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comparar costo y complejidad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¿La conclusión se limita al experimento?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redactar alcance y límites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0CB7E-E269-4067-9C33-DFB2FAFD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62625"/>
            <a:ext cx="800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5AF1C-0C65-4F72-9E5A-70E580A6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829300"/>
            <a:ext cx="765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Una diferencia de 2× es inútil si el resultado no es equivalente.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D0A99-373D-45D0-9D58-03C61FA7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13BEE-0F24-4D1F-BAF1-1599F830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808070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71FB1-7377-4D4A-A7FE-99D2627521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b7db16e014c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56D79-0E3E-4488-9DAD-D8E7FA5F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El plan explica el tiempo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0FFD6-0AFB-49C8-831B-D1DF12EC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Interpretación: buscar evidencia en la ejecución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4AB8B-E0CC-48B7-BBBF-CDA9905B8C85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333875"/>
                <a:gridCol w="3571875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Señal en el plan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Pregunta causal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Cambio a probar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Lee 38 columnas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¿la consulta necesita todas?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proyectar antes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Filtro después de materializar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¿puede bajar al scan?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usar lectura lazy / pushdown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Shuffle por clave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¿la distribución es uniforme?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reparticionar o reducir antes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Resultado completo al cliente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¿debe vivir en Python/driver?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agregar o escribir desde el motor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4D2F3-67B4-47E8-A9C9-4CF9680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67375"/>
            <a:ext cx="914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F5815-7DAD-4392-BA65-599CA216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34050"/>
            <a:ext cx="880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Hipótesis → cambio único → nueva medición → comparación equivalente.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3A3D4-9E8F-416F-9D1E-FF873347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79E41-DD5D-434C-9D0C-4D1B3F1E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4932998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6338B-767B-43C5-A7EA-7EC7F3E95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3cab6d2d444d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D83B6-246C-4CCC-B111-B7947B64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Escalabilidad y ley de Amdahl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38227-6975-4992-A99B-D8A40FD5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más recursos tienen un límite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49F0D-D1A1-4366-9416-AAC71F41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145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6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6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6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6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6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6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6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6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6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Speedup(N) = 1 / ((1 − p) + p / N)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5CBDB-02C7-4275-ABF2-0F3D6146D72E}"/>
              </a:ext>
            </a:extLst>
          </p:cNvPr>
          <p:cNvGraphicFramePr/>
          <p:nvPr/>
        </p:nvGraphicFramePr>
        <p:xfrm>
          <a:off xmlns:a="http://schemas.openxmlformats.org/drawingml/2006/main" x="2190750" y="2714625"/>
          <a:ext xmlns:a="http://schemas.openxmlformats.org/drawingml/2006/main" cx="7810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714750"/>
              </a:tblGrid>
              <a:tr h="514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Supuesto didáctico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Resultado ideal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Fracción paralelizable p = 0,90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10 % permanece serial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N = 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≈ 3,08×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N = 16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≈ 6,40×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N → 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máximo ideal: 10×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8D0B8-F60F-4B0A-9ACC-361B1147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001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BCA15-8D8A-4182-BC0C-8BFDAB62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86425"/>
            <a:ext cx="7658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El modelo no incluye nuevos costos de red, coordinación ni fallos.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711D4-080A-4A73-B7B4-8ACC7AA3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617CB-9820-4840-820B-6AA80CD9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8073256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4F911-6480-4FB1-A902-746C75ED2A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f607dd0eb448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DD87C-6B26-4BFC-A568-9A99A3BF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Sesgo entre particiones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A71F9-1D99-4364-BA10-F94D5F0D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el trabajo termina cuando termina la más lenta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C9866-8C5D-4D0B-ADE2-A2ACF48479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9d28fe2f7437a"/>
          <a:stretch xmlns:a="http://schemas.openxmlformats.org/drawingml/2006/main"/>
        </p:blipFill>
        <p:spPr>
          <a:xfrm xmlns:a="http://schemas.openxmlformats.org/drawingml/2006/main">
            <a:off x="1063625" y="1619250"/>
            <a:ext cx="4445000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10A60-C0D9-4921-B6E0-D3EB2036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66875"/>
            <a:ext cx="144018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SÍNTOMA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2E167-5CC9-4C2F-87BF-E9001702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985" y="1666875"/>
            <a:ext cx="378714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Una tarea termina mucho después que las demás.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2C1C0-8351-45ED-AE05-2AACF442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43175"/>
            <a:ext cx="144018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HIPÓTESIS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51804-DCC7-45F7-B9C8-165D093C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985" y="2543175"/>
            <a:ext cx="378714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Una clave concentra registros o un join multiplica filas.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6C250-A782-411F-8AFC-EAB7C251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19475"/>
            <a:ext cx="144018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EVIDENCIA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C4586-DC36-4511-8ADB-36D1D263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985" y="3419475"/>
            <a:ext cx="378714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Distribución de claves, tamaños y tiempos por partición.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8A10B-49B2-4FBA-8E21-9E6F634F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95775"/>
            <a:ext cx="144018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ACCIÓN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514D0-649C-48E1-B313-3F44D0D3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985" y="4295775"/>
            <a:ext cx="378714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Reducir antes, redistribuir o tratar la clave dominante.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73FC0-1D18-467A-B08B-0296E1D7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72125"/>
            <a:ext cx="695325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B8E0A-C060-4F4D-9B5E-C57DE4F6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638800"/>
            <a:ext cx="6610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Agregar ejecutores no divide automáticamente la partición dominante.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11927-4D0B-4EC5-A9C4-5F9248DA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8BEB0-A991-4379-BEC5-D0D4C36F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460091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91E2D-16D8-40E5-90D7-BA76AF605D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c632623ba49a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F75BE-3177-448F-9C6A-E0EB2EFE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Escala aproximada: lectura de 2 TB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81666-1E00-453C-8BE4-4861E2B0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estimar sin prometer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40185-9506-4C82-B78C-7D0C27B0FA47}"/>
              </a:ext>
            </a:extLst>
          </p:cNvPr>
          <p:cNvGraphicFramePr/>
          <p:nvPr/>
        </p:nvGraphicFramePr>
        <p:xfrm>
          <a:off xmlns:a="http://schemas.openxmlformats.org/drawingml/2006/main" x="1524000" y="1762125"/>
          <a:ext xmlns:a="http://schemas.openxmlformats.org/drawingml/2006/main" cx="9144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5143500"/>
              </a:tblGrid>
              <a:tr h="6572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Supuesto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Cálculo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 TB decimales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2.000.000 MB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Lectura sostenida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200 MB/s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Tiempo ideal de lectura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10.000 s = 2 h 46 min 40 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No incluido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parseo, shuffle, escritura, reintentos, coordinación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EBF5F-5257-478E-8DBD-74CF7718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953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89CC0-AF86-49EC-A2D4-851739C6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43550"/>
            <a:ext cx="861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Una estimación sirve para preguntar qué falta medir; no sustituye una prueba.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F11A6-7FE0-4E55-9800-17B7FECA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FD89D-F432-40C6-BBCE-93E07FC4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409182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3BD5B4-FBA4-4226-A549-FEDDA022AB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9ed66d9384bb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3A31C-BCCD-4039-9EB1-9DA4178C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Decisión de capacidad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19096-E531-457B-8B1B-E69B9756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Aplicación: optimizar antes de escalar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84E22-CF37-4120-9362-6C2EE8C7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4F432-7F85-4BA3-BEE4-BAEE9D1D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F0ECE-42EA-481D-BF33-694012AA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Validar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resultado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6AE93-0551-4021-9E2F-CE370498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" y="185737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26EC7-A7E5-4CF1-8552-41263079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1571625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D4FFB-87DA-4484-BDB6-ABCA1495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1638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357EF-EA25-4C0E-A64D-1B76F6A3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1885950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Reducir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datos leídos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AE8B4-0D84-41F1-B15E-1A5607A1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185737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C8DF0-08FA-4B0B-A42B-15531F2C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571625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0571F-A192-4B4B-9E28-2075A25C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1638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06CF0-805E-430A-8075-717AABD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1885950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Mejorar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formato y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39B89-7A2B-4BEF-A8D7-9A78178C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185737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3C478-93B6-4B0E-BDB5-8C76BA6B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1571625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F87C2-E79E-4469-AAC2-9EBF99E9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1638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6A215-58B8-4360-A1AD-F312757C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1885950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Medir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de nuevo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80C59-86A9-4D0D-9560-CC0A56B4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0" y="185737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7EBE38-0C07-47EC-84F3-B67FA2A9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1571625"/>
            <a:ext cx="198882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89903-9879-46CF-967A-F357A325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1638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C92D8B-D6F7-4060-A83B-D8E9F3A0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1885950"/>
            <a:ext cx="179832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Escalar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si persiste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B0C6D-2717-4E6F-9AEE-E03E2C49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4762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AA7607-6B60-4822-9FD2-6A10EA63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4762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100CE-4A81-420F-85F4-BFC4812A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099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Escalar verticalmente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9E90D5-4970-447A-8266-6D3E25EA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62375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Más RAM o CPU en un equipo.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Útil cuando el cuello es local y el workload cabe con margen.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E405DE-995D-4083-98BC-510DB737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099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Escalar horizontalmente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D87D3F-3F70-435B-B33C-FCB0419E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62375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Más nodos y particiones.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Útil cuando la distribución compensa red, coordinación y operación.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CC9567-E711-48B8-8332-381B3341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01F0EC-B00B-4933-818C-669F881A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38800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La decisión debe nombrar: restricción medida, cambio propuesto, costo y evidencia esperada.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F81AC0-BB10-4208-81C5-E12D5548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8DCD33-B08C-4CE0-B182-28F388CF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353168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02762-0B5F-4FF1-B723-8146089908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3a21e0236407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484D8-E44B-4EA2-9550-B0C757E2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Entrega del sábado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659C2-CB0E-43B0-8779-6CDC86F9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Aplicación: informe experimental breve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0DBC7-18DB-445B-A63C-AEEDF48F7854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715250"/>
              </a:tblGrid>
              <a:tr h="650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Sección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Contenido mínimo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Pregunta e hipótesis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qué se compara y por qué debería cambiar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Contrato de equivalencia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población, consulta, salida y frontera temporal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Entorno y protocolo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equipo, versiones, hilos, warmup y repeticiones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Resultados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mediciones crudas, mediana, RAM, throughput y controles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Interpretación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mecanismo, límites y decisión de capacidad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37759-1935-4FEC-B67B-9E723829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62625"/>
            <a:ext cx="942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A5739-52AF-4AA3-9A7A-9F40DC68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82930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Entregar evidencia reproducible, no sólo una captura del tiempo más rápido.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BAB51-EFDF-43CC-8243-BA249B9E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71F0B-B513-4B68-B337-033559D1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4292320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D7870-D995-44D3-BEE3-4974A635C0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7d19ac33743d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3834F-ACBC-4FCB-AC94-0BFF8121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Síntesis: cuatro preguntas que deben quedar resueltas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E3B20-4E0E-4CA8-A38C-D62BF5FA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Cierre: recuperar el propósito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4E027-482A-4E57-BFEB-93A05091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93179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1. PROPÓSITO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BBF8C-0738-4F81-ADC3-DE423884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1666875"/>
            <a:ext cx="770953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¿Qué decisión ayuda a tomar esta medición?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0112F-B625-4C9B-B555-0F399594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93179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2. MECANISMO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649F6-CAFB-46FB-8D05-FF77E02C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2619375"/>
            <a:ext cx="770953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¿Qué etapa o recurso explica la diferencia observada?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71E73-134C-41A7-BD3B-DE6C3856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93179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3. 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D56AB-7FE8-4113-9463-6E446D04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3571875"/>
            <a:ext cx="770953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¿El resultado es equivalente, repetible y acotado?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A1249-0ED3-49E4-988A-E4D45D4A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93179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4. ACCIÓN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B8C37-2429-4486-B01A-9B299607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524375"/>
            <a:ext cx="770953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¿Qué cambiaría primero y qué mediría después?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C0C52-ACE8-46D0-892B-9B65463B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95DE5-3020-4710-9C3F-A4ADC23E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86425"/>
            <a:ext cx="956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Rendimiento = comprender el costo de una respuesta correcta para tomar una decisión sostenible.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0D37C-5BE5-43A8-8891-8E7B1F35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2DBDB-D83F-4A83-B60C-71A9F753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870518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2026-10-23T21:07:03.5980000Z</dcterms:created>
  <dcterms:modified xsi:type="dcterms:W3CDTF">2026-10-23T21:07:03.5980000Z</dcterms:modified>
</coreProperties>
</file>