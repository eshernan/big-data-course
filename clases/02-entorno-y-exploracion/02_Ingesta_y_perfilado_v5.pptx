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385bc5556941a7" /><Relationship Type="http://schemas.openxmlformats.org/officeDocument/2006/relationships/extended-properties" Target="/docProps/app.xml" Id="R63c5651768f5481b" /><Relationship Type="http://schemas.openxmlformats.org/officeDocument/2006/relationships/officeDocument" Target="/ppt/presentation.xml" Id="R3f78ef75253e4949" /></Relationships>
</file>

<file path=ppt/presentation.xml><?xml version="1.0" encoding="utf-8"?>
<p:presentation xmlns:p="http://schemas.openxmlformats.org/presentationml/2006/main">
  <p:sldMasterIdLst>
    <p:sldMasterId xmlns:r="http://schemas.openxmlformats.org/officeDocument/2006/relationships" id="2147483648" r:id="R4b47c6779bd54ca8"/>
  </p:sldMasterIdLst>
  <p:notesMasterIdLst>
    <p:notesMasterId xmlns:r="http://schemas.openxmlformats.org/officeDocument/2006/relationships" r:id="R60aac0a96e57420b"/>
  </p:notesMasterIdLst>
  <p:sldIdLst>
    <p:sldId xmlns:r="http://schemas.openxmlformats.org/officeDocument/2006/relationships" id="256" r:id="R1477e86f70874418"/>
    <p:sldId xmlns:r="http://schemas.openxmlformats.org/officeDocument/2006/relationships" id="257" r:id="Rce344925f052428b"/>
    <p:sldId xmlns:r="http://schemas.openxmlformats.org/officeDocument/2006/relationships" id="258" r:id="Rdb438ae706484847"/>
    <p:sldId xmlns:r="http://schemas.openxmlformats.org/officeDocument/2006/relationships" id="259" r:id="Rec028b9a8e8b4da1"/>
    <p:sldId xmlns:r="http://schemas.openxmlformats.org/officeDocument/2006/relationships" id="260" r:id="R8c8bc98b8e8d4d76"/>
    <p:sldId xmlns:r="http://schemas.openxmlformats.org/officeDocument/2006/relationships" id="261" r:id="R68c8485e11754c16"/>
    <p:sldId xmlns:r="http://schemas.openxmlformats.org/officeDocument/2006/relationships" id="262" r:id="R9c68669f07df4c72"/>
    <p:sldId xmlns:r="http://schemas.openxmlformats.org/officeDocument/2006/relationships" id="263" r:id="R14906038289640f1"/>
    <p:sldId xmlns:r="http://schemas.openxmlformats.org/officeDocument/2006/relationships" id="264" r:id="Rdef9528c5bfc41a1"/>
    <p:sldId xmlns:r="http://schemas.openxmlformats.org/officeDocument/2006/relationships" id="265" r:id="R8c9c1c4cfbfd439c"/>
    <p:sldId xmlns:r="http://schemas.openxmlformats.org/officeDocument/2006/relationships" id="266" r:id="R09d82544310c484b"/>
    <p:sldId xmlns:r="http://schemas.openxmlformats.org/officeDocument/2006/relationships" id="267" r:id="R8dc413e36c794726"/>
    <p:sldId xmlns:r="http://schemas.openxmlformats.org/officeDocument/2006/relationships" id="268" r:id="R76ff735a76ce45f9"/>
    <p:sldId xmlns:r="http://schemas.openxmlformats.org/officeDocument/2006/relationships" id="269" r:id="R60b5d62cf9ba430f"/>
    <p:sldId xmlns:r="http://schemas.openxmlformats.org/officeDocument/2006/relationships" id="270" r:id="Re4505b5df5a7468a"/>
    <p:sldId xmlns:r="http://schemas.openxmlformats.org/officeDocument/2006/relationships" id="271" r:id="R2ca6ab7485544a51"/>
    <p:sldId xmlns:r="http://schemas.openxmlformats.org/officeDocument/2006/relationships" id="272" r:id="Rb59eea4a59414802"/>
    <p:sldId xmlns:r="http://schemas.openxmlformats.org/officeDocument/2006/relationships" id="273" r:id="R5b44c09396e64907"/>
    <p:sldId xmlns:r="http://schemas.openxmlformats.org/officeDocument/2006/relationships" id="274" r:id="Re61c2f29341f40e9"/>
    <p:sldId xmlns:r="http://schemas.openxmlformats.org/officeDocument/2006/relationships" id="275" r:id="Rb8dd4a537def4ab8"/>
    <p:sldId xmlns:r="http://schemas.openxmlformats.org/officeDocument/2006/relationships" id="276" r:id="Rfe23a91f34f64b3c"/>
    <p:sldId xmlns:r="http://schemas.openxmlformats.org/officeDocument/2006/relationships" id="277" r:id="R5128a8235b874308"/>
    <p:sldId xmlns:r="http://schemas.openxmlformats.org/officeDocument/2006/relationships" id="278" r:id="R9a33eb42c81842c3"/>
    <p:sldId xmlns:r="http://schemas.openxmlformats.org/officeDocument/2006/relationships" id="279" r:id="Re7bfac6044ab4e0a"/>
    <p:sldId xmlns:r="http://schemas.openxmlformats.org/officeDocument/2006/relationships" id="280" r:id="R16a2897c73014ed5"/>
    <p:sldId xmlns:r="http://schemas.openxmlformats.org/officeDocument/2006/relationships" id="281" r:id="Rf50205a689cf4d83"/>
    <p:sldId xmlns:r="http://schemas.openxmlformats.org/officeDocument/2006/relationships" id="282" r:id="R5b16332341dd4627"/>
    <p:sldId xmlns:r="http://schemas.openxmlformats.org/officeDocument/2006/relationships" id="283" r:id="R3804730d31354b49"/>
    <p:sldId xmlns:r="http://schemas.openxmlformats.org/officeDocument/2006/relationships" id="284" r:id="Rcc7f813aba3346d6"/>
    <p:sldId xmlns:r="http://schemas.openxmlformats.org/officeDocument/2006/relationships" id="285" r:id="R25fce85aef1b4175"/>
    <p:sldId xmlns:r="http://schemas.openxmlformats.org/officeDocument/2006/relationships" id="286" r:id="R8d3036825de94d58"/>
    <p:sldId xmlns:r="http://schemas.openxmlformats.org/officeDocument/2006/relationships" id="287" r:id="R8e150a70a44b4c1b"/>
    <p:sldId xmlns:r="http://schemas.openxmlformats.org/officeDocument/2006/relationships" id="288" r:id="R573d3f7f6a614b95"/>
    <p:sldId xmlns:r="http://schemas.openxmlformats.org/officeDocument/2006/relationships" id="289" r:id="R9b276318d32f44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a76117c3ef4104" /><Relationship Type="http://schemas.openxmlformats.org/officeDocument/2006/relationships/slideMaster" Target="/ppt/slideMasters/slideMaster1.xml" Id="R4b47c6779bd54ca8" /><Relationship Type="http://schemas.openxmlformats.org/officeDocument/2006/relationships/notesMaster" Target="/ppt/notesMasters/notesMaster1.xml" Id="R60aac0a96e57420b" /><Relationship Type="http://schemas.openxmlformats.org/officeDocument/2006/relationships/presProps" Target="/ppt/presProps.xml" Id="R6da7fe508c484363" /><Relationship Type="http://schemas.openxmlformats.org/officeDocument/2006/relationships/tableStyles" Target="/ppt/tableStyles.xml" Id="R8e325dcb03dc43a2" /><Relationship Type="http://schemas.openxmlformats.org/officeDocument/2006/relationships/slide" Target="/ppt/slides/slide1.xml" Id="R1477e86f70874418" /><Relationship Type="http://schemas.openxmlformats.org/officeDocument/2006/relationships/slide" Target="/ppt/slides/slide2.xml" Id="Rce344925f052428b" /><Relationship Type="http://schemas.openxmlformats.org/officeDocument/2006/relationships/slide" Target="/ppt/slides/slide3.xml" Id="Rdb438ae706484847" /><Relationship Type="http://schemas.openxmlformats.org/officeDocument/2006/relationships/slide" Target="/ppt/slides/slide4.xml" Id="Rec028b9a8e8b4da1" /><Relationship Type="http://schemas.openxmlformats.org/officeDocument/2006/relationships/slide" Target="/ppt/slides/slide5.xml" Id="R8c8bc98b8e8d4d76" /><Relationship Type="http://schemas.openxmlformats.org/officeDocument/2006/relationships/slide" Target="/ppt/slides/slide6.xml" Id="R68c8485e11754c16" /><Relationship Type="http://schemas.openxmlformats.org/officeDocument/2006/relationships/slide" Target="/ppt/slides/slide7.xml" Id="R9c68669f07df4c72" /><Relationship Type="http://schemas.openxmlformats.org/officeDocument/2006/relationships/slide" Target="/ppt/slides/slide8.xml" Id="R14906038289640f1" /><Relationship Type="http://schemas.openxmlformats.org/officeDocument/2006/relationships/slide" Target="/ppt/slides/slide9.xml" Id="Rdef9528c5bfc41a1" /><Relationship Type="http://schemas.openxmlformats.org/officeDocument/2006/relationships/slide" Target="/ppt/slides/slide10.xml" Id="R8c9c1c4cfbfd439c" /><Relationship Type="http://schemas.openxmlformats.org/officeDocument/2006/relationships/slide" Target="/ppt/slides/slide11.xml" Id="R09d82544310c484b" /><Relationship Type="http://schemas.openxmlformats.org/officeDocument/2006/relationships/slide" Target="/ppt/slides/slide12.xml" Id="R8dc413e36c794726" /><Relationship Type="http://schemas.openxmlformats.org/officeDocument/2006/relationships/slide" Target="/ppt/slides/slide13.xml" Id="R76ff735a76ce45f9" /><Relationship Type="http://schemas.openxmlformats.org/officeDocument/2006/relationships/slide" Target="/ppt/slides/slide14.xml" Id="R60b5d62cf9ba430f" /><Relationship Type="http://schemas.openxmlformats.org/officeDocument/2006/relationships/slide" Target="/ppt/slides/slide15.xml" Id="Re4505b5df5a7468a" /><Relationship Type="http://schemas.openxmlformats.org/officeDocument/2006/relationships/slide" Target="/ppt/slides/slide16.xml" Id="R2ca6ab7485544a51" /><Relationship Type="http://schemas.openxmlformats.org/officeDocument/2006/relationships/slide" Target="/ppt/slides/slide17.xml" Id="Rb59eea4a59414802" /><Relationship Type="http://schemas.openxmlformats.org/officeDocument/2006/relationships/slide" Target="/ppt/slides/slide18.xml" Id="R5b44c09396e64907" /><Relationship Type="http://schemas.openxmlformats.org/officeDocument/2006/relationships/slide" Target="/ppt/slides/slide19.xml" Id="Re61c2f29341f40e9" /><Relationship Type="http://schemas.openxmlformats.org/officeDocument/2006/relationships/slide" Target="/ppt/slides/slide20.xml" Id="Rb8dd4a537def4ab8" /><Relationship Type="http://schemas.openxmlformats.org/officeDocument/2006/relationships/slide" Target="/ppt/slides/slide21.xml" Id="Rfe23a91f34f64b3c" /><Relationship Type="http://schemas.openxmlformats.org/officeDocument/2006/relationships/slide" Target="/ppt/slides/slide22.xml" Id="R5128a8235b874308" /><Relationship Type="http://schemas.openxmlformats.org/officeDocument/2006/relationships/slide" Target="/ppt/slides/slide23.xml" Id="R9a33eb42c81842c3" /><Relationship Type="http://schemas.openxmlformats.org/officeDocument/2006/relationships/slide" Target="/ppt/slides/slide24.xml" Id="Re7bfac6044ab4e0a" /><Relationship Type="http://schemas.openxmlformats.org/officeDocument/2006/relationships/slide" Target="/ppt/slides/slide25.xml" Id="R16a2897c73014ed5" /><Relationship Type="http://schemas.openxmlformats.org/officeDocument/2006/relationships/slide" Target="/ppt/slides/slide26.xml" Id="Rf50205a689cf4d83" /><Relationship Type="http://schemas.openxmlformats.org/officeDocument/2006/relationships/slide" Target="/ppt/slides/slide27.xml" Id="R5b16332341dd4627" /><Relationship Type="http://schemas.openxmlformats.org/officeDocument/2006/relationships/slide" Target="/ppt/slides/slide28.xml" Id="R3804730d31354b49" /><Relationship Type="http://schemas.openxmlformats.org/officeDocument/2006/relationships/slide" Target="/ppt/slides/slide29.xml" Id="Rcc7f813aba3346d6" /><Relationship Type="http://schemas.openxmlformats.org/officeDocument/2006/relationships/slide" Target="/ppt/slides/slide30.xml" Id="R25fce85aef1b4175" /><Relationship Type="http://schemas.openxmlformats.org/officeDocument/2006/relationships/slide" Target="/ppt/slides/slide31.xml" Id="R8d3036825de94d58" /><Relationship Type="http://schemas.openxmlformats.org/officeDocument/2006/relationships/slide" Target="/ppt/slides/slide32.xml" Id="R8e150a70a44b4c1b" /><Relationship Type="http://schemas.openxmlformats.org/officeDocument/2006/relationships/slide" Target="/ppt/slides/slide33.xml" Id="R573d3f7f6a614b95" /><Relationship Type="http://schemas.openxmlformats.org/officeDocument/2006/relationships/slide" Target="/ppt/slides/slide34.xml" Id="R9b276318d32f44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fc244577cb49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447cefe5c4f6b" /><Relationship Type="http://schemas.openxmlformats.org/officeDocument/2006/relationships/notesMaster" Target="/ppt/notesMasters/notesMaster1.xml" Id="Rb0080ed38a804d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b0b327ea56491d" /><Relationship Type="http://schemas.openxmlformats.org/officeDocument/2006/relationships/notesMaster" Target="/ppt/notesMasters/notesMaster1.xml" Id="Re88e6a4aee674d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b723e5befe46d8" /><Relationship Type="http://schemas.openxmlformats.org/officeDocument/2006/relationships/notesMaster" Target="/ppt/notesMasters/notesMaster1.xml" Id="Rd695258f866e4c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7d6622c5b34139" /><Relationship Type="http://schemas.openxmlformats.org/officeDocument/2006/relationships/notesMaster" Target="/ppt/notesMasters/notesMaster1.xml" Id="Rda06ceb5948b44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1b16cff7794a35" /><Relationship Type="http://schemas.openxmlformats.org/officeDocument/2006/relationships/notesMaster" Target="/ppt/notesMasters/notesMaster1.xml" Id="R5a3352ce3df648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b42e1f299a42e9" /><Relationship Type="http://schemas.openxmlformats.org/officeDocument/2006/relationships/notesMaster" Target="/ppt/notesMasters/notesMaster1.xml" Id="R610bc8460d584e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5695cc1a4144ad" /><Relationship Type="http://schemas.openxmlformats.org/officeDocument/2006/relationships/notesMaster" Target="/ppt/notesMasters/notesMaster1.xml" Id="Rd385a01d327f4b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ad4b44e4334403" /><Relationship Type="http://schemas.openxmlformats.org/officeDocument/2006/relationships/notesMaster" Target="/ppt/notesMasters/notesMaster1.xml" Id="R03f0f69471254f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6f645201e84786" /><Relationship Type="http://schemas.openxmlformats.org/officeDocument/2006/relationships/notesMaster" Target="/ppt/notesMasters/notesMaster1.xml" Id="R3ce33da5b7bb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c2bd0ef84647ab" /><Relationship Type="http://schemas.openxmlformats.org/officeDocument/2006/relationships/notesMaster" Target="/ppt/notesMasters/notesMaster1.xml" Id="R611409e9006247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6de5d348fc446b" /><Relationship Type="http://schemas.openxmlformats.org/officeDocument/2006/relationships/notesMaster" Target="/ppt/notesMasters/notesMaster1.xml" Id="Rc05b2ee7d8d64e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f0f9b9c1c14f22" /><Relationship Type="http://schemas.openxmlformats.org/officeDocument/2006/relationships/notesMaster" Target="/ppt/notesMasters/notesMaster1.xml" Id="Rff60a44db00f49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ba65095baa4434" /><Relationship Type="http://schemas.openxmlformats.org/officeDocument/2006/relationships/notesMaster" Target="/ppt/notesMasters/notesMaster1.xml" Id="Rbe7829f5e04f43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b25e4f57c24a2f" /><Relationship Type="http://schemas.openxmlformats.org/officeDocument/2006/relationships/notesMaster" Target="/ppt/notesMasters/notesMaster1.xml" Id="R2b5d54dbb92946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0257e6669946a0" /><Relationship Type="http://schemas.openxmlformats.org/officeDocument/2006/relationships/notesMaster" Target="/ppt/notesMasters/notesMaster1.xml" Id="R2446e103560445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da49229bdd4241" /><Relationship Type="http://schemas.openxmlformats.org/officeDocument/2006/relationships/notesMaster" Target="/ppt/notesMasters/notesMaster1.xml" Id="Re0c7d5dc30cb47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6bf25773a643a3" /><Relationship Type="http://schemas.openxmlformats.org/officeDocument/2006/relationships/notesMaster" Target="/ppt/notesMasters/notesMaster1.xml" Id="R6dabf64267344c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1bd693c05541ce" /><Relationship Type="http://schemas.openxmlformats.org/officeDocument/2006/relationships/notesMaster" Target="/ppt/notesMasters/notesMaster1.xml" Id="R5b523c0738e54e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9f2dea8d314d3b" /><Relationship Type="http://schemas.openxmlformats.org/officeDocument/2006/relationships/notesMaster" Target="/ppt/notesMasters/notesMaster1.xml" Id="R21cfbe958eb34a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049ce8bd444f5c" /><Relationship Type="http://schemas.openxmlformats.org/officeDocument/2006/relationships/notesMaster" Target="/ppt/notesMasters/notesMaster1.xml" Id="R0471c65b50ed47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9a9e5ec89a458a" /><Relationship Type="http://schemas.openxmlformats.org/officeDocument/2006/relationships/notesMaster" Target="/ppt/notesMasters/notesMaster1.xml" Id="Ra4319c08127a4b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1434d535b6461b" /><Relationship Type="http://schemas.openxmlformats.org/officeDocument/2006/relationships/notesMaster" Target="/ppt/notesMasters/notesMaster1.xml" Id="R7773f84ed1e646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7bcefc351c41ac" /><Relationship Type="http://schemas.openxmlformats.org/officeDocument/2006/relationships/notesMaster" Target="/ppt/notesMasters/notesMaster1.xml" Id="R4225900a7a7947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0a3e5dda5248d1" /><Relationship Type="http://schemas.openxmlformats.org/officeDocument/2006/relationships/notesMaster" Target="/ppt/notesMasters/notesMaster1.xml" Id="Re88c15ec6edf4ba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95f5cbcd2a4e91" /><Relationship Type="http://schemas.openxmlformats.org/officeDocument/2006/relationships/notesMaster" Target="/ppt/notesMasters/notesMaster1.xml" Id="Re378fb7c9b4f4a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eeae2374c74dd7" /><Relationship Type="http://schemas.openxmlformats.org/officeDocument/2006/relationships/notesMaster" Target="/ppt/notesMasters/notesMaster1.xml" Id="Ra1f4189b886e44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36db46bf694fff" /><Relationship Type="http://schemas.openxmlformats.org/officeDocument/2006/relationships/notesMaster" Target="/ppt/notesMasters/notesMaster1.xml" Id="R69a3559617cb4e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355a8b6e8d4851" /><Relationship Type="http://schemas.openxmlformats.org/officeDocument/2006/relationships/notesMaster" Target="/ppt/notesMasters/notesMaster1.xml" Id="R7f664279e6c247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2fa55d813a24ddb" /><Relationship Type="http://schemas.openxmlformats.org/officeDocument/2006/relationships/notesMaster" Target="/ppt/notesMasters/notesMaster1.xml" Id="R4d0008f1075841d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a2fec286224a09" /><Relationship Type="http://schemas.openxmlformats.org/officeDocument/2006/relationships/notesMaster" Target="/ppt/notesMasters/notesMaster1.xml" Id="R2f3bf4bc940e49e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7d69fd7398448d" /><Relationship Type="http://schemas.openxmlformats.org/officeDocument/2006/relationships/notesMaster" Target="/ppt/notesMasters/notesMaster1.xml" Id="R8818f3c1545845d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d0bf864909947f7" /><Relationship Type="http://schemas.openxmlformats.org/officeDocument/2006/relationships/notesMaster" Target="/ppt/notesMasters/notesMaster1.xml" Id="R6a22a585a9fd488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bf4f57909a54c4b" /><Relationship Type="http://schemas.openxmlformats.org/officeDocument/2006/relationships/notesMaster" Target="/ppt/notesMasters/notesMaster1.xml" Id="R9f223a1d59944c0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77b1247a748447d" /><Relationship Type="http://schemas.openxmlformats.org/officeDocument/2006/relationships/notesMaster" Target="/ppt/notesMasters/notesMaster1.xml" Id="Rc841838a0739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docs/calendario.md y docs/instalacion-wsl.md. 64 horas efectivas en 12 encuentros. Ampliación autónoma opcional. Un solo entorno en la raíz: uv venv --python 3.12 --seed .venv. Ejecutar en Ubuntu-26.04 sobre WSL.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docs/calendario_contractual.json. Recesos y almuerzo excluidos.</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calendario contractual y mapa de ejercicios.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docs/mapa-ejercicios.md, docs/entorno.md y talleres/E02.md, E03.md, P01.md. E02 trabaja descarga y perfil agroambiental de AGROSAVIA, EVA y DIVIPOLA. E03 revisa claves y vigencias territoriales. P01 perfila las tres muestras PQRS de 1.000 filas incluidas. El notebook está en kit/Notebooks/01_Perfil_PQRS.ipynb. Ejecutar desde kit/ en Ubuntu-26.04 sobre WSL con el único .venv de la raíz activo. Los prefijos identifican familias de actividades: E son ejercicios generales, muchos usan datos agroambientales, pero E13 permite elegir dominio; P son prácticas PQRS. Los números son identificadores, no números de clase. Otros códigos del curso: T01 taller teórico de escala e I01 introducción a eventos NASA. Las rutas comparten herramientas y competencias; no requieren unir reportes de salud con muestras de suelo. Ilustración conceptual sketch de la colección del curso.</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Herramientas del portátil</a:t>
            </a:r>
          </a:p>
          <a:p xmlns:a="http://schemas.openxmlformats.org/drawingml/2006/main">
            <a:r>
              <a:t>Herramienta</a:t>
            </a:r>
          </a:p>
          <a:p xmlns:a="http://schemas.openxmlformats.org/drawingml/2006/main">
            <a:r>
              <a:t>Uso</a:t>
            </a:r>
          </a:p>
          <a:p xmlns:a="http://schemas.openxmlformats.org/drawingml/2006/main">
            <a:r>
              <a:t>Python 3.12</a:t>
            </a:r>
          </a:p>
          <a:p xmlns:a="http://schemas.openxmlformats.org/drawingml/2006/main">
            <a:r>
              <a:t>Scripts y perfilado</a:t>
            </a:r>
          </a:p>
          <a:p xmlns:a="http://schemas.openxmlformats.org/drawingml/2006/main">
            <a:r>
              <a:t>DuckDB + pandas</a:t>
            </a:r>
          </a:p>
          <a:p xmlns:a="http://schemas.openxmlformats.org/drawingml/2006/main">
            <a:r>
              <a:t>SQL y tablas locales</a:t>
            </a:r>
          </a:p>
          <a:p xmlns:a="http://schemas.openxmlformats.org/drawingml/2006/main">
            <a:r>
              <a:t>QGIS</a:t>
            </a:r>
          </a:p>
          <a:p xmlns:a="http://schemas.openxmlformats.org/drawingml/2006/main">
            <a:r>
              <a:t>Inspección de shapes y rásteres</a:t>
            </a:r>
          </a:p>
          <a:p xmlns:a="http://schemas.openxmlformats.org/drawingml/2006/main">
            <a:r>
              <a:t>JDK 21 + Spark</a:t>
            </a:r>
          </a:p>
          <a:p xmlns:a="http://schemas.openxmlformats.org/drawingml/2006/main">
            <a:r>
              <a:t>Sesiones 5 y 8</a:t>
            </a:r>
          </a:p>
          <a:p xmlns:a="http://schemas.openxmlformats.org/drawingml/2006/main">
            <a:r>
              <a:t>Big Data · caso agroambiental · Sesión 2</a:t>
            </a:r>
          </a:p>
          <a:p xmlns:a="http://schemas.openxmlformats.org/drawingml/2006/main">
            <a:r>
              <a:t>04</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An open toolbox for data work holding a laptop terminal with abstract code brackets, a database cylinder, a tabular sheet and a geographic map. Four distinct tools, a small checklist nearby. No software logos or invented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Instalación del curso: Windows → WSL 2 → Ubuntu-26.04</a:t>
            </a:r>
          </a:p>
          <a:p xmlns:a="http://schemas.openxmlformats.org/drawingml/2006/main">
            <a:r>
              <a:t>[Índice](../README.md) · [Datos y ejecución](entorno.md) · [Notebooks](../kit/Notebooks/README.md)</a:t>
            </a:r>
          </a:p>
          <a:p xmlns:a="http://schemas.openxmlformats.org/drawingml/2006/main">
            <a:r>
              <a:t>Este es el entorno base para todas las instrucciones vigentes del curso. PowerShell se usa para instalar y administrar WSL; Python, Git, Java, bibliotecas, Jupyter y las prácticas se ejecutan **dentro de Ubuntu-26.04**. Las instrucciones antiguas de los anexos históricos no sustituyen esta guía.</a:t>
            </a:r>
          </a:p>
          <a:p xmlns:a="http://schemas.openxmlformats.org/drawingml/2006/main">
            <a:r>
              <a:t>## 1. Instalar WSL desde Windows</a:t>
            </a:r>
          </a:p>
          <a:p xmlns:a="http://schemas.openxmlformats.org/drawingml/2006/main">
            <a:r>
              <a:t>Usar Windows 11 o Windows 10 versión 2004/build 19041 o posterior con virtualización habilitada. Abrir **PowerShell como administrador** y ejecutar:</a:t>
            </a:r>
          </a:p>
          <a:p xmlns:a="http://schemas.openxmlformats.org/drawingml/2006/main">
            <a:r>
              <a:t>```powershell</a:t>
            </a:r>
          </a:p>
          <a:p xmlns:a="http://schemas.openxmlformats.org/drawingml/2006/main">
            <a:r>
              <a:t>wsl --install --no-distribution</a:t>
            </a:r>
          </a:p>
          <a:p xmlns:a="http://schemas.openxmlformats.org/drawingml/2006/main">
            <a:r>
              <a:t>```</a:t>
            </a:r>
          </a:p>
          <a:p xmlns:a="http://schemas.openxmlformats.org/drawingml/2006/main">
            <a:r>
              <a:t>Reiniciar Windows si se solicita. Volver a PowerShell y ejecutar:</a:t>
            </a:r>
          </a:p>
          <a:p xmlns:a="http://schemas.openxmlformats.org/drawingml/2006/main">
            <a:r>
              <a:t>```powershell</a:t>
            </a:r>
          </a:p>
          <a:p xmlns:a="http://schemas.openxmlformats.org/drawingml/2006/main">
            <a:r>
              <a:t>wsl --update</a:t>
            </a:r>
          </a:p>
          <a:p xmlns:a="http://schemas.openxmlformats.org/drawingml/2006/main">
            <a:r>
              <a:t>wsl --set-default-version 2</a:t>
            </a:r>
          </a:p>
          <a:p xmlns:a="http://schemas.openxmlformats.org/drawingml/2006/main">
            <a:r>
              <a:t>wsl --list --online</a:t>
            </a:r>
          </a:p>
          <a:p xmlns:a="http://schemas.openxmlformats.org/drawingml/2006/main">
            <a:r>
              <a:t>```</a:t>
            </a:r>
          </a:p>
          <a:p xmlns:a="http://schemas.openxmlformats.org/drawingml/2006/main">
            <a:r>
              <a:t>Localizar **Ubuntu-26.04** en la columna `NAME`. Instalar esa distribución por su nombre exacto:</a:t>
            </a:r>
          </a:p>
          <a:p xmlns:a="http://schemas.openxmlformats.org/drawingml/2006/main">
            <a:r>
              <a:t>```powershell</a:t>
            </a:r>
          </a:p>
          <a:p xmlns:a="http://schemas.openxmlformats.org/drawingml/2006/main">
            <a:r>
              <a:t>wsl --install --distribution Ubuntu-26.04</a:t>
            </a:r>
          </a:p>
          <a:p xmlns:a="http://schemas.openxmlformats.org/drawingml/2006/main">
            <a:r>
              <a:t>```</a:t>
            </a:r>
          </a:p>
          <a:p xmlns:a="http://schemas.openxmlformats.org/drawingml/2006/main">
            <a:r>
              <a:t>Si el listado no contiene `Ubuntu-26.04`, actualizar WSL y volver a consultar; no sustituirla silenciosamente por `Ubuntu` u otra versión. Si la descarga mediante Store falla, la alternativa oficial es `wsl --install --web-download --distribution Ubuntu-26.04`.</a:t>
            </a:r>
          </a:p>
          <a:p xmlns:a="http://schemas.openxmlformats.org/drawingml/2006/main">
            <a:r>
              <a:t>Comprobar la instalación y entrar:</a:t>
            </a:r>
          </a:p>
          <a:p xmlns:a="http://schemas.openxmlformats.org/drawingml/2006/main">
            <a:r>
              <a:t>```powershell</a:t>
            </a:r>
          </a:p>
          <a:p xmlns:a="http://schemas.openxmlformats.org/drawingml/2006/main">
            <a:r>
              <a:t>wsl --list --verbose</a:t>
            </a:r>
          </a:p>
          <a:p xmlns:a="http://schemas.openxmlformats.org/drawingml/2006/main">
            <a:r>
              <a:t>wsl --set-default Ubuntu-26.04</a:t>
            </a:r>
          </a:p>
          <a:p xmlns:a="http://schemas.openxmlformats.org/drawingml/2006/main">
            <a:r>
              <a:t>wsl --distribution Ubuntu-26.04</a:t>
            </a:r>
          </a:p>
          <a:p xmlns:a="http://schemas.openxmlformats.org/drawingml/2006/main">
            <a:r>
              <a:t>```</a:t>
            </a:r>
          </a:p>
          <a:p xmlns:a="http://schemas.openxmlformats.org/drawingml/2006/main">
            <a:r>
              <a:t>La columna `VERSION` debe mostrar `2`. Si muestra `1`, salir de Ubuntu y ejecutar en PowerShell `wsl --set-version Ubuntu-26.04 2`. En el primer inicio, crear el usuario y la contraseña de Ubuntu; al escribir la contraseña no aparecen caracteres. Ese usuario se utilizará durante todo el curso.</a:t>
            </a:r>
          </a:p>
          <a:p xmlns:a="http://schemas.openxmlformats.org/drawingml/2006/main">
            <a:r>
              <a:t>[Referencia: instalación y comandos WSL de Microsoft](https://learn.microsoft.com/en-us/windows/wsl/basic-commands) · [Instalación de Ubuntu en WSL](https://documentation.ubuntu.com/wsl/latest/howto/install-ubuntu-wsl2/).</a:t>
            </a:r>
          </a:p>
          <a:p xmlns:a="http://schemas.openxmlformats.org/drawingml/2006/main">
            <a:r>
              <a:t>## 2. Entrar a la carpeta base y clonar</a:t>
            </a:r>
          </a:p>
          <a:p xmlns:a="http://schemas.openxmlformats.org/drawingml/2006/main">
            <a:r>
              <a:t>**Todos los comandos siguientes son Bash, dentro de Ubuntu.** Confirmar la distribución y preparar la carpeta base del curso:</a:t>
            </a:r>
          </a:p>
          <a:p xmlns:a="http://schemas.openxmlformats.org/drawingml/2006/main">
            <a:r>
              <a:t>```bash</a:t>
            </a:r>
          </a:p>
          <a:p xmlns:a="http://schemas.openxmlformats.org/drawingml/2006/main">
            <a:r>
              <a:t>cat /etc/os-release</a:t>
            </a:r>
          </a:p>
          <a:p xmlns:a="http://schemas.openxmlformats.org/drawingml/2006/main">
            <a:r>
              <a:t>whoami</a:t>
            </a:r>
          </a:p>
          <a:p xmlns:a="http://schemas.openxmlformats.org/drawingml/2006/main">
            <a:r>
              <a:t>mkdir -p /mnt/c/Users/TUPTC/bigdata</a:t>
            </a:r>
          </a:p>
          <a:p xmlns:a="http://schemas.openxmlformats.org/drawingml/2006/main">
            <a:r>
              <a:t>cd /mnt/c/Users/TUPTC/bigdata</a:t>
            </a:r>
          </a:p>
          <a:p xmlns:a="http://schemas.openxmlformats.org/drawingml/2006/main">
            <a:r>
              <a:t>pwd</a:t>
            </a:r>
          </a:p>
          <a:p xmlns:a="http://schemas.openxmlformats.org/drawingml/2006/main">
            <a:r>
              <a:t>```</a:t>
            </a:r>
          </a:p>
          <a:p xmlns:a="http://schemas.openxmlformats.org/drawingml/2006/main">
            <a:r>
              <a:t>`VERSION_ID` debe indicar `26.04`; `pwd` debe mostrar `/mnt/c/Users/TUPTC/bigdata`. Conservar el usuario normal de Ubuntu creado en el paso anterior.</a:t>
            </a:r>
          </a:p>
          <a:p xmlns:a="http://schemas.openxmlformats.org/drawingml/2006/main">
            <a:r>
              <a:t>Instalar Git y las herramientas dentro de Ubuntu y pasar a la carpeta base `/mnt/c/Users/TUPTC/bigdata`. Comprobar que esa carpeta existe y es accesible antes de clonar:</a:t>
            </a:r>
          </a:p>
          <a:p xmlns:a="http://schemas.openxmlformats.org/drawingml/2006/main">
            <a:r>
              <a:t>```bash</a:t>
            </a:r>
          </a:p>
          <a:p xmlns:a="http://schemas.openxmlformats.org/drawingml/2006/main">
            <a:r>
              <a:t>sudo apt update</a:t>
            </a:r>
          </a:p>
          <a:p xmlns:a="http://schemas.openxmlformats.org/drawingml/2006/main">
            <a:r>
              <a:t>sudo apt install -y git curl ca-certificates unzip build-essential openjdk-21-jdk</a:t>
            </a:r>
          </a:p>
          <a:p xmlns:a="http://schemas.openxmlformats.org/drawingml/2006/main">
            <a:r>
              <a:t>cd /mnt/c/Users/TUPTC/bigdata</a:t>
            </a:r>
          </a:p>
          <a:p xmlns:a="http://schemas.openxmlformats.org/drawingml/2006/main">
            <a:r>
              <a:t>git clone --branch main https://github.com/eshernan/big-data-postgraduate.git</a:t>
            </a:r>
          </a:p>
          <a:p xmlns:a="http://schemas.openxmlformats.org/drawingml/2006/main">
            <a:r>
              <a:t>cd big-data-postgraduate</a:t>
            </a:r>
          </a:p>
          <a:p xmlns:a="http://schemas.openxmlformats.org/drawingml/2006/main">
            <a:r>
              <a:t>git branch --show-current</a:t>
            </a:r>
          </a:p>
          <a:p xmlns:a="http://schemas.openxmlformats.org/drawingml/2006/main">
            <a:r>
              <a:t>git status --short</a:t>
            </a:r>
          </a:p>
          <a:p xmlns:a="http://schemas.openxmlformats.org/drawingml/2006/main">
            <a:r>
              <a:t>```</a:t>
            </a:r>
          </a:p>
          <a:p xmlns:a="http://schemas.openxmlformats.org/drawingml/2006/main">
            <a:r>
              <a:t>El clonado crea la subcarpeta `big-data-postgraduate` dentro de `bigdata`. Si ya existe el repositorio, omitir el clonado y entrar con `cd big-data-postgraduate`. La ruta del repositorio será `/mnt/c/Users/TUPTC/bigdata/big-data-postgraduate`. La guía clona siempre la rama principal **`main`**; `git branch --show-current` debe devolver `main`. No usar `sudo git clone`. El repositorio y su `.venv` se guardan en esa carpeta de Windows, pero Python, Java y todos los comandos se ejecutan desde Ubuntu en WSL.</a:t>
            </a:r>
          </a:p>
          <a:p xmlns:a="http://schemas.openxmlformats.org/drawingml/2006/main">
            <a:r>
              <a:t>## 3. Python 3.12 y entorno virtual dentro de Ubuntu</a:t>
            </a:r>
          </a:p>
          <a:p xmlns:a="http://schemas.openxmlformats.org/drawingml/2006/main">
            <a:r>
              <a:t>Ubuntu 26.04 incluye Python 3.14. El curso mantiene Python 3.12 para las versiones fijadas de pandas, NumPy, PyArrow y demás bibliotecas. Instalarlo mediante `uv`, sin reemplazar `/usr/bin/python3`:</a:t>
            </a:r>
          </a:p>
          <a:p xmlns:a="http://schemas.openxmlformats.org/drawingml/2006/main">
            <a:r>
              <a:t>```bash</a:t>
            </a:r>
          </a:p>
          <a:p xmlns:a="http://schemas.openxmlformats.org/drawingml/2006/main">
            <a:r>
              <a:t>curl -LsSf https://astral.sh/uv/install.sh -o /tmp/instalar-uv-bigdata.sh</a:t>
            </a:r>
          </a:p>
          <a:p xmlns:a="http://schemas.openxmlformats.org/drawingml/2006/main">
            <a:r>
              <a:t>sh /tmp/instalar-uv-bigdata.sh</a:t>
            </a:r>
          </a:p>
          <a:p xmlns:a="http://schemas.openxmlformats.org/drawingml/2006/main">
            <a:r>
              <a:t>source "$HOME/.local/bin/env"</a:t>
            </a:r>
          </a:p>
          <a:p xmlns:a="http://schemas.openxmlformats.org/drawingml/2006/main">
            <a:r>
              <a:t>uv --version</a:t>
            </a:r>
          </a:p>
          <a:p xmlns:a="http://schemas.openxmlformats.org/drawingml/2006/main">
            <a:r>
              <a:t>uv python install 3.12</a:t>
            </a:r>
          </a:p>
          <a:p xmlns:a="http://schemas.openxmlformats.org/drawingml/2006/main">
            <a:r>
              <a:t>cd /mnt/c/Users/TUPTC/bigdata</a:t>
            </a:r>
          </a:p>
          <a:p xmlns:a="http://schemas.openxmlformats.org/drawingml/2006/main">
            <a:r>
              <a:t>cd big-data-postgraduate</a:t>
            </a:r>
          </a:p>
          <a:p xmlns:a="http://schemas.openxmlformats.org/drawingml/2006/main">
            <a:r>
              <a:t>uv venv --python 3.12 --seed .venv</a:t>
            </a:r>
          </a:p>
          <a:p xmlns:a="http://schemas.openxmlformats.org/drawingml/2006/main">
            <a:r>
              <a:t>source .venv/bin/activate</a:t>
            </a:r>
          </a:p>
          <a:p xmlns:a="http://schemas.openxmlformats.org/drawingml/2006/main">
            <a:r>
              <a:t>python --version</a:t>
            </a:r>
          </a:p>
          <a:p xmlns:a="http://schemas.openxmlformats.org/drawingml/2006/main">
            <a:r>
              <a:t>python -c 'import sys; print(sys.executable)'</a:t>
            </a:r>
          </a:p>
          <a:p xmlns:a="http://schemas.openxmlformats.org/drawingml/2006/main">
            <a:r>
              <a:t>```</a:t>
            </a:r>
          </a:p>
          <a:p xmlns:a="http://schemas.openxmlformats.org/drawingml/2006/main">
            <a:r>
              <a:t>Debe aparecer Python `3.12.x` y un ejecutable dentro de `/mnt/c/Users/TUPTC/bigdata/big-data-postgraduate/.venv/`. Se crea **un solo entorno**, en la raíz del repositorio. No crear otro `.venv` dentro de `kit/`. Si ya existe el entorno, activar el existente en lugar de recrearlo.</a:t>
            </a:r>
          </a:p>
          <a:p xmlns:a="http://schemas.openxmlformats.org/drawingml/2006/main">
            <a:r>
              <a:t>[Ubuntu 26.04: versión de Python](https://documentation.ubuntu.com/release-notes/26.04/summary-for-lts-users/) · [Instalador oficial de uv](https://docs.astral.sh/uv/getting-started/installation/) · [Instalación de versiones de Python con uv](https://docs.astral.sh/uv/guides/install-python/).</a:t>
            </a:r>
          </a:p>
          <a:p xmlns:a="http://schemas.openxmlformats.org/drawingml/2006/main">
            <a:r>
              <a:t>## 4. Instalar las bibliotecas y Jupyter</a:t>
            </a:r>
          </a:p>
          <a:p xmlns:a="http://schemas.openxmlformats.org/drawingml/2006/main">
            <a:r>
              <a:t>Desde la raíz del repositorio, con `.venv` activo:</a:t>
            </a:r>
          </a:p>
          <a:p xmlns:a="http://schemas.openxmlformats.org/drawingml/2006/main">
            <a:r>
              <a:t>```bash</a:t>
            </a:r>
          </a:p>
          <a:p xmlns:a="http://schemas.openxmlformats.org/drawingml/2006/main">
            <a:r>
              <a:t>python -m pip install -r kit/requirements.txt -r kit/requirements_pqrs.txt -r kit/requirements_notebooks.txt</a:t>
            </a:r>
          </a:p>
          <a:p xmlns:a="http://schemas.openxmlformats.org/drawingml/2006/main">
            <a:r>
              <a:t>python -m pip check</a:t>
            </a:r>
          </a:p>
          <a:p xmlns:a="http://schemas.openxmlformats.org/drawingml/2006/main">
            <a:r>
              <a:t>python -m ipykernel install --sys-prefix --name bigdata-wsl --display-name "BigData · WSL Ubuntu 26.04 · Python 3.12"</a:t>
            </a:r>
          </a:p>
          <a:p xmlns:a="http://schemas.openxmlformats.org/drawingml/2006/main">
            <a:r>
              <a:t>```</a:t>
            </a:r>
          </a:p>
          <a:p xmlns:a="http://schemas.openxmlformats.org/drawingml/2006/main">
            <a:r>
              <a:t>Los archivos de requisitos son la referencia de versiones. Usar siempre `python -m pip` del entorno activo, sin `sudo pip`. Cualquier biblioteca adicional que el docente autorice se instala en este mismo entorno y se registra en el archivo de requisitos correspondiente.</a:t>
            </a:r>
          </a:p>
          <a:p xmlns:a="http://schemas.openxmlformats.org/drawingml/2006/main">
            <a:r>
              <a:t>Comprobación de importaciones:</a:t>
            </a:r>
          </a:p>
          <a:p xmlns:a="http://schemas.openxmlformats.org/drawingml/2006/main">
            <a:r>
              <a:t>```bash</a:t>
            </a:r>
          </a:p>
          <a:p xmlns:a="http://schemas.openxmlformats.org/drawingml/2006/main">
            <a:r>
              <a:t>python -c "import pandas, numpy, pyarrow, duckdb, polars, rasterio, shapely, pyproj; print('Bibliotecas disponibles')"</a:t>
            </a:r>
          </a:p>
          <a:p xmlns:a="http://schemas.openxmlformats.org/drawingml/2006/main">
            <a:r>
              <a:t>python -c "import duckdb; print(duckdb.sql('SELECT 2 + 2').fetchone())"</a:t>
            </a:r>
          </a:p>
          <a:p xmlns:a="http://schemas.openxmlformats.org/drawingml/2006/main">
            <a:r>
              <a:t>```</a:t>
            </a:r>
          </a:p>
          <a:p xmlns:a="http://schemas.openxmlformats.org/drawingml/2006/main">
            <a:r>
              <a:t>La consulta debe devolver `(4,)`.</a:t>
            </a:r>
          </a:p>
          <a:p xmlns:a="http://schemas.openxmlformats.org/drawingml/2006/main">
            <a:r>
              <a:t>## 5. Configurar Java y Spark</a:t>
            </a:r>
          </a:p>
          <a:p xmlns:a="http://schemas.openxmlformats.org/drawingml/2006/main">
            <a:r>
              <a:t>El paquete `openjdk-21-jdk` del paso 2 incluye `java` y `javac`. Guardar la configuración en un archivo del usuario y cargarlo desde Bash:</a:t>
            </a:r>
          </a:p>
          <a:p xmlns:a="http://schemas.openxmlformats.org/drawingml/2006/main">
            <a:r>
              <a:t>```bash</a:t>
            </a:r>
          </a:p>
          <a:p xmlns:a="http://schemas.openxmlformats.org/drawingml/2006/main">
            <a:r>
              <a:t>mkdir -p "$HOME/.config/bigdata"</a:t>
            </a:r>
          </a:p>
          <a:p xmlns:a="http://schemas.openxmlformats.org/drawingml/2006/main">
            <a:r>
              <a:t>cat &gt; "$HOME/.config/bigdata/entorno.sh" &lt;&lt;'ENV'</a:t>
            </a:r>
          </a:p>
          <a:p xmlns:a="http://schemas.openxmlformats.org/drawingml/2006/main">
            <a:r>
              <a:t>export JAVA_HOME="$(dirname "$(dirname "$(readlink -f /usr/bin/javac)")")"</a:t>
            </a:r>
          </a:p>
          <a:p xmlns:a="http://schemas.openxmlformats.org/drawingml/2006/main">
            <a:r>
              <a:t>export PATH="$JAVA_HOME/bin:$PATH"</a:t>
            </a:r>
          </a:p>
          <a:p xmlns:a="http://schemas.openxmlformats.org/drawingml/2006/main">
            <a:r>
              <a:t>ENV</a:t>
            </a:r>
          </a:p>
          <a:p xmlns:a="http://schemas.openxmlformats.org/drawingml/2006/main">
            <a:r>
              <a:t>grep -qxF 'source "$HOME/.config/bigdata/entorno.sh"' "$HOME/.bashrc" || echo 'source "$HOME/.config/bigdata/entorno.sh"' &gt;&gt; "$HOME/.bashrc"</a:t>
            </a:r>
          </a:p>
          <a:p xmlns:a="http://schemas.openxmlformats.org/drawingml/2006/main">
            <a:r>
              <a:t>source "$HOME/.config/bigdata/entorno.sh"</a:t>
            </a:r>
          </a:p>
          <a:p xmlns:a="http://schemas.openxmlformats.org/drawingml/2006/main">
            <a:r>
              <a:t>java -version</a:t>
            </a:r>
          </a:p>
          <a:p xmlns:a="http://schemas.openxmlformats.org/drawingml/2006/main">
            <a:r>
              <a:t>javac -version</a:t>
            </a:r>
          </a:p>
          <a:p xmlns:a="http://schemas.openxmlformats.org/drawingml/2006/main">
            <a:r>
              <a:t>python -m pip install -r kit/requirements_spark.txt</a:t>
            </a:r>
          </a:p>
          <a:p xmlns:a="http://schemas.openxmlformats.org/drawingml/2006/main">
            <a:r>
              <a:t>python -m pip check</a:t>
            </a:r>
          </a:p>
          <a:p xmlns:a="http://schemas.openxmlformats.org/drawingml/2006/main">
            <a:r>
              <a:t>```</a:t>
            </a:r>
          </a:p>
          <a:p xmlns:a="http://schemas.openxmlformats.org/drawingml/2006/main">
            <a:r>
              <a:t>Prueba mínima, antes de procesar datos:</a:t>
            </a:r>
          </a:p>
          <a:p xmlns:a="http://schemas.openxmlformats.org/drawingml/2006/main">
            <a:r>
              <a:t>```bash</a:t>
            </a:r>
          </a:p>
          <a:p xmlns:a="http://schemas.openxmlformats.org/drawingml/2006/main">
            <a:r>
              <a:t>python - &lt;&lt;'PYSPARK'</a:t>
            </a:r>
          </a:p>
          <a:p xmlns:a="http://schemas.openxmlformats.org/drawingml/2006/main">
            <a:r>
              <a:t>from pyspark.sql import SparkSession</a:t>
            </a:r>
          </a:p>
          <a:p xmlns:a="http://schemas.openxmlformats.org/drawingml/2006/main">
            <a:r>
              <a:t>spark = SparkSession.builder.master("local[2]").appName("VerificacionWSL").getOrCreate()</a:t>
            </a:r>
          </a:p>
          <a:p xmlns:a="http://schemas.openxmlformats.org/drawingml/2006/main">
            <a:r>
              <a:t>assert spark.range(5).count() == 5</a:t>
            </a:r>
          </a:p>
          <a:p xmlns:a="http://schemas.openxmlformats.org/drawingml/2006/main">
            <a:r>
              <a:t>print("Spark local: correcto")</a:t>
            </a:r>
          </a:p>
          <a:p xmlns:a="http://schemas.openxmlformats.org/drawingml/2006/main">
            <a:r>
              <a:t>spark.stop()</a:t>
            </a:r>
          </a:p>
          <a:p xmlns:a="http://schemas.openxmlformats.org/drawingml/2006/main">
            <a:r>
              <a:t>PYSPARK</a:t>
            </a:r>
          </a:p>
          <a:p xmlns:a="http://schemas.openxmlformats.org/drawingml/2006/main">
            <a:r>
              <a:t>```</a:t>
            </a:r>
          </a:p>
          <a:p xmlns:a="http://schemas.openxmlformats.org/drawingml/2006/main">
            <a:r>
              <a:t>[Paquete JDK 21 para Ubuntu 26.04](https://packages.ubuntu.com/resolute/openjdk-21-jdk). Si `apt` no lo encuentra, comprobar que está habilitado el componente oficial `universe` de Ubuntu; no instalar un JDK de otra distribución.</a:t>
            </a:r>
          </a:p>
          <a:p xmlns:a="http://schemas.openxmlformats.org/drawingml/2006/main">
            <a:r>
              <a:t>Ejecutar los talleres E07/E11 después de preparar sus entradas; la prueba anterior solo comprueba el arranque. No instalar Java para Windows como sustituto del JDK de Ubuntu.</a:t>
            </a:r>
          </a:p>
          <a:p xmlns:a="http://schemas.openxmlformats.org/drawingml/2006/main">
            <a:r>
              <a:t>## 6. Abrir Jupyter y ejecutar la primera práctica</a:t>
            </a:r>
          </a:p>
          <a:p xmlns:a="http://schemas.openxmlformats.org/drawingml/2006/main">
            <a:r>
              <a:t>En Ubuntu, con el entorno activo:</a:t>
            </a:r>
          </a:p>
          <a:p xmlns:a="http://schemas.openxmlformats.org/drawingml/2006/main">
            <a:r>
              <a:t>```bash</a:t>
            </a:r>
          </a:p>
          <a:p xmlns:a="http://schemas.openxmlformats.org/drawingml/2006/main">
            <a:r>
              <a:t>cd /mnt/c/Users/TUPTC/bigdata</a:t>
            </a:r>
          </a:p>
          <a:p xmlns:a="http://schemas.openxmlformats.org/drawingml/2006/main">
            <a:r>
              <a:t>cd big-data-postgraduate/kit</a:t>
            </a:r>
          </a:p>
          <a:p xmlns:a="http://schemas.openxmlformats.org/drawingml/2006/main">
            <a:r>
              <a:t>python pqrs_talleres.py perfil</a:t>
            </a:r>
          </a:p>
          <a:p xmlns:a="http://schemas.openxmlformats.org/drawingml/2006/main">
            <a:r>
              <a:t>python -m jupyter lab --no-browser --ip=127.0.0.1</a:t>
            </a:r>
          </a:p>
          <a:p xmlns:a="http://schemas.openxmlformats.org/drawingml/2006/main">
            <a:r>
              <a:t>```</a:t>
            </a:r>
          </a:p>
          <a:p xmlns:a="http://schemas.openxmlformats.org/drawingml/2006/main">
            <a:r>
              <a:t>Copiar en el navegador de Windows la URL `http://localhost:8888/lab?token=...` que muestre Jupyter, usando el puerto y token reales. Abrir `Notebooks/01_Perfil_PQRS.ipynb` y seleccionar **BigData · WSL Ubuntu 26.04 · Python 3.12**. El navegador se abre en Windows, pero el kernel ejecuta en Ubuntu. Detener Jupyter con `Ctrl+C` al terminar. [Acceso desde Windows mediante localhost](https://learn.microsoft.com/en-us/windows/wsl/networking).</a:t>
            </a:r>
          </a:p>
          <a:p xmlns:a="http://schemas.openxmlformats.org/drawingml/2006/main">
            <a:r>
              <a:t>Las tres muestras PQRS ya están en el clon. NASA, los archivos agroambientales y los completos PQRS requieren las descargas de [la guía de datos](entorno.md); no iniciar el notebook de eventos hasta disponer de `kit/data/raw/nasa.json`.</a:t>
            </a:r>
          </a:p>
          <a:p xmlns:a="http://schemas.openxmlformats.org/drawingml/2006/main">
            <a:r>
              <a:t>## 7. QGIS para la actividad de mapas</a:t>
            </a:r>
          </a:p>
          <a:p xmlns:a="http://schemas.openxmlformats.org/drawingml/2006/main">
            <a:r>
              <a:t>QGIS es una aplicación de Ubuntu independiente del virtualenv. Para la práctica visual, desde la misma distribución:</a:t>
            </a:r>
          </a:p>
          <a:p xmlns:a="http://schemas.openxmlformats.org/drawingml/2006/main">
            <a:r>
              <a:t>```bash</a:t>
            </a:r>
          </a:p>
          <a:p xmlns:a="http://schemas.openxmlformats.org/drawingml/2006/main">
            <a:r>
              <a:t>sudo apt update</a:t>
            </a:r>
          </a:p>
          <a:p xmlns:a="http://schemas.openxmlformats.org/drawingml/2006/main">
            <a:r>
              <a:t>sudo apt install -y qgis</a:t>
            </a:r>
          </a:p>
          <a:p xmlns:a="http://schemas.openxmlformats.org/drawingml/2006/main">
            <a:r>
              <a:t>qgis --version</a:t>
            </a:r>
          </a:p>
          <a:p xmlns:a="http://schemas.openxmlformats.org/drawingml/2006/main">
            <a:r>
              <a:t>qgis</a:t>
            </a:r>
          </a:p>
          <a:p xmlns:a="http://schemas.openxmlformats.org/drawingml/2006/main">
            <a:r>
              <a:t>```</a:t>
            </a:r>
          </a:p>
          <a:p xmlns:a="http://schemas.openxmlformats.org/drawingml/2006/main">
            <a:r>
              <a:t>La ventana usa WSLg. Requiere WSL 2 y soporte de aplicaciones gráficas (Windows 11 o Windows 10 build 19044 o posterior). Si el paquete no aparece, revisar los repositorios habilitados de Ubuntu y consultar al docente antes de agregar repositorios de otra versión. Las bibliotecas Python del curso permanecen en `.venv`; no instalar QGIS mediante pip.</a:t>
            </a:r>
          </a:p>
          <a:p xmlns:a="http://schemas.openxmlformats.org/drawingml/2006/main">
            <a:r>
              <a:t>[Aplicaciones gráficas Linux con WSLg](https://learn.microsoft.com/en-us/windows/wsl/tutorials/gui-apps) · [Paquete QGIS de Ubuntu 26.04](https://packages.ubuntu.com/en/resolute/qgis).</a:t>
            </a:r>
          </a:p>
          <a:p xmlns:a="http://schemas.openxmlformats.org/drawingml/2006/main">
            <a:r>
              <a:t>## 8. Retomar el trabajo en otra sesión</a:t>
            </a:r>
          </a:p>
          <a:p xmlns:a="http://schemas.openxmlformats.org/drawingml/2006/main">
            <a:r>
              <a:t>En PowerShell:</a:t>
            </a:r>
          </a:p>
          <a:p xmlns:a="http://schemas.openxmlformats.org/drawingml/2006/main">
            <a:r>
              <a:t>```powershell</a:t>
            </a:r>
          </a:p>
          <a:p xmlns:a="http://schemas.openxmlformats.org/drawingml/2006/main">
            <a:r>
              <a:t>wsl --distribution Ubuntu-26.04</a:t>
            </a:r>
          </a:p>
          <a:p xmlns:a="http://schemas.openxmlformats.org/drawingml/2006/main">
            <a:r>
              <a:t>```</a:t>
            </a:r>
          </a:p>
          <a:p xmlns:a="http://schemas.openxmlformats.org/drawingml/2006/main">
            <a:r>
              <a:t>En Ubuntu:</a:t>
            </a:r>
          </a:p>
          <a:p xmlns:a="http://schemas.openxmlformats.org/drawingml/2006/main">
            <a:r>
              <a:t>```bash</a:t>
            </a:r>
          </a:p>
          <a:p xmlns:a="http://schemas.openxmlformats.org/drawingml/2006/main">
            <a:r>
              <a:t>cd /mnt/c/Users/TUPTC/bigdata</a:t>
            </a:r>
          </a:p>
          <a:p xmlns:a="http://schemas.openxmlformats.org/drawingml/2006/main">
            <a:r>
              <a:t>cd big-data-postgraduate</a:t>
            </a:r>
          </a:p>
          <a:p xmlns:a="http://schemas.openxmlformats.org/drawingml/2006/main">
            <a:r>
              <a:t>source .venv/bin/activate</a:t>
            </a:r>
          </a:p>
          <a:p xmlns:a="http://schemas.openxmlformats.org/drawingml/2006/main">
            <a:r>
              <a:t>source "$HOME/.config/bigdata/entorno.sh"</a:t>
            </a:r>
          </a:p>
          <a:p xmlns:a="http://schemas.openxmlformats.org/drawingml/2006/main">
            <a:r>
              <a:t>git status --short</a:t>
            </a:r>
          </a:p>
          <a:p xmlns:a="http://schemas.openxmlformats.org/drawingml/2006/main">
            <a:r>
              <a:t># Si no hay cambios locales pendientes:</a:t>
            </a:r>
          </a:p>
          <a:p xmlns:a="http://schemas.openxmlformats.org/drawingml/2006/main">
            <a:r>
              <a:t>git switch main</a:t>
            </a:r>
          </a:p>
          <a:p xmlns:a="http://schemas.openxmlformats.org/drawingml/2006/main">
            <a:r>
              <a:t>git pull --ff-only origin main</a:t>
            </a:r>
          </a:p>
          <a:p xmlns:a="http://schemas.openxmlformats.org/drawingml/2006/main">
            <a:r>
              <a:t>cd kit</a:t>
            </a:r>
          </a:p>
          <a:p xmlns:a="http://schemas.openxmlformats.org/drawingml/2006/main">
            <a:r>
              <a:t>python -m jupyter lab --no-browser --ip=127.0.0.1</a:t>
            </a:r>
          </a:p>
          <a:p xmlns:a="http://schemas.openxmlformats.org/drawingml/2006/main">
            <a:r>
              <a:t>```</a:t>
            </a:r>
          </a:p>
          <a:p xmlns:a="http://schemas.openxmlformats.org/drawingml/2006/main">
            <a:r>
              <a:t>Para abrir los archivos en el Explorador de Windows desde Ubuntu: `explorer.exe .`. Para copiar un ZIP descargado en Windows, usar la ruta `/mnt/c/Users/TUPTC/Downloads/archivo.zip` y colocarlo en `kit/data/raw/`; sustituir el nombre del archivo por el descargado.</a:t>
            </a:r>
          </a:p>
          <a:p xmlns:a="http://schemas.openxmlformats.org/drawingml/2006/main">
            <a:r>
              <a:t>## Recursos y problemas frecuentes</a:t>
            </a:r>
          </a:p>
          <a:p xmlns:a="http://schemas.openxmlformats.org/drawingml/2006/main">
            <a:r>
              <a:t>- Planificar 16 GB de RAM y 20 GB libres para entorno y datos; las cifras son presupuesto, no una medición de instalación. Con 8 GB trabajar primero con muestras y cerrar aplicaciones pesadas.</a:t>
            </a:r>
          </a:p>
          <a:p xmlns:a="http://schemas.openxmlformats.org/drawingml/2006/main">
            <a:r>
              <a:t>- `python` debe apuntar a `.venv/bin/python`; si muestra una ruta Windows o Python 3.14, activar de nuevo el entorno dentro de Ubuntu.</a:t>
            </a:r>
          </a:p>
          <a:p xmlns:a="http://schemas.openxmlformats.org/drawingml/2006/main">
            <a:r>
              <a:t>- Si falta una biblioteca, usar `python -m pip` en ese mismo entorno. No copiar virtualenvs de Windows o de otro sistema.</a:t>
            </a:r>
          </a:p>
          <a:p xmlns:a="http://schemas.openxmlformats.org/drawingml/2006/main">
            <a:r>
              <a:t>- Si Spark no arranca, comprobar `java`, `javac` y `JAVA_HOME` dentro de Ubuntu. Reiniciar el kernel después de cambiar variables de entorno.</a:t>
            </a:r>
          </a:p>
          <a:p xmlns:a="http://schemas.openxmlformats.org/drawingml/2006/main">
            <a:r>
              <a:t>- Si Ubuntu-26.04 no inicia por virtualización, revisar los requisitos WSL de Microsoft y habilitar virtualización del equipo según el fabricante.</a:t>
            </a:r>
          </a:p>
          <a:p xmlns:a="http://schemas.openxmlformats.org/drawingml/2006/main">
            <a:r>
              <a:t>La guía se contrastó con documentación oficial; **la instalación completa en un equipo Windows con Ubuntu-26.04 está pendiente de prueba**. Las validaciones previas de los ejercicios en macOS no certifican este entorno nuevo.</a:t>
            </a:r>
          </a:p>
          <a:p xmlns:a="http://schemas.openxmlformats.org/drawingml/2006/main">
            <a:r>
              <a:t>## Estructura de referencia</a:t>
            </a:r>
          </a:p>
          <a:p xmlns:a="http://schemas.openxmlformats.org/drawingml/2006/main">
            <a:r>
              <a:t>```text</a:t>
            </a:r>
          </a:p>
          <a:p xmlns:a="http://schemas.openxmlformats.org/drawingml/2006/main">
            <a:r>
              <a:t>/mnt/c/Users/TUPTC/bigdata/          # carpeta base</a:t>
            </a:r>
          </a:p>
          <a:p xmlns:a="http://schemas.openxmlformats.org/drawingml/2006/main">
            <a:r>
              <a:t>└── big-data-postgraduate/          # clon de main</a:t>
            </a:r>
          </a:p>
          <a:p xmlns:a="http://schemas.openxmlformats.org/drawingml/2006/main">
            <a:r>
              <a:t>    ├── .venv/                     # entorno de Ubuntu</a:t>
            </a:r>
          </a:p>
          <a:p xmlns:a="http://schemas.openxmlformats.org/drawingml/2006/main">
            <a:r>
              <a:t>    └── kit/</a:t>
            </a:r>
          </a:p>
          <a:p xmlns:a="http://schemas.openxmlformats.org/drawingml/2006/main">
            <a:r>
              <a:t>        ├── Notebooks/</a:t>
            </a:r>
          </a:p>
          <a:p xmlns:a="http://schemas.openxmlformats.org/drawingml/2006/main">
            <a:r>
              <a:t>        ├── data/</a:t>
            </a:r>
          </a:p>
          <a:p xmlns:a="http://schemas.openxmlformats.org/drawingml/2006/main">
            <a:r>
              <a:t>        └── salidas/</a:t>
            </a:r>
          </a:p>
          <a:p xmlns:a="http://schemas.openxmlformats.org/drawingml/2006/main">
            <a:r>
              <a:t>```</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ya existe el clon, entrar en él. No volver a clonar. La rama esperada es main. Preparar antes WSL2, Ubuntu-26.04 y los paquetes de la sección 2 de big-data-postgraduate/docs/instalacion-wsl.md</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mantiene Python 3.12 para las dependencias fijadas. No reemplazar el Python del sistema.</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Esperar Python 3.12.x y ejecutable bajo big-data-postgraduate/.venv. Fuente: big-data-postgraduate/docs/instalacion-wsl.md sección 3.</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 también las importaciones indicadas en la sección 4 de big-data-postgraduate/docs/instalacion-wsl.md</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Copiar la URL y token reales de la terminal al navegador de Windows. El kernel ejecuta en Ubuntu. Ctrl+C detiene Jupyter. QGIS se instala aparte en Ubuntu según sección 7 de big-data-postgraduate/docs/instalacion-wsl.md</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S1:19; S2:14; S3:6–8,14.</a:t>
            </a:r>
          </a:p>
          <a:p xmlns:a="http://schemas.openxmlformats.org/drawingml/2006/main">
            <a:r>
              <a:t>Fuente: Superintendencia Nacional de Salud, catálogo ArcGIS público, consulta y descarga 2026-10-02. Se entregan tres CSV originales: 2023-II, 2024-I y 2024-II. 2444766 filas en total; 1.816.243.049 bytes. Manifiesto, hashes SHA-256, columnas y vacíos por archivo en Datos_PQRS/manifiesto.json. Separador coma en 2024-I; punto y coma en 2023-II y 2024-II. UTF-8; lector utf-8-sig admite BOM. Campos reales: periodo (año), mes, afec_cod_depto, ent_nombre y afec_edad. Conservar códigos como texto. Supersalud advierte inconsistencias de captura en género, rango de edad y educación. Las clasificaciones de motivos y riesgo cambiaron en julio de 2023 y no son homologables con las anteriores. Los tres cortes seleccionados son posteriores al cambio. No equivalen a prevalencia de enfermedad. Cada archivo tiene su URL de descarga en el manifiesto. Licencia CC BY 4.0. Las muestras de 1000 filas son las primeras filas para probar lectura, no muestras estadísticas representativas.</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verificación completa requiere los tres cortes. Datos_PQRS, junto a las presentaciones, es una copia docente externa: no es una carpeta del clon. Fuente: docs/entorno.md, talleres/P01.md.</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Descargar y verificar</a:t>
            </a:r>
          </a:p>
          <a:p xmlns:a="http://schemas.openxmlformats.org/drawingml/2006/main">
            <a:r>
              <a:t>python 00_datos.py --listar</a:t>
            </a:r>
          </a:p>
          <a:p xmlns:a="http://schemas.openxmlformats.org/drawingml/2006/main">
            <a:r>
              <a:t>python 00_datos.py --descargar divipola</a:t>
            </a:r>
          </a:p>
          <a:p xmlns:a="http://schemas.openxmlformats.org/drawingml/2006/main">
            <a:r>
              <a:t>python 00_datos.py --verificar</a:t>
            </a:r>
          </a:p>
          <a:p xmlns:a="http://schemas.openxmlformats.org/drawingml/2006/main">
            <a:r>
              <a:t>Los enlaces y hashes se conservan en fuentes.json.</a:t>
            </a:r>
          </a:p>
          <a:p xmlns:a="http://schemas.openxmlformats.org/drawingml/2006/main">
            <a:r>
              <a:t>Big Data · caso agroambiental · Sesión 2</a:t>
            </a:r>
          </a:p>
          <a:p xmlns:a="http://schemas.openxmlformats.org/drawingml/2006/main">
            <a:r>
              <a:t>10</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A source cloud sends one blue file to a local folder, then a magnifying glass checks a fingerprint emblem on the file, then a turquoise shield checkmark permits storage in a violet archive. Flow left to right, exactly four distinct stages. NO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Contingencia de descarga</a:t>
            </a:r>
          </a:p>
          <a:p xmlns:a="http://schemas.openxmlformats.org/drawingml/2006/main">
            <a:r>
              <a:t>Servicio disponible</a:t>
            </a:r>
          </a:p>
          <a:p xmlns:a="http://schemas.openxmlformats.org/drawingml/2006/main">
            <a:r>
              <a:t>Comprobar archivo, contenido, tamaño y hash; un HTTP 200 no basta.</a:t>
            </a:r>
          </a:p>
          <a:p xmlns:a="http://schemas.openxmlformats.org/drawingml/2006/main">
            <a:r>
              <a:t>Servicio interrumpido</a:t>
            </a:r>
          </a:p>
          <a:p xmlns:a="http://schemas.openxmlformats.org/drawingml/2006/main">
            <a:r>
              <a:t>Copiar data/raw del respaldo docente y verificar los 12 archivos.</a:t>
            </a:r>
          </a:p>
          <a:p xmlns:a="http://schemas.openxmlformats.org/drawingml/2006/main">
            <a:r>
              <a:t>Big Data · caso agroambiental · Sesión 2</a:t>
            </a:r>
          </a:p>
          <a:p xmlns:a="http://schemas.openxmlformats.org/drawingml/2006/main">
            <a:r>
              <a:t>11</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 laptop at bottom receives a data file by two alternative routes: left route from a cloud with coral interruption cross; right route from an external backup drive with a turquoise check. Both routes converge on a fingerprint inspection gate BEFORE the laptop. Keep arrow directions correct. No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Taller: big-data-postgraduate/talleres/E02.md.</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 E02 Descarga y perfil inicial</a:t>
            </a:r>
          </a:p>
          <a:p xmlns:a="http://schemas.openxmlformats.org/drawingml/2006/main">
            <a:r>
              <a:t>Sesión 2. Trabajo activo orientativo: 90 minutos, integrado con demostración y discusión según la agenda.</a:t>
            </a:r>
          </a:p>
          <a:p xmlns:a="http://schemas.openxmlformats.org/drawingml/2006/main">
            <a:r>
              <a:t>## Propósito</a:t>
            </a:r>
          </a:p>
          <a:p xmlns:a="http://schemas.openxmlformats.org/drawingml/2006/main">
            <a:r>
              <a:t>Adquirir datos verificables y localizar problemas antes de transformar.</a:t>
            </a:r>
          </a:p>
          <a:p xmlns:a="http://schemas.openxmlformats.org/drawingml/2006/main">
            <a:r>
              <a:t>## Datos y descarga</a:t>
            </a:r>
          </a:p>
          <a:p xmlns:a="http://schemas.openxmlformats.org/drawingml/2006/main">
            <a:r>
              <a:t>D01 AGROSAVIA: agrosavia.csv, 20.380 MB, completo.</a:t>
            </a:r>
          </a:p>
          <a:p xmlns:a="http://schemas.openxmlformats.org/drawingml/2006/main">
            <a:r>
              <a:t>D05 EVA UPRA 2019 a 2025: eva.csv, 27.490 MB, completo.</a:t>
            </a:r>
          </a:p>
          <a:p xmlns:a="http://schemas.openxmlformats.org/drawingml/2006/main">
            <a:r>
              <a:t>D02 DIVIPOLA: divipola.csv, 0.071 MB, completo.</a:t>
            </a:r>
          </a:p>
          <a:p xmlns:a="http://schemas.openxmlformats.org/drawingml/2006/main">
            <a:r>
              <a:t>Con el kit completo ejecutar --verificar. Para obtener una nueva copia utilizar la ruta B del capítulo de descarga y los IDs indicados abajo. Los shapes DANE se descargan por navegador. Todas las URLs están en el catálogo y en fuentes.json.</a:t>
            </a:r>
          </a:p>
          <a:p xmlns:a="http://schemas.openxmlformats.org/drawingml/2006/main">
            <a:r>
              <a:t>```</a:t>
            </a:r>
          </a:p>
          <a:p xmlns:a="http://schemas.openxmlformats.org/drawingml/2006/main">
            <a:r>
              <a:t>python 00_datos.py --descargar agrosavia eva divipola</a:t>
            </a:r>
          </a:p>
          <a:p xmlns:a="http://schemas.openxmlformats.org/drawingml/2006/main">
            <a:r>
              <a:t>```</a:t>
            </a:r>
          </a:p>
          <a:p xmlns:a="http://schemas.openxmlformats.org/drawingml/2006/main">
            <a:r>
              <a:t>## Instrucciones</a:t>
            </a:r>
          </a:p>
          <a:p xmlns:a="http://schemas.openxmlformats.org/drawingml/2006/main">
            <a:r>
              <a:t>1. Activar el entorno según el capítulo de preparación. Verificar la copia docente antes de iniciar cualquier nueva descarga.</a:t>
            </a:r>
          </a:p>
          <a:p xmlns:a="http://schemas.openxmlformats.org/drawingml/2006/main">
            <a:r>
              <a:t>2. En una carpeta separada copiar 00_datos.py y fuentes.json y descargar DIVIPOLA. Comparar hash y tamaño con el respaldo.</a:t>
            </a:r>
          </a:p>
          <a:p xmlns:a="http://schemas.openxmlformats.org/drawingml/2006/main">
            <a:r>
              <a:t>3. Consultar AGROSAVIA y EVA con los comandos de descarga. Si ya están presentes, explicar por qué el script los conserva.</a:t>
            </a:r>
          </a:p>
          <a:p xmlns:a="http://schemas.openxmlformats.org/drawingml/2006/main">
            <a:r>
              <a:t>4. Ejecutar perfil; abrir perfil.csv y comparar vacíos, ND y valores distintos. Leer las fechas como texto antes de elegir el formato.</a:t>
            </a:r>
          </a:p>
          <a:p xmlns:a="http://schemas.openxmlformats.org/drawingml/2006/main">
            <a:r>
              <a:t>5. Seleccionar cinco variables de suelo y documentar nombre original, significado, unidad pendiente de verificar, dominio y marcador de ausencia.</a:t>
            </a:r>
          </a:p>
          <a:p xmlns:a="http://schemas.openxmlformats.org/drawingml/2006/main">
            <a:r>
              <a:t>## Ejecución</a:t>
            </a:r>
          </a:p>
          <a:p xmlns:a="http://schemas.openxmlformats.org/drawingml/2006/main">
            <a:r>
              <a:t>```</a:t>
            </a:r>
          </a:p>
          <a:p xmlns:a="http://schemas.openxmlformats.org/drawingml/2006/main">
            <a:r>
              <a:t>python 00_datos.py --verificar</a:t>
            </a:r>
          </a:p>
          <a:p xmlns:a="http://schemas.openxmlformats.org/drawingml/2006/main">
            <a:r>
              <a:t>python talleres.py perfil</a:t>
            </a:r>
          </a:p>
          <a:p xmlns:a="http://schemas.openxmlformats.org/drawingml/2006/main">
            <a:r>
              <a:t>```</a:t>
            </a:r>
          </a:p>
          <a:p xmlns:a="http://schemas.openxmlformats.org/drawingml/2006/main">
            <a:r>
              <a:t>## Entrega y criterios</a:t>
            </a:r>
          </a:p>
          <a:p xmlns:a="http://schemas.openxmlformats.org/drawingml/2006/main">
            <a:r>
              <a:t>Controles de entrada: 92.738 filas AGROSAVIA, 166.732 EVA y 1.122 DIVIPOLA. perfil.csv contiene 57 filas, una por columna de los tres archivos.</a:t>
            </a:r>
          </a:p>
          <a:p xmlns:a="http://schemas.openxmlformats.org/drawingml/2006/main">
            <a:r>
              <a:t>## Advertencia de interpretación</a:t>
            </a:r>
          </a:p>
          <a:p xmlns:a="http://schemas.openxmlformats.org/drawingml/2006/main">
            <a:r>
              <a:t>Un CSV pequeño en disco puede ocupar varias veces su tamaño en memoria. No abrir los 166.732 registros en una tabla de diapositivas. ND no significa cero.</a:t>
            </a:r>
          </a:p>
          <a:p xmlns:a="http://schemas.openxmlformats.org/drawingml/2006/main">
            <a:r>
              <a:t>## Ampliación dentro del bloque</a:t>
            </a:r>
          </a:p>
          <a:p xmlns:a="http://schemas.openxmlformats.org/drawingml/2006/main">
            <a:r>
              <a:t>Detectar qué campos exigirían una tabla de métodos analíticos para comparaciones científicas.</a:t>
            </a:r>
          </a:p>
          <a:p xmlns:a="http://schemas.openxmlformats.org/drawingml/2006/main">
            <a:r>
              <a:t>[Índice del curso](../README.md) · [Catálogo de datos](../docs/datasets.md) · [Descarga y entorno](../docs/entorno.md) · [Manifiesto](../kit/fuentes.json).</a:t>
            </a:r>
          </a:p>
          <a:p xmlns:a="http://schemas.openxmlformats.org/drawingml/2006/main">
            <a:r>
              <a:t>Ejecutar comandos de terminal desde `kit/`; los fragmentos que contienen `import`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Perfil sin perder marcadores</a:t>
            </a:r>
          </a:p>
          <a:p xmlns:a="http://schemas.openxmlformats.org/drawingml/2006/main">
            <a:r>
              <a:t>python talleres.py perfil</a:t>
            </a:r>
          </a:p>
          <a:p xmlns:a="http://schemas.openxmlformats.org/drawingml/2006/main">
            <a:r>
              <a:t>import pandas as pd</a:t>
            </a:r>
          </a:p>
          <a:p xmlns:a="http://schemas.openxmlformats.org/drawingml/2006/main">
            <a:r>
              <a:t>df = pd.read_csv("data/raw/agrosavia.csv",</a:t>
            </a:r>
          </a:p>
          <a:p xmlns:a="http://schemas.openxmlformats.org/drawingml/2006/main">
            <a:r>
              <a:t>                 dtype=str, keep_default_na=False)</a:t>
            </a:r>
          </a:p>
          <a:p xmlns:a="http://schemas.openxmlformats.org/drawingml/2006/main">
            <a:r>
              <a:t>print(df.shape)</a:t>
            </a:r>
          </a:p>
          <a:p xmlns:a="http://schemas.openxmlformats.org/drawingml/2006/main">
            <a:r>
              <a:t>print(df.isna().sum())</a:t>
            </a:r>
          </a:p>
          <a:p xmlns:a="http://schemas.openxmlformats.org/drawingml/2006/main">
            <a:r>
              <a:t>ND, vacío y cero tienen significados diferentes.</a:t>
            </a:r>
          </a:p>
          <a:p xmlns:a="http://schemas.openxmlformats.org/drawingml/2006/main">
            <a:r>
              <a:t>Big Data · caso agroambiental · Sesión 2</a:t>
            </a:r>
          </a:p>
          <a:p xmlns:a="http://schemas.openxmlformats.org/drawingml/2006/main">
            <a:r>
              <a:t>13</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A big tabular document being examined by a magnifying glass, with three clearly separate sample cells labeled 'ND', 'vacío', '0'. Mark the first two with amber question markers and zero with a violet numeric marker; never imply equivalence. Three tiny distribution bars and a ruler alongside, not real data. Only those three words on the drawing.</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keep_default_na=False conserva cadenas vacías y ND como texto. Contar explícitamente esos marcadores antes de normalizar. isna() solo mide valores que pandas reconoce como ausentes.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muestras de 1.000 filas y 38 columnas. Conservar cada medición antes de reejecutar porque la salida se reemplaza. Comparar filas y conteos. Las primeras filas no son una muestra aleatoria. Fuente: talleres/P01.md.</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S2:7–9; S3:8,10. Actual S2:13,16.</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S2:8–9. Actual S2:13–14.</a:t>
            </a:r>
          </a:p>
          <a:p xmlns:a="http://schemas.openxmlformats.org/drawingml/2006/main">
            <a:r>
              <a:t>No trasladar como mediciones actuales las barras de faltantes del material, porque no incluyen aquí un archivo de origen reproducible. El 10 % mostrado es un cálculo hipotético. La imputación exige supuestos sobre el mecanismo de ausencia.</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Identidad territorial</a:t>
            </a:r>
          </a:p>
          <a:p xmlns:a="http://schemas.openxmlformats.org/drawingml/2006/main">
            <a:r>
              <a:t>Código municipal</a:t>
            </a:r>
          </a:p>
          <a:p xmlns:a="http://schemas.openxmlformats.org/drawingml/2006/main">
            <a:r>
              <a:t>Texto de cinco caracteres. Mantener ceros iniciales y documentar vigencia.</a:t>
            </a:r>
          </a:p>
          <a:p xmlns:a="http://schemas.openxmlformats.org/drawingml/2006/main">
            <a:r>
              <a:t>Nombre municipal</a:t>
            </a:r>
          </a:p>
          <a:p xmlns:a="http://schemas.openxmlformats.org/drawingml/2006/main">
            <a:r>
              <a:t>Usar departamento + municipio. No asignar coincidencias aproximadas.</a:t>
            </a:r>
          </a:p>
          <a:p xmlns:a="http://schemas.openxmlformats.org/drawingml/2006/main">
            <a:r>
              <a:t>Big Data · caso agroambiental · Sesión 2</a:t>
            </a:r>
          </a:p>
          <a:p xmlns:a="http://schemas.openxmlformats.org/drawingml/2006/main">
            <a:r>
              <a:t>16</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Two identity cards side by side, one shows exactly '05001' with five separated handwritten digits, the other '5001' with a coral cross. Under first card a map pin and small calendar connected to it. Show importance of preserving leading zero and date validity. Only these two numeric texts, no other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Descargar shapes DANE</a:t>
            </a:r>
          </a:p>
          <a:p xmlns:a="http://schemas.openxmlformats.org/drawingml/2006/main">
            <a:r>
              <a:t>Catálogo oficial</a:t>
            </a:r>
          </a:p>
          <a:p xmlns:a="http://schemas.openxmlformats.org/drawingml/2006/main">
            <a:r>
              <a:t>Abrir el enlace del manual. Descargar MGN 2025 de municipios y departamentos.</a:t>
            </a:r>
          </a:p>
          <a:p xmlns:a="http://schemas.openxmlformats.org/drawingml/2006/main">
            <a:r>
              <a:t>Componentes del shape</a:t>
            </a:r>
          </a:p>
          <a:p xmlns:a="http://schemas.openxmlformats.org/drawingml/2006/main">
            <a:r>
              <a:t>Conservar SHP, SHX, DBF y PRJ juntos. Evitar el paquete nacional de todos los niveles.</a:t>
            </a:r>
          </a:p>
          <a:p xmlns:a="http://schemas.openxmlformats.org/drawingml/2006/main">
            <a:r>
              <a:t>Big Data · caso agroambiental · Sesión 2</a:t>
            </a:r>
          </a:p>
          <a:p xmlns:a="http://schemas.openxmlformats.org/drawingml/2006/main">
            <a:r>
              <a:t>18</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Four interlocking paper document puzzle pieces form a stylized map with boundaries. Each piece clearly labeled once, exactly: '.SHP', '.SHX', '.DBF', '.PRJ'. Distinguishable turquoise, violet, amber, coral corners. Shows the four companion files must remain together. No other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Taller: big-data-postgraduate/talleres/E03.md.</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 E03 Identidad territorial y vigencias</a:t>
            </a:r>
          </a:p>
          <a:p xmlns:a="http://schemas.openxmlformats.org/drawingml/2006/main">
            <a:r>
              <a:t>Sesión 2. Trabajo activo orientativo: 90 minutos, integrado con demostración y discusión según la agenda.</a:t>
            </a:r>
          </a:p>
          <a:p xmlns:a="http://schemas.openxmlformats.org/drawingml/2006/main">
            <a:r>
              <a:t>## Propósito</a:t>
            </a:r>
          </a:p>
          <a:p xmlns:a="http://schemas.openxmlformats.org/drawingml/2006/main">
            <a:r>
              <a:t>Construir una dimensión territorial confiable y evitar uniones ambiguas.</a:t>
            </a:r>
          </a:p>
          <a:p xmlns:a="http://schemas.openxmlformats.org/drawingml/2006/main">
            <a:r>
              <a:t>## Datos y descarga</a:t>
            </a:r>
          </a:p>
          <a:p xmlns:a="http://schemas.openxmlformats.org/drawingml/2006/main">
            <a:r>
              <a:t>D02 DIVIPOLA: divipola.csv, 0.071 MB, completo.</a:t>
            </a:r>
          </a:p>
          <a:p xmlns:a="http://schemas.openxmlformats.org/drawingml/2006/main">
            <a:r>
              <a:t>D04 MGN municipios 2025: dane_municipios.zip, 71.576 MB, completo.</a:t>
            </a:r>
          </a:p>
          <a:p xmlns:a="http://schemas.openxmlformats.org/drawingml/2006/main">
            <a:r>
              <a:t>D05 EVA UPRA 2019 a 2025: eva.csv, 27.490 MB, completo.</a:t>
            </a:r>
          </a:p>
          <a:p xmlns:a="http://schemas.openxmlformats.org/drawingml/2006/main">
            <a:r>
              <a:t>Con el kit completo ejecutar --verificar. Para obtener una nueva copia utilizar la ruta B del capítulo de descarga y los IDs indicados abajo. Los shapes DANE se descargan por navegador. Todas las URLs están en el catálogo y en fuentes.json.</a:t>
            </a:r>
          </a:p>
          <a:p xmlns:a="http://schemas.openxmlformats.org/drawingml/2006/main">
            <a:r>
              <a:t>```</a:t>
            </a:r>
          </a:p>
          <a:p xmlns:a="http://schemas.openxmlformats.org/drawingml/2006/main">
            <a:r>
              <a:t>python 00_datos.py --descargar divipola dane_municipios eva</a:t>
            </a:r>
          </a:p>
          <a:p xmlns:a="http://schemas.openxmlformats.org/drawingml/2006/main">
            <a:r>
              <a:t>```</a:t>
            </a:r>
          </a:p>
          <a:p xmlns:a="http://schemas.openxmlformats.org/drawingml/2006/main">
            <a:r>
              <a:t>## Instrucciones</a:t>
            </a:r>
          </a:p>
          <a:p xmlns:a="http://schemas.openxmlformats.org/drawingml/2006/main">
            <a:r>
              <a:t>1. Cargar DIVIPOLA con dtype=str y revisar que Código Municipio tenga cinco caracteres.</a:t>
            </a:r>
          </a:p>
          <a:p xmlns:a="http://schemas.openxmlformats.org/drawingml/2006/main">
            <a:r>
              <a:t>2. Contar los tipos de entidad: 1.103 municipios, 18 áreas no municipalizadas y una isla. Conservar esta clasificación.</a:t>
            </a:r>
          </a:p>
          <a:p xmlns:a="http://schemas.openxmlformats.org/drawingml/2006/main">
            <a:r>
              <a:t>3. Revisar en el shape la diferencia entre mpio_ccdgo (tres caracteres) y mpio_cdpmp (cinco). No extraer todos los niveles nacionales.</a:t>
            </a:r>
          </a:p>
          <a:p xmlns:a="http://schemas.openxmlformats.org/drawingml/2006/main">
            <a:r>
              <a:t>4. Comparar los códigos EVA con DIVIPOLA mediante anti-join. Usar código y año, y registrar que DIVIPOLA declara corte 2024 mientras el shape es 2025.</a:t>
            </a:r>
          </a:p>
          <a:p xmlns:a="http://schemas.openxmlformats.org/drawingml/2006/main">
            <a:r>
              <a:t>5. Proponer un procedimiento para municipios creados o segregados: tabla de equivalencias con vigencia y procedencia. No repartir áreas o producción sin evidencia.</a:t>
            </a:r>
          </a:p>
          <a:p xmlns:a="http://schemas.openxmlformats.org/drawingml/2006/main">
            <a:r>
              <a:t>## Ejecución</a:t>
            </a:r>
          </a:p>
          <a:p xmlns:a="http://schemas.openxmlformats.org/drawingml/2006/main">
            <a:r>
              <a:t>```</a:t>
            </a:r>
          </a:p>
          <a:p xmlns:a="http://schemas.openxmlformats.org/drawingml/2006/main">
            <a:r>
              <a:t>import pandas as pd</a:t>
            </a:r>
          </a:p>
          <a:p xmlns:a="http://schemas.openxmlformats.org/drawingml/2006/main">
            <a:r>
              <a:t>d = pd.read_csv('data/raw/divipola.csv', dtype=str)</a:t>
            </a:r>
          </a:p>
          <a:p xmlns:a="http://schemas.openxmlformats.org/drawingml/2006/main">
            <a:r>
              <a:t>c = d['Código Municipio'].str.zfill(5)</a:t>
            </a:r>
          </a:p>
          <a:p xmlns:a="http://schemas.openxmlformats.org/drawingml/2006/main">
            <a:r>
              <a:t>assert c.is_unique</a:t>
            </a:r>
          </a:p>
          <a:p xmlns:a="http://schemas.openxmlformats.org/drawingml/2006/main">
            <a:r>
              <a:t>print(c.str.len().value_counts())</a:t>
            </a:r>
          </a:p>
          <a:p xmlns:a="http://schemas.openxmlformats.org/drawingml/2006/main">
            <a:r>
              <a:t>```</a:t>
            </a:r>
          </a:p>
          <a:p xmlns:a="http://schemas.openxmlformats.org/drawingml/2006/main">
            <a:r>
              <a:t>## Entrega y criterios</a:t>
            </a:r>
          </a:p>
          <a:p xmlns:a="http://schemas.openxmlformats.org/drawingml/2006/main">
            <a:r>
              <a:t>Entregar dimensión propuesta, llave de unión y listado de códigos no encontrados. En el corte EVA suministrado el control posterior encuentra cero códigos ausentes en DIVIPOLA.</a:t>
            </a:r>
          </a:p>
          <a:p xmlns:a="http://schemas.openxmlformats.org/drawingml/2006/main">
            <a:r>
              <a:t>## Advertencia de interpretación</a:t>
            </a:r>
          </a:p>
          <a:p xmlns:a="http://schemas.openxmlformats.org/drawingml/2006/main">
            <a:r>
              <a:t>Cero códigos ausentes no prueba equivalencia histórica de límites. Las coordenadas de DIVIPOLA no georreferencian los análisis de AGROSAVIA.</a:t>
            </a:r>
          </a:p>
          <a:p xmlns:a="http://schemas.openxmlformats.org/drawingml/2006/main">
            <a:r>
              <a:t>## Ampliación dentro del bloque</a:t>
            </a:r>
          </a:p>
          <a:p xmlns:a="http://schemas.openxmlformats.org/drawingml/2006/main">
            <a:r>
              <a:t>Comparar nombres duplicados entre departamentos y explicar por qué el nombre municipal aislado no sirve como llave.</a:t>
            </a:r>
          </a:p>
          <a:p xmlns:a="http://schemas.openxmlformats.org/drawingml/2006/main">
            <a:r>
              <a:t>[Índice del curso](../README.md) · [Catálogo de datos](../docs/datasets.md) · [Descarga y entorno](../docs/entorno.md) · [Manifiesto](../kit/fuentes.json).</a:t>
            </a:r>
          </a:p>
          <a:p xmlns:a="http://schemas.openxmlformats.org/drawingml/2006/main">
            <a:r>
              <a:t>Ejecutar comandos de terminal desde `kit/`; los fragmentos que contienen `import`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[["08:00–08:45","Entorno, estructura y verificación del kit"],["08:45–09:30","P01: manifiesto PQRS y lectura de las muestras"],["09:30–09:45","Receso de la mañana"],["09:45–11:15","E02: descarga selectiva, SHA-256 y perfil tabular"],["11:15–12:00","Tipos, ausencias, unidades y discusión del perfil"],["12:00–13:00","Almuerzo"],["13:00–14:30","E03: DIVIPOLA y claves territoriales"],["14:30–15:00","P01: lectura por bloques y presupuesto de RAM"],["15:00–15:15","Receso de la tarde"],["15:15–16:00","Revisión por pares y faltantes territoriales"],["16:00–16:45","Ficha propia E01/T01, contrato inicial y diccionario de variables"],["16:45–17:00","Entrega y preparación del siguiente encuentro"]]</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399af763042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a4ac1523614cfe" /><Relationship Type="http://schemas.openxmlformats.org/officeDocument/2006/relationships/slideLayout" Target="/ppt/slideLayouts/slideLayout1.xml" Id="R44e11cb12fef4f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e11cb12fef4f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eef40240794137" /><Relationship Type="http://schemas.openxmlformats.org/officeDocument/2006/relationships/image" Target="/ppt/media/image.png" Id="Ra7f6671d8fab4b0e" /><Relationship Type="http://schemas.openxmlformats.org/officeDocument/2006/relationships/image" Target="/ppt/media/image2.png" Id="Rd865121c367b4b55" /><Relationship Type="http://schemas.openxmlformats.org/officeDocument/2006/relationships/notesSlide" Target="/ppt/notesSlides/notesSlide1.xml" Id="Re9c9da85a9b646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f46427fc0c4159" /><Relationship Type="http://schemas.openxmlformats.org/officeDocument/2006/relationships/image" Target="/ppt/media/image3.png" Id="R4d0afd4c48444a0d" /><Relationship Type="http://schemas.openxmlformats.org/officeDocument/2006/relationships/notesSlide" Target="/ppt/notesSlides/notesSlide2.xml" Id="R364d6f45d6324a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a7d4123db84163" /><Relationship Type="http://schemas.openxmlformats.org/officeDocument/2006/relationships/image" Target="/ppt/media/image4.png" Id="R153c0ef433cf4a63" /><Relationship Type="http://schemas.openxmlformats.org/officeDocument/2006/relationships/notesSlide" Target="/ppt/notesSlides/notesSlide3.xml" Id="R9176020dec9d4d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9e5a70c43845ae" /><Relationship Type="http://schemas.openxmlformats.org/officeDocument/2006/relationships/image" Target="/ppt/media/image5.png" Id="R99658db06b0441ec" /><Relationship Type="http://schemas.openxmlformats.org/officeDocument/2006/relationships/notesSlide" Target="/ppt/notesSlides/notesSlide4.xml" Id="R407698f0d94a48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0963d887ab46ea" /><Relationship Type="http://schemas.openxmlformats.org/officeDocument/2006/relationships/image" Target="/ppt/media/image6.png" Id="Red6a8b547ef94830" /><Relationship Type="http://schemas.openxmlformats.org/officeDocument/2006/relationships/image" Target="/ppt/media/image7.png" Id="R1c9d7fa29baa4239" /><Relationship Type="http://schemas.openxmlformats.org/officeDocument/2006/relationships/notesSlide" Target="/ppt/notesSlides/notesSlide5.xml" Id="R7fcb0819a3614e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33cdd6a7b84f18" /><Relationship Type="http://schemas.openxmlformats.org/officeDocument/2006/relationships/image" Target="/ppt/media/image8.png" Id="R6a07ec0ccca1486b" /><Relationship Type="http://schemas.openxmlformats.org/officeDocument/2006/relationships/image" Target="/ppt/media/image9.png" Id="Recdce706e2de4664" /><Relationship Type="http://schemas.openxmlformats.org/officeDocument/2006/relationships/notesSlide" Target="/ppt/notesSlides/notesSlide6.xml" Id="Rba908b2c02084c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e6b2ff33834311" /><Relationship Type="http://schemas.openxmlformats.org/officeDocument/2006/relationships/image" Target="/ppt/media/image10.png" Id="R9f667bcb4a304920" /><Relationship Type="http://schemas.openxmlformats.org/officeDocument/2006/relationships/image" Target="/ppt/media/image11.png" Id="Rea22c2dfd6f645b6" /><Relationship Type="http://schemas.openxmlformats.org/officeDocument/2006/relationships/notesSlide" Target="/ppt/notesSlides/notesSlide7.xml" Id="Rd020a0e1fd5b44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5a6028aaa141a4" /><Relationship Type="http://schemas.openxmlformats.org/officeDocument/2006/relationships/image" Target="/ppt/media/image12.png" Id="R9dbf0672df934bec" /><Relationship Type="http://schemas.openxmlformats.org/officeDocument/2006/relationships/notesSlide" Target="/ppt/notesSlides/notesSlide8.xml" Id="R30356880a1404c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fbb7b37d6e443d" /><Relationship Type="http://schemas.openxmlformats.org/officeDocument/2006/relationships/image" Target="/ppt/media/image13.png" Id="R7489cc8e650743d9" /><Relationship Type="http://schemas.openxmlformats.org/officeDocument/2006/relationships/notesSlide" Target="/ppt/notesSlides/notesSlide9.xml" Id="R0f84c1eae34c41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f75eebe3554c2e" /><Relationship Type="http://schemas.openxmlformats.org/officeDocument/2006/relationships/image" Target="/ppt/media/image14.png" Id="Re73b72406a5e4020" /><Relationship Type="http://schemas.openxmlformats.org/officeDocument/2006/relationships/notesSlide" Target="/ppt/notesSlides/notesSlide10.xml" Id="R6550c0ddc83e48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f3285410da450a" /><Relationship Type="http://schemas.openxmlformats.org/officeDocument/2006/relationships/image" Target="/ppt/media/image15.png" Id="R9e5b2b2afb144dd2" /><Relationship Type="http://schemas.openxmlformats.org/officeDocument/2006/relationships/notesSlide" Target="/ppt/notesSlides/notesSlide11.xml" Id="Rcfad1568cc564c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656c3604a0432c" /><Relationship Type="http://schemas.openxmlformats.org/officeDocument/2006/relationships/image" Target="/ppt/media/image16.png" Id="R1e09813ab1874817" /><Relationship Type="http://schemas.openxmlformats.org/officeDocument/2006/relationships/notesSlide" Target="/ppt/notesSlides/notesSlide12.xml" Id="Ree4390286deb45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dbb65fe770414e" /><Relationship Type="http://schemas.openxmlformats.org/officeDocument/2006/relationships/image" Target="/ppt/media/image17.png" Id="Rd3830b8d679647fb" /><Relationship Type="http://schemas.openxmlformats.org/officeDocument/2006/relationships/chart" Target="/ppt/slides/charts/chart1.xml" Id="R60d4513fb57c4163" /><Relationship Type="http://schemas.openxmlformats.org/officeDocument/2006/relationships/notesSlide" Target="/ppt/notesSlides/notesSlide13.xml" Id="R080854d1c84e47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37567952314796" /><Relationship Type="http://schemas.openxmlformats.org/officeDocument/2006/relationships/image" Target="/ppt/media/image18.png" Id="R495b49d67df04c09" /><Relationship Type="http://schemas.openxmlformats.org/officeDocument/2006/relationships/notesSlide" Target="/ppt/notesSlides/notesSlide14.xml" Id="R7945be24818f40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8312809c94474e" /><Relationship Type="http://schemas.openxmlformats.org/officeDocument/2006/relationships/image" Target="/ppt/media/image19.png" Id="Rd7ad6ea0c21b434b" /><Relationship Type="http://schemas.openxmlformats.org/officeDocument/2006/relationships/notesSlide" Target="/ppt/notesSlides/notesSlide15.xml" Id="R0fa3407b7d404e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9b20faa22a4eb0" /><Relationship Type="http://schemas.openxmlformats.org/officeDocument/2006/relationships/image" Target="/ppt/media/image20.png" Id="Re1bb55e5161c41b9" /><Relationship Type="http://schemas.openxmlformats.org/officeDocument/2006/relationships/notesSlide" Target="/ppt/notesSlides/notesSlide16.xml" Id="Rd143f46656bb4b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2fd515091814a70" /><Relationship Type="http://schemas.openxmlformats.org/officeDocument/2006/relationships/image" Target="/ppt/media/image21.png" Id="Ra335017c0842434c" /><Relationship Type="http://schemas.openxmlformats.org/officeDocument/2006/relationships/notesSlide" Target="/ppt/notesSlides/notesSlide17.xml" Id="R4b07206d44cb41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4259809fe949ed" /><Relationship Type="http://schemas.openxmlformats.org/officeDocument/2006/relationships/image" Target="/ppt/media/image22.png" Id="R864afeaa7cc4490c" /><Relationship Type="http://schemas.openxmlformats.org/officeDocument/2006/relationships/image" Target="/ppt/media/image23.png" Id="R8a5389a02f5f4901" /><Relationship Type="http://schemas.openxmlformats.org/officeDocument/2006/relationships/notesSlide" Target="/ppt/notesSlides/notesSlide18.xml" Id="R6b1a05bf9af74c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98eea5358a44bbc" /><Relationship Type="http://schemas.openxmlformats.org/officeDocument/2006/relationships/image" Target="/ppt/media/image24.png" Id="Rd37185dddb1241aa" /><Relationship Type="http://schemas.openxmlformats.org/officeDocument/2006/relationships/image" Target="/ppt/media/image25.png" Id="R011b4f0a93604e49" /><Relationship Type="http://schemas.openxmlformats.org/officeDocument/2006/relationships/notesSlide" Target="/ppt/notesSlides/notesSlide19.xml" Id="Rb2445e2be90a41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1d5b73e7ed401a" /><Relationship Type="http://schemas.openxmlformats.org/officeDocument/2006/relationships/image" Target="/ppt/media/image26.png" Id="Rccff697915354066" /><Relationship Type="http://schemas.openxmlformats.org/officeDocument/2006/relationships/notesSlide" Target="/ppt/notesSlides/notesSlide20.xml" Id="Re471351313354b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331d35c5b574472" /><Relationship Type="http://schemas.openxmlformats.org/officeDocument/2006/relationships/image" Target="/ppt/media/image27.png" Id="R13e896bd46ab4d77" /><Relationship Type="http://schemas.openxmlformats.org/officeDocument/2006/relationships/image" Target="/ppt/media/image28.png" Id="Rdcd9c33ed5d84775" /><Relationship Type="http://schemas.openxmlformats.org/officeDocument/2006/relationships/notesSlide" Target="/ppt/notesSlides/notesSlide21.xml" Id="R91af85a2f9014b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ae43efa4734d79" /><Relationship Type="http://schemas.openxmlformats.org/officeDocument/2006/relationships/image" Target="/ppt/media/image29.png" Id="Rba2528eac73c4cfd" /><Relationship Type="http://schemas.openxmlformats.org/officeDocument/2006/relationships/notesSlide" Target="/ppt/notesSlides/notesSlide22.xml" Id="R552ef2e703ec44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c451c15b5c44e01" /><Relationship Type="http://schemas.openxmlformats.org/officeDocument/2006/relationships/image" Target="/ppt/media/image30.png" Id="R4eda13daee9b4c16" /><Relationship Type="http://schemas.openxmlformats.org/officeDocument/2006/relationships/notesSlide" Target="/ppt/notesSlides/notesSlide23.xml" Id="Rd96c94b49be64a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2bdc9b5ac0c4720" /><Relationship Type="http://schemas.openxmlformats.org/officeDocument/2006/relationships/image" Target="/ppt/media/image31.png" Id="Rd96f6c0973c0427b" /><Relationship Type="http://schemas.openxmlformats.org/officeDocument/2006/relationships/chart" Target="/ppt/slides/charts/chart2.xml" Id="R230b44224096408c" /><Relationship Type="http://schemas.openxmlformats.org/officeDocument/2006/relationships/notesSlide" Target="/ppt/notesSlides/notesSlide24.xml" Id="R0e4b56ff185e4a1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a66b0b5bf824e20" /><Relationship Type="http://schemas.openxmlformats.org/officeDocument/2006/relationships/image" Target="/ppt/media/image32.png" Id="Raa35e87f071b4599" /><Relationship Type="http://schemas.openxmlformats.org/officeDocument/2006/relationships/notesSlide" Target="/ppt/notesSlides/notesSlide25.xml" Id="R15b74729c5f54ae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458621696994d7e" /><Relationship Type="http://schemas.openxmlformats.org/officeDocument/2006/relationships/image" Target="/ppt/media/image33.png" Id="Rb3f9360669db4578" /><Relationship Type="http://schemas.openxmlformats.org/officeDocument/2006/relationships/notesSlide" Target="/ppt/notesSlides/notesSlide26.xml" Id="R46175c1d951642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eaf59d7d4894e96" /><Relationship Type="http://schemas.openxmlformats.org/officeDocument/2006/relationships/image" Target="/ppt/media/image34.png" Id="R366dceebb48a4d3c" /><Relationship Type="http://schemas.openxmlformats.org/officeDocument/2006/relationships/image" Target="/ppt/media/image35.png" Id="Ra1c2e28f93344fba" /><Relationship Type="http://schemas.openxmlformats.org/officeDocument/2006/relationships/notesSlide" Target="/ppt/notesSlides/notesSlide27.xml" Id="Raf80940226ba4e4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23d9eda47542d7" /><Relationship Type="http://schemas.openxmlformats.org/officeDocument/2006/relationships/image" Target="/ppt/media/image36.png" Id="R0828c33e13d542f9" /><Relationship Type="http://schemas.openxmlformats.org/officeDocument/2006/relationships/notesSlide" Target="/ppt/notesSlides/notesSlide28.xml" Id="Rb048d99aba5343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7d293a551a74a55" /><Relationship Type="http://schemas.openxmlformats.org/officeDocument/2006/relationships/image" Target="/ppt/media/image37.png" Id="Rac3b15f8c0344fd0" /><Relationship Type="http://schemas.openxmlformats.org/officeDocument/2006/relationships/image" Target="/ppt/media/image38.png" Id="R641dfb6883394561" /><Relationship Type="http://schemas.openxmlformats.org/officeDocument/2006/relationships/notesSlide" Target="/ppt/notesSlides/notesSlide29.xml" Id="Rf4fbfa5be9234a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48a75d2f8834c70" /><Relationship Type="http://schemas.openxmlformats.org/officeDocument/2006/relationships/image" Target="/ppt/media/image39.png" Id="R6feaa5db300d4e7c" /><Relationship Type="http://schemas.openxmlformats.org/officeDocument/2006/relationships/notesSlide" Target="/ppt/notesSlides/notesSlide30.xml" Id="R35f0801f3c4a468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db68ec437bb452f" /><Relationship Type="http://schemas.openxmlformats.org/officeDocument/2006/relationships/image" Target="/ppt/media/image40.png" Id="R38dc9e6e1a1741a8" /><Relationship Type="http://schemas.openxmlformats.org/officeDocument/2006/relationships/notesSlide" Target="/ppt/notesSlides/notesSlide31.xml" Id="R1b941866a67a420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1df2cbaab154041" /><Relationship Type="http://schemas.openxmlformats.org/officeDocument/2006/relationships/image" Target="/ppt/media/image41.png" Id="Rbd7cbbc5ed2644c0" /><Relationship Type="http://schemas.openxmlformats.org/officeDocument/2006/relationships/notesSlide" Target="/ppt/notesSlides/notesSlide32.xml" Id="R57431eb27a214f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3d08e1232cc48ae" /><Relationship Type="http://schemas.openxmlformats.org/officeDocument/2006/relationships/image" Target="/ppt/media/image42.png" Id="R10d478ab9120498e" /><Relationship Type="http://schemas.openxmlformats.org/officeDocument/2006/relationships/notesSlide" Target="/ppt/notesSlides/notesSlide33.xml" Id="R835b9b6fe58648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ba68ca5d99f4def" /><Relationship Type="http://schemas.openxmlformats.org/officeDocument/2006/relationships/image" Target="/ppt/media/image43.png" Id="R8b4746d01ebd4230" /><Relationship Type="http://schemas.openxmlformats.org/officeDocument/2006/relationships/notesSlide" Target="/ppt/notesSlides/notesSlide34.xml" Id="R597a429ea7384a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MB decimales</c:v>
          </c:tx>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idx val="0"/>
            <c:invertIfNegative val="0"/>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dPt>
            <c:idx val="1"/>
            <c:invertIfNegative val="0"/>
            <c:spPr>
              <ns0:pattFill xmlns:ns0="http://schemas.openxmlformats.org/drawingml/2006/main" prst="ltDnDiag">
                <ns0:fgClr>
                  <ns0:srgbClr val="7662EE"/>
                </ns0:fgClr>
                <ns0:bgClr>
                  <ns0:srgbClr val="F5FAFD"/>
                </ns0:bgClr>
              </ns0:pattFill>
              <a:ln xmlns:a="http://schemas.openxmlformats.org/drawingml/2006/main" w="19050">
                <a:solidFill>
                  <a:srgbClr val="203B68"/>
                </a:solidFill>
              </a:ln>
            </c:spPr>
          </c:dPt>
          <c:dPt>
            <c:idx val="2"/>
            <c:invertIfNegative val="0"/>
            <c:spPr>
              <ns0:pattFill xmlns:ns0="http://schemas.openxmlformats.org/drawingml/2006/main" prst="ltDnDiag">
                <ns0:fgClr>
                  <ns0:srgbClr val="FFBF47"/>
                </ns0:fgClr>
                <ns0:bgClr>
                  <ns0:srgbClr val="F5FAFD"/>
                </ns0:bgClr>
              </ns0:pattFill>
              <a:ln xmlns:a="http://schemas.openxmlformats.org/drawingml/2006/main" w="19050">
                <a:solidFill>
                  <a:srgbClr val="203B68"/>
                </a:solidFill>
              </a:ln>
            </c:spPr>
          </c:dPt>
          <c:dPt>
            <c:idx val="3"/>
            <c:invertIfNegative val="0"/>
            <c:spPr>
              <ns0:pattFill xmlns:ns0="http://schemas.openxmlformats.org/drawingml/2006/main" prst="ltDnDiag">
                <ns0:fgClr>
                  <ns0:srgbClr val="F26A61"/>
                </ns0:fgClr>
                <ns0:bgClr>
                  <ns0:srgbClr val="F5FAFD"/>
                </ns0:bgClr>
              </ns0:pattFill>
              <a:ln xmlns:a="http://schemas.openxmlformats.org/drawingml/2006/main" w="19050">
                <a:solidFill>
                  <a:srgbClr val="203B68"/>
                </a:solidFill>
              </a:ln>
            </c:spPr>
          </c:dPt>
          <c:dPt>
            <c:idx val="4"/>
            <c:invertIfNegative val="0"/>
            <c:spPr>
              <ns0:pattFill xmlns:ns0="http://schemas.openxmlformats.org/drawingml/2006/main" prst="ltDnDiag">
                <ns0:fgClr>
                  <ns0:srgbClr val="76BED9"/>
                </ns0:fgClr>
                <ns0:bgClr>
                  <ns0:srgbClr val="F5FAFD"/>
                </ns0:bgClr>
              </ns0:pattFill>
              <a:ln xmlns:a="http://schemas.openxmlformats.org/drawingml/2006/main" w="19050">
                <a:solidFill>
                  <a:srgbClr val="203B68"/>
                </a:solidFill>
              </a:ln>
            </c:spPr>
          </c:dPt>
          <c:dLbls>
            <c:dLbl>
              <c:idx val="0"/>
              <c:tx>
                <c:rich>
                  <a:bodyPr xmlns:a="http://schemas.openxmlformats.org/drawingml/2006/main"/>
                  <a:lstStyle xmlns:a="http://schemas.openxmlformats.org/drawingml/2006/main"/>
                  <a:p xmlns:a="http://schemas.openxmlformats.org/drawingml/2006/main">
                    <a:r>
                      <a:rPr/>
                      <a:t>20,38</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27,49</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0,07085</a:t>
                    </a:r>
                  </a:p>
                </c:rich>
              </c:tx>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a:t>71,58</a:t>
                    </a:r>
                  </a:p>
                </c:rich>
              </c:tx>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a:t>12,52</a:t>
                    </a:r>
                  </a:p>
                </c:rich>
              </c:tx>
              <c:dLblPos val="outEnd"/>
              <c:showLegendKey val="0"/>
              <c:showVal val="0"/>
              <c:showCatName val="0"/>
              <c:showSerName val="0"/>
              <c:showPercent val="0"/>
              <c:showBubbleSize val="0"/>
            </c:dLbl>
          </c:dLbls>
          <c:cat>
            <c:strRef>
              <c:f>'Chart Data'!$A$2:$A$6</c:f>
              <c:strCache>
                <c:ptCount val="5"/>
                <c:pt idx="0">
                  <c:v>Suelos</c:v>
                </c:pt>
                <c:pt idx="1">
                  <c:v>EVA</c:v>
                </c:pt>
                <c:pt idx="2">
                  <c:v>DIVIPOLA</c:v>
                </c:pt>
                <c:pt idx="3">
                  <c:v>Municipios</c:v>
                </c:pt>
                <c:pt idx="4">
                  <c:v>Deptos.</c:v>
                </c:pt>
              </c:strCache>
            </c:strRef>
          </c:cat>
          <c:val>
            <c:numRef>
              <c:f>'Chart Data'!$B$2:$B$6</c:f>
              <c:numCache>
                <c:formatCode>0</c:formatCode>
                <c:ptCount val="5"/>
                <c:pt idx="0">
                  <c:v>20.38</c:v>
                </c:pt>
                <c:pt idx="1">
                  <c:v>27.49</c:v>
                </c:pt>
                <c:pt idx="2">
                  <c:v>0.07085</c:v>
                </c:pt>
                <c:pt idx="3">
                  <c:v>71.58</c:v>
                </c:pt>
                <c:pt idx="4">
                  <c:v>12.52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Archivo</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MB decimales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Columnas</c:v>
          </c:tx>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idx val="0"/>
            <c:invertIfNegative val="0"/>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dPt>
            <c:idx val="1"/>
            <c:invertIfNegative val="0"/>
            <c:spPr>
              <ns0:pattFill xmlns:ns0="http://schemas.openxmlformats.org/drawingml/2006/main" prst="ltDnDiag">
                <ns0:fgClr>
                  <ns0:srgbClr val="7662EE"/>
                </ns0:fgClr>
                <ns0:bgClr>
                  <ns0:srgbClr val="F5FAFD"/>
                </ns0:bgClr>
              </ns0:pattFill>
              <a:ln xmlns:a="http://schemas.openxmlformats.org/drawingml/2006/main" w="19050">
                <a:solidFill>
                  <a:srgbClr val="203B68"/>
                </a:solidFill>
              </a:ln>
            </c:spPr>
          </c:dPt>
          <c:dPt>
            <c:idx val="2"/>
            <c:invertIfNegative val="0"/>
            <c:spPr>
              <ns0:pattFill xmlns:ns0="http://schemas.openxmlformats.org/drawingml/2006/main" prst="ltDnDiag">
                <ns0:fgClr>
                  <ns0:srgbClr val="FFBF47"/>
                </ns0:fgClr>
                <ns0:bgClr>
                  <ns0:srgbClr val="F5FAFD"/>
                </ns0:bgClr>
              </ns0:pattFill>
              <a:ln xmlns:a="http://schemas.openxmlformats.org/drawingml/2006/main" w="19050">
                <a:solidFill>
                  <a:srgbClr val="203B68"/>
                </a:solidFill>
              </a:ln>
            </c:spPr>
          </c:dPt>
          <c:dLbls>
            <c:dLbl>
              <c:idx val="0"/>
              <c:tx>
                <c:rich>
                  <a:bodyPr xmlns:a="http://schemas.openxmlformats.org/drawingml/2006/main"/>
                  <a:lstStyle xmlns:a="http://schemas.openxmlformats.org/drawingml/2006/main"/>
                  <a:p xmlns:a="http://schemas.openxmlformats.org/drawingml/2006/main">
                    <a:r>
                      <a:rPr/>
                      <a:t>32</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18</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7</a:t>
                    </a:r>
                  </a:p>
                </c:rich>
              </c:tx>
              <c:dLblPos val="outEnd"/>
              <c:showLegendKey val="0"/>
              <c:showVal val="0"/>
              <c:showCatName val="0"/>
              <c:showSerName val="0"/>
              <c:showPercent val="0"/>
              <c:showBubbleSize val="0"/>
            </c:dLbl>
          </c:dLbls>
          <c:cat>
            <c:strRef>
              <c:f>'Chart Data'!$A$2:$A$4</c:f>
              <c:strCache>
                <c:ptCount val="3"/>
                <c:pt idx="0">
                  <c:v>AGROSAVIA</c:v>
                </c:pt>
                <c:pt idx="1">
                  <c:v>EVA</c:v>
                </c:pt>
                <c:pt idx="2">
                  <c:v>DIVIPOLA</c:v>
                </c:pt>
              </c:strCache>
            </c:strRef>
          </c:cat>
          <c:val>
            <c:numRef>
              <c:f>'Chart Data'!$B$2:$B$4</c:f>
              <c:numCache>
                <c:formatCode>0</c:formatCode>
                <c:ptCount val="3"/>
                <c:pt idx="0">
                  <c:v>32</c:v>
                </c:pt>
                <c:pt idx="1">
                  <c:v>18</c:v>
                </c:pt>
                <c:pt idx="2">
                  <c:v>7</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Fuente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Columnas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7f6671d8fab4b0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65121c367b4b55"/>
          <a:stretch xmlns:a="http://schemas.openxmlformats.org/drawingml/2006/main"/>
        </p:blipFill>
        <p:spPr>
          <a:xfrm xmlns:a="http://schemas.openxmlformats.org/drawingml/2006/main">
            <a:off x="6667500" y="1833563"/>
            <a:ext cx="5143500" cy="3429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DF50F2-8C14-4407-B92D-1691C64FD488}"/>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D7EADD2C-8E7F-4DF1-B8E8-1FAB8ED28162}"/>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Ingesta</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y perfilado</a:t>
            </a:r>
          </a:p>
        </p:txBody>
      </p:sp>
      <p:sp>
        <p:nvSpPr>
          <p:cNvPr id="5" name="">
            <a:extLst xmlns:a="http://schemas.openxmlformats.org/drawingml/2006/main">
              <a:ext uri="{FF2B5EF4-FFF2-40B4-BE49-F238E27FC236}">
                <a16:creationId xmlns:a16="http://schemas.microsoft.com/office/drawing/2014/main" id="{60CFDB91-4D08-483A-99F7-4F94B3006FC5}"/>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02 · Sábado 3 de octubre de 2026</a:t>
            </a:r>
          </a:p>
        </p:txBody>
      </p:sp>
      <p:sp>
        <p:nvSpPr>
          <p:cNvPr id="6" name="">
            <a:extLst xmlns:a="http://schemas.openxmlformats.org/drawingml/2006/main">
              <a:ext uri="{FF2B5EF4-FFF2-40B4-BE49-F238E27FC236}">
                <a16:creationId xmlns:a16="http://schemas.microsoft.com/office/drawing/2014/main" id="{F8E258BF-04AB-4401-9301-4081A1937B23}"/>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08:00–17:00 · Esteban Hernández, PhD</a:t>
            </a:r>
          </a:p>
        </p:txBody>
      </p:sp>
      <p:sp>
        <p:nvSpPr>
          <p:cNvPr id="9" name="">
            <a:extLst xmlns:a="http://schemas.openxmlformats.org/drawingml/2006/main">
              <a:ext uri="{FF2B5EF4-FFF2-40B4-BE49-F238E27FC236}">
                <a16:creationId xmlns:a16="http://schemas.microsoft.com/office/drawing/2014/main" id="{9B63F674-24CE-4DBE-A9E4-4A1C81A1068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24E54761-C41B-488F-8A32-A10BDE69BF1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A5FAEB84-E66A-4D07-AE1B-5A8F0613F53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2" name="">
            <a:extLst xmlns:a="http://schemas.openxmlformats.org/drawingml/2006/main">
              <a:ext uri="{FF2B5EF4-FFF2-40B4-BE49-F238E27FC236}">
                <a16:creationId xmlns:a16="http://schemas.microsoft.com/office/drawing/2014/main" id="{1B549162-D292-4BDA-AA68-2E17AF9F231A}"/>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01</a:t>
            </a:r>
          </a:p>
        </p:txBody>
      </p:sp>
    </p:spTree>
    <p:extLst>
      <p:ext uri="{BB962C8B-B14F-4D97-AF65-F5344CB8AC3E}">
        <p14:creationId xmlns:p14="http://schemas.microsoft.com/office/powerpoint/2010/main" val="2050005461"/>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d0afd4c48444a0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2" name=""/>
          <p:cNvGraphicFramePr/>
          <p:nvPr/>
        </p:nvGraphicFramePr>
        <p:xfrm>
          <a:off xmlns:a="http://schemas.openxmlformats.org/drawingml/2006/main" x="609600" y="1428750"/>
          <a:ext xmlns:a="http://schemas.openxmlformats.org/drawingml/2006/main" cx="10972800" cy="4333875"/>
        </p:xfrm>
        <a:graphic xmlns:a="http://schemas.openxmlformats.org/drawingml/2006/main">
          <a:graphicData uri="http://schemas.openxmlformats.org/drawingml/2006/table">
            <a:tbl>
              <a:tblPr/>
              <a:tblGrid>
                <a:gridCol w="2286000"/>
                <a:gridCol w="8686800"/>
              </a:tblGrid>
              <a:tr h="333375">
                <a:tc>
                  <a:txBody>
                    <a:bodyPr/>
                    <a:lstStyle/>
                    <a:p>
                      <a:r>
                        <a:rPr sz="1500" b="1">
                          <a:solidFill>
                            <a:srgbClr val="FFFFFF"/>
                          </a:solidFill>
                          <a:latin typeface="Calibri"/>
                          <a:ea typeface="Calibri"/>
                          <a:cs typeface="Calibri"/>
                        </a:rPr>
                        <a:t>Horario</a:t>
                      </a:r>
                    </a:p>
                  </a:txBody>
                  <a:tcPr marL="91440" marR="91440" marT="45720" marB="45720">
                    <a:solidFill>
                      <a:srgbClr val="4237BF"/>
                    </a:solidFill>
                  </a:tcPr>
                </a:tc>
                <a:tc>
                  <a:txBody>
                    <a:bodyPr/>
                    <a:lstStyle/>
                    <a:p>
                      <a:r>
                        <a:rPr sz="1500" b="1">
                          <a:solidFill>
                            <a:srgbClr val="FFFFFF"/>
                          </a:solidFill>
                          <a:latin typeface="Calibri"/>
                          <a:ea typeface="Calibri"/>
                          <a:cs typeface="Calibri"/>
                        </a:rPr>
                        <a:t>Tema y actividad</a:t>
                      </a:r>
                    </a:p>
                  </a:txBody>
                  <a:tcPr marL="91440" marR="91440" marT="45720" marB="45720">
                    <a:solidFill>
                      <a:srgbClr val="4237BF"/>
                    </a:solidFill>
                  </a:tcPr>
                </a:tc>
              </a:tr>
              <a:tr h="333375">
                <a:tc>
                  <a:txBody>
                    <a:bodyPr/>
                    <a:lstStyle/>
                    <a:p>
                      <a:r>
                        <a:rPr sz="1500" b="0">
                          <a:solidFill>
                            <a:srgbClr val="203B68"/>
                          </a:solidFill>
                          <a:latin typeface="Calibri"/>
                          <a:ea typeface="Calibri"/>
                          <a:cs typeface="Calibri"/>
                        </a:rPr>
                        <a:t>08:00–08:45</a:t>
                      </a:r>
                    </a:p>
                  </a:txBody>
                  <a:tcPr marL="91440" marR="91440" marT="45720" marB="45720">
                    <a:solidFill>
                      <a:srgbClr val="F4F8F8"/>
                    </a:solidFill>
                  </a:tcPr>
                </a:tc>
                <a:tc>
                  <a:txBody>
                    <a:bodyPr/>
                    <a:lstStyle/>
                    <a:p>
                      <a:r>
                        <a:rPr sz="1500" b="0">
                          <a:solidFill>
                            <a:srgbClr val="203B68"/>
                          </a:solidFill>
                          <a:latin typeface="Calibri"/>
                          <a:ea typeface="Calibri"/>
                          <a:cs typeface="Calibri"/>
                        </a:rPr>
                        <a:t>Entorno, estructura y verificación del kit</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08:45–09:30</a:t>
                      </a:r>
                    </a:p>
                  </a:txBody>
                  <a:tcPr marL="91440" marR="91440" marT="45720" marB="45720">
                    <a:solidFill>
                      <a:srgbClr val="E9F0F1"/>
                    </a:solidFill>
                  </a:tcPr>
                </a:tc>
                <a:tc>
                  <a:txBody>
                    <a:bodyPr/>
                    <a:lstStyle/>
                    <a:p>
                      <a:r>
                        <a:rPr sz="1500" b="0">
                          <a:solidFill>
                            <a:srgbClr val="203B68"/>
                          </a:solidFill>
                          <a:latin typeface="Calibri"/>
                          <a:ea typeface="Calibri"/>
                          <a:cs typeface="Calibri"/>
                        </a:rPr>
                        <a:t>P01: manifiesto PQRS y lectura de las muestras</a:t>
                      </a:r>
                    </a:p>
                  </a:txBody>
                  <a:tcPr marL="91440" marR="91440" marT="45720" marB="45720">
                    <a:solidFill>
                      <a:srgbClr val="E9F0F1"/>
                    </a:solidFill>
                  </a:tcPr>
                </a:tc>
              </a:tr>
              <a:tr h="333375">
                <a:tc>
                  <a:txBody>
                    <a:bodyPr/>
                    <a:lstStyle/>
                    <a:p>
                      <a:r>
                        <a:rPr sz="1500" b="0">
                          <a:solidFill>
                            <a:srgbClr val="203B68"/>
                          </a:solidFill>
                          <a:latin typeface="Calibri"/>
                          <a:ea typeface="Calibri"/>
                          <a:cs typeface="Calibri"/>
                        </a:rPr>
                        <a:t>09:30–09:45</a:t>
                      </a:r>
                    </a:p>
                  </a:txBody>
                  <a:tcPr marL="91440" marR="91440" marT="45720" marB="45720">
                    <a:solidFill>
                      <a:srgbClr val="F4F8F8"/>
                    </a:solidFill>
                  </a:tcPr>
                </a:tc>
                <a:tc>
                  <a:txBody>
                    <a:bodyPr/>
                    <a:lstStyle/>
                    <a:p>
                      <a:r>
                        <a:rPr sz="1500" b="0">
                          <a:solidFill>
                            <a:srgbClr val="203B68"/>
                          </a:solidFill>
                          <a:latin typeface="Calibri"/>
                          <a:ea typeface="Calibri"/>
                          <a:cs typeface="Calibri"/>
                        </a:rPr>
                        <a:t>Receso de la mañana</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09:45–11:15</a:t>
                      </a:r>
                    </a:p>
                  </a:txBody>
                  <a:tcPr marL="91440" marR="91440" marT="45720" marB="45720">
                    <a:solidFill>
                      <a:srgbClr val="E9F0F1"/>
                    </a:solidFill>
                  </a:tcPr>
                </a:tc>
                <a:tc>
                  <a:txBody>
                    <a:bodyPr/>
                    <a:lstStyle/>
                    <a:p>
                      <a:r>
                        <a:rPr sz="1500" b="0">
                          <a:solidFill>
                            <a:srgbClr val="203B68"/>
                          </a:solidFill>
                          <a:latin typeface="Calibri"/>
                          <a:ea typeface="Calibri"/>
                          <a:cs typeface="Calibri"/>
                        </a:rPr>
                        <a:t>E02: descarga selectiva, SHA-256 y perfil tabular</a:t>
                      </a:r>
                    </a:p>
                  </a:txBody>
                  <a:tcPr marL="91440" marR="91440" marT="45720" marB="45720">
                    <a:solidFill>
                      <a:srgbClr val="E9F0F1"/>
                    </a:solidFill>
                  </a:tcPr>
                </a:tc>
              </a:tr>
              <a:tr h="333375">
                <a:tc>
                  <a:txBody>
                    <a:bodyPr/>
                    <a:lstStyle/>
                    <a:p>
                      <a:r>
                        <a:rPr sz="1500" b="0">
                          <a:solidFill>
                            <a:srgbClr val="203B68"/>
                          </a:solidFill>
                          <a:latin typeface="Calibri"/>
                          <a:ea typeface="Calibri"/>
                          <a:cs typeface="Calibri"/>
                        </a:rPr>
                        <a:t>11:15–12:00</a:t>
                      </a:r>
                    </a:p>
                  </a:txBody>
                  <a:tcPr marL="91440" marR="91440" marT="45720" marB="45720">
                    <a:solidFill>
                      <a:srgbClr val="F4F8F8"/>
                    </a:solidFill>
                  </a:tcPr>
                </a:tc>
                <a:tc>
                  <a:txBody>
                    <a:bodyPr/>
                    <a:lstStyle/>
                    <a:p>
                      <a:r>
                        <a:rPr sz="1500" b="0">
                          <a:solidFill>
                            <a:srgbClr val="203B68"/>
                          </a:solidFill>
                          <a:latin typeface="Calibri"/>
                          <a:ea typeface="Calibri"/>
                          <a:cs typeface="Calibri"/>
                        </a:rPr>
                        <a:t>Tipos, ausencias, unidades y discusión del perfil</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12:00–13:00</a:t>
                      </a:r>
                    </a:p>
                  </a:txBody>
                  <a:tcPr marL="91440" marR="91440" marT="45720" marB="45720">
                    <a:solidFill>
                      <a:srgbClr val="E9F0F1"/>
                    </a:solidFill>
                  </a:tcPr>
                </a:tc>
                <a:tc>
                  <a:txBody>
                    <a:bodyPr/>
                    <a:lstStyle/>
                    <a:p>
                      <a:r>
                        <a:rPr sz="1500" b="0">
                          <a:solidFill>
                            <a:srgbClr val="203B68"/>
                          </a:solidFill>
                          <a:latin typeface="Calibri"/>
                          <a:ea typeface="Calibri"/>
                          <a:cs typeface="Calibri"/>
                        </a:rPr>
                        <a:t>Almuerzo</a:t>
                      </a:r>
                    </a:p>
                  </a:txBody>
                  <a:tcPr marL="91440" marR="91440" marT="45720" marB="45720">
                    <a:solidFill>
                      <a:srgbClr val="E9F0F1"/>
                    </a:solidFill>
                  </a:tcPr>
                </a:tc>
              </a:tr>
              <a:tr h="333375">
                <a:tc>
                  <a:txBody>
                    <a:bodyPr/>
                    <a:lstStyle/>
                    <a:p>
                      <a:r>
                        <a:rPr sz="1500" b="0">
                          <a:solidFill>
                            <a:srgbClr val="203B68"/>
                          </a:solidFill>
                          <a:latin typeface="Calibri"/>
                          <a:ea typeface="Calibri"/>
                          <a:cs typeface="Calibri"/>
                        </a:rPr>
                        <a:t>13:00–14:30</a:t>
                      </a:r>
                    </a:p>
                  </a:txBody>
                  <a:tcPr marL="91440" marR="91440" marT="45720" marB="45720">
                    <a:solidFill>
                      <a:srgbClr val="F4F8F8"/>
                    </a:solidFill>
                  </a:tcPr>
                </a:tc>
                <a:tc>
                  <a:txBody>
                    <a:bodyPr/>
                    <a:lstStyle/>
                    <a:p>
                      <a:r>
                        <a:rPr sz="1500" b="0">
                          <a:solidFill>
                            <a:srgbClr val="203B68"/>
                          </a:solidFill>
                          <a:latin typeface="Calibri"/>
                          <a:ea typeface="Calibri"/>
                          <a:cs typeface="Calibri"/>
                        </a:rPr>
                        <a:t>E03: DIVIPOLA y claves territoriales</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14:30–15:00</a:t>
                      </a:r>
                    </a:p>
                  </a:txBody>
                  <a:tcPr marL="91440" marR="91440" marT="45720" marB="45720">
                    <a:solidFill>
                      <a:srgbClr val="E9F0F1"/>
                    </a:solidFill>
                  </a:tcPr>
                </a:tc>
                <a:tc>
                  <a:txBody>
                    <a:bodyPr/>
                    <a:lstStyle/>
                    <a:p>
                      <a:r>
                        <a:rPr sz="1500" b="0">
                          <a:solidFill>
                            <a:srgbClr val="203B68"/>
                          </a:solidFill>
                          <a:latin typeface="Calibri"/>
                          <a:ea typeface="Calibri"/>
                          <a:cs typeface="Calibri"/>
                        </a:rPr>
                        <a:t>P01: lectura por bloques y presupuesto de RAM</a:t>
                      </a:r>
                    </a:p>
                  </a:txBody>
                  <a:tcPr marL="91440" marR="91440" marT="45720" marB="45720">
                    <a:solidFill>
                      <a:srgbClr val="E9F0F1"/>
                    </a:solidFill>
                  </a:tcPr>
                </a:tc>
              </a:tr>
              <a:tr h="333375">
                <a:tc>
                  <a:txBody>
                    <a:bodyPr/>
                    <a:lstStyle/>
                    <a:p>
                      <a:r>
                        <a:rPr sz="1500" b="0">
                          <a:solidFill>
                            <a:srgbClr val="203B68"/>
                          </a:solidFill>
                          <a:latin typeface="Calibri"/>
                          <a:ea typeface="Calibri"/>
                          <a:cs typeface="Calibri"/>
                        </a:rPr>
                        <a:t>15:00–15:15</a:t>
                      </a:r>
                    </a:p>
                  </a:txBody>
                  <a:tcPr marL="91440" marR="91440" marT="45720" marB="45720">
                    <a:solidFill>
                      <a:srgbClr val="F4F8F8"/>
                    </a:solidFill>
                  </a:tcPr>
                </a:tc>
                <a:tc>
                  <a:txBody>
                    <a:bodyPr/>
                    <a:lstStyle/>
                    <a:p>
                      <a:r>
                        <a:rPr sz="1500" b="0">
                          <a:solidFill>
                            <a:srgbClr val="203B68"/>
                          </a:solidFill>
                          <a:latin typeface="Calibri"/>
                          <a:ea typeface="Calibri"/>
                          <a:cs typeface="Calibri"/>
                        </a:rPr>
                        <a:t>Receso de la tarde</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15:15–16:00</a:t>
                      </a:r>
                    </a:p>
                  </a:txBody>
                  <a:tcPr marL="91440" marR="91440" marT="45720" marB="45720">
                    <a:solidFill>
                      <a:srgbClr val="E9F0F1"/>
                    </a:solidFill>
                  </a:tcPr>
                </a:tc>
                <a:tc>
                  <a:txBody>
                    <a:bodyPr/>
                    <a:lstStyle/>
                    <a:p>
                      <a:r>
                        <a:rPr sz="1500" b="0">
                          <a:solidFill>
                            <a:srgbClr val="203B68"/>
                          </a:solidFill>
                          <a:latin typeface="Calibri"/>
                          <a:ea typeface="Calibri"/>
                          <a:cs typeface="Calibri"/>
                        </a:rPr>
                        <a:t>Revisión por pares y faltantes territoriales</a:t>
                      </a:r>
                    </a:p>
                  </a:txBody>
                  <a:tcPr marL="91440" marR="91440" marT="45720" marB="45720">
                    <a:solidFill>
                      <a:srgbClr val="E9F0F1"/>
                    </a:solidFill>
                  </a:tcPr>
                </a:tc>
              </a:tr>
              <a:tr h="333375">
                <a:tc>
                  <a:txBody>
                    <a:bodyPr/>
                    <a:lstStyle/>
                    <a:p>
                      <a:r>
                        <a:rPr sz="1500" b="0">
                          <a:solidFill>
                            <a:srgbClr val="203B68"/>
                          </a:solidFill>
                          <a:latin typeface="Calibri"/>
                          <a:ea typeface="Calibri"/>
                          <a:cs typeface="Calibri"/>
                        </a:rPr>
                        <a:t>16:00–16:45</a:t>
                      </a:r>
                    </a:p>
                  </a:txBody>
                  <a:tcPr marL="91440" marR="91440" marT="45720" marB="45720">
                    <a:solidFill>
                      <a:srgbClr val="F4F8F8"/>
                    </a:solidFill>
                  </a:tcPr>
                </a:tc>
                <a:tc>
                  <a:txBody>
                    <a:bodyPr/>
                    <a:lstStyle/>
                    <a:p>
                      <a:r>
                        <a:rPr sz="1500" b="0">
                          <a:solidFill>
                            <a:srgbClr val="203B68"/>
                          </a:solidFill>
                          <a:latin typeface="Calibri"/>
                          <a:ea typeface="Calibri"/>
                          <a:cs typeface="Calibri"/>
                        </a:rPr>
                        <a:t>Ficha propia E01/T01, contrato inicial y diccionario de variables</a:t>
                      </a:r>
                    </a:p>
                  </a:txBody>
                  <a:tcPr marL="91440" marR="91440" marT="45720" marB="45720">
                    <a:solidFill>
                      <a:srgbClr val="F4F8F8"/>
                    </a:solidFill>
                  </a:tcPr>
                </a:tc>
              </a:tr>
              <a:tr h="333375">
                <a:tc>
                  <a:txBody>
                    <a:bodyPr/>
                    <a:lstStyle/>
                    <a:p>
                      <a:r>
                        <a:rPr sz="1500" b="0">
                          <a:solidFill>
                            <a:srgbClr val="203B68"/>
                          </a:solidFill>
                          <a:latin typeface="Calibri"/>
                          <a:ea typeface="Calibri"/>
                          <a:cs typeface="Calibri"/>
                        </a:rPr>
                        <a:t>16:45–17:00</a:t>
                      </a:r>
                    </a:p>
                  </a:txBody>
                  <a:tcPr marL="91440" marR="91440" marT="45720" marB="45720">
                    <a:solidFill>
                      <a:srgbClr val="E9F0F1"/>
                    </a:solidFill>
                  </a:tcPr>
                </a:tc>
                <a:tc>
                  <a:txBody>
                    <a:bodyPr/>
                    <a:lstStyle/>
                    <a:p>
                      <a:r>
                        <a:rPr sz="1500" b="0">
                          <a:solidFill>
                            <a:srgbClr val="203B68"/>
                          </a:solidFill>
                          <a:latin typeface="Calibri"/>
                          <a:ea typeface="Calibri"/>
                          <a:cs typeface="Calibri"/>
                        </a:rPr>
                        <a:t>Entrega y preparación del siguiente encuentro</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F70E52D8-A9CF-4B7A-831A-8A6540B1D037}"/>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Agenda de la sesión</a:t>
            </a:r>
          </a:p>
        </p:txBody>
      </p:sp>
      <p:sp>
        <p:nvSpPr>
          <p:cNvPr id="3" name="">
            <a:extLst xmlns:a="http://schemas.openxmlformats.org/drawingml/2006/main">
              <a:ext uri="{FF2B5EF4-FFF2-40B4-BE49-F238E27FC236}">
                <a16:creationId xmlns:a16="http://schemas.microsoft.com/office/drawing/2014/main" id="{E51CF604-93A3-4CCA-9E16-E4E82425610D}"/>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Sábado 03/10/2026 · 450 min efectivos · Entrega durante la clase</a:t>
            </a:r>
          </a:p>
        </p:txBody>
      </p:sp>
      <p:sp>
        <p:nvSpPr>
          <p:cNvPr id="5" name="">
            <a:extLst xmlns:a="http://schemas.openxmlformats.org/drawingml/2006/main">
              <a:ext uri="{FF2B5EF4-FFF2-40B4-BE49-F238E27FC236}">
                <a16:creationId xmlns:a16="http://schemas.microsoft.com/office/drawing/2014/main" id="{DA5819C0-BB4C-4F7E-A09B-8A84FFA5B3B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45A133BA-CD2D-4763-A004-E2E33E9628B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E01 — Ejercicio 01: Pregunta y procedencia  |  E02 — Ejercicio 02: Descarga y perfil inicial  |  E03 — Ejercicio 03: Identidad territorial y vigencias  |  P01 — Práctica PQRS 01: Perfil PQRS y lectura por bloques  |  T01 — Taller teórico: Capacidad y escala</a:t>
            </a:r>
          </a:p>
        </p:txBody>
      </p:sp>
      <p:sp>
        <p:nvSpPr>
          <p:cNvPr id="7" name="">
            <a:extLst xmlns:a="http://schemas.openxmlformats.org/drawingml/2006/main">
              <a:ext uri="{FF2B5EF4-FFF2-40B4-BE49-F238E27FC236}">
                <a16:creationId xmlns:a16="http://schemas.microsoft.com/office/drawing/2014/main" id="{9B7D1066-AD48-40F8-84D5-F28D9D9213B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8" name="">
            <a:extLst xmlns:a="http://schemas.openxmlformats.org/drawingml/2006/main">
              <a:ext uri="{FF2B5EF4-FFF2-40B4-BE49-F238E27FC236}">
                <a16:creationId xmlns:a16="http://schemas.microsoft.com/office/drawing/2014/main" id="{99DA3638-7F68-47AE-A2B2-0F14068C450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02</a:t>
            </a:r>
          </a:p>
        </p:txBody>
      </p:sp>
    </p:spTree>
    <p:extLst>
      <p:ext uri="{BB962C8B-B14F-4D97-AF65-F5344CB8AC3E}">
        <p14:creationId xmlns:p14="http://schemas.microsoft.com/office/powerpoint/2010/main" val="111821543"/>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53c0ef433cf4a6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EBD802-E4D6-4170-BC30-2EDF86F8451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Producto de la sesión</a:t>
            </a:r>
          </a:p>
        </p:txBody>
      </p:sp>
      <p:sp>
        <p:nvSpPr>
          <p:cNvPr id="3" name="">
            <a:extLst xmlns:a="http://schemas.openxmlformats.org/drawingml/2006/main">
              <a:ext uri="{FF2B5EF4-FFF2-40B4-BE49-F238E27FC236}">
                <a16:creationId xmlns:a16="http://schemas.microsoft.com/office/drawing/2014/main" id="{06FFEE78-9435-4194-AB4D-F49EEDED22A0}"/>
              </a:ext>
            </a:extLst>
          </p:cNvPr>
          <p:cNvSpPr>
            <a:spLocks xmlns:a="http://schemas.openxmlformats.org/drawingml/2006/main" noGrp="1"/>
          </p:cNvSpPr>
          <p:nvPr/>
        </p:nvSpPr>
        <p:spPr>
          <a:xfrm xmlns:a="http://schemas.openxmlformats.org/drawingml/2006/main">
            <a:off x="685800" y="15621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E02 y P01</a:t>
            </a:r>
          </a:p>
        </p:txBody>
      </p:sp>
      <p:sp>
        <p:nvSpPr>
          <p:cNvPr id="4" name="">
            <a:extLst xmlns:a="http://schemas.openxmlformats.org/drawingml/2006/main">
              <a:ext uri="{FF2B5EF4-FFF2-40B4-BE49-F238E27FC236}">
                <a16:creationId xmlns:a16="http://schemas.microsoft.com/office/drawing/2014/main" id="{E873AA54-73C4-400B-8262-428E972393AD}"/>
              </a:ext>
            </a:extLst>
          </p:cNvPr>
          <p:cNvSpPr>
            <a:spLocks xmlns:a="http://schemas.openxmlformats.org/drawingml/2006/main" noGrp="1"/>
          </p:cNvSpPr>
          <p:nvPr/>
        </p:nvSpPr>
        <p:spPr>
          <a:xfrm xmlns:a="http://schemas.openxmlformats.org/drawingml/2006/main">
            <a:off x="685800" y="200977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Manifiesto y perfiles separados: agroambiental y PQRS.</a:t>
            </a:r>
          </a:p>
        </p:txBody>
      </p:sp>
      <p:sp>
        <p:nvSpPr>
          <p:cNvPr id="5" name="">
            <a:extLst xmlns:a="http://schemas.openxmlformats.org/drawingml/2006/main">
              <a:ext uri="{FF2B5EF4-FFF2-40B4-BE49-F238E27FC236}">
                <a16:creationId xmlns:a16="http://schemas.microsoft.com/office/drawing/2014/main" id="{36C5F97E-A41D-4FFC-8EE3-D1A9D9A490D3}"/>
              </a:ext>
            </a:extLst>
          </p:cNvPr>
          <p:cNvSpPr>
            <a:spLocks xmlns:a="http://schemas.openxmlformats.org/drawingml/2006/main" noGrp="1"/>
          </p:cNvSpPr>
          <p:nvPr/>
        </p:nvSpPr>
        <p:spPr>
          <a:xfrm xmlns:a="http://schemas.openxmlformats.org/drawingml/2006/main">
            <a:off x="685800" y="2962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E03</a:t>
            </a:r>
          </a:p>
        </p:txBody>
      </p:sp>
      <p:sp>
        <p:nvSpPr>
          <p:cNvPr id="6" name="">
            <a:extLst xmlns:a="http://schemas.openxmlformats.org/drawingml/2006/main">
              <a:ext uri="{FF2B5EF4-FFF2-40B4-BE49-F238E27FC236}">
                <a16:creationId xmlns:a16="http://schemas.microsoft.com/office/drawing/2014/main" id="{2BF5594D-D735-44ED-960F-C05907CAD16C}"/>
              </a:ext>
            </a:extLst>
          </p:cNvPr>
          <p:cNvSpPr>
            <a:spLocks xmlns:a="http://schemas.openxmlformats.org/drawingml/2006/main" noGrp="1"/>
          </p:cNvSpPr>
          <p:nvPr/>
        </p:nvSpPr>
        <p:spPr>
          <a:xfrm xmlns:a="http://schemas.openxmlformats.org/drawingml/2006/main">
            <a:off x="685800" y="3409950"/>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Códigos como texto, catálogo territorial y controles de unión.</a:t>
            </a:r>
          </a:p>
        </p:txBody>
      </p:sp>
      <p:sp>
        <p:nvSpPr>
          <p:cNvPr id="7" name="">
            <a:extLst xmlns:a="http://schemas.openxmlformats.org/drawingml/2006/main">
              <a:ext uri="{FF2B5EF4-FFF2-40B4-BE49-F238E27FC236}">
                <a16:creationId xmlns:a16="http://schemas.microsoft.com/office/drawing/2014/main" id="{6F097458-84E9-4F48-BB65-6BC50CD2844A}"/>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P01: Notebooks/01_Perfil_PQRS.ipynb</a:t>
            </a:r>
          </a:p>
        </p:txBody>
      </p:sp>
      <p:sp>
        <p:nvSpPr>
          <p:cNvPr id="11" name="">
            <a:extLst xmlns:a="http://schemas.openxmlformats.org/drawingml/2006/main">
              <a:ext uri="{FF2B5EF4-FFF2-40B4-BE49-F238E27FC236}">
                <a16:creationId xmlns:a16="http://schemas.microsoft.com/office/drawing/2014/main" id="{DE16D881-84CC-4327-A691-9BF5FFA9506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73E3BBA2-9EA5-4E45-B1E0-E710E07B1E6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E02 — Ejercicio 02: Descarga y perfil inicial  |  E03 — Ejercicio 03: Identidad territorial y vigencias  |  P01 — Práctica PQRS 01: Perfil PQRS y lectura por bloques</a:t>
            </a:r>
          </a:p>
        </p:txBody>
      </p:sp>
      <p:sp>
        <p:nvSpPr>
          <p:cNvPr id="13" name="">
            <a:extLst xmlns:a="http://schemas.openxmlformats.org/drawingml/2006/main">
              <a:ext uri="{FF2B5EF4-FFF2-40B4-BE49-F238E27FC236}">
                <a16:creationId xmlns:a16="http://schemas.microsoft.com/office/drawing/2014/main" id="{0DD3E1E0-985F-4B85-8D64-0A65172EA84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4" name="">
            <a:extLst xmlns:a="http://schemas.openxmlformats.org/drawingml/2006/main">
              <a:ext uri="{FF2B5EF4-FFF2-40B4-BE49-F238E27FC236}">
                <a16:creationId xmlns:a16="http://schemas.microsoft.com/office/drawing/2014/main" id="{58F1771D-1765-4B38-B8B5-1A7D9D5FFF5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03</a:t>
            </a:r>
          </a:p>
        </p:txBody>
      </p:sp>
    </p:spTree>
    <p:extLst>
      <p:ext uri="{BB962C8B-B14F-4D97-AF65-F5344CB8AC3E}">
        <p14:creationId xmlns:p14="http://schemas.microsoft.com/office/powerpoint/2010/main" val="154127495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658db06b0441e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9E5192-E99C-4321-983A-74FB894539A2}"/>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Del ejemplo docente a la ejecución propia</a:t>
            </a:r>
          </a:p>
        </p:txBody>
      </p:sp>
      <p:sp>
        <p:nvSpPr>
          <p:cNvPr id="3" name="">
            <a:extLst xmlns:a="http://schemas.openxmlformats.org/drawingml/2006/main">
              <a:ext uri="{FF2B5EF4-FFF2-40B4-BE49-F238E27FC236}">
                <a16:creationId xmlns:a16="http://schemas.microsoft.com/office/drawing/2014/main" id="{AA569378-EDCC-4523-8BF7-62735AB8B0E0}"/>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16:00–16:45: ficha y recursos</a:t>
            </a:r>
          </a:p>
        </p:txBody>
      </p:sp>
      <p:sp>
        <p:nvSpPr>
          <p:cNvPr id="4" name="">
            <a:extLst xmlns:a="http://schemas.openxmlformats.org/drawingml/2006/main">
              <a:ext uri="{FF2B5EF4-FFF2-40B4-BE49-F238E27FC236}">
                <a16:creationId xmlns:a16="http://schemas.microsoft.com/office/drawing/2014/main" id="{D2086291-2346-4424-9E96-25E7C2B4FF72}"/>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Redactar la pregunta propia de E01 y justificar el presupuesto T01, junto al diccionario.</a:t>
            </a:r>
          </a:p>
        </p:txBody>
      </p:sp>
      <p:sp>
        <p:nvSpPr>
          <p:cNvPr id="5" name="">
            <a:extLst xmlns:a="http://schemas.openxmlformats.org/drawingml/2006/main">
              <a:ext uri="{FF2B5EF4-FFF2-40B4-BE49-F238E27FC236}">
                <a16:creationId xmlns:a16="http://schemas.microsoft.com/office/drawing/2014/main" id="{1EA33522-A241-4BAE-80A1-E69F6CB6F5D3}"/>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E02–E03 / P01: ejecutar y verificar</a:t>
            </a:r>
          </a:p>
        </p:txBody>
      </p:sp>
      <p:sp>
        <p:nvSpPr>
          <p:cNvPr id="6" name="">
            <a:extLst xmlns:a="http://schemas.openxmlformats.org/drawingml/2006/main">
              <a:ext uri="{FF2B5EF4-FFF2-40B4-BE49-F238E27FC236}">
                <a16:creationId xmlns:a16="http://schemas.microsoft.com/office/drawing/2014/main" id="{17D7F3B0-4673-474E-8F5F-4D950221BDFF}"/>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Descargar, perfilar y revisar códigos territoriales. Conservar fuentes, versiones y controles.</a:t>
            </a:r>
          </a:p>
        </p:txBody>
      </p:sp>
      <p:sp>
        <p:nvSpPr>
          <p:cNvPr id="7" name="">
            <a:extLst xmlns:a="http://schemas.openxmlformats.org/drawingml/2006/main">
              <a:ext uri="{FF2B5EF4-FFF2-40B4-BE49-F238E27FC236}">
                <a16:creationId xmlns:a16="http://schemas.microsoft.com/office/drawing/2014/main" id="{0CACDF28-1C35-492C-AC98-A7F267637B79}"/>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16:45–17:00: una entrega</a:t>
            </a:r>
          </a:p>
        </p:txBody>
      </p:sp>
      <p:sp>
        <p:nvSpPr>
          <p:cNvPr id="8" name="">
            <a:extLst xmlns:a="http://schemas.openxmlformats.org/drawingml/2006/main">
              <a:ext uri="{FF2B5EF4-FFF2-40B4-BE49-F238E27FC236}">
                <a16:creationId xmlns:a16="http://schemas.microsoft.com/office/drawing/2014/main" id="{DFA50FB3-61FB-4DCA-B2DE-E0431E2BFDCA}"/>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Ficha, presupuesto, manifiesto, perfil y dimensión territorial. Peso: 10 %.</a:t>
            </a:r>
          </a:p>
        </p:txBody>
      </p:sp>
      <p:sp>
        <p:nvSpPr>
          <p:cNvPr id="9" name="">
            <a:extLst xmlns:a="http://schemas.openxmlformats.org/drawingml/2006/main">
              <a:ext uri="{FF2B5EF4-FFF2-40B4-BE49-F238E27FC236}">
                <a16:creationId xmlns:a16="http://schemas.microsoft.com/office/drawing/2014/main" id="{0D69F08F-7D52-4FCB-9F17-CD509BBA4009}"/>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Actividad del sábado incluida en los bloques de la agenda; sin añadir horas.</a:t>
            </a:r>
          </a:p>
        </p:txBody>
      </p:sp>
      <p:sp>
        <p:nvSpPr>
          <p:cNvPr id="10" name="">
            <a:extLst xmlns:a="http://schemas.openxmlformats.org/drawingml/2006/main">
              <a:ext uri="{FF2B5EF4-FFF2-40B4-BE49-F238E27FC236}">
                <a16:creationId xmlns:a16="http://schemas.microsoft.com/office/drawing/2014/main" id="{D43C803F-D4F6-4E44-B59F-0E1A83844AD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7CD81562-A2CC-4BAA-9244-4C797419B26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E01 — Ejercicio 01: Pregunta y procedencia  |  E02 — Ejercicio 02: Descarga y perfil inicial  |  E03 — Ejercicio 03: Identidad territorial y vigencias  |  P01 — Práctica PQRS 01: Perfil PQRS y lectura por bloques  |  T01 — Taller teórico: Capacidad y escala</a:t>
            </a:r>
          </a:p>
        </p:txBody>
      </p:sp>
      <p:sp>
        <p:nvSpPr>
          <p:cNvPr id="12" name="">
            <a:extLst xmlns:a="http://schemas.openxmlformats.org/drawingml/2006/main">
              <a:ext uri="{FF2B5EF4-FFF2-40B4-BE49-F238E27FC236}">
                <a16:creationId xmlns:a16="http://schemas.microsoft.com/office/drawing/2014/main" id="{DE07035C-5829-42A3-B517-57D3F5ED7AA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3" name="">
            <a:extLst xmlns:a="http://schemas.openxmlformats.org/drawingml/2006/main">
              <a:ext uri="{FF2B5EF4-FFF2-40B4-BE49-F238E27FC236}">
                <a16:creationId xmlns:a16="http://schemas.microsoft.com/office/drawing/2014/main" id="{86EA2EE4-1E3A-4995-9C02-21E04E72DD2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04</a:t>
            </a:r>
          </a:p>
        </p:txBody>
      </p:sp>
    </p:spTree>
    <p:extLst>
      <p:ext uri="{BB962C8B-B14F-4D97-AF65-F5344CB8AC3E}">
        <p14:creationId xmlns:p14="http://schemas.microsoft.com/office/powerpoint/2010/main" val="12309073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d6a8b547ef9483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c9d7fa29baa4239"/>
          <a:stretch xmlns:a="http://schemas.openxmlformats.org/drawingml/2006/main"/>
        </p:blipFill>
        <p:spPr>
          <a:xfrm xmlns:a="http://schemas.openxmlformats.org/drawingml/2006/main">
            <a:off x="304800" y="2552700"/>
            <a:ext cx="2857500" cy="1905000"/>
          </a:xfrm>
          <a:prstGeom xmlns:a="http://schemas.openxmlformats.org/drawingml/2006/main" prst="rect">
            <a:avLst/>
          </a:prstGeom>
        </p:spPr>
      </p:pic>
      <p:graphicFrame>
        <p:nvGraphicFramePr>
          <p:cNvPr id="22" name=""/>
          <p:cNvGraphicFramePr/>
          <p:nvPr/>
        </p:nvGraphicFramePr>
        <p:xfrm>
          <a:off xmlns:a="http://schemas.openxmlformats.org/drawingml/2006/main" x="3333750" y="2047875"/>
          <a:ext xmlns:a="http://schemas.openxmlformats.org/drawingml/2006/main" cx="8248650" cy="3143250"/>
        </p:xfrm>
        <a:graphic xmlns:a="http://schemas.openxmlformats.org/drawingml/2006/main">
          <a:graphicData uri="http://schemas.openxmlformats.org/drawingml/2006/table">
            <a:tbl>
              <a:tblPr/>
              <a:tblGrid>
                <a:gridCol w="1762125"/>
                <a:gridCol w="2905125"/>
                <a:gridCol w="3581400"/>
              </a:tblGrid>
              <a:tr h="1047750">
                <a:tc>
                  <a:txBody>
                    <a:bodyPr/>
                    <a:lstStyle/>
                    <a:p>
                      <a:r>
                        <a:rPr sz="1650" b="1">
                          <a:solidFill>
                            <a:srgbClr val="FFFFFF"/>
                          </a:solidFill>
                          <a:latin typeface="Calibri"/>
                          <a:ea typeface="Calibri"/>
                          <a:cs typeface="Calibri"/>
                        </a:rPr>
                        <a:t>Ruta</a:t>
                      </a:r>
                    </a:p>
                  </a:txBody>
                  <a:tcPr marL="91440" marR="91440" marT="45720" marB="45720">
                    <a:solidFill>
                      <a:srgbClr val="4237BF"/>
                    </a:solidFill>
                  </a:tcPr>
                </a:tc>
                <a:tc>
                  <a:txBody>
                    <a:bodyPr/>
                    <a:lstStyle/>
                    <a:p>
                      <a:r>
                        <a:rPr sz="1650" b="1">
                          <a:solidFill>
                            <a:srgbClr val="FFFFFF"/>
                          </a:solidFill>
                          <a:latin typeface="Calibri"/>
                          <a:ea typeface="Calibri"/>
                          <a:cs typeface="Calibri"/>
                        </a:rPr>
                        <a:t>Datos y scripts en kit/</a:t>
                      </a:r>
                    </a:p>
                  </a:txBody>
                  <a:tcPr marL="91440" marR="91440" marT="45720" marB="45720">
                    <a:solidFill>
                      <a:srgbClr val="4237BF"/>
                    </a:solidFill>
                  </a:tcPr>
                </a:tc>
                <a:tc>
                  <a:txBody>
                    <a:bodyPr/>
                    <a:lstStyle/>
                    <a:p>
                      <a:r>
                        <a:rPr sz="1650" b="1">
                          <a:solidFill>
                            <a:srgbClr val="FFFFFF"/>
                          </a:solidFill>
                          <a:latin typeface="Calibri"/>
                          <a:ea typeface="Calibri"/>
                          <a:cs typeface="Calibri"/>
                        </a:rPr>
                        <a:t>Actividades de hoy</a:t>
                      </a:r>
                    </a:p>
                  </a:txBody>
                  <a:tcPr marL="91440" marR="91440" marT="45720" marB="45720">
                    <a:solidFill>
                      <a:srgbClr val="4237BF"/>
                    </a:solidFill>
                  </a:tcPr>
                </a:tc>
              </a:tr>
              <a:tr h="1047750">
                <a:tc>
                  <a:txBody>
                    <a:bodyPr/>
                    <a:lstStyle/>
                    <a:p>
                      <a:r>
                        <a:rPr sz="1650" b="0">
                          <a:solidFill>
                            <a:srgbClr val="203B68"/>
                          </a:solidFill>
                          <a:latin typeface="Calibri"/>
                          <a:ea typeface="Calibri"/>
                          <a:cs typeface="Calibri"/>
                        </a:rPr>
                        <a:t>Agroambiental</a:t>
                      </a:r>
                    </a:p>
                    <a:p>
                      <a:r>
                        <a:rPr sz="1650" b="0">
                          <a:solidFill>
                            <a:srgbClr val="203B68"/>
                          </a:solidFill>
                          <a:latin typeface="Calibri"/>
                          <a:ea typeface="Calibri"/>
                          <a:cs typeface="Calibri"/>
                        </a:rPr>
                        <a:t>Suelos y producción</a:t>
                      </a:r>
                    </a:p>
                  </a:txBody>
                  <a:tcPr marL="91440" marR="91440" marT="45720" marB="45720">
                    <a:solidFill>
                      <a:srgbClr val="F4F8F8"/>
                    </a:solidFill>
                  </a:tcPr>
                </a:tc>
                <a:tc>
                  <a:txBody>
                    <a:bodyPr/>
                    <a:lstStyle/>
                    <a:p>
                      <a:r>
                        <a:rPr sz="1650" b="0">
                          <a:solidFill>
                            <a:srgbClr val="203B68"/>
                          </a:solidFill>
                          <a:latin typeface="Calibri"/>
                          <a:ea typeface="Calibri"/>
                          <a:cs typeface="Calibri"/>
                        </a:rPr>
                        <a:t>data/raw/</a:t>
                      </a:r>
                    </a:p>
                    <a:p>
                      <a:r>
                        <a:rPr sz="1650" b="0">
                          <a:solidFill>
                            <a:srgbClr val="203B68"/>
                          </a:solidFill>
                          <a:latin typeface="Calibri"/>
                          <a:ea typeface="Calibri"/>
                          <a:cs typeface="Calibri"/>
                        </a:rPr>
                        <a:t>00_datos.py</a:t>
                      </a:r>
                    </a:p>
                    <a:p>
                      <a:r>
                        <a:rPr sz="1650" b="0">
                          <a:solidFill>
                            <a:srgbClr val="203B68"/>
                          </a:solidFill>
                          <a:latin typeface="Calibri"/>
                          <a:ea typeface="Calibri"/>
                          <a:cs typeface="Calibri"/>
                        </a:rPr>
                        <a:t>talleres.py</a:t>
                      </a:r>
                    </a:p>
                  </a:txBody>
                  <a:tcPr marL="91440" marR="91440" marT="45720" marB="45720">
                    <a:solidFill>
                      <a:srgbClr val="F4F8F8"/>
                    </a:solidFill>
                  </a:tcPr>
                </a:tc>
                <a:tc>
                  <a:txBody>
                    <a:bodyPr/>
                    <a:lstStyle/>
                    <a:p>
                      <a:r>
                        <a:rPr sz="1650" b="0">
                          <a:solidFill>
                            <a:srgbClr val="203B68"/>
                          </a:solidFill>
                          <a:latin typeface="Calibri"/>
                          <a:ea typeface="Calibri"/>
                          <a:cs typeface="Calibri"/>
                        </a:rPr>
                        <a:t>E02: descarga y perfil</a:t>
                      </a:r>
                    </a:p>
                    <a:p>
                      <a:r>
                        <a:rPr sz="1650" b="0">
                          <a:solidFill>
                            <a:srgbClr val="203B68"/>
                          </a:solidFill>
                          <a:latin typeface="Calibri"/>
                          <a:ea typeface="Calibri"/>
                          <a:cs typeface="Calibri"/>
                        </a:rPr>
                        <a:t>E03: identidad territorial</a:t>
                      </a:r>
                    </a:p>
                  </a:txBody>
                  <a:tcPr marL="91440" marR="91440" marT="45720" marB="45720">
                    <a:solidFill>
                      <a:srgbClr val="F4F8F8"/>
                    </a:solidFill>
                  </a:tcPr>
                </a:tc>
              </a:tr>
              <a:tr h="1047750">
                <a:tc>
                  <a:txBody>
                    <a:bodyPr/>
                    <a:lstStyle/>
                    <a:p>
                      <a:r>
                        <a:rPr sz="1650" b="0">
                          <a:solidFill>
                            <a:srgbClr val="203B68"/>
                          </a:solidFill>
                          <a:latin typeface="Calibri"/>
                          <a:ea typeface="Calibri"/>
                          <a:cs typeface="Calibri"/>
                        </a:rPr>
                        <a:t>PQRS</a:t>
                      </a:r>
                    </a:p>
                    <a:p>
                      <a:r>
                        <a:rPr sz="1650" b="0">
                          <a:solidFill>
                            <a:srgbClr val="203B68"/>
                          </a:solidFill>
                          <a:latin typeface="Calibri"/>
                          <a:ea typeface="Calibri"/>
                          <a:cs typeface="Calibri"/>
                        </a:rPr>
                        <a:t>Reportes de salud</a:t>
                      </a:r>
                    </a:p>
                  </a:txBody>
                  <a:tcPr marL="91440" marR="91440" marT="45720" marB="45720">
                    <a:solidFill>
                      <a:srgbClr val="E9F0F1"/>
                    </a:solidFill>
                  </a:tcPr>
                </a:tc>
                <a:tc>
                  <a:txBody>
                    <a:bodyPr/>
                    <a:lstStyle/>
                    <a:p>
                      <a:r>
                        <a:rPr sz="1650" b="0">
                          <a:solidFill>
                            <a:srgbClr val="203B68"/>
                          </a:solidFill>
                          <a:latin typeface="Calibri"/>
                          <a:ea typeface="Calibri"/>
                          <a:cs typeface="Calibri"/>
                        </a:rPr>
                        <a:t>data/pqrs_muestras/</a:t>
                      </a:r>
                    </a:p>
                    <a:p>
                      <a:r>
                        <a:rPr sz="1650" b="0">
                          <a:solidFill>
                            <a:srgbClr val="203B68"/>
                          </a:solidFill>
                          <a:latin typeface="Calibri"/>
                          <a:ea typeface="Calibri"/>
                          <a:cs typeface="Calibri"/>
                        </a:rPr>
                        <a:t>pqrs_descarga.py</a:t>
                      </a:r>
                    </a:p>
                    <a:p>
                      <a:r>
                        <a:rPr sz="1650" b="0">
                          <a:solidFill>
                            <a:srgbClr val="203B68"/>
                          </a:solidFill>
                          <a:latin typeface="Calibri"/>
                          <a:ea typeface="Calibri"/>
                          <a:cs typeface="Calibri"/>
                        </a:rPr>
                        <a:t>pqrs_talleres.py</a:t>
                      </a:r>
                    </a:p>
                  </a:txBody>
                  <a:tcPr marL="91440" marR="91440" marT="45720" marB="45720">
                    <a:solidFill>
                      <a:srgbClr val="E9F0F1"/>
                    </a:solidFill>
                  </a:tcPr>
                </a:tc>
                <a:tc>
                  <a:txBody>
                    <a:bodyPr/>
                    <a:lstStyle/>
                    <a:p>
                      <a:r>
                        <a:rPr sz="1650" b="0">
                          <a:solidFill>
                            <a:srgbClr val="203B68"/>
                          </a:solidFill>
                          <a:latin typeface="Calibri"/>
                          <a:ea typeface="Calibri"/>
                          <a:cs typeface="Calibri"/>
                        </a:rPr>
                        <a:t>P01: perfil por bloques</a:t>
                      </a:r>
                    </a:p>
                    <a:p>
                      <a:r>
                        <a:rPr sz="1650" b="0">
                          <a:solidFill>
                            <a:srgbClr val="203B68"/>
                          </a:solidFill>
                          <a:latin typeface="Calibri"/>
                          <a:ea typeface="Calibri"/>
                          <a:cs typeface="Calibri"/>
                        </a:rPr>
                        <a:t>01_Perfil_PQRS.ipynb</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C2E4FE31-9A7A-4C94-AD60-B00937A3256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Dos rutas de datos, un entorno</a:t>
            </a:r>
          </a:p>
        </p:txBody>
      </p:sp>
      <p:sp>
        <p:nvSpPr>
          <p:cNvPr id="3" name="">
            <a:extLst xmlns:a="http://schemas.openxmlformats.org/drawingml/2006/main">
              <a:ext uri="{FF2B5EF4-FFF2-40B4-BE49-F238E27FC236}">
                <a16:creationId xmlns:a16="http://schemas.microsoft.com/office/drawing/2014/main" id="{4FC096C6-4953-46E2-B738-9CC29C5D6FDC}"/>
              </a:ext>
            </a:extLst>
          </p:cNvPr>
          <p:cNvSpPr>
            <a:spLocks xmlns:a="http://schemas.openxmlformats.org/drawingml/2006/main" noGrp="1"/>
          </p:cNvSpPr>
          <p:nvPr/>
        </p:nvSpPr>
        <p:spPr>
          <a:xfrm xmlns:a="http://schemas.openxmlformats.org/drawingml/2006/main">
            <a:off x="609600" y="1371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WSL + Ubuntu · Python 3.12 · .venv en la raíz · Ejercicios desde kit/</a:t>
            </a:r>
          </a:p>
        </p:txBody>
      </p:sp>
      <p:sp>
        <p:nvSpPr>
          <p:cNvPr id="6" name="">
            <a:extLst xmlns:a="http://schemas.openxmlformats.org/drawingml/2006/main">
              <a:ext uri="{FF2B5EF4-FFF2-40B4-BE49-F238E27FC236}">
                <a16:creationId xmlns:a16="http://schemas.microsoft.com/office/drawing/2014/main" id="{6EE54DDB-C8C5-4D31-A910-ED48EC07C6BF}"/>
              </a:ext>
            </a:extLst>
          </p:cNvPr>
          <p:cNvSpPr>
            <a:spLocks xmlns:a="http://schemas.openxmlformats.org/drawingml/2006/main" noGrp="1"/>
          </p:cNvSpPr>
          <p:nvPr/>
        </p:nvSpPr>
        <p:spPr>
          <a:xfrm xmlns:a="http://schemas.openxmlformats.org/drawingml/2006/main">
            <a:off x="609600" y="5429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5546ED"/>
                </a:solidFill>
                <a:latin typeface="Calibri"/>
                <a:ea typeface="Calibri"/>
                <a:cs typeface="Calibri"/>
              </a:defRPr>
            </a:pPr>
            <a:r>
              <a:rPr sz="1875" b="1">
                <a:solidFill>
                  <a:srgbClr val="5546ED"/>
                </a:solidFill>
                <a:latin typeface="Calibri"/>
                <a:ea typeface="Calibri"/>
                <a:cs typeface="Calibri"/>
              </a:rPr>
              <a:t>E: ejercicios generales del curso. P: prácticas con datos PQRS.</a:t>
            </a:r>
          </a:p>
        </p:txBody>
      </p:sp>
      <p:sp>
        <p:nvSpPr>
          <p:cNvPr id="7" name="">
            <a:extLst xmlns:a="http://schemas.openxmlformats.org/drawingml/2006/main">
              <a:ext uri="{FF2B5EF4-FFF2-40B4-BE49-F238E27FC236}">
                <a16:creationId xmlns:a16="http://schemas.microsoft.com/office/drawing/2014/main" id="{58A98B69-F22C-41C0-AF56-D486BA2B7DD0}"/>
              </a:ext>
            </a:extLst>
          </p:cNvPr>
          <p:cNvSpPr>
            <a:spLocks xmlns:a="http://schemas.openxmlformats.org/drawingml/2006/main" noGrp="1"/>
          </p:cNvSpPr>
          <p:nvPr/>
        </p:nvSpPr>
        <p:spPr>
          <a:xfrm xmlns:a="http://schemas.openxmlformats.org/drawingml/2006/main">
            <a:off x="609600" y="5838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El número identifica la actividad, no la sesión. Guías: talleres/E02.md, E03.md y P01.md.</a:t>
            </a:r>
          </a:p>
        </p:txBody>
      </p:sp>
      <p:sp>
        <p:nvSpPr>
          <p:cNvPr id="13" name="">
            <a:extLst xmlns:a="http://schemas.openxmlformats.org/drawingml/2006/main">
              <a:ext uri="{FF2B5EF4-FFF2-40B4-BE49-F238E27FC236}">
                <a16:creationId xmlns:a16="http://schemas.microsoft.com/office/drawing/2014/main" id="{529A5E89-58A0-4B57-9F34-164E9923FC7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01ED260D-6B60-4973-8D95-7C248B99955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E02 — Ejercicio 02: Descarga y perfil inicial  |  E03 — Ejercicio 03: Identidad territorial y vigencias  |  P01 — Práctica PQRS 01: Perfil PQRS y lectura por bloques</a:t>
            </a:r>
          </a:p>
        </p:txBody>
      </p:sp>
      <p:sp>
        <p:nvSpPr>
          <p:cNvPr id="15" name="">
            <a:extLst xmlns:a="http://schemas.openxmlformats.org/drawingml/2006/main">
              <a:ext uri="{FF2B5EF4-FFF2-40B4-BE49-F238E27FC236}">
                <a16:creationId xmlns:a16="http://schemas.microsoft.com/office/drawing/2014/main" id="{140F719C-082D-42A6-9EC3-9D40B0F337B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9F22DD76-007F-4D4D-A2D1-364D7F094CB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05</a:t>
            </a:r>
          </a:p>
        </p:txBody>
      </p:sp>
    </p:spTree>
    <p:extLst>
      <p:ext uri="{BB962C8B-B14F-4D97-AF65-F5344CB8AC3E}">
        <p14:creationId xmlns:p14="http://schemas.microsoft.com/office/powerpoint/2010/main" val="2079183130"/>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a07ec0ccca1486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cdce706e2de4664"/>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C2046F-FB50-4A51-948B-4502EA34DAF9}"/>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Herramientas del portátil</a:t>
            </a:r>
          </a:p>
        </p:txBody>
      </p:sp>
      <p:sp>
        <p:nvSpPr>
          <p:cNvPr id="9" name="">
            <a:extLst xmlns:a="http://schemas.openxmlformats.org/drawingml/2006/main">
              <a:ext uri="{FF2B5EF4-FFF2-40B4-BE49-F238E27FC236}">
                <a16:creationId xmlns:a16="http://schemas.microsoft.com/office/drawing/2014/main" id="{4E4F5EC3-7C88-499E-9F89-E47399A0EFAF}"/>
              </a:ext>
            </a:extLst>
          </p:cNvPr>
          <p:cNvSpPr>
            <a:spLocks xmlns:a="http://schemas.openxmlformats.org/drawingml/2006/main" noGrp="1"/>
          </p:cNvSpPr>
          <p:nvPr/>
        </p:nvSpPr>
        <p:spPr>
          <a:xfrm xmlns:a="http://schemas.openxmlformats.org/drawingml/2006/main">
            <a:off x="609600" y="15811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Python 3.12</a:t>
            </a:r>
          </a:p>
        </p:txBody>
      </p:sp>
      <p:sp>
        <p:nvSpPr>
          <p:cNvPr id="10" name="">
            <a:extLst xmlns:a="http://schemas.openxmlformats.org/drawingml/2006/main">
              <a:ext uri="{FF2B5EF4-FFF2-40B4-BE49-F238E27FC236}">
                <a16:creationId xmlns:a16="http://schemas.microsoft.com/office/drawing/2014/main" id="{ADCBD41A-3DDA-4558-9A4A-BF934EF6DD7A}"/>
              </a:ext>
            </a:extLst>
          </p:cNvPr>
          <p:cNvSpPr>
            <a:spLocks xmlns:a="http://schemas.openxmlformats.org/drawingml/2006/main" noGrp="1"/>
          </p:cNvSpPr>
          <p:nvPr/>
        </p:nvSpPr>
        <p:spPr>
          <a:xfrm xmlns:a="http://schemas.openxmlformats.org/drawingml/2006/main">
            <a:off x="609600" y="199072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Scripts, entorno y perfilado.</a:t>
            </a:r>
          </a:p>
        </p:txBody>
      </p:sp>
      <p:sp>
        <p:nvSpPr>
          <p:cNvPr id="11" name="">
            <a:extLst xmlns:a="http://schemas.openxmlformats.org/drawingml/2006/main">
              <a:ext uri="{FF2B5EF4-FFF2-40B4-BE49-F238E27FC236}">
                <a16:creationId xmlns:a16="http://schemas.microsoft.com/office/drawing/2014/main" id="{C4ACB679-1A2E-4084-81DA-2C85B3D5B07D}"/>
              </a:ext>
            </a:extLst>
          </p:cNvPr>
          <p:cNvSpPr>
            <a:spLocks xmlns:a="http://schemas.openxmlformats.org/drawingml/2006/main" noGrp="1"/>
          </p:cNvSpPr>
          <p:nvPr/>
        </p:nvSpPr>
        <p:spPr>
          <a:xfrm xmlns:a="http://schemas.openxmlformats.org/drawingml/2006/main">
            <a:off x="609600" y="263842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DuckDB y pandas</a:t>
            </a:r>
          </a:p>
        </p:txBody>
      </p:sp>
      <p:sp>
        <p:nvSpPr>
          <p:cNvPr id="12" name="">
            <a:extLst xmlns:a="http://schemas.openxmlformats.org/drawingml/2006/main">
              <a:ext uri="{FF2B5EF4-FFF2-40B4-BE49-F238E27FC236}">
                <a16:creationId xmlns:a16="http://schemas.microsoft.com/office/drawing/2014/main" id="{E2CC3DEF-41FE-46BC-AD5B-E131EF09346A}"/>
              </a:ext>
            </a:extLst>
          </p:cNvPr>
          <p:cNvSpPr>
            <a:spLocks xmlns:a="http://schemas.openxmlformats.org/drawingml/2006/main" noGrp="1"/>
          </p:cNvSpPr>
          <p:nvPr/>
        </p:nvSpPr>
        <p:spPr>
          <a:xfrm xmlns:a="http://schemas.openxmlformats.org/drawingml/2006/main">
            <a:off x="609600" y="304800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SQL y tablas locales.</a:t>
            </a:r>
          </a:p>
        </p:txBody>
      </p:sp>
      <p:sp>
        <p:nvSpPr>
          <p:cNvPr id="13" name="">
            <a:extLst xmlns:a="http://schemas.openxmlformats.org/drawingml/2006/main">
              <a:ext uri="{FF2B5EF4-FFF2-40B4-BE49-F238E27FC236}">
                <a16:creationId xmlns:a16="http://schemas.microsoft.com/office/drawing/2014/main" id="{C006AFD2-228F-4E2E-B720-721D9C6337D6}"/>
              </a:ext>
            </a:extLst>
          </p:cNvPr>
          <p:cNvSpPr>
            <a:spLocks xmlns:a="http://schemas.openxmlformats.org/drawingml/2006/main" noGrp="1"/>
          </p:cNvSpPr>
          <p:nvPr/>
        </p:nvSpPr>
        <p:spPr>
          <a:xfrm xmlns:a="http://schemas.openxmlformats.org/drawingml/2006/main">
            <a:off x="609600" y="36957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QGIS</a:t>
            </a:r>
          </a:p>
        </p:txBody>
      </p:sp>
      <p:sp>
        <p:nvSpPr>
          <p:cNvPr id="14" name="">
            <a:extLst xmlns:a="http://schemas.openxmlformats.org/drawingml/2006/main">
              <a:ext uri="{FF2B5EF4-FFF2-40B4-BE49-F238E27FC236}">
                <a16:creationId xmlns:a16="http://schemas.microsoft.com/office/drawing/2014/main" id="{D9DDCFD1-E2B2-4EA2-86B5-42DB539765BF}"/>
              </a:ext>
            </a:extLst>
          </p:cNvPr>
          <p:cNvSpPr>
            <a:spLocks xmlns:a="http://schemas.openxmlformats.org/drawingml/2006/main" noGrp="1"/>
          </p:cNvSpPr>
          <p:nvPr/>
        </p:nvSpPr>
        <p:spPr>
          <a:xfrm xmlns:a="http://schemas.openxmlformats.org/drawingml/2006/main">
            <a:off x="609600" y="410527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Inspección de shapes y rásteres.</a:t>
            </a:r>
          </a:p>
        </p:txBody>
      </p:sp>
      <p:sp>
        <p:nvSpPr>
          <p:cNvPr id="15" name="">
            <a:extLst xmlns:a="http://schemas.openxmlformats.org/drawingml/2006/main">
              <a:ext uri="{FF2B5EF4-FFF2-40B4-BE49-F238E27FC236}">
                <a16:creationId xmlns:a16="http://schemas.microsoft.com/office/drawing/2014/main" id="{F3AF9A8D-77CD-4301-A3B2-9E59553B55A3}"/>
              </a:ext>
            </a:extLst>
          </p:cNvPr>
          <p:cNvSpPr>
            <a:spLocks xmlns:a="http://schemas.openxmlformats.org/drawingml/2006/main" noGrp="1"/>
          </p:cNvSpPr>
          <p:nvPr/>
        </p:nvSpPr>
        <p:spPr>
          <a:xfrm xmlns:a="http://schemas.openxmlformats.org/drawingml/2006/main">
            <a:off x="609600" y="47529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A56B08"/>
                </a:solidFill>
                <a:latin typeface="Calibri"/>
                <a:ea typeface="Calibri"/>
                <a:cs typeface="Calibri"/>
              </a:defRPr>
            </a:pPr>
            <a:r>
              <a:rPr sz="2025" b="1">
                <a:solidFill>
                  <a:srgbClr val="A56B08"/>
                </a:solidFill>
                <a:latin typeface="Calibri"/>
                <a:ea typeface="Calibri"/>
                <a:cs typeface="Calibri"/>
              </a:rPr>
              <a:t>JDK 21</a:t>
            </a:r>
            <a:r>
              <a:rPr sz="2025" b="1">
                <a:solidFill>
                  <a:srgbClr val="A56B08"/>
                </a:solidFill>
                <a:latin typeface="Calibri"/>
                <a:ea typeface="Calibri"/>
                <a:cs typeface="Calibri"/>
              </a:rPr>
              <a:t> y Spark</a:t>
            </a:r>
          </a:p>
        </p:txBody>
      </p:sp>
      <p:sp>
        <p:nvSpPr>
          <p:cNvPr id="16" name="">
            <a:extLst xmlns:a="http://schemas.openxmlformats.org/drawingml/2006/main">
              <a:ext uri="{FF2B5EF4-FFF2-40B4-BE49-F238E27FC236}">
                <a16:creationId xmlns:a16="http://schemas.microsoft.com/office/drawing/2014/main" id="{FC9F72CB-8AD6-49FD-8506-4C542E0E3990}"/>
              </a:ext>
            </a:extLst>
          </p:cNvPr>
          <p:cNvSpPr>
            <a:spLocks xmlns:a="http://schemas.openxmlformats.org/drawingml/2006/main" noGrp="1"/>
          </p:cNvSpPr>
          <p:nvPr/>
        </p:nvSpPr>
        <p:spPr>
          <a:xfrm xmlns:a="http://schemas.openxmlformats.org/drawingml/2006/main">
            <a:off x="609600" y="516255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Preparación para las sesiones 5 y 8.</a:t>
            </a:r>
          </a:p>
        </p:txBody>
      </p:sp>
      <p:sp>
        <p:nvSpPr>
          <p:cNvPr id="17" name="">
            <a:extLst xmlns:a="http://schemas.openxmlformats.org/drawingml/2006/main">
              <a:ext uri="{FF2B5EF4-FFF2-40B4-BE49-F238E27FC236}">
                <a16:creationId xmlns:a16="http://schemas.microsoft.com/office/drawing/2014/main" id="{0239FF7D-BE9F-41EC-B9BB-25BF74D4AD9E}"/>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Las herramientas se eligen por la operación y los recursos disponibles</a:t>
            </a:r>
          </a:p>
        </p:txBody>
      </p:sp>
      <p:sp>
        <p:nvSpPr>
          <p:cNvPr id="32" name="">
            <a:extLst xmlns:a="http://schemas.openxmlformats.org/drawingml/2006/main">
              <a:ext uri="{FF2B5EF4-FFF2-40B4-BE49-F238E27FC236}">
                <a16:creationId xmlns:a16="http://schemas.microsoft.com/office/drawing/2014/main" id="{F701AD8B-5D12-48A8-B26F-8824B37BF154}"/>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55E6DC37-42AC-41A0-BD3D-B7C7FE9D521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5CA382BD-36A7-48DA-99EA-A985E20D3D1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5" name="">
            <a:extLst xmlns:a="http://schemas.openxmlformats.org/drawingml/2006/main">
              <a:ext uri="{FF2B5EF4-FFF2-40B4-BE49-F238E27FC236}">
                <a16:creationId xmlns:a16="http://schemas.microsoft.com/office/drawing/2014/main" id="{C0FA23DA-E398-4A7C-99AC-B55CE77EF50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06</a:t>
            </a:r>
          </a:p>
        </p:txBody>
      </p:sp>
    </p:spTree>
    <p:extLst>
      <p:ext uri="{BB962C8B-B14F-4D97-AF65-F5344CB8AC3E}">
        <p14:creationId xmlns:p14="http://schemas.microsoft.com/office/powerpoint/2010/main" val="1654570623"/>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9f667bcb4a304920"/>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a22c2dfd6f645b6"/>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F61318FE-1203-4DCB-BBF6-9DDA3A2509E4}"/>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Entorno del curso en WSL</a:t>
            </a:r>
          </a:p>
        </p:txBody>
      </p:sp>
      <p:sp>
        <p:nvSpPr>
          <p:cNvPr id="27" name="">
            <a:extLst xmlns:a="http://schemas.openxmlformats.org/drawingml/2006/main">
              <a:ext uri="{FF2B5EF4-FFF2-40B4-BE49-F238E27FC236}">
                <a16:creationId xmlns:a16="http://schemas.microsoft.com/office/drawing/2014/main" id="{83C375A7-4598-4A18-82E5-7AD3D054AABA}"/>
              </a:ext>
            </a:extLst>
          </p:cNvPr>
          <p:cNvSpPr>
            <a:spLocks xmlns:a="http://schemas.openxmlformats.org/drawingml/2006/main" noGrp="1"/>
          </p:cNvSpPr>
          <p:nvPr/>
        </p:nvSpPr>
        <p:spPr>
          <a:xfrm xmlns:a="http://schemas.openxmlformats.org/drawingml/2006/main">
            <a:off x="7524750" y="15621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Ubuntu-26.04</a:t>
            </a:r>
          </a:p>
        </p:txBody>
      </p:sp>
      <p:sp>
        <p:nvSpPr>
          <p:cNvPr id="28" name="">
            <a:extLst xmlns:a="http://schemas.openxmlformats.org/drawingml/2006/main">
              <a:ext uri="{FF2B5EF4-FFF2-40B4-BE49-F238E27FC236}">
                <a16:creationId xmlns:a16="http://schemas.microsoft.com/office/drawing/2014/main" id="{3DE07D87-0BDD-467C-9009-8FBE5036B9EF}"/>
              </a:ext>
            </a:extLst>
          </p:cNvPr>
          <p:cNvSpPr>
            <a:spLocks xmlns:a="http://schemas.openxmlformats.org/drawingml/2006/main" noGrp="1"/>
          </p:cNvSpPr>
          <p:nvPr/>
        </p:nvSpPr>
        <p:spPr>
          <a:xfrm xmlns:a="http://schemas.openxmlformats.org/drawingml/2006/main">
            <a:off x="7524750" y="2009775"/>
            <a:ext cx="4095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Python, Java y los talleres se ejecutan dentro de Ubuntu.</a:t>
            </a:r>
          </a:p>
        </p:txBody>
      </p:sp>
      <p:sp>
        <p:nvSpPr>
          <p:cNvPr id="29" name="">
            <a:extLst xmlns:a="http://schemas.openxmlformats.org/drawingml/2006/main">
              <a:ext uri="{FF2B5EF4-FFF2-40B4-BE49-F238E27FC236}">
                <a16:creationId xmlns:a16="http://schemas.microsoft.com/office/drawing/2014/main" id="{AF4E1DCE-5CB0-4222-8D69-F58EC37D0425}"/>
              </a:ext>
            </a:extLst>
          </p:cNvPr>
          <p:cNvSpPr>
            <a:spLocks xmlns:a="http://schemas.openxmlformats.org/drawingml/2006/main" noGrp="1"/>
          </p:cNvSpPr>
          <p:nvPr/>
        </p:nvSpPr>
        <p:spPr>
          <a:xfrm xmlns:a="http://schemas.openxmlformats.org/drawingml/2006/main">
            <a:off x="7524750" y="29622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Un entorno por repositorio</a:t>
            </a:r>
          </a:p>
        </p:txBody>
      </p:sp>
      <p:sp>
        <p:nvSpPr>
          <p:cNvPr id="30" name="">
            <a:extLst xmlns:a="http://schemas.openxmlformats.org/drawingml/2006/main">
              <a:ext uri="{FF2B5EF4-FFF2-40B4-BE49-F238E27FC236}">
                <a16:creationId xmlns:a16="http://schemas.microsoft.com/office/drawing/2014/main" id="{34AF5E58-54E5-467B-BFE6-8A95B68409FB}"/>
              </a:ext>
            </a:extLst>
          </p:cNvPr>
          <p:cNvSpPr>
            <a:spLocks xmlns:a="http://schemas.openxmlformats.org/drawingml/2006/main" noGrp="1"/>
          </p:cNvSpPr>
          <p:nvPr/>
        </p:nvSpPr>
        <p:spPr>
          <a:xfrm xmlns:a="http://schemas.openxmlformats.org/drawingml/2006/main">
            <a:off x="7524750" y="3409950"/>
            <a:ext cx="4095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.venv en la raíz. Los talleres se ejecutan desde kit/.</a:t>
            </a:r>
          </a:p>
        </p:txBody>
      </p:sp>
      <p:sp>
        <p:nvSpPr>
          <p:cNvPr id="31" name="">
            <a:extLst xmlns:a="http://schemas.openxmlformats.org/drawingml/2006/main">
              <a:ext uri="{FF2B5EF4-FFF2-40B4-BE49-F238E27FC236}">
                <a16:creationId xmlns:a16="http://schemas.microsoft.com/office/drawing/2014/main" id="{E995DA56-DC16-4730-AE22-9DF473BED335}"/>
              </a:ext>
            </a:extLst>
          </p:cNvPr>
          <p:cNvSpPr>
            <a:spLocks xmlns:a="http://schemas.openxmlformats.org/drawingml/2006/main" noGrp="1"/>
          </p:cNvSpPr>
          <p:nvPr/>
        </p:nvSpPr>
        <p:spPr>
          <a:xfrm xmlns:a="http://schemas.openxmlformats.org/drawingml/2006/main">
            <a:off x="7524750" y="43624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Guía de instalación</a:t>
            </a:r>
          </a:p>
        </p:txBody>
      </p:sp>
      <p:sp>
        <p:nvSpPr>
          <p:cNvPr id="32" name="">
            <a:extLst xmlns:a="http://schemas.openxmlformats.org/drawingml/2006/main">
              <a:ext uri="{FF2B5EF4-FFF2-40B4-BE49-F238E27FC236}">
                <a16:creationId xmlns:a16="http://schemas.microsoft.com/office/drawing/2014/main" id="{633338C9-B54F-4C2C-8517-EE4AEDEB963F}"/>
              </a:ext>
            </a:extLst>
          </p:cNvPr>
          <p:cNvSpPr>
            <a:spLocks xmlns:a="http://schemas.openxmlformats.org/drawingml/2006/main" noGrp="1"/>
          </p:cNvSpPr>
          <p:nvPr/>
        </p:nvSpPr>
        <p:spPr>
          <a:xfrm xmlns:a="http://schemas.openxmlformats.org/drawingml/2006/main">
            <a:off x="7524750" y="4810125"/>
            <a:ext cx="4095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docs/instalacion-wsl.md contiene los pasos completos.</a:t>
            </a:r>
          </a:p>
        </p:txBody>
      </p:sp>
      <p:sp>
        <p:nvSpPr>
          <p:cNvPr id="33" name="">
            <a:extLst xmlns:a="http://schemas.openxmlformats.org/drawingml/2006/main">
              <a:ext uri="{FF2B5EF4-FFF2-40B4-BE49-F238E27FC236}">
                <a16:creationId xmlns:a16="http://schemas.microsoft.com/office/drawing/2014/main" id="{D4ED8869-1D09-448D-B76E-9E5793F9823A}"/>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PowerShell administra WSL. El navegador de Windows abre Jupyter.</a:t>
            </a:r>
          </a:p>
        </p:txBody>
      </p:sp>
      <p:sp>
        <p:nvSpPr>
          <p:cNvPr id="38" name="">
            <a:extLst xmlns:a="http://schemas.openxmlformats.org/drawingml/2006/main">
              <a:ext uri="{FF2B5EF4-FFF2-40B4-BE49-F238E27FC236}">
                <a16:creationId xmlns:a16="http://schemas.microsoft.com/office/drawing/2014/main" id="{20BA0545-53A3-44B5-AF30-314C2C68C53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9257D19B-4376-407B-A87B-EF084204A9B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40" name="">
            <a:extLst xmlns:a="http://schemas.openxmlformats.org/drawingml/2006/main">
              <a:ext uri="{FF2B5EF4-FFF2-40B4-BE49-F238E27FC236}">
                <a16:creationId xmlns:a16="http://schemas.microsoft.com/office/drawing/2014/main" id="{C161CB02-B8BD-4D68-9FA0-EA3B3B7AC02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41" name="">
            <a:extLst xmlns:a="http://schemas.openxmlformats.org/drawingml/2006/main">
              <a:ext uri="{FF2B5EF4-FFF2-40B4-BE49-F238E27FC236}">
                <a16:creationId xmlns:a16="http://schemas.microsoft.com/office/drawing/2014/main" id="{9E0FF9A5-36B2-47AB-813A-BF502D3E8D0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07</a:t>
            </a:r>
          </a:p>
        </p:txBody>
      </p:sp>
    </p:spTree>
    <p:extLst>
      <p:ext uri="{BB962C8B-B14F-4D97-AF65-F5344CB8AC3E}">
        <p14:creationId xmlns:p14="http://schemas.microsoft.com/office/powerpoint/2010/main" val="8786076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27"/>
                                        </p:tgtEl>
                                        <p:attrNameLst>
                                          <p:attrName>style.visibility</p:attrName>
                                        </p:attrNameLst>
                                      </p:cBhvr>
                                      <p:to>
                                        <p:strVal val="visible"/>
                                      </p:to>
                                    </p:set>
                                    <p:animEffect transition="in" filter="fade">
                                      <p:cBhvr>
                                        <p:cTn id="7" dur="300"/>
                                        <p:tgtEl>
                                          <p:spTgt spid="27"/>
                                        </p:tgtEl>
                                      </p:cBhvr>
                                    </p:animEffect>
                                  </p:childTnLst>
                                </p:cTn>
                              </p:par>
                              <p:par>
                                <p:cTn id="8" presetID="10" presetClass="entr" presetSubtype="0" fill="hold" nodeType="clickEffect">
                                  <p:stCondLst>
                                    <p:cond delay="0"/>
                                  </p:stCondLst>
                                  <p:childTnLst>
                                    <p:set>
                                      <p:cBhvr>
                                        <p:cTn id="9" dur="1" fill="hold"/>
                                        <p:tgtEl>
                                          <p:spTgt spid="28"/>
                                        </p:tgtEl>
                                        <p:attrNameLst>
                                          <p:attrName>style.visibility</p:attrName>
                                        </p:attrNameLst>
                                      </p:cBhvr>
                                      <p:to>
                                        <p:strVal val="visible"/>
                                      </p:to>
                                    </p:set>
                                    <p:animEffect transition="in" filter="fade">
                                      <p:cBhvr>
                                        <p:cTn id="10" dur="3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29"/>
                                        </p:tgtEl>
                                        <p:attrNameLst>
                                          <p:attrName>style.visibility</p:attrName>
                                        </p:attrNameLst>
                                      </p:cBhvr>
                                      <p:to>
                                        <p:strVal val="visible"/>
                                      </p:to>
                                    </p:set>
                                    <p:animEffect transition="in" filter="fade">
                                      <p:cBhvr>
                                        <p:cTn id="15" dur="300"/>
                                        <p:tgtEl>
                                          <p:spTgt spid="29"/>
                                        </p:tgtEl>
                                      </p:cBhvr>
                                    </p:animEffect>
                                  </p:childTnLst>
                                </p:cTn>
                              </p:par>
                              <p:par>
                                <p:cTn id="16" presetID="10" presetClass="entr" presetSubtype="0" fill="hold" nodeType="clickEffect">
                                  <p:stCondLst>
                                    <p:cond delay="0"/>
                                  </p:stCondLst>
                                  <p:childTnLst>
                                    <p:set>
                                      <p:cBhvr>
                                        <p:cTn id="17" dur="1" fill="hold"/>
                                        <p:tgtEl>
                                          <p:spTgt spid="30"/>
                                        </p:tgtEl>
                                        <p:attrNameLst>
                                          <p:attrName>style.visibility</p:attrName>
                                        </p:attrNameLst>
                                      </p:cBhvr>
                                      <p:to>
                                        <p:strVal val="visible"/>
                                      </p:to>
                                    </p:set>
                                    <p:animEffect transition="in" filter="fade">
                                      <p:cBhvr>
                                        <p:cTn id="18" dur="3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31"/>
                                        </p:tgtEl>
                                        <p:attrNameLst>
                                          <p:attrName>style.visibility</p:attrName>
                                        </p:attrNameLst>
                                      </p:cBhvr>
                                      <p:to>
                                        <p:strVal val="visible"/>
                                      </p:to>
                                    </p:set>
                                    <p:animEffect transition="in" filter="fade">
                                      <p:cBhvr>
                                        <p:cTn id="23" dur="300"/>
                                        <p:tgtEl>
                                          <p:spTgt spid="31"/>
                                        </p:tgtEl>
                                      </p:cBhvr>
                                    </p:animEffect>
                                  </p:childTnLst>
                                </p:cTn>
                              </p:par>
                              <p:par>
                                <p:cTn id="24" presetID="10" presetClass="entr" presetSubtype="0" fill="hold" nodeType="clickEffect">
                                  <p:stCondLst>
                                    <p:cond delay="0"/>
                                  </p:stCondLst>
                                  <p:childTnLst>
                                    <p:set>
                                      <p:cBhvr>
                                        <p:cTn id="25" dur="1" fill="hold"/>
                                        <p:tgtEl>
                                          <p:spTgt spid="32"/>
                                        </p:tgtEl>
                                        <p:attrNameLst>
                                          <p:attrName>style.visibility</p:attrName>
                                        </p:attrNameLst>
                                      </p:cBhvr>
                                      <p:to>
                                        <p:strVal val="visible"/>
                                      </p:to>
                                    </p:set>
                                    <p:animEffect transition="in" filter="fade">
                                      <p:cBhvr>
                                        <p:cTn id="26"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dbf0672df934be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94878E-09F9-400A-B681-C2D1CA1211C1}"/>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Clonado del curso en Ubuntu</a:t>
            </a:r>
          </a:p>
        </p:txBody>
      </p:sp>
      <p:sp>
        <p:nvSpPr>
          <p:cNvPr id="3" name="">
            <a:extLst xmlns:a="http://schemas.openxmlformats.org/drawingml/2006/main">
              <a:ext uri="{FF2B5EF4-FFF2-40B4-BE49-F238E27FC236}">
                <a16:creationId xmlns:a16="http://schemas.microsoft.com/office/drawing/2014/main" id="{D564ECEE-4131-4E95-9526-FBB2285DD5A1}"/>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cd /mnt/c/Users/TUPTC/bigdata</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git clone --branch main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https://github.com/eshernan/big-data-postgraduate.git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cd big-data-postgraduate</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git branch --show-current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git status --short</a:t>
            </a:r>
          </a:p>
        </p:txBody>
      </p:sp>
      <p:sp>
        <p:nvSpPr>
          <p:cNvPr id="4" name="">
            <a:extLst xmlns:a="http://schemas.openxmlformats.org/drawingml/2006/main">
              <a:ext uri="{FF2B5EF4-FFF2-40B4-BE49-F238E27FC236}">
                <a16:creationId xmlns:a16="http://schemas.microsoft.com/office/drawing/2014/main" id="{067B5C23-01B6-4E7E-AD0E-91AF65C2DAA5}"/>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Ruta base de la guía: sustituir TUPTC si el usuario de Windows es distinto.</a:t>
            </a:r>
          </a:p>
        </p:txBody>
      </p:sp>
      <p:sp>
        <p:nvSpPr>
          <p:cNvPr id="8" name="">
            <a:extLst xmlns:a="http://schemas.openxmlformats.org/drawingml/2006/main">
              <a:ext uri="{FF2B5EF4-FFF2-40B4-BE49-F238E27FC236}">
                <a16:creationId xmlns:a16="http://schemas.microsoft.com/office/drawing/2014/main" id="{A4CCE7DB-7543-455C-A1DD-65705C4E03C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97D85C8-19A6-4F84-877E-570D0FC54D4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43F43A91-EECD-40BB-86F4-0A1A622BA1E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8EA11ADA-94DF-414E-A6F7-F7DAA1DAAF9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08</a:t>
            </a:r>
          </a:p>
        </p:txBody>
      </p:sp>
    </p:spTree>
    <p:extLst>
      <p:ext uri="{BB962C8B-B14F-4D97-AF65-F5344CB8AC3E}">
        <p14:creationId xmlns:p14="http://schemas.microsoft.com/office/powerpoint/2010/main" val="1725966431"/>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489cc8e650743d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750A4E-D1DC-43B3-9BB7-AE191734A325}"/>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Python 3.12 mediante uv</a:t>
            </a:r>
          </a:p>
        </p:txBody>
      </p:sp>
      <p:sp>
        <p:nvSpPr>
          <p:cNvPr id="3" name="">
            <a:extLst xmlns:a="http://schemas.openxmlformats.org/drawingml/2006/main">
              <a:ext uri="{FF2B5EF4-FFF2-40B4-BE49-F238E27FC236}">
                <a16:creationId xmlns:a16="http://schemas.microsoft.com/office/drawing/2014/main" id="{E686FB9A-F5A0-4D3C-9377-1A1D29A93E7B}"/>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curl -LsSf https://astral.sh/uv/install.sh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-o /tmp/instalar-uv-bigdata.sh</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sh /tmp/instalar-uv-bigdata.sh</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source "$HOME/.local/bin/env"</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uv --version</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uv python install 3.12</a:t>
            </a:r>
          </a:p>
        </p:txBody>
      </p:sp>
      <p:sp>
        <p:nvSpPr>
          <p:cNvPr id="4" name="">
            <a:extLst xmlns:a="http://schemas.openxmlformats.org/drawingml/2006/main">
              <a:ext uri="{FF2B5EF4-FFF2-40B4-BE49-F238E27FC236}">
                <a16:creationId xmlns:a16="http://schemas.microsoft.com/office/drawing/2014/main" id="{49067B37-7336-4EBB-B056-4B8EA89C8761}"/>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Terminal Ubuntu. Preparación inicial según docs/instalacion-wsl.md.</a:t>
            </a:r>
          </a:p>
        </p:txBody>
      </p:sp>
      <p:sp>
        <p:nvSpPr>
          <p:cNvPr id="8" name="">
            <a:extLst xmlns:a="http://schemas.openxmlformats.org/drawingml/2006/main">
              <a:ext uri="{FF2B5EF4-FFF2-40B4-BE49-F238E27FC236}">
                <a16:creationId xmlns:a16="http://schemas.microsoft.com/office/drawing/2014/main" id="{AADAE6D3-6BD2-4A87-AECF-56E35BA762F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F93695A-C77A-4181-988F-C6B86826A78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58849CDE-4DF3-45D6-8BB9-BD0DACFA58A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74251CE6-4BD4-4B08-9D52-3A0B81B2AC3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09</a:t>
            </a:r>
          </a:p>
        </p:txBody>
      </p:sp>
    </p:spTree>
    <p:extLst>
      <p:ext uri="{BB962C8B-B14F-4D97-AF65-F5344CB8AC3E}">
        <p14:creationId xmlns:p14="http://schemas.microsoft.com/office/powerpoint/2010/main" val="434765815"/>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73b72406a5e402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73DFD9-3EE0-4367-8810-32EC2CE32E3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Un único entorno en la raíz</a:t>
            </a:r>
          </a:p>
        </p:txBody>
      </p:sp>
      <p:sp>
        <p:nvSpPr>
          <p:cNvPr id="3" name="">
            <a:extLst xmlns:a="http://schemas.openxmlformats.org/drawingml/2006/main">
              <a:ext uri="{FF2B5EF4-FFF2-40B4-BE49-F238E27FC236}">
                <a16:creationId xmlns:a16="http://schemas.microsoft.com/office/drawing/2014/main" id="{A28FE0CD-57BF-40B9-863A-8201ED6EF4AE}"/>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Desde big-data-postgraduate/</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uv venv --python 3.12 --seed .venv</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source .venv/bin/activate</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--version</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-c 'import sys; print(sys.executable)'</a:t>
            </a:r>
          </a:p>
        </p:txBody>
      </p:sp>
      <p:sp>
        <p:nvSpPr>
          <p:cNvPr id="4" name="">
            <a:extLst xmlns:a="http://schemas.openxmlformats.org/drawingml/2006/main">
              <a:ext uri="{FF2B5EF4-FFF2-40B4-BE49-F238E27FC236}">
                <a16:creationId xmlns:a16="http://schemas.microsoft.com/office/drawing/2014/main" id="{13ECBCEB-8157-4380-9469-537400BB2849}"/>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Si .venv ya existe, activarlo. No crear kit/.venv.</a:t>
            </a:r>
          </a:p>
        </p:txBody>
      </p:sp>
      <p:sp>
        <p:nvSpPr>
          <p:cNvPr id="8" name="">
            <a:extLst xmlns:a="http://schemas.openxmlformats.org/drawingml/2006/main">
              <a:ext uri="{FF2B5EF4-FFF2-40B4-BE49-F238E27FC236}">
                <a16:creationId xmlns:a16="http://schemas.microsoft.com/office/drawing/2014/main" id="{5DE12DA2-9710-4CD7-914A-636E4051CC2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CB5424E8-2776-41A6-AED8-9A3516CAC34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21B92817-B26B-402A-9471-71EEF58D01F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0992005F-770D-4345-B038-D856C9DAA27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10</a:t>
            </a:r>
          </a:p>
        </p:txBody>
      </p:sp>
    </p:spTree>
    <p:extLst>
      <p:ext uri="{BB962C8B-B14F-4D97-AF65-F5344CB8AC3E}">
        <p14:creationId xmlns:p14="http://schemas.microsoft.com/office/powerpoint/2010/main" val="2019119981"/>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e5b2b2afb144dd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85CF03-EAC6-482C-95FB-5E79218523C0}"/>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Bibliotecas y kernel de Jupyter</a:t>
            </a:r>
          </a:p>
        </p:txBody>
      </p:sp>
      <p:sp>
        <p:nvSpPr>
          <p:cNvPr id="3" name="">
            <a:extLst xmlns:a="http://schemas.openxmlformats.org/drawingml/2006/main">
              <a:ext uri="{FF2B5EF4-FFF2-40B4-BE49-F238E27FC236}">
                <a16:creationId xmlns:a16="http://schemas.microsoft.com/office/drawing/2014/main" id="{8754C446-75C3-45B0-8D0E-C2F979CC4E45}"/>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Raíz del repositorio, con .venv activo</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-m pip install -r kit/requirements.txt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 kit/requirements_pqrs.txt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 kit/requirements_notebooks.txt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-m pip check</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-m ipykernel install --sys-prefix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--name bigdata-wsl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--display-name "BigData · WSL Ubuntu 26.04 · Python 3.12"</a:t>
            </a:r>
          </a:p>
        </p:txBody>
      </p:sp>
      <p:sp>
        <p:nvSpPr>
          <p:cNvPr id="4" name="">
            <a:extLst xmlns:a="http://schemas.openxmlformats.org/drawingml/2006/main">
              <a:ext uri="{FF2B5EF4-FFF2-40B4-BE49-F238E27FC236}">
                <a16:creationId xmlns:a16="http://schemas.microsoft.com/office/drawing/2014/main" id="{23714155-A9BB-4D95-A15B-9EC274A9DE09}"/>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uv prepara Python y el entorno. pip instala las dependencias del curso.</a:t>
            </a:r>
          </a:p>
        </p:txBody>
      </p:sp>
      <p:sp>
        <p:nvSpPr>
          <p:cNvPr id="8" name="">
            <a:extLst xmlns:a="http://schemas.openxmlformats.org/drawingml/2006/main">
              <a:ext uri="{FF2B5EF4-FFF2-40B4-BE49-F238E27FC236}">
                <a16:creationId xmlns:a16="http://schemas.microsoft.com/office/drawing/2014/main" id="{1C8D55A3-71CC-43DF-A33A-8CBA99BE60C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CBF2AA34-89CB-4002-9E5B-F5C105B63E6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55E681D1-839F-4464-AF0A-9371808E7EC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46112ACC-378D-439A-A8E2-3394B59D2C5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11</a:t>
            </a:r>
          </a:p>
        </p:txBody>
      </p:sp>
    </p:spTree>
    <p:extLst>
      <p:ext uri="{BB962C8B-B14F-4D97-AF65-F5344CB8AC3E}">
        <p14:creationId xmlns:p14="http://schemas.microsoft.com/office/powerpoint/2010/main" val="498616807"/>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e09813ab187481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7C7FDC-3E99-4CF0-AD0A-8C3FC2D02EB6}"/>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Primera práctica en Jupyter</a:t>
            </a:r>
          </a:p>
        </p:txBody>
      </p:sp>
      <p:sp>
        <p:nvSpPr>
          <p:cNvPr id="3" name="">
            <a:extLst xmlns:a="http://schemas.openxmlformats.org/drawingml/2006/main">
              <a:ext uri="{FF2B5EF4-FFF2-40B4-BE49-F238E27FC236}">
                <a16:creationId xmlns:a16="http://schemas.microsoft.com/office/drawing/2014/main" id="{AA325E97-2589-44F6-A21B-4A1C4E5C0DED}"/>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Desde la raíz, con .venv activo</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cd kit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perfil</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-m jupyter lab --no-browser --ip=127.0.0.1</a:t>
            </a:r>
          </a:p>
          <a:p xmlns:a="http://schemas.openxmlformats.org/drawingml/2006/main">
            <a:r>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Abrir Notebooks/01_Perfil_PQRS.ipynb</a:t>
            </a:r>
          </a:p>
        </p:txBody>
      </p:sp>
      <p:sp>
        <p:nvSpPr>
          <p:cNvPr id="4" name="">
            <a:extLst xmlns:a="http://schemas.openxmlformats.org/drawingml/2006/main">
              <a:ext uri="{FF2B5EF4-FFF2-40B4-BE49-F238E27FC236}">
                <a16:creationId xmlns:a16="http://schemas.microsoft.com/office/drawing/2014/main" id="{572433B0-7B36-4DBC-AF5F-E5AD6D3006DD}"/>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Kernel: BigData · WSL Ubuntu 26.04 · Python 3.12</a:t>
            </a:r>
          </a:p>
        </p:txBody>
      </p:sp>
      <p:sp>
        <p:nvSpPr>
          <p:cNvPr id="8" name="">
            <a:extLst xmlns:a="http://schemas.openxmlformats.org/drawingml/2006/main">
              <a:ext uri="{FF2B5EF4-FFF2-40B4-BE49-F238E27FC236}">
                <a16:creationId xmlns:a16="http://schemas.microsoft.com/office/drawing/2014/main" id="{1C4F1C33-609C-4611-B79D-1C8740592AA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5E8FB63F-B40D-4D36-A64D-18327728A4A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722B1C94-D7B3-4198-94B3-4406DD6A15B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10CB02AE-193C-4B82-A5BC-748A3E9D2AE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12</a:t>
            </a:r>
          </a:p>
        </p:txBody>
      </p:sp>
    </p:spTree>
    <p:extLst>
      <p:ext uri="{BB962C8B-B14F-4D97-AF65-F5344CB8AC3E}">
        <p14:creationId xmlns:p14="http://schemas.microsoft.com/office/powerpoint/2010/main" val="1390096054"/>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3830b8d679647f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graphicFrame>
        <p:nvGraphicFramePr>
          <p:cNvPr id="37" name="Chart"/>
          <p:cNvGraphicFramePr/>
          <p:nvPr/>
        </p:nvGraphicFramePr>
        <p:xfrm>
          <a:off xmlns:a="http://schemas.openxmlformats.org/drawingml/2006/main" x="476250" y="1714500"/>
          <a:ext xmlns:a="http://schemas.openxmlformats.org/drawingml/2006/main" cx="6953250" cy="3886200"/>
        </p:xfrm>
        <a:graphic xmlns:a="http://schemas.openxmlformats.org/drawingml/2006/main">
          <a:graphicData uri="http://schemas.openxmlformats.org/drawingml/2006/chart">
            <c:chart xmlns:r="http://schemas.openxmlformats.org/officeDocument/2006/relationships" xmlns:c="http://schemas.openxmlformats.org/drawingml/2006/chart" r:id="R60d4513fb57c4163"/>
          </a:graphicData>
        </a:graphic>
      </p:graphicFrame>
      <p:graphicFrame>
        <p:nvGraphicFramePr>
          <p:cNvPr id="38" name=""/>
          <p:cNvGraphicFramePr/>
          <p:nvPr/>
        </p:nvGraphicFramePr>
        <p:xfrm>
          <a:off xmlns:a="http://schemas.openxmlformats.org/drawingml/2006/main" x="7620000" y="1714500"/>
          <a:ext xmlns:a="http://schemas.openxmlformats.org/drawingml/2006/main" cx="3952875" cy="3714750"/>
        </p:xfrm>
        <a:graphic xmlns:a="http://schemas.openxmlformats.org/drawingml/2006/main">
          <a:graphicData uri="http://schemas.openxmlformats.org/drawingml/2006/table">
            <a:tbl>
              <a:tblPr/>
              <a:tblGrid>
                <a:gridCol w="2076450"/>
                <a:gridCol w="1876425"/>
              </a:tblGrid>
              <a:tr h="619125">
                <a:tc>
                  <a:txBody>
                    <a:bodyPr/>
                    <a:lstStyle/>
                    <a:p>
                      <a:r>
                        <a:rPr sz="1650" b="1">
                          <a:solidFill>
                            <a:srgbClr val="FFFFFF"/>
                          </a:solidFill>
                          <a:latin typeface="Calibri"/>
                          <a:ea typeface="Calibri"/>
                          <a:cs typeface="Calibri"/>
                        </a:rPr>
                        <a:t>Archivo</a:t>
                      </a:r>
                    </a:p>
                  </a:txBody>
                  <a:tcPr marL="91440" marR="91440" marT="45720" marB="45720">
                    <a:solidFill>
                      <a:srgbClr val="5546ED"/>
                    </a:solidFill>
                  </a:tcPr>
                </a:tc>
                <a:tc>
                  <a:txBody>
                    <a:bodyPr/>
                    <a:lstStyle/>
                    <a:p>
                      <a:r>
                        <a:rPr sz="1650" b="1">
                          <a:solidFill>
                            <a:srgbClr val="FFFFFF"/>
                          </a:solidFill>
                          <a:latin typeface="Calibri"/>
                          <a:ea typeface="Calibri"/>
                          <a:cs typeface="Calibri"/>
                        </a:rPr>
                        <a:t>Alcance</a:t>
                      </a:r>
                    </a:p>
                  </a:txBody>
                  <a:tcPr marL="91440" marR="91440" marT="45720" marB="45720">
                    <a:solidFill>
                      <a:srgbClr val="5546ED"/>
                    </a:solidFill>
                  </a:tcPr>
                </a:tc>
              </a:tr>
              <a:tr h="619125">
                <a:tc>
                  <a:txBody>
                    <a:bodyPr/>
                    <a:lstStyle/>
                    <a:p>
                      <a:r>
                        <a:rPr sz="1650" b="0">
                          <a:solidFill>
                            <a:srgbClr val="203B68"/>
                          </a:solidFill>
                          <a:latin typeface="Calibri"/>
                          <a:ea typeface="Calibri"/>
                          <a:cs typeface="Calibri"/>
                        </a:rPr>
                        <a:t>Suelos CSV</a:t>
                      </a:r>
                    </a:p>
                  </a:txBody>
                  <a:tcPr marL="91440" marR="91440" marT="45720" marB="45720">
                    <a:solidFill>
                      <a:srgbClr val="F0F8F8"/>
                    </a:solidFill>
                  </a:tcPr>
                </a:tc>
                <a:tc>
                  <a:txBody>
                    <a:bodyPr/>
                    <a:lstStyle/>
                    <a:p>
                      <a:r>
                        <a:rPr sz="1650" b="0">
                          <a:solidFill>
                            <a:srgbClr val="203B68"/>
                          </a:solidFill>
                          <a:latin typeface="Calibri"/>
                          <a:ea typeface="Calibri"/>
                          <a:cs typeface="Calibri"/>
                        </a:rPr>
                        <a:t>92.738 filas</a:t>
                      </a:r>
                    </a:p>
                  </a:txBody>
                  <a:tcPr marL="91440" marR="91440" marT="45720" marB="45720">
                    <a:solidFill>
                      <a:srgbClr val="F0F8F8"/>
                    </a:solidFill>
                  </a:tcPr>
                </a:tc>
              </a:tr>
              <a:tr h="619125">
                <a:tc>
                  <a:txBody>
                    <a:bodyPr/>
                    <a:lstStyle/>
                    <a:p>
                      <a:r>
                        <a:rPr sz="1650" b="0">
                          <a:solidFill>
                            <a:srgbClr val="203B68"/>
                          </a:solidFill>
                          <a:latin typeface="Calibri"/>
                          <a:ea typeface="Calibri"/>
                          <a:cs typeface="Calibri"/>
                        </a:rPr>
                        <a:t>EVA CSV</a:t>
                      </a:r>
                    </a:p>
                  </a:txBody>
                  <a:tcPr marL="91440" marR="91440" marT="45720" marB="45720">
                    <a:solidFill>
                      <a:srgbClr val="FFFFFF"/>
                    </a:solidFill>
                  </a:tcPr>
                </a:tc>
                <a:tc>
                  <a:txBody>
                    <a:bodyPr/>
                    <a:lstStyle/>
                    <a:p>
                      <a:r>
                        <a:rPr sz="1650" b="0">
                          <a:solidFill>
                            <a:srgbClr val="203B68"/>
                          </a:solidFill>
                          <a:latin typeface="Calibri"/>
                          <a:ea typeface="Calibri"/>
                          <a:cs typeface="Calibri"/>
                        </a:rPr>
                        <a:t>166.732 filas</a:t>
                      </a:r>
                    </a:p>
                  </a:txBody>
                  <a:tcPr marL="91440" marR="91440" marT="45720" marB="45720">
                    <a:solidFill>
                      <a:srgbClr val="FFFFFF"/>
                    </a:solidFill>
                  </a:tcPr>
                </a:tc>
              </a:tr>
              <a:tr h="619125">
                <a:tc>
                  <a:txBody>
                    <a:bodyPr/>
                    <a:lstStyle/>
                    <a:p>
                      <a:r>
                        <a:rPr sz="1650" b="0">
                          <a:solidFill>
                            <a:srgbClr val="203B68"/>
                          </a:solidFill>
                          <a:latin typeface="Calibri"/>
                          <a:ea typeface="Calibri"/>
                          <a:cs typeface="Calibri"/>
                        </a:rPr>
                        <a:t>DIVIPOLA CSV</a:t>
                      </a:r>
                    </a:p>
                  </a:txBody>
                  <a:tcPr marL="91440" marR="91440" marT="45720" marB="45720">
                    <a:solidFill>
                      <a:srgbClr val="F0F8F8"/>
                    </a:solidFill>
                  </a:tcPr>
                </a:tc>
                <a:tc>
                  <a:txBody>
                    <a:bodyPr/>
                    <a:lstStyle/>
                    <a:p>
                      <a:r>
                        <a:rPr sz="1650" b="0">
                          <a:solidFill>
                            <a:srgbClr val="203B68"/>
                          </a:solidFill>
                          <a:latin typeface="Calibri"/>
                          <a:ea typeface="Calibri"/>
                          <a:cs typeface="Calibri"/>
                        </a:rPr>
                        <a:t>1.122 registros</a:t>
                      </a:r>
                    </a:p>
                  </a:txBody>
                  <a:tcPr marL="91440" marR="91440" marT="45720" marB="45720">
                    <a:solidFill>
                      <a:srgbClr val="F0F8F8"/>
                    </a:solidFill>
                  </a:tcPr>
                </a:tc>
              </a:tr>
              <a:tr h="619125">
                <a:tc>
                  <a:txBody>
                    <a:bodyPr/>
                    <a:lstStyle/>
                    <a:p>
                      <a:r>
                        <a:rPr sz="1650" b="0">
                          <a:solidFill>
                            <a:srgbClr val="203B68"/>
                          </a:solidFill>
                          <a:latin typeface="Calibri"/>
                          <a:ea typeface="Calibri"/>
                          <a:cs typeface="Calibri"/>
                        </a:rPr>
                        <a:t>Municipios</a:t>
                      </a:r>
                    </a:p>
                  </a:txBody>
                  <a:tcPr marL="91440" marR="91440" marT="45720" marB="45720">
                    <a:solidFill>
                      <a:srgbClr val="FFFFFF"/>
                    </a:solidFill>
                  </a:tcPr>
                </a:tc>
                <a:tc>
                  <a:txBody>
                    <a:bodyPr/>
                    <a:lstStyle/>
                    <a:p>
                      <a:r>
                        <a:rPr sz="1650" b="0">
                          <a:solidFill>
                            <a:srgbClr val="203B68"/>
                          </a:solidFill>
                          <a:latin typeface="Calibri"/>
                          <a:ea typeface="Calibri"/>
                          <a:cs typeface="Calibri"/>
                        </a:rPr>
                        <a:t>ZIP de shapes</a:t>
                      </a:r>
                    </a:p>
                  </a:txBody>
                  <a:tcPr marL="91440" marR="91440" marT="45720" marB="45720">
                    <a:solidFill>
                      <a:srgbClr val="FFFFFF"/>
                    </a:solidFill>
                  </a:tcPr>
                </a:tc>
              </a:tr>
              <a:tr h="619125">
                <a:tc>
                  <a:txBody>
                    <a:bodyPr/>
                    <a:lstStyle/>
                    <a:p>
                      <a:r>
                        <a:rPr sz="1650" b="0">
                          <a:solidFill>
                            <a:srgbClr val="203B68"/>
                          </a:solidFill>
                          <a:latin typeface="Calibri"/>
                          <a:ea typeface="Calibri"/>
                          <a:cs typeface="Calibri"/>
                        </a:rPr>
                        <a:t>Departamentos</a:t>
                      </a:r>
                    </a:p>
                  </a:txBody>
                  <a:tcPr marL="91440" marR="91440" marT="45720" marB="45720">
                    <a:solidFill>
                      <a:srgbClr val="F0F8F8"/>
                    </a:solidFill>
                  </a:tcPr>
                </a:tc>
                <a:tc>
                  <a:txBody>
                    <a:bodyPr/>
                    <a:lstStyle/>
                    <a:p>
                      <a:r>
                        <a:rPr sz="1650" b="0">
                          <a:solidFill>
                            <a:srgbClr val="203B68"/>
                          </a:solidFill>
                          <a:latin typeface="Calibri"/>
                          <a:ea typeface="Calibri"/>
                          <a:cs typeface="Calibri"/>
                        </a:rPr>
                        <a:t>ZIP de shapes</a:t>
                      </a:r>
                    </a:p>
                  </a:txBody>
                  <a:tcPr marL="91440" marR="91440" marT="45720" marB="45720">
                    <a:solidFill>
                      <a:srgbClr val="F0F8F8"/>
                    </a:solidFill>
                  </a:tcPr>
                </a:tc>
              </a:tr>
            </a:tbl>
          </a:graphicData>
        </a:graphic>
      </p:graphicFrame>
      <p:sp>
        <p:nvSpPr>
          <p:cNvPr id="5" name="">
            <a:extLst xmlns:a="http://schemas.openxmlformats.org/drawingml/2006/main">
              <a:ext uri="{FF2B5EF4-FFF2-40B4-BE49-F238E27FC236}">
                <a16:creationId xmlns:a16="http://schemas.microsoft.com/office/drawing/2014/main" id="{480983EB-A6E6-473A-B3D2-4093C83B462D}"/>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Tamaños observados</a:t>
            </a:r>
          </a:p>
        </p:txBody>
      </p:sp>
      <p:sp>
        <p:nvSpPr>
          <p:cNvPr id="10" name="">
            <a:extLst xmlns:a="http://schemas.openxmlformats.org/drawingml/2006/main">
              <a:ext uri="{FF2B5EF4-FFF2-40B4-BE49-F238E27FC236}">
                <a16:creationId xmlns:a16="http://schemas.microsoft.com/office/drawing/2014/main" id="{46D20347-E76F-4A71-A69C-266F0EF057A2}"/>
              </a:ext>
            </a:extLst>
          </p:cNvPr>
          <p:cNvSpPr>
            <a:spLocks xmlns:a="http://schemas.openxmlformats.org/drawingml/2006/main" noGrp="1"/>
          </p:cNvSpPr>
          <p:nvPr/>
        </p:nvSpPr>
        <p:spPr>
          <a:xfrm xmlns:a="http://schemas.openxmlformats.org/drawingml/2006/main">
            <a:off x="609600" y="59055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DIVIPOLA: 70,85 KB. Los valores corresponden al corte docente suministrado.</a:t>
            </a:r>
          </a:p>
        </p:txBody>
      </p:sp>
      <p:sp>
        <p:nvSpPr>
          <p:cNvPr id="29" name="">
            <a:extLst xmlns:a="http://schemas.openxmlformats.org/drawingml/2006/main">
              <a:ext uri="{FF2B5EF4-FFF2-40B4-BE49-F238E27FC236}">
                <a16:creationId xmlns:a16="http://schemas.microsoft.com/office/drawing/2014/main" id="{7B073DA8-3335-4EDD-A0E6-29B785F448C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6F4E3A11-BB01-418B-85CC-98E385DBDC6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1" name="">
            <a:extLst xmlns:a="http://schemas.openxmlformats.org/drawingml/2006/main">
              <a:ext uri="{FF2B5EF4-FFF2-40B4-BE49-F238E27FC236}">
                <a16:creationId xmlns:a16="http://schemas.microsoft.com/office/drawing/2014/main" id="{0ED0901F-A95E-4F4B-9466-BFF5B1E280E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2" name="">
            <a:extLst xmlns:a="http://schemas.openxmlformats.org/drawingml/2006/main">
              <a:ext uri="{FF2B5EF4-FFF2-40B4-BE49-F238E27FC236}">
                <a16:creationId xmlns:a16="http://schemas.microsoft.com/office/drawing/2014/main" id="{20750ACB-8D87-4AFF-81A7-D4AC1622ECB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13</a:t>
            </a:r>
          </a:p>
        </p:txBody>
      </p:sp>
    </p:spTree>
    <p:extLst>
      <p:ext uri="{BB962C8B-B14F-4D97-AF65-F5344CB8AC3E}">
        <p14:creationId xmlns:p14="http://schemas.microsoft.com/office/powerpoint/2010/main" val="674010356"/>
      </p:ext>
    </p:extLst>
  </p:cSld>
  <p:transition spd="med" advClick="1">
    <p:fade/>
  </p:transition>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95b49d67df04c0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0881D7-119E-4B8E-AEFC-5713DC5CB162}"/>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Memoria y almacenamiento</a:t>
            </a:r>
          </a:p>
        </p:txBody>
      </p:sp>
      <p:sp>
        <p:nvSpPr>
          <p:cNvPr id="3" name="">
            <a:extLst xmlns:a="http://schemas.openxmlformats.org/drawingml/2006/main">
              <a:ext uri="{FF2B5EF4-FFF2-40B4-BE49-F238E27FC236}">
                <a16:creationId xmlns:a16="http://schemas.microsoft.com/office/drawing/2014/main" id="{FB0DE897-45EE-47CF-9991-C4DF58FC6D1E}"/>
              </a:ext>
            </a:extLst>
          </p:cNvPr>
          <p:cNvSpPr>
            <a:spLocks xmlns:a="http://schemas.openxmlformats.org/drawingml/2006/main" noGrp="1"/>
          </p:cNvSpPr>
          <p:nvPr/>
        </p:nvSpPr>
        <p:spPr>
          <a:xfrm xmlns:a="http://schemas.openxmlformats.org/drawingml/2006/main">
            <a:off x="685800" y="15621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16 GB de RAM recomendados</a:t>
            </a:r>
          </a:p>
        </p:txBody>
      </p:sp>
      <p:sp>
        <p:nvSpPr>
          <p:cNvPr id="4" name="">
            <a:extLst xmlns:a="http://schemas.openxmlformats.org/drawingml/2006/main">
              <a:ext uri="{FF2B5EF4-FFF2-40B4-BE49-F238E27FC236}">
                <a16:creationId xmlns:a16="http://schemas.microsoft.com/office/drawing/2014/main" id="{2E7898E9-E0DA-4367-8585-9DE76AC6E5A0}"/>
              </a:ext>
            </a:extLst>
          </p:cNvPr>
          <p:cNvSpPr>
            <a:spLocks xmlns:a="http://schemas.openxmlformats.org/drawingml/2006/main" noGrp="1"/>
          </p:cNvSpPr>
          <p:nvPr/>
        </p:nvSpPr>
        <p:spPr>
          <a:xfrm xmlns:a="http://schemas.openxmlformats.org/drawingml/2006/main">
            <a:off x="685800" y="200977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Con 8 GB, empezar con muestras y limitar procesos.</a:t>
            </a:r>
          </a:p>
        </p:txBody>
      </p:sp>
      <p:sp>
        <p:nvSpPr>
          <p:cNvPr id="5" name="">
            <a:extLst xmlns:a="http://schemas.openxmlformats.org/drawingml/2006/main">
              <a:ext uri="{FF2B5EF4-FFF2-40B4-BE49-F238E27FC236}">
                <a16:creationId xmlns:a16="http://schemas.microsoft.com/office/drawing/2014/main" id="{AE0DA4F4-34F0-41E2-A2CB-890406C9D41E}"/>
              </a:ext>
            </a:extLst>
          </p:cNvPr>
          <p:cNvSpPr>
            <a:spLocks xmlns:a="http://schemas.openxmlformats.org/drawingml/2006/main" noGrp="1"/>
          </p:cNvSpPr>
          <p:nvPr/>
        </p:nvSpPr>
        <p:spPr>
          <a:xfrm xmlns:a="http://schemas.openxmlformats.org/drawingml/2006/main">
            <a:off x="685800" y="2962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Espacio preventivo</a:t>
            </a:r>
          </a:p>
        </p:txBody>
      </p:sp>
      <p:sp>
        <p:nvSpPr>
          <p:cNvPr id="6" name="">
            <a:extLst xmlns:a="http://schemas.openxmlformats.org/drawingml/2006/main">
              <a:ext uri="{FF2B5EF4-FFF2-40B4-BE49-F238E27FC236}">
                <a16:creationId xmlns:a16="http://schemas.microsoft.com/office/drawing/2014/main" id="{7DF8DFA1-6D87-4F12-A5FB-FDE29633D69C}"/>
              </a:ext>
            </a:extLst>
          </p:cNvPr>
          <p:cNvSpPr>
            <a:spLocks xmlns:a="http://schemas.openxmlformats.org/drawingml/2006/main" noGrp="1"/>
          </p:cNvSpPr>
          <p:nvPr/>
        </p:nvSpPr>
        <p:spPr>
          <a:xfrm xmlns:a="http://schemas.openxmlformats.org/drawingml/2006/main">
            <a:off x="685800" y="3409950"/>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5 GB para muestras y datos. 8 GB para la ruta PQRS completa.</a:t>
            </a:r>
          </a:p>
        </p:txBody>
      </p:sp>
      <p:sp>
        <p:nvSpPr>
          <p:cNvPr id="7" name="">
            <a:extLst xmlns:a="http://schemas.openxmlformats.org/drawingml/2006/main">
              <a:ext uri="{FF2B5EF4-FFF2-40B4-BE49-F238E27FC236}">
                <a16:creationId xmlns:a16="http://schemas.microsoft.com/office/drawing/2014/main" id="{4CAAFEB3-017E-433F-B8FD-BEFAC7C229ED}"/>
              </a:ext>
            </a:extLst>
          </p:cNvPr>
          <p:cNvSpPr>
            <a:spLocks xmlns:a="http://schemas.openxmlformats.org/drawingml/2006/main" noGrp="1"/>
          </p:cNvSpPr>
          <p:nvPr/>
        </p:nvSpPr>
        <p:spPr>
          <a:xfrm xmlns:a="http://schemas.openxmlformats.org/drawingml/2006/main">
            <a:off x="685800" y="43624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Con herramientas instaladas</a:t>
            </a:r>
          </a:p>
        </p:txBody>
      </p:sp>
      <p:sp>
        <p:nvSpPr>
          <p:cNvPr id="8" name="">
            <a:extLst xmlns:a="http://schemas.openxmlformats.org/drawingml/2006/main">
              <a:ext uri="{FF2B5EF4-FFF2-40B4-BE49-F238E27FC236}">
                <a16:creationId xmlns:a16="http://schemas.microsoft.com/office/drawing/2014/main" id="{20B79CFC-1160-4B36-957B-A245009BF58D}"/>
              </a:ext>
            </a:extLst>
          </p:cNvPr>
          <p:cNvSpPr>
            <a:spLocks xmlns:a="http://schemas.openxmlformats.org/drawingml/2006/main" noGrp="1"/>
          </p:cNvSpPr>
          <p:nvPr/>
        </p:nvSpPr>
        <p:spPr>
          <a:xfrm xmlns:a="http://schemas.openxmlformats.org/drawingml/2006/main">
            <a:off x="685800" y="48101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Planificar 15–20 GB libres. Son presupuestos, no tamaños medidos.</a:t>
            </a:r>
          </a:p>
        </p:txBody>
      </p:sp>
      <p:sp>
        <p:nvSpPr>
          <p:cNvPr id="9" name="">
            <a:extLst xmlns:a="http://schemas.openxmlformats.org/drawingml/2006/main">
              <a:ext uri="{FF2B5EF4-FFF2-40B4-BE49-F238E27FC236}">
                <a16:creationId xmlns:a16="http://schemas.microsoft.com/office/drawing/2014/main" id="{A9DAF2E2-7718-4677-AE35-11E9B7C729BF}"/>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Bloques de 25.000 filas. Reducir a 5.000–10.000 si la RAM lo requiere.</a:t>
            </a:r>
          </a:p>
        </p:txBody>
      </p:sp>
      <p:sp>
        <p:nvSpPr>
          <p:cNvPr id="13" name="">
            <a:extLst xmlns:a="http://schemas.openxmlformats.org/drawingml/2006/main">
              <a:ext uri="{FF2B5EF4-FFF2-40B4-BE49-F238E27FC236}">
                <a16:creationId xmlns:a16="http://schemas.microsoft.com/office/drawing/2014/main" id="{11C83789-86A8-496C-A03C-AE7FBF75348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DCD3B638-3D7C-4C1B-B9AD-8354F234DA8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5" name="">
            <a:extLst xmlns:a="http://schemas.openxmlformats.org/drawingml/2006/main">
              <a:ext uri="{FF2B5EF4-FFF2-40B4-BE49-F238E27FC236}">
                <a16:creationId xmlns:a16="http://schemas.microsoft.com/office/drawing/2014/main" id="{21550D72-8792-4B9C-B386-822909C66F3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922A492D-2EC2-4709-B695-678819AB47B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14</a:t>
            </a:r>
          </a:p>
        </p:txBody>
      </p:sp>
    </p:spTree>
    <p:extLst>
      <p:ext uri="{BB962C8B-B14F-4D97-AF65-F5344CB8AC3E}">
        <p14:creationId xmlns:p14="http://schemas.microsoft.com/office/powerpoint/2010/main" val="1651260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7ad6ea0c21b434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4" name=""/>
          <p:cNvGraphicFramePr/>
          <p:nvPr/>
        </p:nvGraphicFramePr>
        <p:xfrm>
          <a:off xmlns:a="http://schemas.openxmlformats.org/drawingml/2006/main" x="609600" y="1495425"/>
          <a:ext xmlns:a="http://schemas.openxmlformats.org/drawingml/2006/main" cx="10972800" cy="4210050"/>
        </p:xfrm>
        <a:graphic xmlns:a="http://schemas.openxmlformats.org/drawingml/2006/main">
          <a:graphicData uri="http://schemas.openxmlformats.org/drawingml/2006/table">
            <a:tbl>
              <a:tblPr/>
              <a:tblGrid>
                <a:gridCol w="3714750"/>
                <a:gridCol w="7258050"/>
              </a:tblGrid>
              <a:tr h="842010">
                <a:tc>
                  <a:txBody>
                    <a:bodyPr/>
                    <a:lstStyle/>
                    <a:p>
                      <a:r>
                        <a:rPr sz="1950" b="1">
                          <a:solidFill>
                            <a:srgbClr val="FFFFFF"/>
                          </a:solidFill>
                          <a:latin typeface="Calibri"/>
                          <a:ea typeface="Calibri"/>
                          <a:cs typeface="Calibri"/>
                        </a:rPr>
                        <a:t>Elemento del manifiesto</a:t>
                      </a:r>
                    </a:p>
                  </a:txBody>
                  <a:tcPr marL="91440" marR="91440" marT="45720" marB="45720">
                    <a:solidFill>
                      <a:srgbClr val="4237BF"/>
                    </a:solidFill>
                  </a:tcPr>
                </a:tc>
                <a:tc>
                  <a:txBody>
                    <a:bodyPr/>
                    <a:lstStyle/>
                    <a:p>
                      <a:r>
                        <a:rPr sz="1950" b="1">
                          <a:solidFill>
                            <a:srgbClr val="FFFFFF"/>
                          </a:solidFill>
                          <a:latin typeface="Calibri"/>
                          <a:ea typeface="Calibri"/>
                          <a:cs typeface="Calibri"/>
                        </a:rPr>
                        <a:t>Contenido que debe registrar el equipo</a:t>
                      </a:r>
                    </a:p>
                  </a:txBody>
                  <a:tcPr marL="91440" marR="91440" marT="45720" marB="45720">
                    <a:solidFill>
                      <a:srgbClr val="4237BF"/>
                    </a:solidFill>
                  </a:tcPr>
                </a:tc>
              </a:tr>
              <a:tr h="842010">
                <a:tc>
                  <a:txBody>
                    <a:bodyPr/>
                    <a:lstStyle/>
                    <a:p>
                      <a:r>
                        <a:rPr sz="1950" b="0">
                          <a:solidFill>
                            <a:srgbClr val="203B68"/>
                          </a:solidFill>
                          <a:latin typeface="Calibri"/>
                          <a:ea typeface="Calibri"/>
                          <a:cs typeface="Calibri"/>
                        </a:rPr>
                        <a:t>Archivos y períodos</a:t>
                      </a:r>
                    </a:p>
                  </a:txBody>
                  <a:tcPr marL="91440" marR="91440" marT="45720" marB="45720">
                    <a:solidFill>
                      <a:srgbClr val="F4F8F8"/>
                    </a:solidFill>
                  </a:tcPr>
                </a:tc>
                <a:tc>
                  <a:txBody>
                    <a:bodyPr/>
                    <a:lstStyle/>
                    <a:p>
                      <a:r>
                        <a:rPr sz="1950" b="0">
                          <a:solidFill>
                            <a:srgbClr val="203B68"/>
                          </a:solidFill>
                          <a:latin typeface="Calibri"/>
                          <a:ea typeface="Calibri"/>
                          <a:cs typeface="Calibri"/>
                        </a:rPr>
                        <a:t>2023-II, 2024-I y 2024-II · descarga 02/10/2026</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Esquema</a:t>
                      </a:r>
                    </a:p>
                  </a:txBody>
                  <a:tcPr marL="91440" marR="91440" marT="45720" marB="45720">
                    <a:solidFill>
                      <a:srgbClr val="E9F0F1"/>
                    </a:solidFill>
                  </a:tcPr>
                </a:tc>
                <a:tc>
                  <a:txBody>
                    <a:bodyPr/>
                    <a:lstStyle/>
                    <a:p>
                      <a:r>
                        <a:rPr sz="1950" b="0">
                          <a:solidFill>
                            <a:srgbClr val="203B68"/>
                          </a:solidFill>
                          <a:latin typeface="Calibri"/>
                          <a:ea typeface="Calibri"/>
                          <a:cs typeface="Calibri"/>
                        </a:rPr>
                        <a:t>2024-I: coma; otros: punto y coma · UTF-8</a:t>
                      </a:r>
                    </a:p>
                  </a:txBody>
                  <a:tcPr marL="91440" marR="91440" marT="45720" marB="45720">
                    <a:solidFill>
                      <a:srgbClr val="E9F0F1"/>
                    </a:solidFill>
                  </a:tcPr>
                </a:tc>
              </a:tr>
              <a:tr h="842010">
                <a:tc>
                  <a:txBody>
                    <a:bodyPr/>
                    <a:lstStyle/>
                    <a:p>
                      <a:r>
                        <a:rPr sz="1950" b="0">
                          <a:solidFill>
                            <a:srgbClr val="203B68"/>
                          </a:solidFill>
                          <a:latin typeface="Calibri"/>
                          <a:ea typeface="Calibri"/>
                          <a:cs typeface="Calibri"/>
                        </a:rPr>
                        <a:t>Procedencia</a:t>
                      </a:r>
                    </a:p>
                  </a:txBody>
                  <a:tcPr marL="91440" marR="91440" marT="45720" marB="45720">
                    <a:solidFill>
                      <a:srgbClr val="F4F8F8"/>
                    </a:solidFill>
                  </a:tcPr>
                </a:tc>
                <a:tc>
                  <a:txBody>
                    <a:bodyPr/>
                    <a:lstStyle/>
                    <a:p>
                      <a:r>
                        <a:rPr sz="1950" b="0">
                          <a:solidFill>
                            <a:srgbClr val="203B68"/>
                          </a:solidFill>
                          <a:latin typeface="Calibri"/>
                          <a:ea typeface="Calibri"/>
                          <a:cs typeface="Calibri"/>
                        </a:rPr>
                        <a:t>Supersalud · CC BY 4.0 · URL y SHA-256 por archivo</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Control inicial</a:t>
                      </a:r>
                    </a:p>
                  </a:txBody>
                  <a:tcPr marL="91440" marR="91440" marT="45720" marB="45720">
                    <a:solidFill>
                      <a:srgbClr val="E9F0F1"/>
                    </a:solidFill>
                  </a:tcPr>
                </a:tc>
                <a:tc>
                  <a:txBody>
                    <a:bodyPr/>
                    <a:lstStyle/>
                    <a:p>
                      <a:r>
                        <a:rPr sz="1950" b="0">
                          <a:solidFill>
                            <a:srgbClr val="203B68"/>
                          </a:solidFill>
                          <a:latin typeface="Calibri"/>
                          <a:ea typeface="Calibri"/>
                          <a:cs typeface="Calibri"/>
                        </a:rPr>
                        <a:t>2.444.766 filas · 1.82 GB · perfil de vacíos por archivo</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F0CF0403-211B-48CD-966B-20F16BE47AA5}"/>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Corte de PQRS para el segundo caso</a:t>
            </a:r>
          </a:p>
        </p:txBody>
      </p:sp>
      <p:sp>
        <p:nvSpPr>
          <p:cNvPr id="4" name="">
            <a:extLst xmlns:a="http://schemas.openxmlformats.org/drawingml/2006/main">
              <a:ext uri="{FF2B5EF4-FFF2-40B4-BE49-F238E27FC236}">
                <a16:creationId xmlns:a16="http://schemas.microsoft.com/office/drawing/2014/main" id="{C70AE238-3215-4FC0-915B-3C8993FE7913}"/>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Repositorio: kit/pqrs_fuentes.json y kit/data/pqrs_muestras</a:t>
            </a:r>
          </a:p>
        </p:txBody>
      </p:sp>
      <p:sp>
        <p:nvSpPr>
          <p:cNvPr id="17" name="">
            <a:extLst xmlns:a="http://schemas.openxmlformats.org/drawingml/2006/main">
              <a:ext uri="{FF2B5EF4-FFF2-40B4-BE49-F238E27FC236}">
                <a16:creationId xmlns:a16="http://schemas.microsoft.com/office/drawing/2014/main" id="{6EDE4DFE-9951-4361-8524-7A729896348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1978AEF6-8C78-4B81-8920-6FCF92D8485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CC7017A0-DC02-4BB5-B2AF-FF3B82C8003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C1565E7D-13C8-428C-9C96-8DF001D5DC4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15</a:t>
            </a:r>
          </a:p>
        </p:txBody>
      </p:sp>
    </p:spTree>
    <p:extLst>
      <p:ext uri="{BB962C8B-B14F-4D97-AF65-F5344CB8AC3E}">
        <p14:creationId xmlns:p14="http://schemas.microsoft.com/office/powerpoint/2010/main" val="1007068182"/>
      </p:ext>
    </p:extLst>
  </p:cSld>
  <p:transition spd="med" advClick="1">
    <p:fade/>
  </p:transition>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1bb55e5161c41b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FDBB03-29C6-4A71-A087-00A232D6FB82}"/>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PQRS: muestras y archivos completos</a:t>
            </a:r>
          </a:p>
        </p:txBody>
      </p:sp>
      <p:sp>
        <p:nvSpPr>
          <p:cNvPr id="3" name="">
            <a:extLst xmlns:a="http://schemas.openxmlformats.org/drawingml/2006/main">
              <a:ext uri="{FF2B5EF4-FFF2-40B4-BE49-F238E27FC236}">
                <a16:creationId xmlns:a16="http://schemas.microsoft.com/office/drawing/2014/main" id="{3644F790-2D79-4991-BF1A-971056CE8904}"/>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Desde kit/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pqrs_descarga.py --listar</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Descarga completa opcional: los tres cortes</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pqrs_descarga.py --descargar 2023_II 2024_I 2024_II</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pqrs_descarga.py --verificar</a:t>
            </a:r>
          </a:p>
        </p:txBody>
      </p:sp>
      <p:sp>
        <p:nvSpPr>
          <p:cNvPr id="4" name="">
            <a:extLst xmlns:a="http://schemas.openxmlformats.org/drawingml/2006/main">
              <a:ext uri="{FF2B5EF4-FFF2-40B4-BE49-F238E27FC236}">
                <a16:creationId xmlns:a16="http://schemas.microsoft.com/office/drawing/2014/main" id="{561BFCDF-7C9E-4BB8-8B60-46972E4EE2A1}"/>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Muestras incluidas: data/pqrs_muestras. Descargas: data/pqrs_completos.</a:t>
            </a:r>
          </a:p>
        </p:txBody>
      </p:sp>
      <p:sp>
        <p:nvSpPr>
          <p:cNvPr id="8" name="">
            <a:extLst xmlns:a="http://schemas.openxmlformats.org/drawingml/2006/main">
              <a:ext uri="{FF2B5EF4-FFF2-40B4-BE49-F238E27FC236}">
                <a16:creationId xmlns:a16="http://schemas.microsoft.com/office/drawing/2014/main" id="{280584B8-2EF3-4DDE-87D9-6E8CF7B42FC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436C5081-B4B4-4C62-ABAC-C7632398C73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D62D84ED-38F8-4D5A-A5D8-C2E45167490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D3F799D7-F2C9-46CC-A301-B9086F2D47F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16</a:t>
            </a:r>
          </a:p>
        </p:txBody>
      </p:sp>
    </p:spTree>
    <p:extLst>
      <p:ext uri="{BB962C8B-B14F-4D97-AF65-F5344CB8AC3E}">
        <p14:creationId xmlns:p14="http://schemas.microsoft.com/office/powerpoint/2010/main" val="998200757"/>
      </p:ext>
    </p:extLst>
  </p:cSld>
  <p:transition spd="med" advClick="1">
    <p:fade/>
  </p:transition>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335017c0842434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6141B6-15EF-45BA-A50A-2E673AD349AE}"/>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 de la mañana</a:t>
            </a:r>
          </a:p>
        </p:txBody>
      </p:sp>
      <p:sp>
        <p:nvSpPr>
          <p:cNvPr id="2" name="">
            <a:extLst xmlns:a="http://schemas.openxmlformats.org/drawingml/2006/main">
              <a:ext uri="{FF2B5EF4-FFF2-40B4-BE49-F238E27FC236}">
                <a16:creationId xmlns:a16="http://schemas.microsoft.com/office/drawing/2014/main" id="{644CF898-D87D-4F68-A8A9-13FD37495A65}"/>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09:30–09:45</a:t>
            </a:r>
          </a:p>
        </p:txBody>
      </p:sp>
      <p:sp>
        <p:nvSpPr>
          <p:cNvPr id="3" name="">
            <a:extLst xmlns:a="http://schemas.openxmlformats.org/drawingml/2006/main">
              <a:ext uri="{FF2B5EF4-FFF2-40B4-BE49-F238E27FC236}">
                <a16:creationId xmlns:a16="http://schemas.microsoft.com/office/drawing/2014/main" id="{584D8F86-B215-4B5A-9D37-6311115210FC}"/>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17" name="">
            <a:extLst xmlns:a="http://schemas.openxmlformats.org/drawingml/2006/main">
              <a:ext uri="{FF2B5EF4-FFF2-40B4-BE49-F238E27FC236}">
                <a16:creationId xmlns:a16="http://schemas.microsoft.com/office/drawing/2014/main" id="{79E86A48-870E-4F3C-9706-31C3C4C2539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AD36F633-4642-4618-9AD3-0A7EB512D08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41F24492-9CB8-49B2-A103-9A9AD16D9C3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3CCE99A5-ADDE-4BCB-ADFE-8EEE8B310EB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17</a:t>
            </a:r>
          </a:p>
        </p:txBody>
      </p:sp>
    </p:spTree>
    <p:extLst>
      <p:ext uri="{BB962C8B-B14F-4D97-AF65-F5344CB8AC3E}">
        <p14:creationId xmlns:p14="http://schemas.microsoft.com/office/powerpoint/2010/main" val="1500792304"/>
      </p:ext>
    </p:extLst>
  </p:cSld>
  <p:transition spd="med" advClick="1">
    <p:fade/>
  </p:transition>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64afeaa7cc4490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a5389a02f5f4901"/>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C03DDC3-7345-4A8B-A1EC-1DA70705B417}"/>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Descargar y verificar</a:t>
            </a:r>
          </a:p>
        </p:txBody>
      </p:sp>
      <p:sp>
        <p:nvSpPr>
          <p:cNvPr id="9" name="">
            <a:extLst xmlns:a="http://schemas.openxmlformats.org/drawingml/2006/main">
              <a:ext uri="{FF2B5EF4-FFF2-40B4-BE49-F238E27FC236}">
                <a16:creationId xmlns:a16="http://schemas.microsoft.com/office/drawing/2014/main" id="{EE35ABC8-BF87-4AC0-9E93-6FA053B26AB9}"/>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1. Listar</a:t>
            </a:r>
          </a:p>
        </p:txBody>
      </p:sp>
      <p:sp>
        <p:nvSpPr>
          <p:cNvPr id="10" name="">
            <a:extLst xmlns:a="http://schemas.openxmlformats.org/drawingml/2006/main">
              <a:ext uri="{FF2B5EF4-FFF2-40B4-BE49-F238E27FC236}">
                <a16:creationId xmlns:a16="http://schemas.microsoft.com/office/drawing/2014/main" id="{032CB122-E0AE-4A82-A841-4350CC03EE45}"/>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onsolas"/>
                <a:ea typeface="Consolas"/>
                <a:cs typeface="Consolas"/>
              </a:defRPr>
            </a:pPr>
            <a:r>
              <a:rPr sz="1500" b="0">
                <a:solidFill>
                  <a:srgbClr val="203B68"/>
                </a:solidFill>
                <a:latin typeface="Consolas"/>
                <a:ea typeface="Consolas"/>
                <a:cs typeface="Consolas"/>
              </a:rPr>
              <a:t>python 00_datos.py --listar</a:t>
            </a:r>
          </a:p>
        </p:txBody>
      </p:sp>
      <p:sp>
        <p:nvSpPr>
          <p:cNvPr id="11" name="">
            <a:extLst xmlns:a="http://schemas.openxmlformats.org/drawingml/2006/main">
              <a:ext uri="{FF2B5EF4-FFF2-40B4-BE49-F238E27FC236}">
                <a16:creationId xmlns:a16="http://schemas.microsoft.com/office/drawing/2014/main" id="{40260894-FCD6-4BC6-8544-0CC5039C5659}"/>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2. Descargar</a:t>
            </a:r>
          </a:p>
        </p:txBody>
      </p:sp>
      <p:sp>
        <p:nvSpPr>
          <p:cNvPr id="12" name="">
            <a:extLst xmlns:a="http://schemas.openxmlformats.org/drawingml/2006/main">
              <a:ext uri="{FF2B5EF4-FFF2-40B4-BE49-F238E27FC236}">
                <a16:creationId xmlns:a16="http://schemas.microsoft.com/office/drawing/2014/main" id="{34A36B3D-656F-40AF-A4F2-9869497FDE4B}"/>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onsolas"/>
                <a:ea typeface="Consolas"/>
                <a:cs typeface="Consolas"/>
              </a:defRPr>
            </a:pPr>
            <a:r>
              <a:rPr sz="1500" b="0">
                <a:solidFill>
                  <a:srgbClr val="203B68"/>
                </a:solidFill>
                <a:latin typeface="Consolas"/>
                <a:ea typeface="Consolas"/>
                <a:cs typeface="Consolas"/>
              </a:rPr>
              <a:t>python 00_datos.py --descargar divipola</a:t>
            </a:r>
          </a:p>
        </p:txBody>
      </p:sp>
      <p:sp>
        <p:nvSpPr>
          <p:cNvPr id="13" name="">
            <a:extLst xmlns:a="http://schemas.openxmlformats.org/drawingml/2006/main">
              <a:ext uri="{FF2B5EF4-FFF2-40B4-BE49-F238E27FC236}">
                <a16:creationId xmlns:a16="http://schemas.microsoft.com/office/drawing/2014/main" id="{3DE7548A-FC33-4332-916C-8FF943C932BD}"/>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3. Verificar</a:t>
            </a:r>
          </a:p>
        </p:txBody>
      </p:sp>
      <p:sp>
        <p:nvSpPr>
          <p:cNvPr id="14" name="">
            <a:extLst xmlns:a="http://schemas.openxmlformats.org/drawingml/2006/main">
              <a:ext uri="{FF2B5EF4-FFF2-40B4-BE49-F238E27FC236}">
                <a16:creationId xmlns:a16="http://schemas.microsoft.com/office/drawing/2014/main" id="{28E13CA0-B3B9-4531-85D5-B28EE7433A71}"/>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onsolas"/>
                <a:ea typeface="Consolas"/>
                <a:cs typeface="Consolas"/>
              </a:defRPr>
            </a:pPr>
            <a:r>
              <a:rPr sz="1500" b="0">
                <a:solidFill>
                  <a:srgbClr val="203B68"/>
                </a:solidFill>
                <a:latin typeface="Consolas"/>
                <a:ea typeface="Consolas"/>
                <a:cs typeface="Consolas"/>
              </a:rPr>
              <a:t>python 00_datos.py --verificar</a:t>
            </a:r>
          </a:p>
        </p:txBody>
      </p:sp>
      <p:sp>
        <p:nvSpPr>
          <p:cNvPr id="15" name="">
            <a:extLst xmlns:a="http://schemas.openxmlformats.org/drawingml/2006/main">
              <a:ext uri="{FF2B5EF4-FFF2-40B4-BE49-F238E27FC236}">
                <a16:creationId xmlns:a16="http://schemas.microsoft.com/office/drawing/2014/main" id="{57FCC00B-7799-411B-B7B0-34817545667C}"/>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Enlaces y hashes en fuentes.json. HTTP 200 no prueba integridad</a:t>
            </a:r>
          </a:p>
        </p:txBody>
      </p:sp>
      <p:sp>
        <p:nvSpPr>
          <p:cNvPr id="30" name="">
            <a:extLst xmlns:a="http://schemas.openxmlformats.org/drawingml/2006/main">
              <a:ext uri="{FF2B5EF4-FFF2-40B4-BE49-F238E27FC236}">
                <a16:creationId xmlns:a16="http://schemas.microsoft.com/office/drawing/2014/main" id="{3A977333-0A19-4B20-92E1-B62EB0650EE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81FDA6C9-6916-4660-8169-0BC97AF4CD9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2" name="">
            <a:extLst xmlns:a="http://schemas.openxmlformats.org/drawingml/2006/main">
              <a:ext uri="{FF2B5EF4-FFF2-40B4-BE49-F238E27FC236}">
                <a16:creationId xmlns:a16="http://schemas.microsoft.com/office/drawing/2014/main" id="{7908FC38-8F2E-4BF2-8CA6-1FBAA93389C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3" name="">
            <a:extLst xmlns:a="http://schemas.openxmlformats.org/drawingml/2006/main">
              <a:ext uri="{FF2B5EF4-FFF2-40B4-BE49-F238E27FC236}">
                <a16:creationId xmlns:a16="http://schemas.microsoft.com/office/drawing/2014/main" id="{69B08E92-CC82-418A-A3CE-6DC78BA8C69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18</a:t>
            </a:r>
          </a:p>
        </p:txBody>
      </p:sp>
    </p:spTree>
    <p:extLst>
      <p:ext uri="{BB962C8B-B14F-4D97-AF65-F5344CB8AC3E}">
        <p14:creationId xmlns:p14="http://schemas.microsoft.com/office/powerpoint/2010/main" val="5161335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37185dddb1241aa"/>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11b4f0a93604e49"/>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9D3A2ED-2223-4F17-8C0D-DAAA270C354F}"/>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Contingencia de descarga</a:t>
            </a:r>
          </a:p>
        </p:txBody>
      </p:sp>
      <p:sp>
        <p:nvSpPr>
          <p:cNvPr id="11" name="">
            <a:extLst xmlns:a="http://schemas.openxmlformats.org/drawingml/2006/main">
              <a:ext uri="{FF2B5EF4-FFF2-40B4-BE49-F238E27FC236}">
                <a16:creationId xmlns:a16="http://schemas.microsoft.com/office/drawing/2014/main" id="{4D81CB57-154E-4330-A272-5FA3824D0046}"/>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Servicio disponible</a:t>
            </a:r>
          </a:p>
        </p:txBody>
      </p:sp>
      <p:sp>
        <p:nvSpPr>
          <p:cNvPr id="12" name="">
            <a:extLst xmlns:a="http://schemas.openxmlformats.org/drawingml/2006/main">
              <a:ext uri="{FF2B5EF4-FFF2-40B4-BE49-F238E27FC236}">
                <a16:creationId xmlns:a16="http://schemas.microsoft.com/office/drawing/2014/main" id="{144CC438-FDF4-470B-86CF-7C9793662340}"/>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Revisar archivo, contenido, tamaño y hash.</a:t>
            </a:r>
          </a:p>
        </p:txBody>
      </p:sp>
      <p:sp>
        <p:nvSpPr>
          <p:cNvPr id="13" name="">
            <a:extLst xmlns:a="http://schemas.openxmlformats.org/drawingml/2006/main">
              <a:ext uri="{FF2B5EF4-FFF2-40B4-BE49-F238E27FC236}">
                <a16:creationId xmlns:a16="http://schemas.microsoft.com/office/drawing/2014/main" id="{545FA73A-B914-4E37-B786-9C59669CD8C4}"/>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Servicio interrumpido</a:t>
            </a:r>
          </a:p>
        </p:txBody>
      </p:sp>
      <p:sp>
        <p:nvSpPr>
          <p:cNvPr id="14" name="">
            <a:extLst xmlns:a="http://schemas.openxmlformats.org/drawingml/2006/main">
              <a:ext uri="{FF2B5EF4-FFF2-40B4-BE49-F238E27FC236}">
                <a16:creationId xmlns:a16="http://schemas.microsoft.com/office/drawing/2014/main" id="{1C0AA506-1385-4829-8FD1-6A2FFC239B7D}"/>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Usar data/raw del respaldo docente.</a:t>
            </a:r>
          </a:p>
        </p:txBody>
      </p:sp>
      <p:sp>
        <p:nvSpPr>
          <p:cNvPr id="15" name="">
            <a:extLst xmlns:a="http://schemas.openxmlformats.org/drawingml/2006/main">
              <a:ext uri="{FF2B5EF4-FFF2-40B4-BE49-F238E27FC236}">
                <a16:creationId xmlns:a16="http://schemas.microsoft.com/office/drawing/2014/main" id="{5D94BE93-45F4-4682-B9A5-0FEBD1B74A17}"/>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Mismo control</a:t>
            </a:r>
          </a:p>
        </p:txBody>
      </p:sp>
      <p:sp>
        <p:nvSpPr>
          <p:cNvPr id="16" name="">
            <a:extLst xmlns:a="http://schemas.openxmlformats.org/drawingml/2006/main">
              <a:ext uri="{FF2B5EF4-FFF2-40B4-BE49-F238E27FC236}">
                <a16:creationId xmlns:a16="http://schemas.microsoft.com/office/drawing/2014/main" id="{51D4B262-C066-490D-9019-3C84656B8432}"/>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Verificar los 12 archivos antes de continuar.</a:t>
            </a:r>
          </a:p>
        </p:txBody>
      </p:sp>
      <p:sp>
        <p:nvSpPr>
          <p:cNvPr id="17" name="">
            <a:extLst xmlns:a="http://schemas.openxmlformats.org/drawingml/2006/main">
              <a:ext uri="{FF2B5EF4-FFF2-40B4-BE49-F238E27FC236}">
                <a16:creationId xmlns:a16="http://schemas.microsoft.com/office/drawing/2014/main" id="{D26488A4-A4D7-461B-ADA3-3F2FA8D447F8}"/>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Una respuesta HTTP 200 no garantiza que el contenido sea el esperado</a:t>
            </a:r>
          </a:p>
        </p:txBody>
      </p:sp>
      <p:sp>
        <p:nvSpPr>
          <p:cNvPr id="32" name="">
            <a:extLst xmlns:a="http://schemas.openxmlformats.org/drawingml/2006/main">
              <a:ext uri="{FF2B5EF4-FFF2-40B4-BE49-F238E27FC236}">
                <a16:creationId xmlns:a16="http://schemas.microsoft.com/office/drawing/2014/main" id="{313026EB-86A6-4F14-A85F-5B8EF4A732A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90A7C67B-79F5-424B-A874-91A047F692E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D32BAA27-1385-4776-B0BB-8E507CBC4E2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5" name="">
            <a:extLst xmlns:a="http://schemas.openxmlformats.org/drawingml/2006/main">
              <a:ext uri="{FF2B5EF4-FFF2-40B4-BE49-F238E27FC236}">
                <a16:creationId xmlns:a16="http://schemas.microsoft.com/office/drawing/2014/main" id="{4485AB60-56B7-49DB-9CEC-53F2C2A6796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19</a:t>
            </a:r>
          </a:p>
        </p:txBody>
      </p:sp>
    </p:spTree>
    <p:extLst>
      <p:ext uri="{BB962C8B-B14F-4D97-AF65-F5344CB8AC3E}">
        <p14:creationId xmlns:p14="http://schemas.microsoft.com/office/powerpoint/2010/main" val="158617908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cff697915354066"/>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5401C0D-6672-4EE3-AE1E-4DEE16E4DAA2}"/>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E02 · Descarga y perfil inicial</a:t>
            </a:r>
          </a:p>
        </p:txBody>
      </p:sp>
      <p:sp>
        <p:nvSpPr>
          <p:cNvPr id="2" name="">
            <a:extLst xmlns:a="http://schemas.openxmlformats.org/drawingml/2006/main">
              <a:ext uri="{FF2B5EF4-FFF2-40B4-BE49-F238E27FC236}">
                <a16:creationId xmlns:a16="http://schemas.microsoft.com/office/drawing/2014/main" id="{8B43C8C8-62CF-443D-8E23-2CEA4B6546B7}"/>
              </a:ext>
            </a:extLst>
          </p:cNvPr>
          <p:cNvSpPr>
            <a:spLocks xmlns:a="http://schemas.openxmlformats.org/drawingml/2006/main" noGrp="1"/>
          </p:cNvSpPr>
          <p:nvPr/>
        </p:nvSpPr>
        <p:spPr>
          <a:xfrm xmlns:a="http://schemas.openxmlformats.org/drawingml/2006/main">
            <a:off x="609600" y="1971675"/>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F3864"/>
                </a:solidFill>
                <a:latin typeface="Helvetica Neue"/>
                <a:ea typeface="Helvetica Neue"/>
                <a:cs typeface="Helvetica Neue"/>
              </a:defRPr>
            </a:pPr>
            <a:r>
              <a:rPr sz="3225" b="1">
                <a:solidFill>
                  <a:srgbClr val="1F3864"/>
                </a:solidFill>
                <a:latin typeface="Helvetica Neue"/>
                <a:ea typeface="Helvetica Neue"/>
                <a:cs typeface="Helvetica Neue"/>
              </a:rPr>
              <a:t>90 minutos</a:t>
            </a:r>
          </a:p>
        </p:txBody>
      </p:sp>
      <p:sp>
        <p:nvSpPr>
          <p:cNvPr id="3" name="">
            <a:extLst xmlns:a="http://schemas.openxmlformats.org/drawingml/2006/main">
              <a:ext uri="{FF2B5EF4-FFF2-40B4-BE49-F238E27FC236}">
                <a16:creationId xmlns:a16="http://schemas.microsoft.com/office/drawing/2014/main" id="{B296913E-C7E1-419E-BB09-2174D7F04F96}"/>
              </a:ext>
            </a:extLst>
          </p:cNvPr>
          <p:cNvSpPr>
            <a:spLocks xmlns:a="http://schemas.openxmlformats.org/drawingml/2006/main" noGrp="1"/>
          </p:cNvSpPr>
          <p:nvPr/>
        </p:nvSpPr>
        <p:spPr>
          <a:xfrm xmlns:a="http://schemas.openxmlformats.org/drawingml/2006/main">
            <a:off x="609600" y="28575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1F3864"/>
                </a:solidFill>
                <a:latin typeface="Helvetica Neue"/>
                <a:ea typeface="Helvetica Neue"/>
                <a:cs typeface="Helvetica Neue"/>
              </a:defRPr>
            </a:pPr>
            <a:r>
              <a:rPr sz="1500" b="1">
                <a:solidFill>
                  <a:srgbClr val="1F3864"/>
                </a:solidFill>
                <a:latin typeface="Helvetica Neue"/>
                <a:ea typeface="Helvetica Neue"/>
                <a:cs typeface="Helvetica Neue"/>
              </a:rPr>
              <a:t>TRABAJO GUIADO</a:t>
            </a:r>
          </a:p>
        </p:txBody>
      </p:sp>
      <p:sp>
        <p:nvSpPr>
          <p:cNvPr id="4" name="">
            <a:extLst xmlns:a="http://schemas.openxmlformats.org/drawingml/2006/main">
              <a:ext uri="{FF2B5EF4-FFF2-40B4-BE49-F238E27FC236}">
                <a16:creationId xmlns:a16="http://schemas.microsoft.com/office/drawing/2014/main" id="{7933A1C3-4E34-4414-A414-7E3FBF030C9B}"/>
              </a:ext>
            </a:extLst>
          </p:cNvPr>
          <p:cNvSpPr>
            <a:spLocks xmlns:a="http://schemas.openxmlformats.org/drawingml/2006/main" noGrp="1"/>
          </p:cNvSpPr>
          <p:nvPr/>
        </p:nvSpPr>
        <p:spPr>
          <a:xfrm xmlns:a="http://schemas.openxmlformats.org/drawingml/2006/main">
            <a:off x="3886200" y="195262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A6374450-0680-4221-A51C-AEFA4FEC44A5}"/>
              </a:ext>
            </a:extLst>
          </p:cNvPr>
          <p:cNvSpPr>
            <a:spLocks xmlns:a="http://schemas.openxmlformats.org/drawingml/2006/main" noGrp="1"/>
          </p:cNvSpPr>
          <p:nvPr/>
        </p:nvSpPr>
        <p:spPr>
          <a:xfrm xmlns:a="http://schemas.openxmlformats.org/drawingml/2006/main">
            <a:off x="4638675" y="195262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Verificar la copia docente.</a:t>
            </a:r>
          </a:p>
        </p:txBody>
      </p:sp>
      <p:sp>
        <p:nvSpPr>
          <p:cNvPr id="6" name="">
            <a:extLst xmlns:a="http://schemas.openxmlformats.org/drawingml/2006/main">
              <a:ext uri="{FF2B5EF4-FFF2-40B4-BE49-F238E27FC236}">
                <a16:creationId xmlns:a16="http://schemas.microsoft.com/office/drawing/2014/main" id="{8D145C14-0CA0-4F69-964F-99189D6D2BB3}"/>
              </a:ext>
            </a:extLst>
          </p:cNvPr>
          <p:cNvSpPr>
            <a:spLocks xmlns:a="http://schemas.openxmlformats.org/drawingml/2006/main" noGrp="1"/>
          </p:cNvSpPr>
          <p:nvPr/>
        </p:nvSpPr>
        <p:spPr>
          <a:xfrm xmlns:a="http://schemas.openxmlformats.org/drawingml/2006/main">
            <a:off x="3886200" y="268605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3A7EAC17-B36D-4FE3-A5ED-26F7BB6F26F9}"/>
              </a:ext>
            </a:extLst>
          </p:cNvPr>
          <p:cNvSpPr>
            <a:spLocks xmlns:a="http://schemas.openxmlformats.org/drawingml/2006/main" noGrp="1"/>
          </p:cNvSpPr>
          <p:nvPr/>
        </p:nvSpPr>
        <p:spPr>
          <a:xfrm xmlns:a="http://schemas.openxmlformats.org/drawingml/2006/main">
            <a:off x="4638675" y="268605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Descargar DIVIPOLA en carpeta separada.</a:t>
            </a:r>
          </a:p>
        </p:txBody>
      </p:sp>
      <p:sp>
        <p:nvSpPr>
          <p:cNvPr id="8" name="">
            <a:extLst xmlns:a="http://schemas.openxmlformats.org/drawingml/2006/main">
              <a:ext uri="{FF2B5EF4-FFF2-40B4-BE49-F238E27FC236}">
                <a16:creationId xmlns:a16="http://schemas.microsoft.com/office/drawing/2014/main" id="{A41AF21B-D9A3-4B8A-AEB5-5A968D49D136}"/>
              </a:ext>
            </a:extLst>
          </p:cNvPr>
          <p:cNvSpPr>
            <a:spLocks xmlns:a="http://schemas.openxmlformats.org/drawingml/2006/main" noGrp="1"/>
          </p:cNvSpPr>
          <p:nvPr/>
        </p:nvSpPr>
        <p:spPr>
          <a:xfrm xmlns:a="http://schemas.openxmlformats.org/drawingml/2006/main">
            <a:off x="3886200" y="341947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91CCF9AE-740B-49EC-8CB7-F9D382E102A4}"/>
              </a:ext>
            </a:extLst>
          </p:cNvPr>
          <p:cNvSpPr>
            <a:spLocks xmlns:a="http://schemas.openxmlformats.org/drawingml/2006/main" noGrp="1"/>
          </p:cNvSpPr>
          <p:nvPr/>
        </p:nvSpPr>
        <p:spPr>
          <a:xfrm xmlns:a="http://schemas.openxmlformats.org/drawingml/2006/main">
            <a:off x="4638675" y="341947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Ejecutar el perfil de los tres CSV.</a:t>
            </a:r>
          </a:p>
        </p:txBody>
      </p:sp>
      <p:sp>
        <p:nvSpPr>
          <p:cNvPr id="10" name="">
            <a:extLst xmlns:a="http://schemas.openxmlformats.org/drawingml/2006/main">
              <a:ext uri="{FF2B5EF4-FFF2-40B4-BE49-F238E27FC236}">
                <a16:creationId xmlns:a16="http://schemas.microsoft.com/office/drawing/2014/main" id="{33ADF102-714B-426B-93D6-2DC3A4341FFA}"/>
              </a:ext>
            </a:extLst>
          </p:cNvPr>
          <p:cNvSpPr>
            <a:spLocks xmlns:a="http://schemas.openxmlformats.org/drawingml/2006/main" noGrp="1"/>
          </p:cNvSpPr>
          <p:nvPr/>
        </p:nvSpPr>
        <p:spPr>
          <a:xfrm xmlns:a="http://schemas.openxmlformats.org/drawingml/2006/main">
            <a:off x="3886200" y="415290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04</a:t>
            </a:r>
          </a:p>
        </p:txBody>
      </p:sp>
      <p:sp>
        <p:nvSpPr>
          <p:cNvPr id="11" name="">
            <a:extLst xmlns:a="http://schemas.openxmlformats.org/drawingml/2006/main">
              <a:ext uri="{FF2B5EF4-FFF2-40B4-BE49-F238E27FC236}">
                <a16:creationId xmlns:a16="http://schemas.microsoft.com/office/drawing/2014/main" id="{1576D1FA-8B59-4F17-9893-FAEB092ACD79}"/>
              </a:ext>
            </a:extLst>
          </p:cNvPr>
          <p:cNvSpPr>
            <a:spLocks xmlns:a="http://schemas.openxmlformats.org/drawingml/2006/main" noGrp="1"/>
          </p:cNvSpPr>
          <p:nvPr/>
        </p:nvSpPr>
        <p:spPr>
          <a:xfrm xmlns:a="http://schemas.openxmlformats.org/drawingml/2006/main">
            <a:off x="4638675" y="415290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Documentar cinco variables del suelo.</a:t>
            </a:r>
          </a:p>
        </p:txBody>
      </p:sp>
      <p:sp>
        <p:nvSpPr>
          <p:cNvPr id="12" name="">
            <a:extLst xmlns:a="http://schemas.openxmlformats.org/drawingml/2006/main">
              <a:ext uri="{FF2B5EF4-FFF2-40B4-BE49-F238E27FC236}">
                <a16:creationId xmlns:a16="http://schemas.microsoft.com/office/drawing/2014/main" id="{6E0E7628-8805-4329-9F0B-0FFD26E766BB}"/>
              </a:ext>
            </a:extLst>
          </p:cNvPr>
          <p:cNvSpPr>
            <a:spLocks xmlns:a="http://schemas.openxmlformats.org/drawingml/2006/main" noGrp="1"/>
          </p:cNvSpPr>
          <p:nvPr/>
        </p:nvSpPr>
        <p:spPr>
          <a:xfrm xmlns:a="http://schemas.openxmlformats.org/drawingml/2006/main">
            <a:off x="609600" y="5391150"/>
            <a:ext cx="1090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Entrega: perfil.csv, verificación del corte y diccionario de cinco variables.</a:t>
            </a:r>
          </a:p>
        </p:txBody>
      </p:sp>
      <p:sp>
        <p:nvSpPr>
          <p:cNvPr id="26" name="">
            <a:extLst xmlns:a="http://schemas.openxmlformats.org/drawingml/2006/main">
              <a:ext uri="{FF2B5EF4-FFF2-40B4-BE49-F238E27FC236}">
                <a16:creationId xmlns:a16="http://schemas.microsoft.com/office/drawing/2014/main" id="{A9646D10-8192-4097-9634-FEA074C9152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4691D72D-3474-443C-AD91-EF19FE3DC1E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E02 — Ejercicio 02: Descarga y perfil inicial</a:t>
            </a:r>
          </a:p>
        </p:txBody>
      </p:sp>
      <p:sp>
        <p:nvSpPr>
          <p:cNvPr id="28" name="">
            <a:extLst xmlns:a="http://schemas.openxmlformats.org/drawingml/2006/main">
              <a:ext uri="{FF2B5EF4-FFF2-40B4-BE49-F238E27FC236}">
                <a16:creationId xmlns:a16="http://schemas.microsoft.com/office/drawing/2014/main" id="{082437A2-D9B2-4C91-8C45-0BC4A5DB2B8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9" name="">
            <a:extLst xmlns:a="http://schemas.openxmlformats.org/drawingml/2006/main">
              <a:ext uri="{FF2B5EF4-FFF2-40B4-BE49-F238E27FC236}">
                <a16:creationId xmlns:a16="http://schemas.microsoft.com/office/drawing/2014/main" id="{49A57934-C909-46C4-B345-FCD6674D4CA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20</a:t>
            </a:r>
          </a:p>
        </p:txBody>
      </p:sp>
    </p:spTree>
    <p:extLst>
      <p:ext uri="{BB962C8B-B14F-4D97-AF65-F5344CB8AC3E}">
        <p14:creationId xmlns:p14="http://schemas.microsoft.com/office/powerpoint/2010/main" val="1973838415"/>
      </p:ext>
    </p:extLst>
  </p:cSld>
  <p:transition spd="med" advClick="1">
    <p:fade/>
  </p:transition>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3e896bd46ab4d77"/>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cd9c33ed5d84775"/>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6CADEE4-E230-4F7B-9D9A-21E488C5AB47}"/>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Perfil sin perder marcadores</a:t>
            </a:r>
          </a:p>
        </p:txBody>
      </p:sp>
      <p:sp>
        <p:nvSpPr>
          <p:cNvPr id="9" name="">
            <a:extLst xmlns:a="http://schemas.openxmlformats.org/drawingml/2006/main">
              <a:ext uri="{FF2B5EF4-FFF2-40B4-BE49-F238E27FC236}">
                <a16:creationId xmlns:a16="http://schemas.microsoft.com/office/drawing/2014/main" id="{C3F56763-02C9-49E7-84E6-B605E2A3F8E6}"/>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ND, vacío y cero</a:t>
            </a:r>
          </a:p>
        </p:txBody>
      </p:sp>
      <p:sp>
        <p:nvSpPr>
          <p:cNvPr id="10" name="">
            <a:extLst xmlns:a="http://schemas.openxmlformats.org/drawingml/2006/main">
              <a:ext uri="{FF2B5EF4-FFF2-40B4-BE49-F238E27FC236}">
                <a16:creationId xmlns:a16="http://schemas.microsoft.com/office/drawing/2014/main" id="{2BF8546C-6B9D-43F1-AE77-6C891A775501}"/>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Conservar los marcadores antes de interpretar su significado.</a:t>
            </a:r>
          </a:p>
        </p:txBody>
      </p:sp>
      <p:sp>
        <p:nvSpPr>
          <p:cNvPr id="11" name="">
            <a:extLst xmlns:a="http://schemas.openxmlformats.org/drawingml/2006/main">
              <a:ext uri="{FF2B5EF4-FFF2-40B4-BE49-F238E27FC236}">
                <a16:creationId xmlns:a16="http://schemas.microsoft.com/office/drawing/2014/main" id="{A243AFF5-E088-43BC-8AC9-8C8017722EEE}"/>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Lectura inicial</a:t>
            </a:r>
          </a:p>
        </p:txBody>
      </p:sp>
      <p:sp>
        <p:nvSpPr>
          <p:cNvPr id="12" name="">
            <a:extLst xmlns:a="http://schemas.openxmlformats.org/drawingml/2006/main">
              <a:ext uri="{FF2B5EF4-FFF2-40B4-BE49-F238E27FC236}">
                <a16:creationId xmlns:a16="http://schemas.microsoft.com/office/drawing/2014/main" id="{CFC88105-419D-44FD-BA02-87F3F61AEDBC}"/>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dtype=str</a:t>
            </a:r>
          </a:p>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keep_default_na=False</a:t>
            </a:r>
          </a:p>
        </p:txBody>
      </p:sp>
      <p:sp>
        <p:nvSpPr>
          <p:cNvPr id="13" name="">
            <a:extLst xmlns:a="http://schemas.openxmlformats.org/drawingml/2006/main">
              <a:ext uri="{FF2B5EF4-FFF2-40B4-BE49-F238E27FC236}">
                <a16:creationId xmlns:a16="http://schemas.microsoft.com/office/drawing/2014/main" id="{7FE7A15A-60E7-4079-AF72-FE5A02F9128A}"/>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Perfil reproducible</a:t>
            </a:r>
          </a:p>
        </p:txBody>
      </p:sp>
      <p:sp>
        <p:nvSpPr>
          <p:cNvPr id="14" name="">
            <a:extLst xmlns:a="http://schemas.openxmlformats.org/drawingml/2006/main">
              <a:ext uri="{FF2B5EF4-FFF2-40B4-BE49-F238E27FC236}">
                <a16:creationId xmlns:a16="http://schemas.microsoft.com/office/drawing/2014/main" id="{1718D58E-35EE-423F-8549-03550B298332}"/>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python talleres.py perfil</a:t>
            </a:r>
          </a:p>
        </p:txBody>
      </p:sp>
      <p:sp>
        <p:nvSpPr>
          <p:cNvPr id="15" name="">
            <a:extLst xmlns:a="http://schemas.openxmlformats.org/drawingml/2006/main">
              <a:ext uri="{FF2B5EF4-FFF2-40B4-BE49-F238E27FC236}">
                <a16:creationId xmlns:a16="http://schemas.microsoft.com/office/drawing/2014/main" id="{A43A8A31-649C-47E6-BA41-723ADAF766AC}"/>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Con keep_default_na=False, isna() no cuenta las cadenas vacías ni ND</a:t>
            </a:r>
          </a:p>
        </p:txBody>
      </p:sp>
      <p:sp>
        <p:nvSpPr>
          <p:cNvPr id="30" name="">
            <a:extLst xmlns:a="http://schemas.openxmlformats.org/drawingml/2006/main">
              <a:ext uri="{FF2B5EF4-FFF2-40B4-BE49-F238E27FC236}">
                <a16:creationId xmlns:a16="http://schemas.microsoft.com/office/drawing/2014/main" id="{624CBA6A-DAC5-4724-A36A-58EF7CFD217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0A821585-8A95-49AD-A25F-48CE289F53F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2" name="">
            <a:extLst xmlns:a="http://schemas.openxmlformats.org/drawingml/2006/main">
              <a:ext uri="{FF2B5EF4-FFF2-40B4-BE49-F238E27FC236}">
                <a16:creationId xmlns:a16="http://schemas.microsoft.com/office/drawing/2014/main" id="{FCEAF2CE-78F3-40E6-98AC-246865BB5CA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3" name="">
            <a:extLst xmlns:a="http://schemas.openxmlformats.org/drawingml/2006/main">
              <a:ext uri="{FF2B5EF4-FFF2-40B4-BE49-F238E27FC236}">
                <a16:creationId xmlns:a16="http://schemas.microsoft.com/office/drawing/2014/main" id="{958C8668-6205-476D-AADD-377D5E040F7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21</a:t>
            </a:r>
          </a:p>
        </p:txBody>
      </p:sp>
    </p:spTree>
    <p:extLst>
      <p:ext uri="{BB962C8B-B14F-4D97-AF65-F5344CB8AC3E}">
        <p14:creationId xmlns:p14="http://schemas.microsoft.com/office/powerpoint/2010/main" val="2646034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a2528eac73c4cf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B7A5CE-7841-436A-AAD2-F311564C510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P01: perfil PQRS por bloques</a:t>
            </a:r>
          </a:p>
        </p:txBody>
      </p:sp>
      <p:sp>
        <p:nvSpPr>
          <p:cNvPr id="3" name="">
            <a:extLst xmlns:a="http://schemas.openxmlformats.org/drawingml/2006/main">
              <a:ext uri="{FF2B5EF4-FFF2-40B4-BE49-F238E27FC236}">
                <a16:creationId xmlns:a16="http://schemas.microsoft.com/office/drawing/2014/main" id="{5475EE65-6748-4544-81BB-6D0857AD0A99}"/>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perfil</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perfil --bloque 100</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perfil --bloque 500</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perfil --bloque 1000</a:t>
            </a:r>
          </a:p>
        </p:txBody>
      </p:sp>
      <p:sp>
        <p:nvSpPr>
          <p:cNvPr id="4" name="">
            <a:extLst xmlns:a="http://schemas.openxmlformats.org/drawingml/2006/main">
              <a:ext uri="{FF2B5EF4-FFF2-40B4-BE49-F238E27FC236}">
                <a16:creationId xmlns:a16="http://schemas.microsoft.com/office/drawing/2014/main" id="{37B70390-6129-4885-8A6C-9137FA2D0272}"/>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Notebook: Notebooks/01_Perfil_PQRS.ipynb</a:t>
            </a:r>
          </a:p>
        </p:txBody>
      </p:sp>
      <p:sp>
        <p:nvSpPr>
          <p:cNvPr id="8" name="">
            <a:extLst xmlns:a="http://schemas.openxmlformats.org/drawingml/2006/main">
              <a:ext uri="{FF2B5EF4-FFF2-40B4-BE49-F238E27FC236}">
                <a16:creationId xmlns:a16="http://schemas.microsoft.com/office/drawing/2014/main" id="{62F34B9B-F4C8-4001-A663-0BA44A88A19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557A6EA3-2447-4CB6-9CC6-89E54A2EAF0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P01 — Práctica PQRS 01: Perfil PQRS y lectura por bloques</a:t>
            </a:r>
          </a:p>
        </p:txBody>
      </p:sp>
      <p:sp>
        <p:nvSpPr>
          <p:cNvPr id="10" name="">
            <a:extLst xmlns:a="http://schemas.openxmlformats.org/drawingml/2006/main">
              <a:ext uri="{FF2B5EF4-FFF2-40B4-BE49-F238E27FC236}">
                <a16:creationId xmlns:a16="http://schemas.microsoft.com/office/drawing/2014/main" id="{FB408425-F005-4428-AC4C-AD64225C401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1" name="">
            <a:extLst xmlns:a="http://schemas.openxmlformats.org/drawingml/2006/main">
              <a:ext uri="{FF2B5EF4-FFF2-40B4-BE49-F238E27FC236}">
                <a16:creationId xmlns:a16="http://schemas.microsoft.com/office/drawing/2014/main" id="{9EFB9495-5B0A-4871-9326-60A4B083513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22</a:t>
            </a:r>
          </a:p>
        </p:txBody>
      </p:sp>
    </p:spTree>
    <p:extLst>
      <p:ext uri="{BB962C8B-B14F-4D97-AF65-F5344CB8AC3E}">
        <p14:creationId xmlns:p14="http://schemas.microsoft.com/office/powerpoint/2010/main" val="1292561886"/>
      </p:ext>
    </p:extLst>
  </p:cSld>
  <p:transition spd="med" advClick="1">
    <p:fade/>
  </p:transition>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eda13daee9b4c1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4" name=""/>
          <p:cNvGraphicFramePr/>
          <p:nvPr/>
        </p:nvGraphicFramePr>
        <p:xfrm>
          <a:off xmlns:a="http://schemas.openxmlformats.org/drawingml/2006/main" x="609600" y="1495425"/>
          <a:ext xmlns:a="http://schemas.openxmlformats.org/drawingml/2006/main" cx="10972800" cy="4210050"/>
        </p:xfrm>
        <a:graphic xmlns:a="http://schemas.openxmlformats.org/drawingml/2006/main">
          <a:graphicData uri="http://schemas.openxmlformats.org/drawingml/2006/table">
            <a:tbl>
              <a:tblPr/>
              <a:tblGrid>
                <a:gridCol w="2762250"/>
                <a:gridCol w="4105275"/>
                <a:gridCol w="4105275"/>
              </a:tblGrid>
              <a:tr h="842010">
                <a:tc>
                  <a:txBody>
                    <a:bodyPr/>
                    <a:lstStyle/>
                    <a:p>
                      <a:r>
                        <a:rPr sz="1800" b="1">
                          <a:solidFill>
                            <a:srgbClr val="FFFFFF"/>
                          </a:solidFill>
                          <a:latin typeface="Calibri"/>
                          <a:ea typeface="Calibri"/>
                          <a:cs typeface="Calibri"/>
                        </a:rPr>
                        <a:t>Campo</a:t>
                      </a:r>
                    </a:p>
                  </a:txBody>
                  <a:tcPr marL="91440" marR="91440" marT="45720" marB="45720">
                    <a:solidFill>
                      <a:srgbClr val="4237BF"/>
                    </a:solidFill>
                  </a:tcPr>
                </a:tc>
                <a:tc>
                  <a:txBody>
                    <a:bodyPr/>
                    <a:lstStyle/>
                    <a:p>
                      <a:r>
                        <a:rPr sz="1800" b="1">
                          <a:solidFill>
                            <a:srgbClr val="FFFFFF"/>
                          </a:solidFill>
                          <a:latin typeface="Calibri"/>
                          <a:ea typeface="Calibri"/>
                          <a:cs typeface="Calibri"/>
                        </a:rPr>
                        <a:t>Tipo y control</a:t>
                      </a:r>
                    </a:p>
                  </a:txBody>
                  <a:tcPr marL="91440" marR="91440" marT="45720" marB="45720">
                    <a:solidFill>
                      <a:srgbClr val="4237BF"/>
                    </a:solidFill>
                  </a:tcPr>
                </a:tc>
                <a:tc>
                  <a:txBody>
                    <a:bodyPr/>
                    <a:lstStyle/>
                    <a:p>
                      <a:r>
                        <a:rPr sz="1800" b="1">
                          <a:solidFill>
                            <a:srgbClr val="FFFFFF"/>
                          </a:solidFill>
                          <a:latin typeface="Calibri"/>
                          <a:ea typeface="Calibri"/>
                          <a:cs typeface="Calibri"/>
                        </a:rPr>
                        <a:t>Riesgo que se evita</a:t>
                      </a:r>
                    </a:p>
                  </a:txBody>
                  <a:tcPr marL="91440" marR="91440" marT="45720" marB="45720">
                    <a:solidFill>
                      <a:srgbClr val="4237BF"/>
                    </a:solidFill>
                  </a:tcPr>
                </a:tc>
              </a:tr>
              <a:tr h="842010">
                <a:tc>
                  <a:txBody>
                    <a:bodyPr/>
                    <a:lstStyle/>
                    <a:p>
                      <a:r>
                        <a:rPr sz="1800" b="0">
                          <a:solidFill>
                            <a:srgbClr val="203B68"/>
                          </a:solidFill>
                          <a:latin typeface="Calibri"/>
                          <a:ea typeface="Calibri"/>
                          <a:cs typeface="Calibri"/>
                        </a:rPr>
                        <a:t>Código territorial</a:t>
                      </a:r>
                    </a:p>
                  </a:txBody>
                  <a:tcPr marL="91440" marR="91440" marT="45720" marB="45720">
                    <a:solidFill>
                      <a:srgbClr val="F4F8F8"/>
                    </a:solidFill>
                  </a:tcPr>
                </a:tc>
                <a:tc>
                  <a:txBody>
                    <a:bodyPr/>
                    <a:lstStyle/>
                    <a:p>
                      <a:r>
                        <a:rPr sz="1800" b="0">
                          <a:solidFill>
                            <a:srgbClr val="203B68"/>
                          </a:solidFill>
                          <a:latin typeface="Calibri"/>
                          <a:ea typeface="Calibri"/>
                          <a:cs typeface="Calibri"/>
                        </a:rPr>
                        <a:t>Texto con longitud acordada</a:t>
                      </a:r>
                    </a:p>
                  </a:txBody>
                  <a:tcPr marL="91440" marR="91440" marT="45720" marB="45720">
                    <a:solidFill>
                      <a:srgbClr val="F4F8F8"/>
                    </a:solidFill>
                  </a:tcPr>
                </a:tc>
                <a:tc>
                  <a:txBody>
                    <a:bodyPr/>
                    <a:lstStyle/>
                    <a:p>
                      <a:r>
                        <a:rPr sz="1800" b="0">
                          <a:solidFill>
                            <a:srgbClr val="203B68"/>
                          </a:solidFill>
                          <a:latin typeface="Calibri"/>
                          <a:ea typeface="Calibri"/>
                          <a:cs typeface="Calibri"/>
                        </a:rPr>
                        <a:t>Pérdida de ceros iniciales</a:t>
                      </a:r>
                    </a:p>
                  </a:txBody>
                  <a:tcPr marL="91440" marR="91440" marT="45720" marB="45720">
                    <a:solidFill>
                      <a:srgbClr val="F4F8F8"/>
                    </a:solidFill>
                  </a:tcPr>
                </a:tc>
              </a:tr>
              <a:tr h="842010">
                <a:tc>
                  <a:txBody>
                    <a:bodyPr/>
                    <a:lstStyle/>
                    <a:p>
                      <a:r>
                        <a:rPr sz="1800" b="0">
                          <a:solidFill>
                            <a:srgbClr val="203B68"/>
                          </a:solidFill>
                          <a:latin typeface="Calibri"/>
                          <a:ea typeface="Calibri"/>
                          <a:cs typeface="Calibri"/>
                        </a:rPr>
                        <a:t>Edad o cantidad</a:t>
                      </a:r>
                    </a:p>
                  </a:txBody>
                  <a:tcPr marL="91440" marR="91440" marT="45720" marB="45720">
                    <a:solidFill>
                      <a:srgbClr val="E9F0F1"/>
                    </a:solidFill>
                  </a:tcPr>
                </a:tc>
                <a:tc>
                  <a:txBody>
                    <a:bodyPr/>
                    <a:lstStyle/>
                    <a:p>
                      <a:r>
                        <a:rPr sz="1800" b="0">
                          <a:solidFill>
                            <a:srgbClr val="203B68"/>
                          </a:solidFill>
                          <a:latin typeface="Calibri"/>
                          <a:ea typeface="Calibri"/>
                          <a:cs typeface="Calibri"/>
                        </a:rPr>
                        <a:t>Numérico nullable y rango</a:t>
                      </a:r>
                    </a:p>
                  </a:txBody>
                  <a:tcPr marL="91440" marR="91440" marT="45720" marB="45720">
                    <a:solidFill>
                      <a:srgbClr val="E9F0F1"/>
                    </a:solidFill>
                  </a:tcPr>
                </a:tc>
                <a:tc>
                  <a:txBody>
                    <a:bodyPr/>
                    <a:lstStyle/>
                    <a:p>
                      <a:r>
                        <a:rPr sz="1800" b="0">
                          <a:solidFill>
                            <a:srgbClr val="203B68"/>
                          </a:solidFill>
                          <a:latin typeface="Calibri"/>
                          <a:ea typeface="Calibri"/>
                          <a:cs typeface="Calibri"/>
                        </a:rPr>
                        <a:t>Confundir ausencia con cero</a:t>
                      </a:r>
                    </a:p>
                  </a:txBody>
                  <a:tcPr marL="91440" marR="91440" marT="45720" marB="45720">
                    <a:solidFill>
                      <a:srgbClr val="E9F0F1"/>
                    </a:solidFill>
                  </a:tcPr>
                </a:tc>
              </a:tr>
              <a:tr h="842010">
                <a:tc>
                  <a:txBody>
                    <a:bodyPr/>
                    <a:lstStyle/>
                    <a:p>
                      <a:r>
                        <a:rPr sz="1800" b="0">
                          <a:solidFill>
                            <a:srgbClr val="203B68"/>
                          </a:solidFill>
                          <a:latin typeface="Calibri"/>
                          <a:ea typeface="Calibri"/>
                          <a:cs typeface="Calibri"/>
                        </a:rPr>
                        <a:t>Fecha y período</a:t>
                      </a:r>
                    </a:p>
                  </a:txBody>
                  <a:tcPr marL="91440" marR="91440" marT="45720" marB="45720">
                    <a:solidFill>
                      <a:srgbClr val="F4F8F8"/>
                    </a:solidFill>
                  </a:tcPr>
                </a:tc>
                <a:tc>
                  <a:txBody>
                    <a:bodyPr/>
                    <a:lstStyle/>
                    <a:p>
                      <a:r>
                        <a:rPr sz="1800" b="0">
                          <a:solidFill>
                            <a:srgbClr val="203B68"/>
                          </a:solidFill>
                          <a:latin typeface="Calibri"/>
                          <a:ea typeface="Calibri"/>
                          <a:cs typeface="Calibri"/>
                        </a:rPr>
                        <a:t>Formato y zona documentados</a:t>
                      </a:r>
                    </a:p>
                  </a:txBody>
                  <a:tcPr marL="91440" marR="91440" marT="45720" marB="45720">
                    <a:solidFill>
                      <a:srgbClr val="F4F8F8"/>
                    </a:solidFill>
                  </a:tcPr>
                </a:tc>
                <a:tc>
                  <a:txBody>
                    <a:bodyPr/>
                    <a:lstStyle/>
                    <a:p>
                      <a:r>
                        <a:rPr sz="1800" b="0">
                          <a:solidFill>
                            <a:srgbClr val="203B68"/>
                          </a:solidFill>
                          <a:latin typeface="Calibri"/>
                          <a:ea typeface="Calibri"/>
                          <a:cs typeface="Calibri"/>
                        </a:rPr>
                        <a:t>Orden temporal incorrecto</a:t>
                      </a:r>
                    </a:p>
                  </a:txBody>
                  <a:tcPr marL="91440" marR="91440" marT="45720" marB="45720">
                    <a:solidFill>
                      <a:srgbClr val="F4F8F8"/>
                    </a:solidFill>
                  </a:tcPr>
                </a:tc>
              </a:tr>
              <a:tr h="842010">
                <a:tc>
                  <a:txBody>
                    <a:bodyPr/>
                    <a:lstStyle/>
                    <a:p>
                      <a:r>
                        <a:rPr sz="1800" b="0">
                          <a:solidFill>
                            <a:srgbClr val="203B68"/>
                          </a:solidFill>
                          <a:latin typeface="Calibri"/>
                          <a:ea typeface="Calibri"/>
                          <a:cs typeface="Calibri"/>
                        </a:rPr>
                        <a:t>Categoría</a:t>
                      </a:r>
                    </a:p>
                  </a:txBody>
                  <a:tcPr marL="91440" marR="91440" marT="45720" marB="45720">
                    <a:solidFill>
                      <a:srgbClr val="E9F0F1"/>
                    </a:solidFill>
                  </a:tcPr>
                </a:tc>
                <a:tc>
                  <a:txBody>
                    <a:bodyPr/>
                    <a:lstStyle/>
                    <a:p>
                      <a:r>
                        <a:rPr sz="1800" b="0">
                          <a:solidFill>
                            <a:srgbClr val="203B68"/>
                          </a:solidFill>
                          <a:latin typeface="Calibri"/>
                          <a:ea typeface="Calibri"/>
                          <a:cs typeface="Calibri"/>
                        </a:rPr>
                        <a:t>Dominio y mapeo explícitos</a:t>
                      </a:r>
                    </a:p>
                  </a:txBody>
                  <a:tcPr marL="91440" marR="91440" marT="45720" marB="45720">
                    <a:solidFill>
                      <a:srgbClr val="E9F0F1"/>
                    </a:solidFill>
                  </a:tcPr>
                </a:tc>
                <a:tc>
                  <a:txBody>
                    <a:bodyPr/>
                    <a:lstStyle/>
                    <a:p>
                      <a:r>
                        <a:rPr sz="1800" b="0">
                          <a:solidFill>
                            <a:srgbClr val="203B68"/>
                          </a:solidFill>
                          <a:latin typeface="Calibri"/>
                          <a:ea typeface="Calibri"/>
                          <a:cs typeface="Calibri"/>
                        </a:rPr>
                        <a:t>Separar etiquetas equivalentes</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13B7E956-C9A3-42DA-B769-6EB2AB23ECE7}"/>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Tipos y ausencias según el significado</a:t>
            </a:r>
          </a:p>
        </p:txBody>
      </p:sp>
      <p:sp>
        <p:nvSpPr>
          <p:cNvPr id="4" name="">
            <a:extLst xmlns:a="http://schemas.openxmlformats.org/drawingml/2006/main">
              <a:ext uri="{FF2B5EF4-FFF2-40B4-BE49-F238E27FC236}">
                <a16:creationId xmlns:a16="http://schemas.microsoft.com/office/drawing/2014/main" id="{2BC2021E-6FBF-44EE-BD94-0ABD725FDD93}"/>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La inferencia automática propone tipos; el contrato confirma su significado</a:t>
            </a:r>
          </a:p>
        </p:txBody>
      </p:sp>
      <p:sp>
        <p:nvSpPr>
          <p:cNvPr id="17" name="">
            <a:extLst xmlns:a="http://schemas.openxmlformats.org/drawingml/2006/main">
              <a:ext uri="{FF2B5EF4-FFF2-40B4-BE49-F238E27FC236}">
                <a16:creationId xmlns:a16="http://schemas.microsoft.com/office/drawing/2014/main" id="{1BC5360E-5C24-4C1F-8A01-EEA5E61F2A9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B288F463-9A40-4ADE-B526-9B260BF19D5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F9D73025-2885-4D2E-BAB1-A174FC183C5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3CEFF02B-54D4-4AC1-9380-861F8A7E7E6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23</a:t>
            </a:r>
          </a:p>
        </p:txBody>
      </p:sp>
    </p:spTree>
    <p:extLst>
      <p:ext uri="{BB962C8B-B14F-4D97-AF65-F5344CB8AC3E}">
        <p14:creationId xmlns:p14="http://schemas.microsoft.com/office/powerpoint/2010/main" val="1099888653"/>
      </p:ext>
    </p:extLst>
  </p:cSld>
  <p:transition spd="med" advClick="1">
    <p:fade/>
  </p:transition>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96f6c0973c0427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graphicFrame>
        <p:nvGraphicFramePr>
          <p:cNvPr id="37" name="Chart"/>
          <p:cNvGraphicFramePr/>
          <p:nvPr/>
        </p:nvGraphicFramePr>
        <p:xfrm>
          <a:off xmlns:a="http://schemas.openxmlformats.org/drawingml/2006/main" x="609600" y="1619250"/>
          <a:ext xmlns:a="http://schemas.openxmlformats.org/drawingml/2006/main" cx="6762750" cy="3857625"/>
        </p:xfrm>
        <a:graphic xmlns:a="http://schemas.openxmlformats.org/drawingml/2006/main">
          <a:graphicData uri="http://schemas.openxmlformats.org/drawingml/2006/chart">
            <c:chart xmlns:r="http://schemas.openxmlformats.org/officeDocument/2006/relationships" xmlns:c="http://schemas.openxmlformats.org/drawingml/2006/chart" r:id="R230b44224096408c"/>
          </a:graphicData>
        </a:graphic>
      </p:graphicFrame>
      <p:graphicFrame>
        <p:nvGraphicFramePr>
          <p:cNvPr id="38" name=""/>
          <p:cNvGraphicFramePr/>
          <p:nvPr/>
        </p:nvGraphicFramePr>
        <p:xfrm>
          <a:off xmlns:a="http://schemas.openxmlformats.org/drawingml/2006/main" x="7677150" y="2000250"/>
          <a:ext xmlns:a="http://schemas.openxmlformats.org/drawingml/2006/main" cx="3857625" cy="2857500"/>
        </p:xfrm>
        <a:graphic xmlns:a="http://schemas.openxmlformats.org/drawingml/2006/main">
          <a:graphicData uri="http://schemas.openxmlformats.org/drawingml/2006/table">
            <a:tbl>
              <a:tblPr/>
              <a:tblGrid>
                <a:gridCol w="2143125"/>
                <a:gridCol w="1714500"/>
              </a:tblGrid>
              <a:tr h="714375">
                <a:tc>
                  <a:txBody>
                    <a:bodyPr/>
                    <a:lstStyle/>
                    <a:p>
                      <a:r>
                        <a:rPr sz="1800" b="1">
                          <a:solidFill>
                            <a:srgbClr val="FFFFFF"/>
                          </a:solidFill>
                          <a:latin typeface="Calibri"/>
                          <a:ea typeface="Calibri"/>
                          <a:cs typeface="Calibri"/>
                        </a:rPr>
                        <a:t>Fuente</a:t>
                      </a:r>
                    </a:p>
                  </a:txBody>
                  <a:tcPr marL="91440" marR="91440" marT="45720" marB="45720">
                    <a:solidFill>
                      <a:srgbClr val="5546ED"/>
                    </a:solidFill>
                  </a:tcPr>
                </a:tc>
                <a:tc>
                  <a:txBody>
                    <a:bodyPr/>
                    <a:lstStyle/>
                    <a:p>
                      <a:r>
                        <a:rPr sz="1800" b="1">
                          <a:solidFill>
                            <a:srgbClr val="FFFFFF"/>
                          </a:solidFill>
                          <a:latin typeface="Calibri"/>
                          <a:ea typeface="Calibri"/>
                          <a:cs typeface="Calibri"/>
                        </a:rPr>
                        <a:t>Filas</a:t>
                      </a:r>
                    </a:p>
                  </a:txBody>
                  <a:tcPr marL="91440" marR="91440" marT="45720" marB="45720">
                    <a:solidFill>
                      <a:srgbClr val="5546ED"/>
                    </a:solidFill>
                  </a:tcPr>
                </a:tc>
              </a:tr>
              <a:tr h="714375">
                <a:tc>
                  <a:txBody>
                    <a:bodyPr/>
                    <a:lstStyle/>
                    <a:p>
                      <a:r>
                        <a:rPr sz="1800" b="0">
                          <a:solidFill>
                            <a:srgbClr val="203B68"/>
                          </a:solidFill>
                          <a:latin typeface="Calibri"/>
                          <a:ea typeface="Calibri"/>
                          <a:cs typeface="Calibri"/>
                        </a:rPr>
                        <a:t>AGROSAVIA</a:t>
                      </a:r>
                    </a:p>
                  </a:txBody>
                  <a:tcPr marL="91440" marR="91440" marT="45720" marB="45720">
                    <a:solidFill>
                      <a:srgbClr val="F0F8F8"/>
                    </a:solidFill>
                  </a:tcPr>
                </a:tc>
                <a:tc>
                  <a:txBody>
                    <a:bodyPr/>
                    <a:lstStyle/>
                    <a:p>
                      <a:r>
                        <a:rPr sz="1800" b="0">
                          <a:solidFill>
                            <a:srgbClr val="203B68"/>
                          </a:solidFill>
                          <a:latin typeface="Calibri"/>
                          <a:ea typeface="Calibri"/>
                          <a:cs typeface="Calibri"/>
                        </a:rPr>
                        <a:t>92.738</a:t>
                      </a:r>
                    </a:p>
                  </a:txBody>
                  <a:tcPr marL="91440" marR="91440" marT="45720" marB="45720">
                    <a:solidFill>
                      <a:srgbClr val="F0F8F8"/>
                    </a:solidFill>
                  </a:tcPr>
                </a:tc>
              </a:tr>
              <a:tr h="714375">
                <a:tc>
                  <a:txBody>
                    <a:bodyPr/>
                    <a:lstStyle/>
                    <a:p>
                      <a:r>
                        <a:rPr sz="1800" b="0">
                          <a:solidFill>
                            <a:srgbClr val="203B68"/>
                          </a:solidFill>
                          <a:latin typeface="Calibri"/>
                          <a:ea typeface="Calibri"/>
                          <a:cs typeface="Calibri"/>
                        </a:rPr>
                        <a:t>EVA</a:t>
                      </a:r>
                    </a:p>
                  </a:txBody>
                  <a:tcPr marL="91440" marR="91440" marT="45720" marB="45720">
                    <a:solidFill>
                      <a:srgbClr val="FFFFFF"/>
                    </a:solidFill>
                  </a:tcPr>
                </a:tc>
                <a:tc>
                  <a:txBody>
                    <a:bodyPr/>
                    <a:lstStyle/>
                    <a:p>
                      <a:r>
                        <a:rPr sz="1800" b="0">
                          <a:solidFill>
                            <a:srgbClr val="203B68"/>
                          </a:solidFill>
                          <a:latin typeface="Calibri"/>
                          <a:ea typeface="Calibri"/>
                          <a:cs typeface="Calibri"/>
                        </a:rPr>
                        <a:t>166.732</a:t>
                      </a:r>
                    </a:p>
                  </a:txBody>
                  <a:tcPr marL="91440" marR="91440" marT="45720" marB="45720">
                    <a:solidFill>
                      <a:srgbClr val="FFFFFF"/>
                    </a:solidFill>
                  </a:tcPr>
                </a:tc>
              </a:tr>
              <a:tr h="714375">
                <a:tc>
                  <a:txBody>
                    <a:bodyPr/>
                    <a:lstStyle/>
                    <a:p>
                      <a:r>
                        <a:rPr sz="1800" b="0">
                          <a:solidFill>
                            <a:srgbClr val="203B68"/>
                          </a:solidFill>
                          <a:latin typeface="Calibri"/>
                          <a:ea typeface="Calibri"/>
                          <a:cs typeface="Calibri"/>
                        </a:rPr>
                        <a:t>DIVIPOLA</a:t>
                      </a:r>
                    </a:p>
                  </a:txBody>
                  <a:tcPr marL="91440" marR="91440" marT="45720" marB="45720">
                    <a:solidFill>
                      <a:srgbClr val="F0F8F8"/>
                    </a:solidFill>
                  </a:tcPr>
                </a:tc>
                <a:tc>
                  <a:txBody>
                    <a:bodyPr/>
                    <a:lstStyle/>
                    <a:p>
                      <a:r>
                        <a:rPr sz="1800" b="0">
                          <a:solidFill>
                            <a:srgbClr val="203B68"/>
                          </a:solidFill>
                          <a:latin typeface="Calibri"/>
                          <a:ea typeface="Calibri"/>
                          <a:cs typeface="Calibri"/>
                        </a:rPr>
                        <a:t>1.122</a:t>
                      </a:r>
                    </a:p>
                  </a:txBody>
                  <a:tcPr marL="91440" marR="91440" marT="45720" marB="45720">
                    <a:solidFill>
                      <a:srgbClr val="F0F8F8"/>
                    </a:solidFill>
                  </a:tcPr>
                </a:tc>
              </a:tr>
            </a:tbl>
          </a:graphicData>
        </a:graphic>
      </p:graphicFrame>
      <p:sp>
        <p:nvSpPr>
          <p:cNvPr id="5" name="">
            <a:extLst xmlns:a="http://schemas.openxmlformats.org/drawingml/2006/main">
              <a:ext uri="{FF2B5EF4-FFF2-40B4-BE49-F238E27FC236}">
                <a16:creationId xmlns:a16="http://schemas.microsoft.com/office/drawing/2014/main" id="{3C0D8333-EB28-410A-9638-06304E174C5E}"/>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Controles de entrada</a:t>
            </a:r>
          </a:p>
        </p:txBody>
      </p:sp>
      <p:sp>
        <p:nvSpPr>
          <p:cNvPr id="10" name="">
            <a:extLst xmlns:a="http://schemas.openxmlformats.org/drawingml/2006/main">
              <a:ext uri="{FF2B5EF4-FFF2-40B4-BE49-F238E27FC236}">
                <a16:creationId xmlns:a16="http://schemas.microsoft.com/office/drawing/2014/main" id="{4F95F0B2-FF51-46DE-8899-ECA931B860D2}"/>
              </a:ext>
            </a:extLst>
          </p:cNvPr>
          <p:cNvSpPr>
            <a:spLocks xmlns:a="http://schemas.openxmlformats.org/drawingml/2006/main" noGrp="1"/>
          </p:cNvSpPr>
          <p:nvPr/>
        </p:nvSpPr>
        <p:spPr>
          <a:xfrm xmlns:a="http://schemas.openxmlformats.org/drawingml/2006/main">
            <a:off x="609600" y="59055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57 columnas en total entre los tres CSV. Filas y columnas describen dimensiones distintas.</a:t>
            </a:r>
          </a:p>
        </p:txBody>
      </p:sp>
      <p:sp>
        <p:nvSpPr>
          <p:cNvPr id="29" name="">
            <a:extLst xmlns:a="http://schemas.openxmlformats.org/drawingml/2006/main">
              <a:ext uri="{FF2B5EF4-FFF2-40B4-BE49-F238E27FC236}">
                <a16:creationId xmlns:a16="http://schemas.microsoft.com/office/drawing/2014/main" id="{3DE12164-1AE0-4E9C-860D-E1A7FB59C4D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F86AD50D-8EC8-4B79-9AD9-31B7CD3EA74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1" name="">
            <a:extLst xmlns:a="http://schemas.openxmlformats.org/drawingml/2006/main">
              <a:ext uri="{FF2B5EF4-FFF2-40B4-BE49-F238E27FC236}">
                <a16:creationId xmlns:a16="http://schemas.microsoft.com/office/drawing/2014/main" id="{BB3582ED-2236-463A-9323-D524416A143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2" name="">
            <a:extLst xmlns:a="http://schemas.openxmlformats.org/drawingml/2006/main">
              <a:ext uri="{FF2B5EF4-FFF2-40B4-BE49-F238E27FC236}">
                <a16:creationId xmlns:a16="http://schemas.microsoft.com/office/drawing/2014/main" id="{9659F41E-D098-45E7-822B-C42E3A96051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24</a:t>
            </a:r>
          </a:p>
        </p:txBody>
      </p:sp>
    </p:spTree>
    <p:extLst>
      <p:ext uri="{BB962C8B-B14F-4D97-AF65-F5344CB8AC3E}">
        <p14:creationId xmlns:p14="http://schemas.microsoft.com/office/powerpoint/2010/main" val="843878543"/>
      </p:ext>
    </p:extLst>
  </p:cSld>
  <p:transition spd="med" advClick="1">
    <p:fade/>
  </p:transition>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a35e87f071b459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A6A5A3-C656-47D5-932D-2C8B89839E38}"/>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Decisiones sobre valores faltantes</a:t>
            </a:r>
          </a:p>
        </p:txBody>
      </p:sp>
      <p:sp>
        <p:nvSpPr>
          <p:cNvPr id="3" name="">
            <a:extLst xmlns:a="http://schemas.openxmlformats.org/drawingml/2006/main">
              <a:ext uri="{FF2B5EF4-FFF2-40B4-BE49-F238E27FC236}">
                <a16:creationId xmlns:a16="http://schemas.microsoft.com/office/drawing/2014/main" id="{9888C295-B5ED-4745-AF57-E16547F105B0}"/>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Medir el patrón</a:t>
            </a:r>
          </a:p>
        </p:txBody>
      </p:sp>
      <p:sp>
        <p:nvSpPr>
          <p:cNvPr id="4" name="">
            <a:extLst xmlns:a="http://schemas.openxmlformats.org/drawingml/2006/main">
              <a:ext uri="{FF2B5EF4-FFF2-40B4-BE49-F238E27FC236}">
                <a16:creationId xmlns:a16="http://schemas.microsoft.com/office/drawing/2014/main" id="{8D8C0DEF-5153-449C-BA10-688C4991800B}"/>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Tasa por columna, período y grupo. Comparar grupos antes de eliminar.</a:t>
            </a:r>
          </a:p>
        </p:txBody>
      </p:sp>
      <p:sp>
        <p:nvSpPr>
          <p:cNvPr id="5" name="">
            <a:extLst xmlns:a="http://schemas.openxmlformats.org/drawingml/2006/main">
              <a:ext uri="{FF2B5EF4-FFF2-40B4-BE49-F238E27FC236}">
                <a16:creationId xmlns:a16="http://schemas.microsoft.com/office/drawing/2014/main" id="{0FA191E7-9CBB-4F35-9708-EEA2A03716DC}"/>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Elegir una política</a:t>
            </a:r>
          </a:p>
        </p:txBody>
      </p:sp>
      <p:sp>
        <p:nvSpPr>
          <p:cNvPr id="6" name="">
            <a:extLst xmlns:a="http://schemas.openxmlformats.org/drawingml/2006/main">
              <a:ext uri="{FF2B5EF4-FFF2-40B4-BE49-F238E27FC236}">
                <a16:creationId xmlns:a16="http://schemas.microsoft.com/office/drawing/2014/main" id="{31D96B7E-7833-4CBD-8FDD-24C68AADECF1}"/>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Conservar, imputar o excluir con motivo y efecto cuantificado.</a:t>
            </a:r>
          </a:p>
        </p:txBody>
      </p:sp>
      <p:sp>
        <p:nvSpPr>
          <p:cNvPr id="7" name="">
            <a:extLst xmlns:a="http://schemas.openxmlformats.org/drawingml/2006/main">
              <a:ext uri="{FF2B5EF4-FFF2-40B4-BE49-F238E27FC236}">
                <a16:creationId xmlns:a16="http://schemas.microsoft.com/office/drawing/2014/main" id="{957BFFDF-6854-4159-BD9B-446F56D3510C}"/>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Mantener trazabilidad</a:t>
            </a:r>
          </a:p>
        </p:txBody>
      </p:sp>
      <p:sp>
        <p:nvSpPr>
          <p:cNvPr id="8" name="">
            <a:extLst xmlns:a="http://schemas.openxmlformats.org/drawingml/2006/main">
              <a:ext uri="{FF2B5EF4-FFF2-40B4-BE49-F238E27FC236}">
                <a16:creationId xmlns:a16="http://schemas.microsoft.com/office/drawing/2014/main" id="{6EA95BCA-976C-4D19-9CC8-D3E8A9A62257}"/>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Guardar el valor original y una marca de transformación.</a:t>
            </a:r>
          </a:p>
        </p:txBody>
      </p:sp>
      <p:sp>
        <p:nvSpPr>
          <p:cNvPr id="9" name="">
            <a:extLst xmlns:a="http://schemas.openxmlformats.org/drawingml/2006/main">
              <a:ext uri="{FF2B5EF4-FFF2-40B4-BE49-F238E27FC236}">
                <a16:creationId xmlns:a16="http://schemas.microsoft.com/office/drawing/2014/main" id="{0AFB0308-A8E5-41A9-95EA-B28588974EB7}"/>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Ejemplo didáctico: 20 ausencias entre 200 registros equivalen al 10 %</a:t>
            </a:r>
          </a:p>
        </p:txBody>
      </p:sp>
      <p:sp>
        <p:nvSpPr>
          <p:cNvPr id="19" name="">
            <a:extLst xmlns:a="http://schemas.openxmlformats.org/drawingml/2006/main">
              <a:ext uri="{FF2B5EF4-FFF2-40B4-BE49-F238E27FC236}">
                <a16:creationId xmlns:a16="http://schemas.microsoft.com/office/drawing/2014/main" id="{65FECFF6-9B8B-4EEF-BE7E-F6D1AB63F8F4}"/>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B2672F83-C4B3-4AD3-B784-695A0825F64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1" name="">
            <a:extLst xmlns:a="http://schemas.openxmlformats.org/drawingml/2006/main">
              <a:ext uri="{FF2B5EF4-FFF2-40B4-BE49-F238E27FC236}">
                <a16:creationId xmlns:a16="http://schemas.microsoft.com/office/drawing/2014/main" id="{73EB1DC2-2520-4BC9-BE2D-93F105C72F2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2" name="">
            <a:extLst xmlns:a="http://schemas.openxmlformats.org/drawingml/2006/main">
              <a:ext uri="{FF2B5EF4-FFF2-40B4-BE49-F238E27FC236}">
                <a16:creationId xmlns:a16="http://schemas.microsoft.com/office/drawing/2014/main" id="{6CEF179E-25DC-42D1-9552-27FB4F4C3EC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25</a:t>
            </a:r>
          </a:p>
        </p:txBody>
      </p:sp>
    </p:spTree>
    <p:extLst>
      <p:ext uri="{BB962C8B-B14F-4D97-AF65-F5344CB8AC3E}">
        <p14:creationId xmlns:p14="http://schemas.microsoft.com/office/powerpoint/2010/main" val="19827679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3f9360669db4578"/>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0EACEA-1BA2-4AF7-B2D6-5ACA58A5FF70}"/>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Almuerzo</a:t>
            </a:r>
          </a:p>
        </p:txBody>
      </p:sp>
      <p:sp>
        <p:nvSpPr>
          <p:cNvPr id="2" name="">
            <a:extLst xmlns:a="http://schemas.openxmlformats.org/drawingml/2006/main">
              <a:ext uri="{FF2B5EF4-FFF2-40B4-BE49-F238E27FC236}">
                <a16:creationId xmlns:a16="http://schemas.microsoft.com/office/drawing/2014/main" id="{555DEFDF-1767-4FFE-900B-89AC60A12F28}"/>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12:00–13:00</a:t>
            </a:r>
          </a:p>
        </p:txBody>
      </p:sp>
      <p:sp>
        <p:nvSpPr>
          <p:cNvPr id="3" name="">
            <a:extLst xmlns:a="http://schemas.openxmlformats.org/drawingml/2006/main">
              <a:ext uri="{FF2B5EF4-FFF2-40B4-BE49-F238E27FC236}">
                <a16:creationId xmlns:a16="http://schemas.microsoft.com/office/drawing/2014/main" id="{5DEEBE71-2BBF-470B-86E8-93FEEA6980B4}"/>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17" name="">
            <a:extLst xmlns:a="http://schemas.openxmlformats.org/drawingml/2006/main">
              <a:ext uri="{FF2B5EF4-FFF2-40B4-BE49-F238E27FC236}">
                <a16:creationId xmlns:a16="http://schemas.microsoft.com/office/drawing/2014/main" id="{37B47076-10B6-4A69-9ABF-DFCF2375586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422D27BF-12B9-4E27-A0CD-4864AFB7503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E516B174-87E2-4903-9A55-EF70E25524E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C305D8AD-165F-4B12-A712-EF3E8D4593A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26</a:t>
            </a:r>
          </a:p>
        </p:txBody>
      </p:sp>
    </p:spTree>
    <p:extLst>
      <p:ext uri="{BB962C8B-B14F-4D97-AF65-F5344CB8AC3E}">
        <p14:creationId xmlns:p14="http://schemas.microsoft.com/office/powerpoint/2010/main" val="528427845"/>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66dceebb48a4d3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1c2e28f93344fba"/>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5CE13D-DC55-4E4D-9ACF-4A1635A25BED}"/>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Identidad territorial</a:t>
            </a:r>
          </a:p>
        </p:txBody>
      </p:sp>
      <p:sp>
        <p:nvSpPr>
          <p:cNvPr id="11" name="">
            <a:extLst xmlns:a="http://schemas.openxmlformats.org/drawingml/2006/main">
              <a:ext uri="{FF2B5EF4-FFF2-40B4-BE49-F238E27FC236}">
                <a16:creationId xmlns:a16="http://schemas.microsoft.com/office/drawing/2014/main" id="{14CB9F07-98E6-47DB-8B99-9A73379B3906}"/>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Código municipal</a:t>
            </a:r>
          </a:p>
        </p:txBody>
      </p:sp>
      <p:sp>
        <p:nvSpPr>
          <p:cNvPr id="12" name="">
            <a:extLst xmlns:a="http://schemas.openxmlformats.org/drawingml/2006/main">
              <a:ext uri="{FF2B5EF4-FFF2-40B4-BE49-F238E27FC236}">
                <a16:creationId xmlns:a16="http://schemas.microsoft.com/office/drawing/2014/main" id="{9A670AD7-CE54-48A6-BD10-AC0D784E9ACC}"/>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Texto de cinco caracteres, con ceros iniciales.</a:t>
            </a:r>
          </a:p>
        </p:txBody>
      </p:sp>
      <p:sp>
        <p:nvSpPr>
          <p:cNvPr id="13" name="">
            <a:extLst xmlns:a="http://schemas.openxmlformats.org/drawingml/2006/main">
              <a:ext uri="{FF2B5EF4-FFF2-40B4-BE49-F238E27FC236}">
                <a16:creationId xmlns:a16="http://schemas.microsoft.com/office/drawing/2014/main" id="{6E08DFC6-448D-4878-BCC4-5F9BD99B55BA}"/>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Nombre municipal</a:t>
            </a:r>
          </a:p>
        </p:txBody>
      </p:sp>
      <p:sp>
        <p:nvSpPr>
          <p:cNvPr id="14" name="">
            <a:extLst xmlns:a="http://schemas.openxmlformats.org/drawingml/2006/main">
              <a:ext uri="{FF2B5EF4-FFF2-40B4-BE49-F238E27FC236}">
                <a16:creationId xmlns:a16="http://schemas.microsoft.com/office/drawing/2014/main" id="{C8A496C2-2781-446D-AAB2-27BC00C8B61F}"/>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Usar departamento y municipio. Evitar coincidencias aproximadas.</a:t>
            </a:r>
          </a:p>
        </p:txBody>
      </p:sp>
      <p:sp>
        <p:nvSpPr>
          <p:cNvPr id="15" name="">
            <a:extLst xmlns:a="http://schemas.openxmlformats.org/drawingml/2006/main">
              <a:ext uri="{FF2B5EF4-FFF2-40B4-BE49-F238E27FC236}">
                <a16:creationId xmlns:a16="http://schemas.microsoft.com/office/drawing/2014/main" id="{3AFC5AE7-AD2E-433E-8163-BC9867B37000}"/>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Vigencia</a:t>
            </a:r>
          </a:p>
        </p:txBody>
      </p:sp>
      <p:sp>
        <p:nvSpPr>
          <p:cNvPr id="16" name="">
            <a:extLst xmlns:a="http://schemas.openxmlformats.org/drawingml/2006/main">
              <a:ext uri="{FF2B5EF4-FFF2-40B4-BE49-F238E27FC236}">
                <a16:creationId xmlns:a16="http://schemas.microsoft.com/office/drawing/2014/main" id="{F38095AE-95AF-4E61-8149-98680454FD37}"/>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Documentar el catálogo y revisar códigos sin correspondencia.</a:t>
            </a:r>
          </a:p>
        </p:txBody>
      </p:sp>
      <p:sp>
        <p:nvSpPr>
          <p:cNvPr id="17" name="">
            <a:extLst xmlns:a="http://schemas.openxmlformats.org/drawingml/2006/main">
              <a:ext uri="{FF2B5EF4-FFF2-40B4-BE49-F238E27FC236}">
                <a16:creationId xmlns:a16="http://schemas.microsoft.com/office/drawing/2014/main" id="{9E6DEC8B-F88D-418E-ABB5-DEBF75EA1609}"/>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clave territorial incluye significado y vigencia, además de caracteres</a:t>
            </a:r>
          </a:p>
        </p:txBody>
      </p:sp>
      <p:sp>
        <p:nvSpPr>
          <p:cNvPr id="32" name="">
            <a:extLst xmlns:a="http://schemas.openxmlformats.org/drawingml/2006/main">
              <a:ext uri="{FF2B5EF4-FFF2-40B4-BE49-F238E27FC236}">
                <a16:creationId xmlns:a16="http://schemas.microsoft.com/office/drawing/2014/main" id="{F3FE8F6F-AC5B-48D7-BC16-7A7E8483720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0FC77FFC-FC25-4355-9B82-9B1B27C79B4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D266A887-2BB1-4354-B746-1ED1BF1573A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5" name="">
            <a:extLst xmlns:a="http://schemas.openxmlformats.org/drawingml/2006/main">
              <a:ext uri="{FF2B5EF4-FFF2-40B4-BE49-F238E27FC236}">
                <a16:creationId xmlns:a16="http://schemas.microsoft.com/office/drawing/2014/main" id="{DB26D77B-1C83-4DBD-A0F1-5A69D22BD35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27</a:t>
            </a:r>
          </a:p>
        </p:txBody>
      </p:sp>
    </p:spTree>
    <p:extLst>
      <p:ext uri="{BB962C8B-B14F-4D97-AF65-F5344CB8AC3E}">
        <p14:creationId xmlns:p14="http://schemas.microsoft.com/office/powerpoint/2010/main" val="100730883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828c33e13d542f9"/>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5B7955-F7A8-42E5-AB5F-026BD178F235}"/>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Dimensión municipal</a:t>
            </a:r>
          </a:p>
        </p:txBody>
      </p:sp>
      <p:sp>
        <p:nvSpPr>
          <p:cNvPr id="2" name="">
            <a:extLst xmlns:a="http://schemas.openxmlformats.org/drawingml/2006/main">
              <a:ext uri="{FF2B5EF4-FFF2-40B4-BE49-F238E27FC236}">
                <a16:creationId xmlns:a16="http://schemas.microsoft.com/office/drawing/2014/main" id="{E3D55B85-6A13-4F07-B605-0EA199B7DAD0}"/>
              </a:ext>
            </a:extLst>
          </p:cNvPr>
          <p:cNvSpPr>
            <a:spLocks xmlns:a="http://schemas.openxmlformats.org/drawingml/2006/main" noGrp="1"/>
          </p:cNvSpPr>
          <p:nvPr/>
        </p:nvSpPr>
        <p:spPr>
          <a:xfrm xmlns:a="http://schemas.openxmlformats.org/drawingml/2006/main">
            <a:off x="60960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d = pd.read_csv("data/raw/divipola.csv", dtype=str)</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d["codigo"] = d["Código Municipio"].str.zfill(5)</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assert not d["codigo"].duplicated().any()</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print(d[["codigo", "Nombre Municipio"]].head())</a:t>
            </a:r>
          </a:p>
        </p:txBody>
      </p:sp>
      <p:sp>
        <p:nvSpPr>
          <p:cNvPr id="3" name="">
            <a:extLst xmlns:a="http://schemas.openxmlformats.org/drawingml/2006/main">
              <a:ext uri="{FF2B5EF4-FFF2-40B4-BE49-F238E27FC236}">
                <a16:creationId xmlns:a16="http://schemas.microsoft.com/office/drawing/2014/main" id="{C1D957D4-62DE-4EF8-A1FB-5E35EEE5A7D2}"/>
              </a:ext>
            </a:extLst>
          </p:cNvPr>
          <p:cNvSpPr>
            <a:spLocks xmlns:a="http://schemas.openxmlformats.org/drawingml/2006/main" noGrp="1"/>
          </p:cNvSpPr>
          <p:nvPr/>
        </p:nvSpPr>
        <p:spPr>
          <a:xfrm xmlns:a="http://schemas.openxmlformats.org/drawingml/2006/main">
            <a:off x="609600" y="56578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Distinguir municipio, área no municipalizada e isla.</a:t>
            </a:r>
          </a:p>
        </p:txBody>
      </p:sp>
      <p:sp>
        <p:nvSpPr>
          <p:cNvPr id="17" name="">
            <a:extLst xmlns:a="http://schemas.openxmlformats.org/drawingml/2006/main">
              <a:ext uri="{FF2B5EF4-FFF2-40B4-BE49-F238E27FC236}">
                <a16:creationId xmlns:a16="http://schemas.microsoft.com/office/drawing/2014/main" id="{4E297C36-6079-4142-B1DE-C3C427708E67}"/>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EB755659-EC26-46CC-9416-77E1FAAFF54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874081C7-1509-4F10-8259-8323F5DA74E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2FE2DB0B-954B-4EB9-A7AD-371AB25CC8B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28</a:t>
            </a:r>
          </a:p>
        </p:txBody>
      </p:sp>
    </p:spTree>
    <p:extLst>
      <p:ext uri="{BB962C8B-B14F-4D97-AF65-F5344CB8AC3E}">
        <p14:creationId xmlns:p14="http://schemas.microsoft.com/office/powerpoint/2010/main" val="328223585"/>
      </p:ext>
    </p:extLst>
  </p:cSld>
  <p:transition spd="med" advClick="1">
    <p:fade/>
  </p:transition>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c3b15f8c0344fd0"/>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41dfb6883394561"/>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CA4DF22-C0D4-4813-AF68-AF249618564E}"/>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Descargar shapes DANE</a:t>
            </a:r>
          </a:p>
        </p:txBody>
      </p:sp>
      <p:sp>
        <p:nvSpPr>
          <p:cNvPr id="11" name="">
            <a:extLst xmlns:a="http://schemas.openxmlformats.org/drawingml/2006/main">
              <a:ext uri="{FF2B5EF4-FFF2-40B4-BE49-F238E27FC236}">
                <a16:creationId xmlns:a16="http://schemas.microsoft.com/office/drawing/2014/main" id="{858C146B-156C-4805-9CE2-A5919EFF073E}"/>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Catálogo oficial</a:t>
            </a:r>
          </a:p>
        </p:txBody>
      </p:sp>
      <p:sp>
        <p:nvSpPr>
          <p:cNvPr id="12" name="">
            <a:extLst xmlns:a="http://schemas.openxmlformats.org/drawingml/2006/main">
              <a:ext uri="{FF2B5EF4-FFF2-40B4-BE49-F238E27FC236}">
                <a16:creationId xmlns:a16="http://schemas.microsoft.com/office/drawing/2014/main" id="{3B52615D-AC08-47FC-975C-58D3BC0D7B2E}"/>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Descargar MGN 2025 de municipios y departamentos.</a:t>
            </a:r>
          </a:p>
        </p:txBody>
      </p:sp>
      <p:sp>
        <p:nvSpPr>
          <p:cNvPr id="13" name="">
            <a:extLst xmlns:a="http://schemas.openxmlformats.org/drawingml/2006/main">
              <a:ext uri="{FF2B5EF4-FFF2-40B4-BE49-F238E27FC236}">
                <a16:creationId xmlns:a16="http://schemas.microsoft.com/office/drawing/2014/main" id="{293BA227-AF2C-4134-B56F-5227CA8B0B1A}"/>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Archivos compañeros</a:t>
            </a:r>
          </a:p>
        </p:txBody>
      </p:sp>
      <p:sp>
        <p:nvSpPr>
          <p:cNvPr id="14" name="">
            <a:extLst xmlns:a="http://schemas.openxmlformats.org/drawingml/2006/main">
              <a:ext uri="{FF2B5EF4-FFF2-40B4-BE49-F238E27FC236}">
                <a16:creationId xmlns:a16="http://schemas.microsoft.com/office/drawing/2014/main" id="{5242AC85-3208-477A-AEF7-46BD55E3E786}"/>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SHP, SHX, DBF y PRJ deben permanecer juntos.</a:t>
            </a:r>
          </a:p>
        </p:txBody>
      </p:sp>
      <p:sp>
        <p:nvSpPr>
          <p:cNvPr id="15" name="">
            <a:extLst xmlns:a="http://schemas.openxmlformats.org/drawingml/2006/main">
              <a:ext uri="{FF2B5EF4-FFF2-40B4-BE49-F238E27FC236}">
                <a16:creationId xmlns:a16="http://schemas.microsoft.com/office/drawing/2014/main" id="{C2B7FE36-7D3F-468B-8E23-81284B6C879F}"/>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Alcance de descarga</a:t>
            </a:r>
          </a:p>
        </p:txBody>
      </p:sp>
      <p:sp>
        <p:nvSpPr>
          <p:cNvPr id="16" name="">
            <a:extLst xmlns:a="http://schemas.openxmlformats.org/drawingml/2006/main">
              <a:ext uri="{FF2B5EF4-FFF2-40B4-BE49-F238E27FC236}">
                <a16:creationId xmlns:a16="http://schemas.microsoft.com/office/drawing/2014/main" id="{EC3EB7B2-AB81-4703-97D2-065A3FCBCDE1}"/>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Evitar el paquete nacional de todos los niveles.</a:t>
            </a:r>
          </a:p>
        </p:txBody>
      </p:sp>
      <p:sp>
        <p:nvSpPr>
          <p:cNvPr id="17" name="">
            <a:extLst xmlns:a="http://schemas.openxmlformats.org/drawingml/2006/main">
              <a:ext uri="{FF2B5EF4-FFF2-40B4-BE49-F238E27FC236}">
                <a16:creationId xmlns:a16="http://schemas.microsoft.com/office/drawing/2014/main" id="{0CC8DBAA-D4AD-48FB-8E18-13D507ADFC5D}"/>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Consultar el enlace del manual. Cada componente aporta información distinta</a:t>
            </a:r>
          </a:p>
        </p:txBody>
      </p:sp>
      <p:sp>
        <p:nvSpPr>
          <p:cNvPr id="32" name="">
            <a:extLst xmlns:a="http://schemas.openxmlformats.org/drawingml/2006/main">
              <a:ext uri="{FF2B5EF4-FFF2-40B4-BE49-F238E27FC236}">
                <a16:creationId xmlns:a16="http://schemas.microsoft.com/office/drawing/2014/main" id="{D8B29A5D-B936-428B-BE20-6F514503AF1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51139F8D-A17A-44FF-BC0D-C8CB94D80E2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B9C52A86-50B5-457D-86C1-8713E0AD37D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35" name="">
            <a:extLst xmlns:a="http://schemas.openxmlformats.org/drawingml/2006/main">
              <a:ext uri="{FF2B5EF4-FFF2-40B4-BE49-F238E27FC236}">
                <a16:creationId xmlns:a16="http://schemas.microsoft.com/office/drawing/2014/main" id="{EBEE64EC-B293-40CB-BD19-014B9BE89EE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29</a:t>
            </a:r>
          </a:p>
        </p:txBody>
      </p:sp>
    </p:spTree>
    <p:extLst>
      <p:ext uri="{BB962C8B-B14F-4D97-AF65-F5344CB8AC3E}">
        <p14:creationId xmlns:p14="http://schemas.microsoft.com/office/powerpoint/2010/main" val="205964791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feaa5db300d4e7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59B5B08-9692-4CA5-B8E4-B06FAD2F2E15}"/>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E03 · Identidad territorial y vigencias</a:t>
            </a:r>
          </a:p>
        </p:txBody>
      </p:sp>
      <p:sp>
        <p:nvSpPr>
          <p:cNvPr id="2" name="">
            <a:extLst xmlns:a="http://schemas.openxmlformats.org/drawingml/2006/main">
              <a:ext uri="{FF2B5EF4-FFF2-40B4-BE49-F238E27FC236}">
                <a16:creationId xmlns:a16="http://schemas.microsoft.com/office/drawing/2014/main" id="{AFE62A44-6040-44A5-ACE9-791ECEBCE241}"/>
              </a:ext>
            </a:extLst>
          </p:cNvPr>
          <p:cNvSpPr>
            <a:spLocks xmlns:a="http://schemas.openxmlformats.org/drawingml/2006/main" noGrp="1"/>
          </p:cNvSpPr>
          <p:nvPr/>
        </p:nvSpPr>
        <p:spPr>
          <a:xfrm xmlns:a="http://schemas.openxmlformats.org/drawingml/2006/main">
            <a:off x="609600" y="1971675"/>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F3864"/>
                </a:solidFill>
                <a:latin typeface="Helvetica Neue"/>
                <a:ea typeface="Helvetica Neue"/>
                <a:cs typeface="Helvetica Neue"/>
              </a:defRPr>
            </a:pPr>
            <a:r>
              <a:rPr sz="3225" b="1">
                <a:solidFill>
                  <a:srgbClr val="1F3864"/>
                </a:solidFill>
                <a:latin typeface="Helvetica Neue"/>
                <a:ea typeface="Helvetica Neue"/>
                <a:cs typeface="Helvetica Neue"/>
              </a:rPr>
              <a:t>90 minutos</a:t>
            </a:r>
          </a:p>
        </p:txBody>
      </p:sp>
      <p:sp>
        <p:nvSpPr>
          <p:cNvPr id="3" name="">
            <a:extLst xmlns:a="http://schemas.openxmlformats.org/drawingml/2006/main">
              <a:ext uri="{FF2B5EF4-FFF2-40B4-BE49-F238E27FC236}">
                <a16:creationId xmlns:a16="http://schemas.microsoft.com/office/drawing/2014/main" id="{496A26B2-622F-4808-A0F9-EDC58B1FD85A}"/>
              </a:ext>
            </a:extLst>
          </p:cNvPr>
          <p:cNvSpPr>
            <a:spLocks xmlns:a="http://schemas.openxmlformats.org/drawingml/2006/main" noGrp="1"/>
          </p:cNvSpPr>
          <p:nvPr/>
        </p:nvSpPr>
        <p:spPr>
          <a:xfrm xmlns:a="http://schemas.openxmlformats.org/drawingml/2006/main">
            <a:off x="609600" y="28575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1F3864"/>
                </a:solidFill>
                <a:latin typeface="Helvetica Neue"/>
                <a:ea typeface="Helvetica Neue"/>
                <a:cs typeface="Helvetica Neue"/>
              </a:defRPr>
            </a:pPr>
            <a:r>
              <a:rPr sz="1500" b="1">
                <a:solidFill>
                  <a:srgbClr val="1F3864"/>
                </a:solidFill>
                <a:latin typeface="Helvetica Neue"/>
                <a:ea typeface="Helvetica Neue"/>
                <a:cs typeface="Helvetica Neue"/>
              </a:rPr>
              <a:t>TRABAJO GUIADO</a:t>
            </a:r>
          </a:p>
        </p:txBody>
      </p:sp>
      <p:sp>
        <p:nvSpPr>
          <p:cNvPr id="4" name="">
            <a:extLst xmlns:a="http://schemas.openxmlformats.org/drawingml/2006/main">
              <a:ext uri="{FF2B5EF4-FFF2-40B4-BE49-F238E27FC236}">
                <a16:creationId xmlns:a16="http://schemas.microsoft.com/office/drawing/2014/main" id="{AFCE0D53-FA1C-4A11-A745-846D7A5B1EB8}"/>
              </a:ext>
            </a:extLst>
          </p:cNvPr>
          <p:cNvSpPr>
            <a:spLocks xmlns:a="http://schemas.openxmlformats.org/drawingml/2006/main" noGrp="1"/>
          </p:cNvSpPr>
          <p:nvPr/>
        </p:nvSpPr>
        <p:spPr>
          <a:xfrm xmlns:a="http://schemas.openxmlformats.org/drawingml/2006/main">
            <a:off x="3886200" y="195262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19B3B793-107B-4C69-A3FE-541E3B7C4B4F}"/>
              </a:ext>
            </a:extLst>
          </p:cNvPr>
          <p:cNvSpPr>
            <a:spLocks xmlns:a="http://schemas.openxmlformats.org/drawingml/2006/main" noGrp="1"/>
          </p:cNvSpPr>
          <p:nvPr/>
        </p:nvSpPr>
        <p:spPr>
          <a:xfrm xmlns:a="http://schemas.openxmlformats.org/drawingml/2006/main">
            <a:off x="4638675" y="195262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Conservar los códigos como texto.</a:t>
            </a:r>
          </a:p>
        </p:txBody>
      </p:sp>
      <p:sp>
        <p:nvSpPr>
          <p:cNvPr id="6" name="">
            <a:extLst xmlns:a="http://schemas.openxmlformats.org/drawingml/2006/main">
              <a:ext uri="{FF2B5EF4-FFF2-40B4-BE49-F238E27FC236}">
                <a16:creationId xmlns:a16="http://schemas.microsoft.com/office/drawing/2014/main" id="{9800B5A5-FA48-4061-9B93-DD3CA5D2FB4F}"/>
              </a:ext>
            </a:extLst>
          </p:cNvPr>
          <p:cNvSpPr>
            <a:spLocks xmlns:a="http://schemas.openxmlformats.org/drawingml/2006/main" noGrp="1"/>
          </p:cNvSpPr>
          <p:nvPr/>
        </p:nvSpPr>
        <p:spPr>
          <a:xfrm xmlns:a="http://schemas.openxmlformats.org/drawingml/2006/main">
            <a:off x="3886200" y="268605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4DAC6845-79D0-4C0D-9D08-33F61A8B32A4}"/>
              </a:ext>
            </a:extLst>
          </p:cNvPr>
          <p:cNvSpPr>
            <a:spLocks xmlns:a="http://schemas.openxmlformats.org/drawingml/2006/main" noGrp="1"/>
          </p:cNvSpPr>
          <p:nvPr/>
        </p:nvSpPr>
        <p:spPr>
          <a:xfrm xmlns:a="http://schemas.openxmlformats.org/drawingml/2006/main">
            <a:off x="4638675" y="268605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Revisar unicidad de DIVIPOLA.</a:t>
            </a:r>
          </a:p>
        </p:txBody>
      </p:sp>
      <p:sp>
        <p:nvSpPr>
          <p:cNvPr id="8" name="">
            <a:extLst xmlns:a="http://schemas.openxmlformats.org/drawingml/2006/main">
              <a:ext uri="{FF2B5EF4-FFF2-40B4-BE49-F238E27FC236}">
                <a16:creationId xmlns:a16="http://schemas.microsoft.com/office/drawing/2014/main" id="{B06DA6CD-9AAD-41EA-9942-5B6CDEF72C42}"/>
              </a:ext>
            </a:extLst>
          </p:cNvPr>
          <p:cNvSpPr>
            <a:spLocks xmlns:a="http://schemas.openxmlformats.org/drawingml/2006/main" noGrp="1"/>
          </p:cNvSpPr>
          <p:nvPr/>
        </p:nvSpPr>
        <p:spPr>
          <a:xfrm xmlns:a="http://schemas.openxmlformats.org/drawingml/2006/main">
            <a:off x="3886200" y="341947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75FBAEEF-833C-417C-AC43-DD1E3F05AF40}"/>
              </a:ext>
            </a:extLst>
          </p:cNvPr>
          <p:cNvSpPr>
            <a:spLocks xmlns:a="http://schemas.openxmlformats.org/drawingml/2006/main" noGrp="1"/>
          </p:cNvSpPr>
          <p:nvPr/>
        </p:nvSpPr>
        <p:spPr>
          <a:xfrm xmlns:a="http://schemas.openxmlformats.org/drawingml/2006/main">
            <a:off x="4638675" y="341947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Contrastar códigos de EVA y DANE.</a:t>
            </a:r>
          </a:p>
        </p:txBody>
      </p:sp>
      <p:sp>
        <p:nvSpPr>
          <p:cNvPr id="10" name="">
            <a:extLst xmlns:a="http://schemas.openxmlformats.org/drawingml/2006/main">
              <a:ext uri="{FF2B5EF4-FFF2-40B4-BE49-F238E27FC236}">
                <a16:creationId xmlns:a16="http://schemas.microsoft.com/office/drawing/2014/main" id="{B76B499D-19B6-4D14-9258-F7F9CBCE533E}"/>
              </a:ext>
            </a:extLst>
          </p:cNvPr>
          <p:cNvSpPr>
            <a:spLocks xmlns:a="http://schemas.openxmlformats.org/drawingml/2006/main" noGrp="1"/>
          </p:cNvSpPr>
          <p:nvPr/>
        </p:nvSpPr>
        <p:spPr>
          <a:xfrm xmlns:a="http://schemas.openxmlformats.org/drawingml/2006/main">
            <a:off x="3886200" y="415290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04</a:t>
            </a:r>
          </a:p>
        </p:txBody>
      </p:sp>
      <p:sp>
        <p:nvSpPr>
          <p:cNvPr id="11" name="">
            <a:extLst xmlns:a="http://schemas.openxmlformats.org/drawingml/2006/main">
              <a:ext uri="{FF2B5EF4-FFF2-40B4-BE49-F238E27FC236}">
                <a16:creationId xmlns:a16="http://schemas.microsoft.com/office/drawing/2014/main" id="{CD0A0AEC-0DA1-4CE7-B420-E9B6D54B57F1}"/>
              </a:ext>
            </a:extLst>
          </p:cNvPr>
          <p:cNvSpPr>
            <a:spLocks xmlns:a="http://schemas.openxmlformats.org/drawingml/2006/main" noGrp="1"/>
          </p:cNvSpPr>
          <p:nvPr/>
        </p:nvSpPr>
        <p:spPr>
          <a:xfrm xmlns:a="http://schemas.openxmlformats.org/drawingml/2006/main">
            <a:off x="4638675" y="415290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Registrar vigencias y faltantes.</a:t>
            </a:r>
          </a:p>
        </p:txBody>
      </p:sp>
      <p:sp>
        <p:nvSpPr>
          <p:cNvPr id="12" name="">
            <a:extLst xmlns:a="http://schemas.openxmlformats.org/drawingml/2006/main">
              <a:ext uri="{FF2B5EF4-FFF2-40B4-BE49-F238E27FC236}">
                <a16:creationId xmlns:a16="http://schemas.microsoft.com/office/drawing/2014/main" id="{0024031B-730F-4282-8A31-BE3E51E7A297}"/>
              </a:ext>
            </a:extLst>
          </p:cNvPr>
          <p:cNvSpPr>
            <a:spLocks xmlns:a="http://schemas.openxmlformats.org/drawingml/2006/main" noGrp="1"/>
          </p:cNvSpPr>
          <p:nvPr/>
        </p:nvSpPr>
        <p:spPr>
          <a:xfrm xmlns:a="http://schemas.openxmlformats.org/drawingml/2006/main">
            <a:off x="609600" y="5391150"/>
            <a:ext cx="1090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Entrega: dimensión territorial, clave de unión y lista de códigos sin correspondencia.</a:t>
            </a:r>
          </a:p>
        </p:txBody>
      </p:sp>
      <p:sp>
        <p:nvSpPr>
          <p:cNvPr id="26" name="">
            <a:extLst xmlns:a="http://schemas.openxmlformats.org/drawingml/2006/main">
              <a:ext uri="{FF2B5EF4-FFF2-40B4-BE49-F238E27FC236}">
                <a16:creationId xmlns:a16="http://schemas.microsoft.com/office/drawing/2014/main" id="{EE0AF395-B776-4937-A124-33F580BAF7C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146D197B-C723-48AD-B105-CDAE4840F25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E03 — Ejercicio 03: Identidad territorial y vigencias</a:t>
            </a:r>
          </a:p>
        </p:txBody>
      </p:sp>
      <p:sp>
        <p:nvSpPr>
          <p:cNvPr id="28" name="">
            <a:extLst xmlns:a="http://schemas.openxmlformats.org/drawingml/2006/main">
              <a:ext uri="{FF2B5EF4-FFF2-40B4-BE49-F238E27FC236}">
                <a16:creationId xmlns:a16="http://schemas.microsoft.com/office/drawing/2014/main" id="{2A7E7A3E-763B-4552-8241-0E3C4E0DFAF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9" name="">
            <a:extLst xmlns:a="http://schemas.openxmlformats.org/drawingml/2006/main">
              <a:ext uri="{FF2B5EF4-FFF2-40B4-BE49-F238E27FC236}">
                <a16:creationId xmlns:a16="http://schemas.microsoft.com/office/drawing/2014/main" id="{66FEE046-46DD-45D1-9B77-F3DA228A719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30</a:t>
            </a:r>
          </a:p>
        </p:txBody>
      </p:sp>
    </p:spTree>
    <p:extLst>
      <p:ext uri="{BB962C8B-B14F-4D97-AF65-F5344CB8AC3E}">
        <p14:creationId xmlns:p14="http://schemas.microsoft.com/office/powerpoint/2010/main" val="555219600"/>
      </p:ext>
    </p:extLst>
  </p:cSld>
  <p:transition spd="med" advClick="1">
    <p:fade/>
  </p:transition>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8dc9e6e1a1741a8"/>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A6817A5-FECC-4F14-88FE-D2415AC9D9BC}"/>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 de la tarde</a:t>
            </a:r>
          </a:p>
        </p:txBody>
      </p:sp>
      <p:sp>
        <p:nvSpPr>
          <p:cNvPr id="2" name="">
            <a:extLst xmlns:a="http://schemas.openxmlformats.org/drawingml/2006/main">
              <a:ext uri="{FF2B5EF4-FFF2-40B4-BE49-F238E27FC236}">
                <a16:creationId xmlns:a16="http://schemas.microsoft.com/office/drawing/2014/main" id="{72CC4A93-99E3-4E11-B2D0-CB5F1570C0DB}"/>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15:00–15:15</a:t>
            </a:r>
          </a:p>
        </p:txBody>
      </p:sp>
      <p:sp>
        <p:nvSpPr>
          <p:cNvPr id="3" name="">
            <a:extLst xmlns:a="http://schemas.openxmlformats.org/drawingml/2006/main">
              <a:ext uri="{FF2B5EF4-FFF2-40B4-BE49-F238E27FC236}">
                <a16:creationId xmlns:a16="http://schemas.microsoft.com/office/drawing/2014/main" id="{F2AA93EE-CB38-4739-8938-F96845827B19}"/>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Retomamos a la hora indicada.</a:t>
            </a:r>
          </a:p>
        </p:txBody>
      </p:sp>
      <p:sp>
        <p:nvSpPr>
          <p:cNvPr id="17" name="">
            <a:extLst xmlns:a="http://schemas.openxmlformats.org/drawingml/2006/main">
              <a:ext uri="{FF2B5EF4-FFF2-40B4-BE49-F238E27FC236}">
                <a16:creationId xmlns:a16="http://schemas.microsoft.com/office/drawing/2014/main" id="{2F1AB3CE-9017-4443-91F4-E2BC115D0D8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26F9795C-C1A0-4F4C-A7BE-63774B07E42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0DF7334E-3897-47C9-9DEB-38CE894442F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02438326-565E-4991-85E2-3B693B35E75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31</a:t>
            </a:r>
          </a:p>
        </p:txBody>
      </p:sp>
    </p:spTree>
    <p:extLst>
      <p:ext uri="{BB962C8B-B14F-4D97-AF65-F5344CB8AC3E}">
        <p14:creationId xmlns:p14="http://schemas.microsoft.com/office/powerpoint/2010/main" val="1909263443"/>
      </p:ext>
    </p:extLst>
  </p:cSld>
  <p:transition spd="med" advClick="1">
    <p:fade/>
  </p:transition>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d7cbbc5ed2644c0"/>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FF15F1-0483-4FED-A614-21003E0DCDB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Vigencia de la unión</a:t>
            </a:r>
          </a:p>
        </p:txBody>
      </p:sp>
      <p:sp>
        <p:nvSpPr>
          <p:cNvPr id="2" name="">
            <a:extLst xmlns:a="http://schemas.openxmlformats.org/drawingml/2006/main">
              <a:ext uri="{FF2B5EF4-FFF2-40B4-BE49-F238E27FC236}">
                <a16:creationId xmlns:a16="http://schemas.microsoft.com/office/drawing/2014/main" id="{8F96EE47-C919-41B7-A157-9B08E248DF3F}"/>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¿Qué harías si EVA contiene un código que no aparece en el corte de DIVIPOLA?</a:t>
            </a:r>
          </a:p>
        </p:txBody>
      </p:sp>
      <p:sp>
        <p:nvSpPr>
          <p:cNvPr id="3" name="">
            <a:extLst xmlns:a="http://schemas.openxmlformats.org/drawingml/2006/main">
              <a:ext uri="{FF2B5EF4-FFF2-40B4-BE49-F238E27FC236}">
                <a16:creationId xmlns:a16="http://schemas.microsoft.com/office/drawing/2014/main" id="{1E09CF5A-6883-4241-9544-AF38EC169EA9}"/>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17" name="">
            <a:extLst xmlns:a="http://schemas.openxmlformats.org/drawingml/2006/main">
              <a:ext uri="{FF2B5EF4-FFF2-40B4-BE49-F238E27FC236}">
                <a16:creationId xmlns:a16="http://schemas.microsoft.com/office/drawing/2014/main" id="{200F041A-D455-4B78-AB48-6F2D8D0B93B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53CB49BA-499E-43FC-88E7-10E08FEB6DB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52DE2878-C840-44DC-9B3F-8F5FF11C46F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0" name="">
            <a:extLst xmlns:a="http://schemas.openxmlformats.org/drawingml/2006/main">
              <a:ext uri="{FF2B5EF4-FFF2-40B4-BE49-F238E27FC236}">
                <a16:creationId xmlns:a16="http://schemas.microsoft.com/office/drawing/2014/main" id="{DA6B8546-28A0-49F1-A9DD-18E01F3CA11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32</a:t>
            </a:r>
          </a:p>
        </p:txBody>
      </p:sp>
    </p:spTree>
    <p:extLst>
      <p:ext uri="{BB962C8B-B14F-4D97-AF65-F5344CB8AC3E}">
        <p14:creationId xmlns:p14="http://schemas.microsoft.com/office/powerpoint/2010/main" val="1274211381"/>
      </p:ext>
    </p:extLst>
  </p:cSld>
  <p:transition spd="med" advClick="1">
    <p:fade/>
  </p:transition>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0d478ab9120498e"/>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38AF0A9-834F-4945-8FE9-F76CB0711634}"/>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Revisión entre pares</a:t>
            </a:r>
          </a:p>
        </p:txBody>
      </p:sp>
      <p:sp>
        <p:nvSpPr>
          <p:cNvPr id="2" name="">
            <a:extLst xmlns:a="http://schemas.openxmlformats.org/drawingml/2006/main">
              <a:ext uri="{FF2B5EF4-FFF2-40B4-BE49-F238E27FC236}">
                <a16:creationId xmlns:a16="http://schemas.microsoft.com/office/drawing/2014/main" id="{2FDA34D6-F7A1-4FAB-B034-B424BDAAED11}"/>
              </a:ext>
            </a:extLst>
          </p:cNvPr>
          <p:cNvSpPr>
            <a:spLocks xmlns:a="http://schemas.openxmlformats.org/drawingml/2006/main" noGrp="1"/>
          </p:cNvSpPr>
          <p:nvPr/>
        </p:nvSpPr>
        <p:spPr>
          <a:xfrm xmlns:a="http://schemas.openxmlformats.org/drawingml/2006/main">
            <a:off x="609600" y="1971675"/>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F3864"/>
                </a:solidFill>
                <a:latin typeface="Helvetica Neue"/>
                <a:ea typeface="Helvetica Neue"/>
                <a:cs typeface="Helvetica Neue"/>
              </a:defRPr>
            </a:pPr>
            <a:r>
              <a:rPr sz="3225" b="1">
                <a:solidFill>
                  <a:srgbClr val="1F3864"/>
                </a:solidFill>
                <a:latin typeface="Helvetica Neue"/>
                <a:ea typeface="Helvetica Neue"/>
                <a:cs typeface="Helvetica Neue"/>
              </a:rPr>
              <a:t>45 minutos</a:t>
            </a:r>
          </a:p>
        </p:txBody>
      </p:sp>
      <p:sp>
        <p:nvSpPr>
          <p:cNvPr id="3" name="">
            <a:extLst xmlns:a="http://schemas.openxmlformats.org/drawingml/2006/main">
              <a:ext uri="{FF2B5EF4-FFF2-40B4-BE49-F238E27FC236}">
                <a16:creationId xmlns:a16="http://schemas.microsoft.com/office/drawing/2014/main" id="{D9A0FCDE-90B5-49E6-8573-5B922CD40F30}"/>
              </a:ext>
            </a:extLst>
          </p:cNvPr>
          <p:cNvSpPr>
            <a:spLocks xmlns:a="http://schemas.openxmlformats.org/drawingml/2006/main" noGrp="1"/>
          </p:cNvSpPr>
          <p:nvPr/>
        </p:nvSpPr>
        <p:spPr>
          <a:xfrm xmlns:a="http://schemas.openxmlformats.org/drawingml/2006/main">
            <a:off x="609600" y="28575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1F3864"/>
                </a:solidFill>
                <a:latin typeface="Helvetica Neue"/>
                <a:ea typeface="Helvetica Neue"/>
                <a:cs typeface="Helvetica Neue"/>
              </a:defRPr>
            </a:pPr>
            <a:r>
              <a:rPr sz="1500" b="1">
                <a:solidFill>
                  <a:srgbClr val="1F3864"/>
                </a:solidFill>
                <a:latin typeface="Helvetica Neue"/>
                <a:ea typeface="Helvetica Neue"/>
                <a:cs typeface="Helvetica Neue"/>
              </a:rPr>
              <a:t>TRABAJO GUIADO</a:t>
            </a:r>
          </a:p>
        </p:txBody>
      </p:sp>
      <p:sp>
        <p:nvSpPr>
          <p:cNvPr id="4" name="">
            <a:extLst xmlns:a="http://schemas.openxmlformats.org/drawingml/2006/main">
              <a:ext uri="{FF2B5EF4-FFF2-40B4-BE49-F238E27FC236}">
                <a16:creationId xmlns:a16="http://schemas.microsoft.com/office/drawing/2014/main" id="{99BAE540-1C07-40E8-92B1-45BF59209015}"/>
              </a:ext>
            </a:extLst>
          </p:cNvPr>
          <p:cNvSpPr>
            <a:spLocks xmlns:a="http://schemas.openxmlformats.org/drawingml/2006/main" noGrp="1"/>
          </p:cNvSpPr>
          <p:nvPr/>
        </p:nvSpPr>
        <p:spPr>
          <a:xfrm xmlns:a="http://schemas.openxmlformats.org/drawingml/2006/main">
            <a:off x="3886200" y="195262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FCFD7D95-1E73-4BBC-8EBA-775EC607AA34}"/>
              </a:ext>
            </a:extLst>
          </p:cNvPr>
          <p:cNvSpPr>
            <a:spLocks xmlns:a="http://schemas.openxmlformats.org/drawingml/2006/main" noGrp="1"/>
          </p:cNvSpPr>
          <p:nvPr/>
        </p:nvSpPr>
        <p:spPr>
          <a:xfrm xmlns:a="http://schemas.openxmlformats.org/drawingml/2006/main">
            <a:off x="4638675" y="195262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Revisar perfil, nombres y unidades.</a:t>
            </a:r>
          </a:p>
        </p:txBody>
      </p:sp>
      <p:sp>
        <p:nvSpPr>
          <p:cNvPr id="6" name="">
            <a:extLst xmlns:a="http://schemas.openxmlformats.org/drawingml/2006/main">
              <a:ext uri="{FF2B5EF4-FFF2-40B4-BE49-F238E27FC236}">
                <a16:creationId xmlns:a16="http://schemas.microsoft.com/office/drawing/2014/main" id="{0D38D348-B49B-4410-824D-714BB8879EC8}"/>
              </a:ext>
            </a:extLst>
          </p:cNvPr>
          <p:cNvSpPr>
            <a:spLocks xmlns:a="http://schemas.openxmlformats.org/drawingml/2006/main" noGrp="1"/>
          </p:cNvSpPr>
          <p:nvPr/>
        </p:nvSpPr>
        <p:spPr>
          <a:xfrm xmlns:a="http://schemas.openxmlformats.org/drawingml/2006/main">
            <a:off x="3886200" y="268605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111CF487-5A92-41EF-BE22-CD0746A32B81}"/>
              </a:ext>
            </a:extLst>
          </p:cNvPr>
          <p:cNvSpPr>
            <a:spLocks xmlns:a="http://schemas.openxmlformats.org/drawingml/2006/main" noGrp="1"/>
          </p:cNvSpPr>
          <p:nvPr/>
        </p:nvSpPr>
        <p:spPr>
          <a:xfrm xmlns:a="http://schemas.openxmlformats.org/drawingml/2006/main">
            <a:off x="4638675" y="268605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Comprobar unicidad de claves.</a:t>
            </a:r>
          </a:p>
        </p:txBody>
      </p:sp>
      <p:sp>
        <p:nvSpPr>
          <p:cNvPr id="8" name="">
            <a:extLst xmlns:a="http://schemas.openxmlformats.org/drawingml/2006/main">
              <a:ext uri="{FF2B5EF4-FFF2-40B4-BE49-F238E27FC236}">
                <a16:creationId xmlns:a16="http://schemas.microsoft.com/office/drawing/2014/main" id="{81AA87E4-EB13-46BC-B60D-385C7B04C7DE}"/>
              </a:ext>
            </a:extLst>
          </p:cNvPr>
          <p:cNvSpPr>
            <a:spLocks xmlns:a="http://schemas.openxmlformats.org/drawingml/2006/main" noGrp="1"/>
          </p:cNvSpPr>
          <p:nvPr/>
        </p:nvSpPr>
        <p:spPr>
          <a:xfrm xmlns:a="http://schemas.openxmlformats.org/drawingml/2006/main">
            <a:off x="3886200" y="341947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7C2565AB-69C7-4127-AC42-9FD7349F08AC}"/>
              </a:ext>
            </a:extLst>
          </p:cNvPr>
          <p:cNvSpPr>
            <a:spLocks xmlns:a="http://schemas.openxmlformats.org/drawingml/2006/main" noGrp="1"/>
          </p:cNvSpPr>
          <p:nvPr/>
        </p:nvSpPr>
        <p:spPr>
          <a:xfrm xmlns:a="http://schemas.openxmlformats.org/drawingml/2006/main">
            <a:off x="4638675" y="341947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Explicar faltantes y cobertura.</a:t>
            </a:r>
          </a:p>
        </p:txBody>
      </p:sp>
      <p:sp>
        <p:nvSpPr>
          <p:cNvPr id="10" name="">
            <a:extLst xmlns:a="http://schemas.openxmlformats.org/drawingml/2006/main">
              <a:ext uri="{FF2B5EF4-FFF2-40B4-BE49-F238E27FC236}">
                <a16:creationId xmlns:a16="http://schemas.microsoft.com/office/drawing/2014/main" id="{ACAE0E75-CC69-45BA-B719-C2ABE5263FB7}"/>
              </a:ext>
            </a:extLst>
          </p:cNvPr>
          <p:cNvSpPr>
            <a:spLocks xmlns:a="http://schemas.openxmlformats.org/drawingml/2006/main" noGrp="1"/>
          </p:cNvSpPr>
          <p:nvPr/>
        </p:nvSpPr>
        <p:spPr>
          <a:xfrm xmlns:a="http://schemas.openxmlformats.org/drawingml/2006/main">
            <a:off x="3886200" y="415290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04</a:t>
            </a:r>
          </a:p>
        </p:txBody>
      </p:sp>
      <p:sp>
        <p:nvSpPr>
          <p:cNvPr id="11" name="">
            <a:extLst xmlns:a="http://schemas.openxmlformats.org/drawingml/2006/main">
              <a:ext uri="{FF2B5EF4-FFF2-40B4-BE49-F238E27FC236}">
                <a16:creationId xmlns:a16="http://schemas.microsoft.com/office/drawing/2014/main" id="{7844ECD4-549A-4424-8096-7D52D61359E5}"/>
              </a:ext>
            </a:extLst>
          </p:cNvPr>
          <p:cNvSpPr>
            <a:spLocks xmlns:a="http://schemas.openxmlformats.org/drawingml/2006/main" noGrp="1"/>
          </p:cNvSpPr>
          <p:nvPr/>
        </p:nvSpPr>
        <p:spPr>
          <a:xfrm xmlns:a="http://schemas.openxmlformats.org/drawingml/2006/main">
            <a:off x="4638675" y="415290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Proponer controles para la sesión 4.</a:t>
            </a:r>
          </a:p>
        </p:txBody>
      </p:sp>
      <p:sp>
        <p:nvSpPr>
          <p:cNvPr id="12" name="">
            <a:extLst xmlns:a="http://schemas.openxmlformats.org/drawingml/2006/main">
              <a:ext uri="{FF2B5EF4-FFF2-40B4-BE49-F238E27FC236}">
                <a16:creationId xmlns:a16="http://schemas.microsoft.com/office/drawing/2014/main" id="{EE47BA71-33A8-46A6-9CA8-653C3D0EE5AA}"/>
              </a:ext>
            </a:extLst>
          </p:cNvPr>
          <p:cNvSpPr>
            <a:spLocks xmlns:a="http://schemas.openxmlformats.org/drawingml/2006/main" noGrp="1"/>
          </p:cNvSpPr>
          <p:nvPr/>
        </p:nvSpPr>
        <p:spPr>
          <a:xfrm xmlns:a="http://schemas.openxmlformats.org/drawingml/2006/main">
            <a:off x="609600" y="5391150"/>
            <a:ext cx="10906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1">
                <a:solidFill>
                  <a:srgbClr val="1F3864"/>
                </a:solidFill>
                <a:latin typeface="Helvetica Neue"/>
                <a:ea typeface="Helvetica Neue"/>
                <a:cs typeface="Helvetica Neue"/>
              </a:defRPr>
            </a:pPr>
            <a:r>
              <a:rPr sz="2025" b="1">
                <a:solidFill>
                  <a:srgbClr val="1F3864"/>
                </a:solidFill>
                <a:latin typeface="Helvetica Neue"/>
                <a:ea typeface="Helvetica Neue"/>
                <a:cs typeface="Helvetica Neue"/>
              </a:rPr>
              <a:t>Entrega: Perfil, dimensión y bitácora de decisiones.</a:t>
            </a:r>
          </a:p>
        </p:txBody>
      </p:sp>
      <p:sp>
        <p:nvSpPr>
          <p:cNvPr id="26" name="">
            <a:extLst xmlns:a="http://schemas.openxmlformats.org/drawingml/2006/main">
              <a:ext uri="{FF2B5EF4-FFF2-40B4-BE49-F238E27FC236}">
                <a16:creationId xmlns:a16="http://schemas.microsoft.com/office/drawing/2014/main" id="{8BEE9E98-B2DF-49C9-8878-7057777404F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43982579-C10D-4B60-A14C-B8018A0CA70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8" name="">
            <a:extLst xmlns:a="http://schemas.openxmlformats.org/drawingml/2006/main">
              <a:ext uri="{FF2B5EF4-FFF2-40B4-BE49-F238E27FC236}">
                <a16:creationId xmlns:a16="http://schemas.microsoft.com/office/drawing/2014/main" id="{33BDCC32-3651-4828-AAD2-D6F325B93EE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29" name="">
            <a:extLst xmlns:a="http://schemas.openxmlformats.org/drawingml/2006/main">
              <a:ext uri="{FF2B5EF4-FFF2-40B4-BE49-F238E27FC236}">
                <a16:creationId xmlns:a16="http://schemas.microsoft.com/office/drawing/2014/main" id="{88415540-B8C2-4DF7-B7EF-0B1BB77F82E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33</a:t>
            </a:r>
          </a:p>
        </p:txBody>
      </p:sp>
    </p:spTree>
    <p:extLst>
      <p:ext uri="{BB962C8B-B14F-4D97-AF65-F5344CB8AC3E}">
        <p14:creationId xmlns:p14="http://schemas.microsoft.com/office/powerpoint/2010/main" val="624552253"/>
      </p:ext>
    </p:extLst>
  </p:cSld>
  <p:transition spd="med" advClick="1">
    <p:fade/>
  </p:transition>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4746d01ebd423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B4379D-E5EF-413C-BC19-E578E1B4EB2F}"/>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Cierre y ampliación opcional</a:t>
            </a:r>
          </a:p>
        </p:txBody>
      </p:sp>
      <p:sp>
        <p:nvSpPr>
          <p:cNvPr id="3" name="">
            <a:extLst xmlns:a="http://schemas.openxmlformats.org/drawingml/2006/main">
              <a:ext uri="{FF2B5EF4-FFF2-40B4-BE49-F238E27FC236}">
                <a16:creationId xmlns:a16="http://schemas.microsoft.com/office/drawing/2014/main" id="{46CC8EC8-C6BA-4053-84DD-743363D7F116}"/>
              </a:ext>
            </a:extLst>
          </p:cNvPr>
          <p:cNvSpPr>
            <a:spLocks xmlns:a="http://schemas.openxmlformats.org/drawingml/2006/main" noGrp="1"/>
          </p:cNvSpPr>
          <p:nvPr/>
        </p:nvSpPr>
        <p:spPr>
          <a:xfrm xmlns:a="http://schemas.openxmlformats.org/drawingml/2006/main">
            <a:off x="685800" y="15621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Diccionario</a:t>
            </a:r>
          </a:p>
        </p:txBody>
      </p:sp>
      <p:sp>
        <p:nvSpPr>
          <p:cNvPr id="4" name="">
            <a:extLst xmlns:a="http://schemas.openxmlformats.org/drawingml/2006/main">
              <a:ext uri="{FF2B5EF4-FFF2-40B4-BE49-F238E27FC236}">
                <a16:creationId xmlns:a16="http://schemas.microsoft.com/office/drawing/2014/main" id="{83463E99-968F-4805-8092-E493626B732E}"/>
              </a:ext>
            </a:extLst>
          </p:cNvPr>
          <p:cNvSpPr>
            <a:spLocks xmlns:a="http://schemas.openxmlformats.org/drawingml/2006/main" noGrp="1"/>
          </p:cNvSpPr>
          <p:nvPr/>
        </p:nvSpPr>
        <p:spPr>
          <a:xfrm xmlns:a="http://schemas.openxmlformats.org/drawingml/2006/main">
            <a:off x="685800" y="200977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Significado de cinco campos y dos límites de cobertura.</a:t>
            </a:r>
          </a:p>
        </p:txBody>
      </p:sp>
      <p:sp>
        <p:nvSpPr>
          <p:cNvPr id="5" name="">
            <a:extLst xmlns:a="http://schemas.openxmlformats.org/drawingml/2006/main">
              <a:ext uri="{FF2B5EF4-FFF2-40B4-BE49-F238E27FC236}">
                <a16:creationId xmlns:a16="http://schemas.microsoft.com/office/drawing/2014/main" id="{136E57E2-13C4-403F-B098-31060B3495A2}"/>
              </a:ext>
            </a:extLst>
          </p:cNvPr>
          <p:cNvSpPr>
            <a:spLocks xmlns:a="http://schemas.openxmlformats.org/drawingml/2006/main" noGrp="1"/>
          </p:cNvSpPr>
          <p:nvPr/>
        </p:nvSpPr>
        <p:spPr>
          <a:xfrm xmlns:a="http://schemas.openxmlformats.org/drawingml/2006/main">
            <a:off x="685800" y="29622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Controles</a:t>
            </a:r>
          </a:p>
        </p:txBody>
      </p:sp>
      <p:sp>
        <p:nvSpPr>
          <p:cNvPr id="6" name="">
            <a:extLst xmlns:a="http://schemas.openxmlformats.org/drawingml/2006/main">
              <a:ext uri="{FF2B5EF4-FFF2-40B4-BE49-F238E27FC236}">
                <a16:creationId xmlns:a16="http://schemas.microsoft.com/office/drawing/2014/main" id="{F32F2C8E-ACBD-4683-B8F8-61B9B9C8C132}"/>
              </a:ext>
            </a:extLst>
          </p:cNvPr>
          <p:cNvSpPr>
            <a:spLocks xmlns:a="http://schemas.openxmlformats.org/drawingml/2006/main" noGrp="1"/>
          </p:cNvSpPr>
          <p:nvPr/>
        </p:nvSpPr>
        <p:spPr>
          <a:xfrm xmlns:a="http://schemas.openxmlformats.org/drawingml/2006/main">
            <a:off x="685800" y="3409950"/>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Manifiesto, perfiles y revisión de la unión territorial.</a:t>
            </a:r>
          </a:p>
        </p:txBody>
      </p:sp>
      <p:sp>
        <p:nvSpPr>
          <p:cNvPr id="7" name="">
            <a:extLst xmlns:a="http://schemas.openxmlformats.org/drawingml/2006/main">
              <a:ext uri="{FF2B5EF4-FFF2-40B4-BE49-F238E27FC236}">
                <a16:creationId xmlns:a16="http://schemas.microsoft.com/office/drawing/2014/main" id="{8F0ABAFD-DD29-4527-9338-676B204789CA}"/>
              </a:ext>
            </a:extLst>
          </p:cNvPr>
          <p:cNvSpPr>
            <a:spLocks xmlns:a="http://schemas.openxmlformats.org/drawingml/2006/main" noGrp="1"/>
          </p:cNvSpPr>
          <p:nvPr/>
        </p:nvSpPr>
        <p:spPr>
          <a:xfrm xmlns:a="http://schemas.openxmlformats.org/drawingml/2006/main">
            <a:off x="685800" y="43624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Ampliación opcional</a:t>
            </a:r>
          </a:p>
        </p:txBody>
      </p:sp>
      <p:sp>
        <p:nvSpPr>
          <p:cNvPr id="8" name="">
            <a:extLst xmlns:a="http://schemas.openxmlformats.org/drawingml/2006/main">
              <a:ext uri="{FF2B5EF4-FFF2-40B4-BE49-F238E27FC236}">
                <a16:creationId xmlns:a16="http://schemas.microsoft.com/office/drawing/2014/main" id="{F73CE6AF-2C8C-4A11-8A85-BB5DF9109129}"/>
              </a:ext>
            </a:extLst>
          </p:cNvPr>
          <p:cNvSpPr>
            <a:spLocks xmlns:a="http://schemas.openxmlformats.org/drawingml/2006/main" noGrp="1"/>
          </p:cNvSpPr>
          <p:nvPr/>
        </p:nvSpPr>
        <p:spPr>
          <a:xfrm xmlns:a="http://schemas.openxmlformats.org/drawingml/2006/main">
            <a:off x="685800" y="48101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Comparar memoria por bloque sin extrapolarla al corte nacional.</a:t>
            </a:r>
          </a:p>
        </p:txBody>
      </p:sp>
      <p:sp>
        <p:nvSpPr>
          <p:cNvPr id="9" name="">
            <a:extLst xmlns:a="http://schemas.openxmlformats.org/drawingml/2006/main">
              <a:ext uri="{FF2B5EF4-FFF2-40B4-BE49-F238E27FC236}">
                <a16:creationId xmlns:a16="http://schemas.microsoft.com/office/drawing/2014/main" id="{FA31135A-42FB-4F83-82EB-0F02A6064A5A}"/>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Entrega dentro del bloque de clase. docs/mapa-ejercicios.md</a:t>
            </a:r>
          </a:p>
        </p:txBody>
      </p:sp>
      <p:sp>
        <p:nvSpPr>
          <p:cNvPr id="13" name="">
            <a:extLst xmlns:a="http://schemas.openxmlformats.org/drawingml/2006/main">
              <a:ext uri="{FF2B5EF4-FFF2-40B4-BE49-F238E27FC236}">
                <a16:creationId xmlns:a16="http://schemas.microsoft.com/office/drawing/2014/main" id="{3D0C7BD6-3102-45A4-B944-D60658D6407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B88F7C5F-0303-48A9-83BA-20B66154CCC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5" name="">
            <a:extLst xmlns:a="http://schemas.openxmlformats.org/drawingml/2006/main">
              <a:ext uri="{FF2B5EF4-FFF2-40B4-BE49-F238E27FC236}">
                <a16:creationId xmlns:a16="http://schemas.microsoft.com/office/drawing/2014/main" id="{097899BB-42A6-4F1F-80B3-DAE67A2A8DB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E: ejercicio general · P: práctica PQRS (peticiones, quejas, reclamos y sugerencias) · PhD Esteban Hernández, CyberColombia</a:t>
            </a:r>
          </a:p>
        </p:txBody>
      </p:sp>
      <p:sp>
        <p:nvSpPr>
          <p:cNvPr id="16" name="">
            <a:extLst xmlns:a="http://schemas.openxmlformats.org/drawingml/2006/main">
              <a:ext uri="{FF2B5EF4-FFF2-40B4-BE49-F238E27FC236}">
                <a16:creationId xmlns:a16="http://schemas.microsoft.com/office/drawing/2014/main" id="{040F3C6C-57E4-4709-BE9B-E4669963C99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34</a:t>
            </a:r>
          </a:p>
        </p:txBody>
      </p:sp>
    </p:spTree>
    <p:extLst>
      <p:ext uri="{BB962C8B-B14F-4D97-AF65-F5344CB8AC3E}">
        <p14:creationId xmlns:p14="http://schemas.microsoft.com/office/powerpoint/2010/main" val="9271994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2026-10-07T19:38:58.1180000Z</dcterms:created>
  <dcterms:modified xsi:type="dcterms:W3CDTF">2026-10-07T19:38:58.1180000Z</dcterms:modified>
</coreProperties>
</file>