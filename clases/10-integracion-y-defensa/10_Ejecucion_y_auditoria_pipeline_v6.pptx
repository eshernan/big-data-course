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aa34967bdf4917" /><Relationship Type="http://schemas.openxmlformats.org/officeDocument/2006/relationships/extended-properties" Target="/docProps/app.xml" Id="R8fc52a03836748ff" /><Relationship Type="http://schemas.openxmlformats.org/officeDocument/2006/relationships/officeDocument" Target="/ppt/presentation.xml" Id="R48a51bf42d144b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d2aecd32fb49ed"/>
  </p:sldMasterIdLst>
  <p:notesMasterIdLst>
    <p:notesMasterId xmlns:r="http://schemas.openxmlformats.org/officeDocument/2006/relationships" r:id="Rbfe929aee21244d6"/>
  </p:notesMasterIdLst>
  <p:sldIdLst>
    <p:sldId xmlns:r="http://schemas.openxmlformats.org/officeDocument/2006/relationships" id="256" r:id="Rbcb83824d8c04eef"/>
    <p:sldId xmlns:r="http://schemas.openxmlformats.org/officeDocument/2006/relationships" id="257" r:id="R0c3fb6dea799425a"/>
    <p:sldId xmlns:r="http://schemas.openxmlformats.org/officeDocument/2006/relationships" id="258" r:id="R2882b9f157224a11"/>
    <p:sldId xmlns:r="http://schemas.openxmlformats.org/officeDocument/2006/relationships" id="259" r:id="Ra06927b2dff0465c"/>
    <p:sldId xmlns:r="http://schemas.openxmlformats.org/officeDocument/2006/relationships" id="260" r:id="Rdd6e69ee77404281"/>
    <p:sldId xmlns:r="http://schemas.openxmlformats.org/officeDocument/2006/relationships" id="261" r:id="R3be9f884307e4f6e"/>
    <p:sldId xmlns:r="http://schemas.openxmlformats.org/officeDocument/2006/relationships" id="262" r:id="R3a3331e254064930"/>
    <p:sldId xmlns:r="http://schemas.openxmlformats.org/officeDocument/2006/relationships" id="263" r:id="Rb23c45bef3fa4a6a"/>
    <p:sldId xmlns:r="http://schemas.openxmlformats.org/officeDocument/2006/relationships" id="264" r:id="Rfcbeb4593e6b4d4c"/>
    <p:sldId xmlns:r="http://schemas.openxmlformats.org/officeDocument/2006/relationships" id="265" r:id="R3cd01c77093a4b5b"/>
    <p:sldId xmlns:r="http://schemas.openxmlformats.org/officeDocument/2006/relationships" id="266" r:id="R7f67f5d9a56641ef"/>
    <p:sldId xmlns:r="http://schemas.openxmlformats.org/officeDocument/2006/relationships" id="267" r:id="Rb2a942d24ead4c52"/>
    <p:sldId xmlns:r="http://schemas.openxmlformats.org/officeDocument/2006/relationships" id="268" r:id="Rb77685cb1d6449cc"/>
    <p:sldId xmlns:r="http://schemas.openxmlformats.org/officeDocument/2006/relationships" id="269" r:id="R66aa546dcdcd4d2e"/>
    <p:sldId xmlns:r="http://schemas.openxmlformats.org/officeDocument/2006/relationships" id="270" r:id="Rfe69f88104b64267"/>
    <p:sldId xmlns:r="http://schemas.openxmlformats.org/officeDocument/2006/relationships" id="271" r:id="Re9e7a42871394b12"/>
    <p:sldId xmlns:r="http://schemas.openxmlformats.org/officeDocument/2006/relationships" id="272" r:id="R9526ba449c8b47e0"/>
    <p:sldId xmlns:r="http://schemas.openxmlformats.org/officeDocument/2006/relationships" id="273" r:id="R9526174aa9874107"/>
    <p:sldId xmlns:r="http://schemas.openxmlformats.org/officeDocument/2006/relationships" id="274" r:id="Rdb0a38d6882a4969"/>
    <p:sldId xmlns:r="http://schemas.openxmlformats.org/officeDocument/2006/relationships" id="275" r:id="Rf33d7807760d4125"/>
    <p:sldId xmlns:r="http://schemas.openxmlformats.org/officeDocument/2006/relationships" id="276" r:id="Re34a5a3745c74f39"/>
    <p:sldId xmlns:r="http://schemas.openxmlformats.org/officeDocument/2006/relationships" id="277" r:id="R6e02b1ef14bb47ba"/>
    <p:sldId xmlns:r="http://schemas.openxmlformats.org/officeDocument/2006/relationships" id="278" r:id="R5f5a42f8327a475c"/>
    <p:sldId xmlns:r="http://schemas.openxmlformats.org/officeDocument/2006/relationships" id="279" r:id="R1f504b3d6a1c4efd"/>
    <p:sldId xmlns:r="http://schemas.openxmlformats.org/officeDocument/2006/relationships" id="280" r:id="Rc70feb622daf47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2ab82e4e164fe3" /><Relationship Type="http://schemas.openxmlformats.org/officeDocument/2006/relationships/slideMaster" Target="/ppt/slideMasters/slideMaster1.xml" Id="R1fd2aecd32fb49ed" /><Relationship Type="http://schemas.openxmlformats.org/officeDocument/2006/relationships/notesMaster" Target="/ppt/notesMasters/notesMaster1.xml" Id="Rbfe929aee21244d6" /><Relationship Type="http://schemas.openxmlformats.org/officeDocument/2006/relationships/presProps" Target="/ppt/presProps.xml" Id="R2c513c42a9074976" /><Relationship Type="http://schemas.openxmlformats.org/officeDocument/2006/relationships/tableStyles" Target="/ppt/tableStyles.xml" Id="R6c5f161eecca46b0" /><Relationship Type="http://schemas.openxmlformats.org/officeDocument/2006/relationships/slide" Target="/ppt/slides/slide1.xml" Id="Rbcb83824d8c04eef" /><Relationship Type="http://schemas.openxmlformats.org/officeDocument/2006/relationships/slide" Target="/ppt/slides/slide2.xml" Id="R0c3fb6dea799425a" /><Relationship Type="http://schemas.openxmlformats.org/officeDocument/2006/relationships/slide" Target="/ppt/slides/slide3.xml" Id="R2882b9f157224a11" /><Relationship Type="http://schemas.openxmlformats.org/officeDocument/2006/relationships/slide" Target="/ppt/slides/slide4.xml" Id="Ra06927b2dff0465c" /><Relationship Type="http://schemas.openxmlformats.org/officeDocument/2006/relationships/slide" Target="/ppt/slides/slide5.xml" Id="Rdd6e69ee77404281" /><Relationship Type="http://schemas.openxmlformats.org/officeDocument/2006/relationships/slide" Target="/ppt/slides/slide6.xml" Id="R3be9f884307e4f6e" /><Relationship Type="http://schemas.openxmlformats.org/officeDocument/2006/relationships/slide" Target="/ppt/slides/slide7.xml" Id="R3a3331e254064930" /><Relationship Type="http://schemas.openxmlformats.org/officeDocument/2006/relationships/slide" Target="/ppt/slides/slide8.xml" Id="Rb23c45bef3fa4a6a" /><Relationship Type="http://schemas.openxmlformats.org/officeDocument/2006/relationships/slide" Target="/ppt/slides/slide9.xml" Id="Rfcbeb4593e6b4d4c" /><Relationship Type="http://schemas.openxmlformats.org/officeDocument/2006/relationships/slide" Target="/ppt/slides/slide10.xml" Id="R3cd01c77093a4b5b" /><Relationship Type="http://schemas.openxmlformats.org/officeDocument/2006/relationships/slide" Target="/ppt/slides/slide11.xml" Id="R7f67f5d9a56641ef" /><Relationship Type="http://schemas.openxmlformats.org/officeDocument/2006/relationships/slide" Target="/ppt/slides/slide12.xml" Id="Rb2a942d24ead4c52" /><Relationship Type="http://schemas.openxmlformats.org/officeDocument/2006/relationships/slide" Target="/ppt/slides/slide13.xml" Id="Rb77685cb1d6449cc" /><Relationship Type="http://schemas.openxmlformats.org/officeDocument/2006/relationships/slide" Target="/ppt/slides/slide14.xml" Id="R66aa546dcdcd4d2e" /><Relationship Type="http://schemas.openxmlformats.org/officeDocument/2006/relationships/slide" Target="/ppt/slides/slide15.xml" Id="Rfe69f88104b64267" /><Relationship Type="http://schemas.openxmlformats.org/officeDocument/2006/relationships/slide" Target="/ppt/slides/slide16.xml" Id="Re9e7a42871394b12" /><Relationship Type="http://schemas.openxmlformats.org/officeDocument/2006/relationships/slide" Target="/ppt/slides/slide17.xml" Id="R9526ba449c8b47e0" /><Relationship Type="http://schemas.openxmlformats.org/officeDocument/2006/relationships/slide" Target="/ppt/slides/slide18.xml" Id="R9526174aa9874107" /><Relationship Type="http://schemas.openxmlformats.org/officeDocument/2006/relationships/slide" Target="/ppt/slides/slide19.xml" Id="Rdb0a38d6882a4969" /><Relationship Type="http://schemas.openxmlformats.org/officeDocument/2006/relationships/slide" Target="/ppt/slides/slide20.xml" Id="Rf33d7807760d4125" /><Relationship Type="http://schemas.openxmlformats.org/officeDocument/2006/relationships/slide" Target="/ppt/slides/slide21.xml" Id="Re34a5a3745c74f39" /><Relationship Type="http://schemas.openxmlformats.org/officeDocument/2006/relationships/slide" Target="/ppt/slides/slide22.xml" Id="R6e02b1ef14bb47ba" /><Relationship Type="http://schemas.openxmlformats.org/officeDocument/2006/relationships/slide" Target="/ppt/slides/slide23.xml" Id="R5f5a42f8327a475c" /><Relationship Type="http://schemas.openxmlformats.org/officeDocument/2006/relationships/slide" Target="/ppt/slides/slide24.xml" Id="R1f504b3d6a1c4efd" /><Relationship Type="http://schemas.openxmlformats.org/officeDocument/2006/relationships/slide" Target="/ppt/slides/slide25.xml" Id="Rc70feb622daf47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160a22a7764b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7eb2542b2344cf" /><Relationship Type="http://schemas.openxmlformats.org/officeDocument/2006/relationships/notesMaster" Target="/ppt/notesMasters/notesMaster1.xml" Id="R37a9e907805b4e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673de18b9c425a" /><Relationship Type="http://schemas.openxmlformats.org/officeDocument/2006/relationships/notesMaster" Target="/ppt/notesMasters/notesMaster1.xml" Id="R9888e4fb5d0042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4433d2842c4ced" /><Relationship Type="http://schemas.openxmlformats.org/officeDocument/2006/relationships/notesMaster" Target="/ppt/notesMasters/notesMaster1.xml" Id="R23832482b93c49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a3b5f37f27412e" /><Relationship Type="http://schemas.openxmlformats.org/officeDocument/2006/relationships/notesMaster" Target="/ppt/notesMasters/notesMaster1.xml" Id="R2ea0695c90314a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b5a8b1a8324b0f" /><Relationship Type="http://schemas.openxmlformats.org/officeDocument/2006/relationships/notesMaster" Target="/ppt/notesMasters/notesMaster1.xml" Id="R858078c74eb843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01fba6b423487f" /><Relationship Type="http://schemas.openxmlformats.org/officeDocument/2006/relationships/notesMaster" Target="/ppt/notesMasters/notesMaster1.xml" Id="R127977ba5eeb49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d5cdacb92f495a" /><Relationship Type="http://schemas.openxmlformats.org/officeDocument/2006/relationships/notesMaster" Target="/ppt/notesMasters/notesMaster1.xml" Id="R47af55cf96104b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b48244be604cb7" /><Relationship Type="http://schemas.openxmlformats.org/officeDocument/2006/relationships/notesMaster" Target="/ppt/notesMasters/notesMaster1.xml" Id="R67ce82465b0748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ba05f8dd1d49b5" /><Relationship Type="http://schemas.openxmlformats.org/officeDocument/2006/relationships/notesMaster" Target="/ppt/notesMasters/notesMaster1.xml" Id="Rff447c80b1d64d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0422cd244445b0" /><Relationship Type="http://schemas.openxmlformats.org/officeDocument/2006/relationships/notesMaster" Target="/ppt/notesMasters/notesMaster1.xml" Id="R034fb5eb44454a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ee8d45ddc74f0a" /><Relationship Type="http://schemas.openxmlformats.org/officeDocument/2006/relationships/notesMaster" Target="/ppt/notesMasters/notesMaster1.xml" Id="Ra0092dc2af9348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70fa5bedc842d5" /><Relationship Type="http://schemas.openxmlformats.org/officeDocument/2006/relationships/notesMaster" Target="/ppt/notesMasters/notesMaster1.xml" Id="R0c82e2aa743b4d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f3a50288834ebe" /><Relationship Type="http://schemas.openxmlformats.org/officeDocument/2006/relationships/notesMaster" Target="/ppt/notesMasters/notesMaster1.xml" Id="Rbe20c403c1e347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b4507ddf1d942ee" /><Relationship Type="http://schemas.openxmlformats.org/officeDocument/2006/relationships/notesMaster" Target="/ppt/notesMasters/notesMaster1.xml" Id="R413d9fbfaa3648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69af5c7d564b6c" /><Relationship Type="http://schemas.openxmlformats.org/officeDocument/2006/relationships/notesMaster" Target="/ppt/notesMasters/notesMaster1.xml" Id="Rb5c560cc07c14d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90a044b2064dac" /><Relationship Type="http://schemas.openxmlformats.org/officeDocument/2006/relationships/notesMaster" Target="/ppt/notesMasters/notesMaster1.xml" Id="Rf24ec95cbfc14c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ccbd5a54ba4093" /><Relationship Type="http://schemas.openxmlformats.org/officeDocument/2006/relationships/notesMaster" Target="/ppt/notesMasters/notesMaster1.xml" Id="Rf6db5d85e34745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a3726d670746d8" /><Relationship Type="http://schemas.openxmlformats.org/officeDocument/2006/relationships/notesMaster" Target="/ppt/notesMasters/notesMaster1.xml" Id="R8a1cd1ba81c64a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cccc73664e4229" /><Relationship Type="http://schemas.openxmlformats.org/officeDocument/2006/relationships/notesMaster" Target="/ppt/notesMasters/notesMaster1.xml" Id="R033788ab4bd540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59282d428844c86" /><Relationship Type="http://schemas.openxmlformats.org/officeDocument/2006/relationships/notesMaster" Target="/ppt/notesMasters/notesMaster1.xml" Id="Raca7e8232fab47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47dde7488564955" /><Relationship Type="http://schemas.openxmlformats.org/officeDocument/2006/relationships/notesMaster" Target="/ppt/notesMasters/notesMaster1.xml" Id="Rec745d62a65849c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aa878fbc378495b" /><Relationship Type="http://schemas.openxmlformats.org/officeDocument/2006/relationships/notesMaster" Target="/ppt/notesMasters/notesMaster1.xml" Id="R25f12671a0244d2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0f886c681864302" /><Relationship Type="http://schemas.openxmlformats.org/officeDocument/2006/relationships/notesMaster" Target="/ppt/notesMasters/notesMaster1.xml" Id="Raeb492d3b2d5407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7690b083afc43c2" /><Relationship Type="http://schemas.openxmlformats.org/officeDocument/2006/relationships/notesMaster" Target="/ppt/notesMasters/notesMaster1.xml" Id="R6c4ca5703f8347d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5b5c03142944ccd" /><Relationship Type="http://schemas.openxmlformats.org/officeDocument/2006/relationships/notesMaster" Target="/ppt/notesMasters/notesMaster1.xml" Id="R585b25430be441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>Sábado 31 de octubre de 2026. Tema y alcance aprobados. La ilustración de portada procede de la presentación institucional anterior y cumple una función decorativa.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E12 se integra a E13 sin ponderación adicional. El proyecto e informe mantienen 35 % y la sustentación individual 15 %. No exigir todas las herramientas en un mismo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Aplicar el criterio por evidencia real, sin penalizar elegir datos manejables con alcance declarado. Registrar controles pendientes como pendientes.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Tabla nativa editable. Las cifras marcadas como hipotéticas corresponden a ejemplos didácticos.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exigir incorporar ambos dominios. En agroambiental, evitar mezclar estados físicos o soportes incompatibles. Una tabla agregada debe describir todas las dimensiones de su clave.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Tabla nativa editable. Las cifras marcadas como hipotéticas corresponden a ejemplos didácticos.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Primer bloque del temario, 45 minutos efectivos. No iniciar nuevas instalaciones de Spark ni Iceberg durante la práctica. El pipeline base utiliza las herramientas ya disponibles.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estructura guía el notebook estudiantil. Evitar sobrecodificar con clases, servicios y capas de abstracción. Reutilizar operaciones ya comprendidas.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Tabla nativa editable. Las cifras marcadas como hipotéticas corresponden a ejemplos didácticos.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Corresponde al bloque de 90 minutos efectivos. El receso puede interrumpirlo. No eliminar duplicados automáticamente por coincidencia de columnas. Aceptar ausencia territorial según contrato y agruparla explícitamente.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números son hipotéticos y coinciden con el ejemplo del viernes. Territorio ausente es un atributo de una fila aceptada, no un tercer conjunto separado que deba sumarse.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Tabla nativa editable. Las cifras marcadas como hipotéticas corresponden a ejemplos didácticos.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join es necesario solo si lo requiere la pregunta. Usar códigos de la misma unidad territorial y vigencia. No hacer nuevos cruces geográficos como requisito.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Bloque de transformación y publicación de 90 minutos efectivos. Incluir categorías no informadas. Si falla la escritura, no actualizar la identificación de publicación válida.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https://duckdb.org/docs/stable/data/parquet/overview</a:t>
            </a:r>
          </a:p>
          <a:p xmlns:a="http://schemas.openxmlformats.org/drawingml/2006/main">
            <a:r>
              <a:t>Ejemplo para PQRS con campos normalizados y rutas didácticas. En la ruta agrícola adaptar agrupación y medidas. No basta revisar las primeras filas.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Respuesta: igualdad por grupo y conjunto de claves. Investigar transformación, reglas de normalización o join. No inventar una causa sin examinar el proceso. Ejemplo fabricado solo para mostrar el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Tabla nativa editable. Las cifras marcadas como hipotéticas corresponden a ejemplos didácticos.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del almuerzo comprobar que cada equipo conozca su estado. Los equipos bloqueados registran el error y la etapa exacta. No afirmar que el resultado es correcto porque existe un archivo.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Bloque de 75 minutos efectivos. Si la primera ejecución sigue fallando, utilizar el tiempo para completarla y marcar pendiente la segunda. El criterio no exige igualdad de bytes Parquet. Para detalle sin clave única, comparar filas y sus multiplicidades.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Pedir que describan el riesgo de usar append a ciegas. No exigir un mecanismo de actualización incremental que no se haya enseñado.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Tabla nativa editable. Las cifras marcadas como hipotéticas corresponden a ejemplos didácticos.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ficha es breve y debe poder llenarse en clase. No exigir capturas de todo. Un enlace local relativo o nombre de control debe permitir localizar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Tabla nativa editable. Las cifras marcadas como hipotéticas corresponden a ejemplos didácticos.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Bloque de 90 minutos efectivos, interrumpido por el receso de la tarde. Distinguir no poder ejecutar por un archivo ausente de demostrar una diferencia de contenido.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Evitar corregir solamente la cifra final o editar manualmente una salida. La corrección se realiza en la entrada de prueba o transformación según el caso, manteniendo el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Recuperar decisiones ya trabajadas. La interpretación es parte del control de calidad del producto, no una nueva práctica de modelado predictivo.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Revisión final del candidato durante 60 minutos efectivos. El registro de dos ejecuciones corresponde al criterio completo. Si falta, declararlo pendiente para la clínica. No crear un segundo informe adicional a E13.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Tabla nativa editable. Las cifras marcadas como hipotéticas corresponden a ejemplos didácticos.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reconstrucción por período requiere que las entradas permitan delimitarlo. Cambios didácticos se identifican explícitamente. No exigir MERGE, recuperación automática ni integración de streaming.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Programa y temario vigente: big-data-postgraduate/docs/temario-30-31-octubre.md. Ejercicio: big-data-postgraduate/talleres/E12.md. Proyecto: big-data-postgraduate/talleres/E13.md.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candidato del 31 recibe retroalimentación. La versión final e informe E13 mantienen 35 % y la sustentación individual 15 %, el 7 de noviembre. Pedir explicaciones individuales sin añadir una evaluación distinta a las ponderaciones vigentes.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9a39bf05b4e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dd1624715041e5" /><Relationship Type="http://schemas.openxmlformats.org/officeDocument/2006/relationships/slideLayout" Target="/ppt/slideLayouts/slideLayout1.xml" Id="R829b360eced54f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9b360eced54f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c1b4fa64b44e7" /><Relationship Type="http://schemas.openxmlformats.org/officeDocument/2006/relationships/image" Target="/ppt/media/image.png" Id="Rbf140c10b2e94c4c" /><Relationship Type="http://schemas.openxmlformats.org/officeDocument/2006/relationships/image" Target="/ppt/media/image2.png" Id="Rdf0e680da95b43d7" /><Relationship Type="http://schemas.openxmlformats.org/officeDocument/2006/relationships/notesSlide" Target="/ppt/notesSlides/notesSlide1.xml" Id="Rbf4fcf75827e46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7eb92381d44b0" /><Relationship Type="http://schemas.openxmlformats.org/officeDocument/2006/relationships/image" Target="/ppt/media/image3.png" Id="Ra1da5c02d593442b" /><Relationship Type="http://schemas.openxmlformats.org/officeDocument/2006/relationships/notesSlide" Target="/ppt/notesSlides/notesSlide2.xml" Id="R04f0c797d6f949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e46eebef0447b" /><Relationship Type="http://schemas.openxmlformats.org/officeDocument/2006/relationships/image" Target="/ppt/media/image4.png" Id="R28f0c6ccdcaf406d" /><Relationship Type="http://schemas.openxmlformats.org/officeDocument/2006/relationships/notesSlide" Target="/ppt/notesSlides/notesSlide3.xml" Id="Ra91b402658f24a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999bab6e94929" /><Relationship Type="http://schemas.openxmlformats.org/officeDocument/2006/relationships/image" Target="/ppt/media/image5.png" Id="Ra4d64dbace5543fd" /><Relationship Type="http://schemas.openxmlformats.org/officeDocument/2006/relationships/notesSlide" Target="/ppt/notesSlides/notesSlide4.xml" Id="Rf44fcef8f4e640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1be7d64664ee7" /><Relationship Type="http://schemas.openxmlformats.org/officeDocument/2006/relationships/image" Target="/ppt/media/image6.png" Id="R504d0cc26cb34b8c" /><Relationship Type="http://schemas.openxmlformats.org/officeDocument/2006/relationships/notesSlide" Target="/ppt/notesSlides/notesSlide5.xml" Id="R1413e4cce5cd44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89fa2d50e465e" /><Relationship Type="http://schemas.openxmlformats.org/officeDocument/2006/relationships/image" Target="/ppt/media/image7.png" Id="Ra3fa081335b04310" /><Relationship Type="http://schemas.openxmlformats.org/officeDocument/2006/relationships/notesSlide" Target="/ppt/notesSlides/notesSlide6.xml" Id="Rb5484b6e47b449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3be9c0a9043b1" /><Relationship Type="http://schemas.openxmlformats.org/officeDocument/2006/relationships/image" Target="/ppt/media/image8.png" Id="R2d046660e2644de5" /><Relationship Type="http://schemas.openxmlformats.org/officeDocument/2006/relationships/notesSlide" Target="/ppt/notesSlides/notesSlide7.xml" Id="R5c14e49290e844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1390858ab4d48" /><Relationship Type="http://schemas.openxmlformats.org/officeDocument/2006/relationships/image" Target="/ppt/media/image9.png" Id="Rdf3e9b3e03184bee" /><Relationship Type="http://schemas.openxmlformats.org/officeDocument/2006/relationships/notesSlide" Target="/ppt/notesSlides/notesSlide8.xml" Id="R19641b1c604045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a52c7dcc64204" /><Relationship Type="http://schemas.openxmlformats.org/officeDocument/2006/relationships/image" Target="/ppt/media/image10.png" Id="R5a3e9f391f954875" /><Relationship Type="http://schemas.openxmlformats.org/officeDocument/2006/relationships/notesSlide" Target="/ppt/notesSlides/notesSlide9.xml" Id="R4829fbc707e84d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e48a8736d49c3" /><Relationship Type="http://schemas.openxmlformats.org/officeDocument/2006/relationships/image" Target="/ppt/media/image11.png" Id="Rdb180816edba46e9" /><Relationship Type="http://schemas.openxmlformats.org/officeDocument/2006/relationships/notesSlide" Target="/ppt/notesSlides/notesSlide10.xml" Id="Rfa9412473bfc4f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a0e5d00d745a9" /><Relationship Type="http://schemas.openxmlformats.org/officeDocument/2006/relationships/image" Target="/ppt/media/image12.png" Id="R08fc268877a645b9" /><Relationship Type="http://schemas.openxmlformats.org/officeDocument/2006/relationships/notesSlide" Target="/ppt/notesSlides/notesSlide11.xml" Id="R6a72755785d342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ec31beed64b80" /><Relationship Type="http://schemas.openxmlformats.org/officeDocument/2006/relationships/image" Target="/ppt/media/image13.png" Id="Rb4e72c9b4e1f4ef8" /><Relationship Type="http://schemas.openxmlformats.org/officeDocument/2006/relationships/notesSlide" Target="/ppt/notesSlides/notesSlide12.xml" Id="Reaf6e3cf9d454e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b4ab730ba4fd1" /><Relationship Type="http://schemas.openxmlformats.org/officeDocument/2006/relationships/image" Target="/ppt/media/image14.png" Id="Re65d55b1895d49f8" /><Relationship Type="http://schemas.openxmlformats.org/officeDocument/2006/relationships/notesSlide" Target="/ppt/notesSlides/notesSlide13.xml" Id="Rc5c048b8cf6343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b9f950ea94225" /><Relationship Type="http://schemas.openxmlformats.org/officeDocument/2006/relationships/image" Target="/ppt/media/image15.png" Id="Rfb2da731458b4630" /><Relationship Type="http://schemas.openxmlformats.org/officeDocument/2006/relationships/notesSlide" Target="/ppt/notesSlides/notesSlide14.xml" Id="R27a29bbafd294e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b568162114edf" /><Relationship Type="http://schemas.openxmlformats.org/officeDocument/2006/relationships/image" Target="/ppt/media/image16.png" Id="R99c6d03fc9fe473a" /><Relationship Type="http://schemas.openxmlformats.org/officeDocument/2006/relationships/notesSlide" Target="/ppt/notesSlides/notesSlide15.xml" Id="R7377cc221d1e48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6234d9e8b444f" /><Relationship Type="http://schemas.openxmlformats.org/officeDocument/2006/relationships/image" Target="/ppt/media/image17.png" Id="R291fbf52f2c44f8f" /><Relationship Type="http://schemas.openxmlformats.org/officeDocument/2006/relationships/notesSlide" Target="/ppt/notesSlides/notesSlide16.xml" Id="Rc845be83666348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f64b0c5244ed7" /><Relationship Type="http://schemas.openxmlformats.org/officeDocument/2006/relationships/image" Target="/ppt/media/image18.png" Id="R13b33326927a4416" /><Relationship Type="http://schemas.openxmlformats.org/officeDocument/2006/relationships/notesSlide" Target="/ppt/notesSlides/notesSlide17.xml" Id="Rf9ea88894d044f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7fd1870f048b6" /><Relationship Type="http://schemas.openxmlformats.org/officeDocument/2006/relationships/image" Target="/ppt/media/image19.png" Id="Re76a2e33b1aa49ed" /><Relationship Type="http://schemas.openxmlformats.org/officeDocument/2006/relationships/notesSlide" Target="/ppt/notesSlides/notesSlide18.xml" Id="R642f891e9fa7448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c40e60ac84ea3" /><Relationship Type="http://schemas.openxmlformats.org/officeDocument/2006/relationships/image" Target="/ppt/media/image20.png" Id="R62bd3f49d7004e59" /><Relationship Type="http://schemas.openxmlformats.org/officeDocument/2006/relationships/notesSlide" Target="/ppt/notesSlides/notesSlide19.xml" Id="R2b6fac771ca442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24af28bda4c3d" /><Relationship Type="http://schemas.openxmlformats.org/officeDocument/2006/relationships/image" Target="/ppt/media/image21.png" Id="Rbdc68620e2d4414a" /><Relationship Type="http://schemas.openxmlformats.org/officeDocument/2006/relationships/notesSlide" Target="/ppt/notesSlides/notesSlide20.xml" Id="R4c419d46a3fa468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961d60edf452d" /><Relationship Type="http://schemas.openxmlformats.org/officeDocument/2006/relationships/image" Target="/ppt/media/image22.png" Id="Rad7751885b9d473a" /><Relationship Type="http://schemas.openxmlformats.org/officeDocument/2006/relationships/notesSlide" Target="/ppt/notesSlides/notesSlide21.xml" Id="Rb2f879fb0ecf41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c8c8538f745ad" /><Relationship Type="http://schemas.openxmlformats.org/officeDocument/2006/relationships/image" Target="/ppt/media/image23.png" Id="Rc437751986274a4b" /><Relationship Type="http://schemas.openxmlformats.org/officeDocument/2006/relationships/notesSlide" Target="/ppt/notesSlides/notesSlide22.xml" Id="Rf78f1739647c43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f9b78badb4b52" /><Relationship Type="http://schemas.openxmlformats.org/officeDocument/2006/relationships/image" Target="/ppt/media/image24.png" Id="Rc7adbbb1c88d47a1" /><Relationship Type="http://schemas.openxmlformats.org/officeDocument/2006/relationships/notesSlide" Target="/ppt/notesSlides/notesSlide23.xml" Id="Rf642fd1bf7a9430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d10690fb146fe" /><Relationship Type="http://schemas.openxmlformats.org/officeDocument/2006/relationships/image" Target="/ppt/media/image25.png" Id="Rc5baba25e18d4fdf" /><Relationship Type="http://schemas.openxmlformats.org/officeDocument/2006/relationships/notesSlide" Target="/ppt/notesSlides/notesSlide24.xml" Id="R4ba36e4369294cf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8dcf03dd54678" /><Relationship Type="http://schemas.openxmlformats.org/officeDocument/2006/relationships/image" Target="/ppt/media/image26.png" Id="R210a4b82f30143cf" /><Relationship Type="http://schemas.openxmlformats.org/officeDocument/2006/relationships/notesSlide" Target="/ppt/notesSlides/notesSlide25.xml" Id="R888d4cef802345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7E471-29D3-46EC-B0E4-100F074C32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40c10b2e94c4c"/>
          <a:stretch xmlns:a="http://schemas.openxmlformats.org/drawingml/2006/main"/>
        </p:blipFill>
        <p:spPr>
          <a:xfrm xmlns:a="http://schemas.openxmlformats.org/drawingml/2006/main">
            <a:off x="6667500" y="1619250"/>
            <a:ext cx="5143500" cy="38576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93E79-A87D-4BA8-B8BF-D0D7F3A5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905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Curso de Postgrado:</a:t>
            </a:r>
          </a:p>
          <a:p xmlns:a="http://schemas.openxmlformats.org/drawingml/2006/main">
            <a:pPr>
              <a:buNone/>
              <a:defRPr sz="30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BigData</a:t>
            </a:r>
          </a:p>
          <a:p xmlns:a="http://schemas.openxmlformats.org/drawingml/2006/main">
            <a:pPr>
              <a:buNone/>
              <a:defRPr sz="30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Especialización en</a:t>
            </a:r>
          </a:p>
          <a:p xmlns:a="http://schemas.openxmlformats.org/drawingml/2006/main">
            <a:pPr>
              <a:buNone/>
              <a:defRPr sz="30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Bases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F37DD-8D12-46B7-9238-4BD74507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90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Ejecución y auditoría</a:t>
            </a:r>
          </a:p>
          <a:p xmlns:a="http://schemas.openxmlformats.org/drawingml/2006/main">
            <a:pPr>
              <a:buNone/>
              <a:defRPr sz="25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del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3FFC8-F205-45DF-B0B4-E0BFC068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Sesión 10 · Sábado 31 de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B361C-875A-48B9-89D8-A6B0E5B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Preparado por el PhD Esteban Hernández, CyberColombia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CC3BF-D43C-441C-9998-2E887D71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6BF26278-DD38-405D-8010-FB27A1C2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8" name="cover-page">
            <a:extLst xmlns:a="http://schemas.openxmlformats.org/drawingml/2006/main">
              <a:ext uri="{FF2B5EF4-FFF2-40B4-BE49-F238E27FC236}">
                <a16:creationId xmlns:a16="http://schemas.microsoft.com/office/drawing/2014/main" id="{D92DDCCC-D667-40AE-8FE5-D77CAA94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F01BD-C3D0-41D8-BBC2-D5C9E4845E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e680da95b43d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66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D0AE6-DFFB-4050-BAD3-32724FD937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a5c02d593442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7CE972-6735-40FB-AEC5-248AD7BC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Propósito de la práctica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46BF531A-6D0E-4AB1-82F0-9BD6C20C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Cada equipo entrega evidencia de su propia ejecución.</a:t>
            </a:r>
          </a:p>
        </p:txBody>
      </p:sp>
      <p:sp>
        <p:nvSpPr>
          <p:cNvPr id="1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322EAB2-28C0-4E9D-B7E7-F6320D66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pipeline recibe entradas identificadas, aplica reglas y publica detalle y agregado Parquet.</a:t>
            </a:r>
          </a:p>
        </p:txBody>
      </p:sp>
      <p:sp>
        <p:nvSpPr>
          <p:cNvPr id="1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213E5F1-6BCE-4AF8-BBCC-1FA3F4F8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Las consultas SQL y los registros permiten revisar el resultado y repetirlo.</a:t>
            </a:r>
          </a:p>
        </p:txBody>
      </p:sp>
      <p:sp>
        <p:nvSpPr>
          <p:cNvPr id="1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4230B679-67D9-4F4B-B09C-2D521CED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jornada produce un candidato formativo y hallazgos para la clínica del 6 de noviembre.</a:t>
            </a:r>
          </a:p>
        </p:txBody>
      </p:sp>
      <p:sp>
        <p:nvSpPr>
          <p:cNvPr id="17" name="check">
            <a:extLst xmlns:a="http://schemas.openxmlformats.org/drawingml/2006/main">
              <a:ext uri="{FF2B5EF4-FFF2-40B4-BE49-F238E27FC236}">
                <a16:creationId xmlns:a16="http://schemas.microsoft.com/office/drawing/2014/main" id="{BFD48E3D-1CB2-476E-BAE0-92F2C230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La entrega final permanece el 7 de noviembre.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B7D7DF3-F628-4DBB-8080-65FC9E25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0F002BCE-E276-4468-8C0C-FEFFE308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9028C-D355-407C-A660-C15B01F506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0c6ccdcaf406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EF6523-2BBD-4C12-B70E-63C42920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Producto mínimo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3DD5BE77-4132-42CD-9548-D99ED30A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Una ruta de datos y cuatro comprobaciones.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F8BCC-171C-40E1-8076-F8E18E5731B8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40480"/>
                <a:gridCol w="7132320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Criterio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Evidencia de aceptación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Recorrido completo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Notebook ejecutado con instrucciones disponibles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Conteos explicables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Leídos, aceptados y rechazados conciliados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Agregado consistente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Comparación SQL por grupo y total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Reejecución estable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Contenido comparado entre dos ejecuciones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</a:tbl>
          </a:graphicData>
        </a:graphic>
      </p:graphicFrame>
      <p:sp>
        <p:nvSpPr>
          <p:cNvPr id="15" name="check">
            <a:extLst xmlns:a="http://schemas.openxmlformats.org/drawingml/2006/main">
              <a:ext uri="{FF2B5EF4-FFF2-40B4-BE49-F238E27FC236}">
                <a16:creationId xmlns:a16="http://schemas.microsoft.com/office/drawing/2014/main" id="{FC2F588D-0C89-4690-B910-2636C4DB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La reconstrucción de un período se trabaja cuando estos controles funcionan.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140B9CA6-5882-43F7-B4E2-99A963F1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59AB59DA-5C68-4206-9787-1EDF3D7C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92CBB-E66E-474B-A1E4-012E56E513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64dbace5543f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44208F-1601-4A22-A9BF-06705A79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Definición del producto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9083F152-7C4B-4B18-A44C-C2A29C7B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pregunta determina entradas, transformaciones y salida.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EF819-78AA-4716-A2C5-F19FF8B4F22D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5104"/>
                <a:gridCol w="4059936"/>
                <a:gridCol w="4937760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Decisión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PQRS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Agroambiental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Unidad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Reporte administrativo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Observación agrícola definida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Dimensiones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Período y territorio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Período, territorio y cultivo compatible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Medida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Conteo de reportes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Cantidad o razón con denominador válido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Límite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Reportes no equivalen a personas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Cobertura y unidades de las fuentes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</a:tbl>
          </a:graphicData>
        </a:graphic>
      </p:graphicFrame>
      <p:sp>
        <p:nvSpPr>
          <p:cNvPr id="15" name="check">
            <a:extLst xmlns:a="http://schemas.openxmlformats.org/drawingml/2006/main">
              <a:ext uri="{FF2B5EF4-FFF2-40B4-BE49-F238E27FC236}">
                <a16:creationId xmlns:a16="http://schemas.microsoft.com/office/drawing/2014/main" id="{21EDC0F3-D1FE-47A3-B6AE-73032EFB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Cada equipo reutiliza una ruta y sus transformaciones conocidas.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603944B0-2347-4B32-9115-B9EAE3E5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667AFF94-DE0F-48E7-9EEF-24B94B40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AFE9B-6F1A-4B93-823A-BA77345844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d0cc26cb34b8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41CF23-5379-4680-B3FB-A0694D3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Preparación del entorno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C0E8DA12-C566-4F02-8EC5-F2CE6291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Las rutas y las entradas deben resolverse antes de transformar.</a:t>
            </a:r>
          </a:p>
        </p:txBody>
      </p:sp>
      <p:sp>
        <p:nvSpPr>
          <p:cNvPr id="1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D1797ED-2E6A-429D-A032-A94C73C4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Comprobar kernel y bibliotecas del entorno del curso.</a:t>
            </a:r>
          </a:p>
        </p:txBody>
      </p:sp>
      <p:sp>
        <p:nvSpPr>
          <p:cNvPr id="1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991A41A-F9FC-4E53-9CC0-12A50CE6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Identificar raíz del proyecto, archivos de entrada y carpeta de ejecución. Mostrar las rutas concretas.</a:t>
            </a:r>
          </a:p>
        </p:txBody>
      </p:sp>
      <p:sp>
        <p:nvSpPr>
          <p:cNvPr id="1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8DDF9120-F7C3-4274-9CC9-4025F189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Revisar el manifiesto. Si falta una descarga, utilizar la copia validada y declarar su procedencia.</a:t>
            </a:r>
          </a:p>
        </p:txBody>
      </p:sp>
      <p:sp>
        <p:nvSpPr>
          <p:cNvPr id="17" name="check">
            <a:extLst xmlns:a="http://schemas.openxmlformats.org/drawingml/2006/main">
              <a:ext uri="{FF2B5EF4-FFF2-40B4-BE49-F238E27FC236}">
                <a16:creationId xmlns:a16="http://schemas.microsoft.com/office/drawing/2014/main" id="{AA3EA8E1-FD5E-4B02-BBB8-0FDACB00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Producto: ficha breve con pregunta, entradas y salidas.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B27BA565-9550-403D-91EC-FA465757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093F95AB-B8E5-46F4-8DA3-83F258EC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DE69E-488E-4266-8D91-B03207E7E8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a081335b0431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0B63FE-45BD-4DAF-B257-03624894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Estructura del notebook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6A11C821-853B-4099-9BC8-06AB38AC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Cada sección muestra una operación y su comprobación.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D2458-71F2-4BAC-BE0C-9A29F22BFE74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72384"/>
                <a:gridCol w="7900416"/>
              </a:tblGrid>
              <a:tr h="555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Sección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Contenido visible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1. Entradas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Manifiesto y rutas detectadas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2. Validación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Reglas, aceptados y rechazados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3. Transformación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Tipos, claves y detalle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4. Publicación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Detalle, agregado y consultas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5. Verificación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Registro, segunda ejecución y comparación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5" name="check">
            <a:extLst xmlns:a="http://schemas.openxmlformats.org/drawingml/2006/main">
              <a:ext uri="{FF2B5EF4-FFF2-40B4-BE49-F238E27FC236}">
                <a16:creationId xmlns:a16="http://schemas.microsoft.com/office/drawing/2014/main" id="{D5E5ACE7-5BA3-4364-8AF9-6AAFB55E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Las celdas se ejecutan en orden con explicaciones breves.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7E2E5488-120A-4422-ABDB-E3BF394E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F4F9191D-8197-4336-ABA6-B612AD9E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0D530-8F01-4693-A988-005ECD1EFE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46660e2644de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F77FA9-F444-41EC-880E-152C5A56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Ejercicio 1: recepción y validación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854D8977-417F-4750-B2EC-66C18748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Consigna: justificar qué filas pueden incorporarse.</a:t>
            </a:r>
          </a:p>
        </p:txBody>
      </p:sp>
      <p:sp>
        <p:nvSpPr>
          <p:cNvPr id="1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7582CD7-C405-42C8-B3CC-87AFC488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Leer las entradas declaradas y comprobar los campos necesarios.</a:t>
            </a:r>
          </a:p>
        </p:txBody>
      </p:sp>
      <p:sp>
        <p:nvSpPr>
          <p:cNvPr id="1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3C7C949-E681-470D-964B-0A7B4D05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Aplicar las reglas acordadas. Separar aceptados y rechazados y conservar sus motivos.</a:t>
            </a:r>
          </a:p>
        </p:txBody>
      </p:sp>
      <p:sp>
        <p:nvSpPr>
          <p:cNvPr id="1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5578BD86-8680-4515-8E05-6B3FD631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Conciliar las filas leídas y registrar claves, faltantes y decisiones sobre duplicación.</a:t>
            </a:r>
          </a:p>
        </p:txBody>
      </p:sp>
      <p:sp>
        <p:nvSpPr>
          <p:cNvPr id="17" name="check">
            <a:extLst xmlns:a="http://schemas.openxmlformats.org/drawingml/2006/main">
              <a:ext uri="{FF2B5EF4-FFF2-40B4-BE49-F238E27FC236}">
                <a16:creationId xmlns:a16="http://schemas.microsoft.com/office/drawing/2014/main" id="{26582582-D7B2-4FA6-863A-9917F8F2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Punto de revisión: el profesor contrasta conteos y reglas antes de publicar.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F1FA6DE-947A-4085-9032-53582AF2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438A54EC-A968-4BAA-82FF-8C8DF76D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42B81-F503-49D4-B8C1-8849919ACC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e9b3e03184be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680351-609B-462F-AEB9-2616478D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Registro de validación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4AC8A2AE-BA89-4F19-B62E-4FAAC29D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Ejemplo didáctico para revisar la forma del control.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72575-CFCC-44C0-A459-26DFEB84629B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11296"/>
                <a:gridCol w="2194560"/>
                <a:gridCol w="5266944"/>
              </a:tblGrid>
              <a:tr h="555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Control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Ejemplo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Interpretación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Leídas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Todas las filas del lote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Aceptadas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Pasan las reglas declaradas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Rechazadas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Fila con período inválido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Territorio no informado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 aceptada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Categoría visible en el agregado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Conciliación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6 = 5 + 1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Sin pérdida de filas en la separación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5" name="check">
            <a:extLst xmlns:a="http://schemas.openxmlformats.org/drawingml/2006/main">
              <a:ext uri="{FF2B5EF4-FFF2-40B4-BE49-F238E27FC236}">
                <a16:creationId xmlns:a16="http://schemas.microsoft.com/office/drawing/2014/main" id="{E37AF4B6-2336-421D-8EFD-3BDAE6EE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Cada equipo reemplaza estos valores por los resultados de su ejecución.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5FA6348F-0D37-4089-B3CF-A88479EF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E4380C9F-C78E-42A8-B686-6D7BEFC3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73065-28BB-4C79-AE75-FBA4A76413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e9f391f95487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23BCD1-3978-40E5-B9A8-09C92AD2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Receso de la mañana</a:t>
            </a:r>
          </a:p>
        </p:txBody>
      </p:sp>
      <p:sp>
        <p:nvSpPr>
          <p:cNvPr id="13" name="pause-time">
            <a:extLst xmlns:a="http://schemas.openxmlformats.org/drawingml/2006/main">
              <a:ext uri="{FF2B5EF4-FFF2-40B4-BE49-F238E27FC236}">
                <a16:creationId xmlns:a16="http://schemas.microsoft.com/office/drawing/2014/main" id="{D7F4308B-819A-43C7-90D5-710D9ACD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09:30–09:45</a:t>
            </a:r>
          </a:p>
        </p:txBody>
      </p:sp>
      <p:sp>
        <p:nvSpPr>
          <p:cNvPr id="14" name="pause-return">
            <a:extLst xmlns:a="http://schemas.openxmlformats.org/drawingml/2006/main">
              <a:ext uri="{FF2B5EF4-FFF2-40B4-BE49-F238E27FC236}">
                <a16:creationId xmlns:a16="http://schemas.microsoft.com/office/drawing/2014/main" id="{1E1E2B37-4712-47A1-AB86-C5A56852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Continuación: validación y revisión de controles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78492C95-60B2-4541-8EBE-3A0CBAE2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1299746E-F5D2-4547-B4DC-CCD42749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26455-9078-43AF-8E2F-0EAB62042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80816edba46e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3AD603-6B9B-4440-A109-65BB7A3C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Transformación y claves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3A6E6B1F-67BB-4411-9852-D52CD1DD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Consigna: conservar la unidad de observación.</a:t>
            </a:r>
          </a:p>
        </p:txBody>
      </p:sp>
      <p:sp>
        <p:nvSpPr>
          <p:cNvPr id="1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F8DE398-E14D-49F0-AA51-E8BD6491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Reutilizar tipado y normalización de los ejercicios anteriores.</a:t>
            </a:r>
          </a:p>
        </p:txBody>
      </p:sp>
      <p:sp>
        <p:nvSpPr>
          <p:cNvPr id="1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56DE44C-F7F3-4E41-B52D-2DC226F8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Si existe una unión, comprobar unicidad de la dimensión y conteos antes y después.</a:t>
            </a:r>
          </a:p>
        </p:txBody>
      </p:sp>
      <p:sp>
        <p:nvSpPr>
          <p:cNvPr id="1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D34940B6-60A7-4CBA-A7D7-72398DF2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Conservar los casos sin correspondencia con una categoría documentada.</a:t>
            </a:r>
          </a:p>
        </p:txBody>
      </p:sp>
      <p:sp>
        <p:nvSpPr>
          <p:cNvPr id="17" name="check">
            <a:extLst xmlns:a="http://schemas.openxmlformats.org/drawingml/2006/main">
              <a:ext uri="{FF2B5EF4-FFF2-40B4-BE49-F238E27FC236}">
                <a16:creationId xmlns:a16="http://schemas.microsoft.com/office/drawing/2014/main" id="{44A028E6-2084-46A4-880E-788FCADB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Punto de revisión: explicar cualquier cambio en el número de filas.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EC74010B-0179-43FD-A5FB-0C373A1D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DA229B7D-A528-49CB-9328-E3BEFBDC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285C0-753B-44C8-8EAA-4587E5F763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c268877a645b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D19B12-F460-4A9B-90F6-5546C750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Ejercicio 2: publicación candidata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D1536507-C5AE-41A2-A810-8ED2D261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Consigna: producir detalle y agregado que puedan releerse.</a:t>
            </a:r>
          </a:p>
        </p:txBody>
      </p:sp>
      <p:sp>
        <p:nvSpPr>
          <p:cNvPr id="1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21ADB3C-995F-4FF7-B8BD-09206065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Escribir los resultados en la carpeta identificada de la ejecución.</a:t>
            </a:r>
          </a:p>
        </p:txBody>
      </p:sp>
      <p:sp>
        <p:nvSpPr>
          <p:cNvPr id="1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F11BBF7-5CC1-4159-96F4-9706B9E8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Releer ambos Parquet y comprobar esquema, conteos y claves de agrupación.</a:t>
            </a:r>
          </a:p>
        </p:txBody>
      </p:sp>
      <p:sp>
        <p:nvSpPr>
          <p:cNvPr id="1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055F53E7-E3A1-4594-BBA3-B3252D9B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Ejecutar la consulta de control antes de identificar la publicación como válida.</a:t>
            </a:r>
          </a:p>
        </p:txBody>
      </p:sp>
      <p:sp>
        <p:nvSpPr>
          <p:cNvPr id="17" name="check">
            <a:extLst xmlns:a="http://schemas.openxmlformats.org/drawingml/2006/main">
              <a:ext uri="{FF2B5EF4-FFF2-40B4-BE49-F238E27FC236}">
                <a16:creationId xmlns:a16="http://schemas.microsoft.com/office/drawing/2014/main" id="{135733BB-6C26-4C16-9EC0-D469227D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Producto: primera ejecución completa con consulta conciliada.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B5E4B51F-D805-467B-8830-2B2D58E3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41C51E3D-CDDF-49A6-A0EC-4E080BA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C1CB5-D0CC-4F5D-A81C-12C69987D5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72c9b4e1f4ef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FC0960-0FA2-46CF-8FFE-6EA29A70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Consulta de conciliación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E7EA9CE8-A6E9-46F6-BE74-26E3EBE9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consulta del detalle utiliza las dimensiones del agregado.</a:t>
            </a:r>
          </a:p>
        </p:txBody>
      </p:sp>
      <p:sp>
        <p:nvSpPr>
          <p:cNvPr id="14" name="code">
            <a:extLst xmlns:a="http://schemas.openxmlformats.org/drawingml/2006/main">
              <a:ext uri="{FF2B5EF4-FFF2-40B4-BE49-F238E27FC236}">
                <a16:creationId xmlns:a16="http://schemas.microsoft.com/office/drawing/2014/main" id="{B65C3562-E72A-47A5-80C0-EC8AFA80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668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03B68"/>
                </a:solidFill>
                <a:latin typeface="Consolas"/>
                <a:ea typeface="Consolas"/>
                <a:cs typeface="Consolas"/>
              </a:rPr>
              <a:t>SELECT periodo, territorio,</a:t>
            </a:r>
          </a:p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03B68"/>
                </a:solidFill>
                <a:latin typeface="Consolas"/>
                <a:ea typeface="Consolas"/>
                <a:cs typeface="Consolas"/>
              </a:rPr>
              <a:t>       COUNT(*) AS reportes</a:t>
            </a:r>
          </a:p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03B68"/>
                </a:solidFill>
                <a:latin typeface="Consolas"/>
                <a:ea typeface="Consolas"/>
                <a:cs typeface="Consolas"/>
              </a:rPr>
              <a:t>FROM read_parquet('detalle.parquet')</a:t>
            </a:r>
          </a:p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03B68"/>
                </a:solidFill>
                <a:latin typeface="Consolas"/>
                <a:ea typeface="Consolas"/>
                <a:cs typeface="Consolas"/>
              </a:rPr>
              <a:t>GROUP BY periodo, territorio</a:t>
            </a:r>
          </a:p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03B68"/>
                </a:solidFill>
                <a:latin typeface="Consolas"/>
                <a:ea typeface="Consolas"/>
                <a:cs typeface="Consolas"/>
              </a:rPr>
              <a:t>ORDER BY periodo, territorio;</a:t>
            </a:r>
          </a:p>
        </p:txBody>
      </p:sp>
      <p:sp>
        <p:nvSpPr>
          <p:cNvPr id="15" name="code-explain">
            <a:extLst xmlns:a="http://schemas.openxmlformats.org/drawingml/2006/main">
              <a:ext uri="{FF2B5EF4-FFF2-40B4-BE49-F238E27FC236}">
                <a16:creationId xmlns:a16="http://schemas.microsoft.com/office/drawing/2014/main" id="{EB750970-F833-4862-8503-E742CB41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Comparar este resultado con agregado.parquet por todas sus claves y medidas.</a:t>
            </a:r>
          </a:p>
        </p:txBody>
      </p:sp>
      <p:sp>
        <p:nvSpPr>
          <p:cNvPr id="16" name="check">
            <a:extLst xmlns:a="http://schemas.openxmlformats.org/drawingml/2006/main">
              <a:ext uri="{FF2B5EF4-FFF2-40B4-BE49-F238E27FC236}">
                <a16:creationId xmlns:a16="http://schemas.microsoft.com/office/drawing/2014/main" id="{CA89191C-C8D7-4184-8E35-513597AB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El total por sí solo no detecta un intercambio de valores entre grupos.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27CA07E3-4C06-44A6-BB57-B38A2D5F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FAB43706-DC87-449F-BE74-EAA52873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D632F-EA96-4ADC-8C2E-A887169FC2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d55b1895d49f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B6A976-5EFC-40FE-B8C9-97039FB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Hallazgo de conciliación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4FCCF518-7ACB-4F93-940F-87DDA0D1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Ejemplo hipotético: el total coincide, pero los grupos difieren.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B2E98-3436-4729-902E-7040DBB151A9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2743200"/>
                <a:gridCol w="2743200"/>
              </a:tblGrid>
              <a:tr h="555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Grupo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Detalle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Agregado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2024-I / Bogotá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2024-I / Boyacá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2024-I / SIN_INFORMAR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2024-II / Bogotá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5" name="check">
            <a:extLst xmlns:a="http://schemas.openxmlformats.org/drawingml/2006/main">
              <a:ext uri="{FF2B5EF4-FFF2-40B4-BE49-F238E27FC236}">
                <a16:creationId xmlns:a16="http://schemas.microsoft.com/office/drawing/2014/main" id="{9A3E2385-E584-4E2C-9CFC-ADFA0BE7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Consigna: identificar el control que impide aceptar esta publicación.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F363A284-53A9-41CC-9497-5328BB32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5E2B4DB0-0C57-43D5-9DC2-005E55D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5DF0B-30C3-476F-B73F-F76AB812E5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da731458b463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443D31-2A16-4D01-B532-00599428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Aceptación de la primera ejecución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E5BA3DDE-C4B7-4373-BC39-250C4FF2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registro debe vincular las salidas con sus controles.</a:t>
            </a:r>
          </a:p>
        </p:txBody>
      </p:sp>
      <p:sp>
        <p:nvSpPr>
          <p:cNvPr id="1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D94A9E6-B8FE-436E-BD34-748F0B6E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Conciliar leídos, aceptados y rechazados.</a:t>
            </a:r>
          </a:p>
        </p:txBody>
      </p:sp>
      <p:sp>
        <p:nvSpPr>
          <p:cNvPr id="1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A063F9D-4731-4D34-8F49-9E1B4C90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Verificar detalle y agregado por grupo y total.</a:t>
            </a:r>
          </a:p>
        </p:txBody>
      </p:sp>
      <p:sp>
        <p:nvSpPr>
          <p:cNvPr id="1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4B09DBAB-3C75-43B8-8124-494CCF29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Registrar la ejecución como correcta o fallida y explicar el motivo. Conservar el candidato y sus evidencias.</a:t>
            </a:r>
          </a:p>
        </p:txBody>
      </p:sp>
      <p:sp>
        <p:nvSpPr>
          <p:cNvPr id="17" name="check">
            <a:extLst xmlns:a="http://schemas.openxmlformats.org/drawingml/2006/main">
              <a:ext uri="{FF2B5EF4-FFF2-40B4-BE49-F238E27FC236}">
                <a16:creationId xmlns:a16="http://schemas.microsoft.com/office/drawing/2014/main" id="{3268151F-639F-4DDA-850D-AA5E74CB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La revisión confirma qué resultado puede utilizar el consumidor.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5F337EA3-24E1-473E-9F4D-C921EECF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91B21A02-6FDB-4D73-867D-EAB6E566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99BCA-FE7B-4E4E-A08A-84B09E730D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6d03fc9fe473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8A8C2E-6A81-4D92-B179-A85963DE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Almuerzo</a:t>
            </a:r>
          </a:p>
        </p:txBody>
      </p:sp>
      <p:sp>
        <p:nvSpPr>
          <p:cNvPr id="13" name="pause-time">
            <a:extLst xmlns:a="http://schemas.openxmlformats.org/drawingml/2006/main">
              <a:ext uri="{FF2B5EF4-FFF2-40B4-BE49-F238E27FC236}">
                <a16:creationId xmlns:a16="http://schemas.microsoft.com/office/drawing/2014/main" id="{36DC3582-67BC-4392-85E7-782FF5A3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12:00–13:00</a:t>
            </a:r>
          </a:p>
        </p:txBody>
      </p:sp>
      <p:sp>
        <p:nvSpPr>
          <p:cNvPr id="14" name="pause-return">
            <a:extLst xmlns:a="http://schemas.openxmlformats.org/drawingml/2006/main">
              <a:ext uri="{FF2B5EF4-FFF2-40B4-BE49-F238E27FC236}">
                <a16:creationId xmlns:a16="http://schemas.microsoft.com/office/drawing/2014/main" id="{F07A48A0-419C-45DF-84AD-38287A08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Continuación: segunda ejecución y comparación del contenido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75609AE6-EDAF-4640-A0D7-6393F41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B7956415-9A33-472F-BD74-AF67BDE8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ED587-2DB5-441D-A67C-527610E62B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fbf52f2c44f8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0377D3-B448-4E6F-9481-34ABB2C8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Ejercicio 3: reejecución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4DA9EA0F-F0CC-44A2-B54E-A3433FF8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Consigna: ejecutar las mismas entradas con las mismas reglas.</a:t>
            </a:r>
          </a:p>
        </p:txBody>
      </p:sp>
      <p:sp>
        <p:nvSpPr>
          <p:cNvPr id="1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7E763AA-4665-46A1-92F2-03DEB252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Guardar la nueva ejecución con su propio identificador.</a:t>
            </a:r>
          </a:p>
        </p:txBody>
      </p:sp>
      <p:sp>
        <p:nvSpPr>
          <p:cNvPr id="1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5F338FD-8792-4B51-8F6F-E8EE92EF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Comparar contenido del detalle y del agregado, considerando claves, medidas y multiplicidad de filas.</a:t>
            </a:r>
          </a:p>
        </p:txBody>
      </p:sp>
      <p:sp>
        <p:nvSpPr>
          <p:cNvPr id="1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A1AF1094-B569-4BFF-A66F-D3B7EA9F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Conservar los dos registros y explicar cualquier diferencia.</a:t>
            </a:r>
          </a:p>
        </p:txBody>
      </p:sp>
      <p:sp>
        <p:nvSpPr>
          <p:cNvPr id="17" name="check">
            <a:extLst xmlns:a="http://schemas.openxmlformats.org/drawingml/2006/main">
              <a:ext uri="{FF2B5EF4-FFF2-40B4-BE49-F238E27FC236}">
                <a16:creationId xmlns:a16="http://schemas.microsoft.com/office/drawing/2014/main" id="{499848A1-2240-4B2C-BBDD-A82C1DAB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Producto: comparación explícita y control de reejecución.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1E0343F4-6152-49FE-BBCE-EDF5E9A9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939B5D08-5180-46AF-9479-997BE27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789D2-9290-4D16-A39A-7D4F8A250D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33326927a441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81C9C3-F69C-4021-B49C-797D89B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Comparación del contenido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3756BF63-52CE-4F2D-A788-39F10E22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Los metadatos operativos y los datos publicados tienen criterios diferentes.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C1306-32EA-47EC-947F-87B6DD174555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50208"/>
                <a:gridCol w="7022592"/>
              </a:tblGrid>
              <a:tr h="555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Elemento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Resultado esperado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Archivos de entrada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Mismo contenido identificado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Detalle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Mismas filas con sus multiplicidades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Agregado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Mismas claves y medidas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Identificador y duración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Pueden cambiar entre ejecuciones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Estado y controles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Explican la aceptación de cada publicación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5" name="check">
            <a:extLst xmlns:a="http://schemas.openxmlformats.org/drawingml/2006/main">
              <a:ext uri="{FF2B5EF4-FFF2-40B4-BE49-F238E27FC236}">
                <a16:creationId xmlns:a16="http://schemas.microsoft.com/office/drawing/2014/main" id="{31F9812E-B749-428A-B0FF-A98A0470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Una acumulación accidental puede duplicar filas al repetir el lote.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448CD0A0-DC60-4118-888B-8AD7138B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CFD6B354-9821-49E7-8082-E0E09509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6D609-745D-4D69-B0DF-3FB267BFCC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a2e33b1aa49e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21E854-B364-4F62-AF47-B16B26BF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Ficha de auditoría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753531C5-374B-4EC4-95F2-8A327027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revisión debe permitir reproducir lo observado.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9639E-7DC5-40E8-B5DA-53791D3BB337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72384"/>
                <a:gridCol w="7900416"/>
              </a:tblGrid>
              <a:tr h="555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Campo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Qué debe escribir el equipo revisor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Objeto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Ejecución, tabla o consulta revisada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Comprobación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Regla y procedimiento utilizado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Evidencia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Resultado observado y referencia al registro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Hallazgo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Diferencia concreta o control satisfactorio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Acción y revisión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Corrección y resultado posterior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5" name="check">
            <a:extLst xmlns:a="http://schemas.openxmlformats.org/drawingml/2006/main">
              <a:ext uri="{FF2B5EF4-FFF2-40B4-BE49-F238E27FC236}">
                <a16:creationId xmlns:a16="http://schemas.microsoft.com/office/drawing/2014/main" id="{AFBD4070-C5BD-45BA-9444-6EBA7654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Una opinión general sobre el notebook no constituye evidencia.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BD511D79-89DB-4ABE-8860-48FF86D6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01AD2103-ECFA-43C1-9B39-3EF088EC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C6C54-C985-45FE-BCFC-BAB55A4D1E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d3f49d7004e5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51C95A-3B92-4177-8DAB-B7D6470D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Ejercicio 4: auditoría entre equipos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F849F304-E690-471F-ABE2-68901F0F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Consigna: reproducir una consulta y revisar los cuatro criterios.</a:t>
            </a:r>
          </a:p>
        </p:txBody>
      </p:sp>
      <p:sp>
        <p:nvSpPr>
          <p:cNvPr id="1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7910404-5DE0-4811-B769-72158FE6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equipo revisor utiliza las instrucciones y entradas identificadas por el autor.</a:t>
            </a:r>
          </a:p>
        </p:txBody>
      </p:sp>
      <p:sp>
        <p:nvSpPr>
          <p:cNvPr id="1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D583793-2D76-4C5F-AC63-4B19D07E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Contrasta conteos, consulta y comparación de la reejecución. Registra evidencia de lo que pudo comprobar.</a:t>
            </a:r>
          </a:p>
        </p:txBody>
      </p:sp>
      <p:sp>
        <p:nvSpPr>
          <p:cNvPr id="1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F02AADE0-E90E-4AF5-8CA3-C928CF71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autor corrige el hallazgo y repite el control afectado. Si el control es satisfactorio, lo registra sin inventar un defecto.</a:t>
            </a:r>
          </a:p>
        </p:txBody>
      </p:sp>
      <p:sp>
        <p:nvSpPr>
          <p:cNvPr id="17" name="check">
            <a:extLst xmlns:a="http://schemas.openxmlformats.org/drawingml/2006/main">
              <a:ext uri="{FF2B5EF4-FFF2-40B4-BE49-F238E27FC236}">
                <a16:creationId xmlns:a16="http://schemas.microsoft.com/office/drawing/2014/main" id="{95A4D49A-3809-4295-8791-A2CD7352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Producto: ficha de auditoría y comprobación posterior.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BBF3F90A-1E76-49B4-9576-5F3DCC32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1C4BBBCC-140B-4DC5-84B7-9C9E5109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8E35F-088B-499D-A287-6B15DAF658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68620e2d4414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77C6B8-45B3-4E1D-8847-215AB4B9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Interpretación de los hallazgos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E0350878-BFA1-42B1-B60C-806716AA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Una corrección necesita una causa investigada.</a:t>
            </a:r>
          </a:p>
        </p:txBody>
      </p:sp>
      <p:sp>
        <p:nvSpPr>
          <p:cNvPr id="1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C8C9986-E8E8-46E3-AAE3-31D8DD4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Un total distinto puede deberse a filtros, rechazos, duplicación o cambios en las entradas.</a:t>
            </a:r>
          </a:p>
        </p:txBody>
      </p:sp>
      <p:sp>
        <p:nvSpPr>
          <p:cNvPr id="1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E421B07-FE53-44CA-BA60-D5A8372D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Un grupo ausente puede revelar una categoría nula o una unión que excluyó observaciones.</a:t>
            </a:r>
          </a:p>
        </p:txBody>
      </p:sp>
      <p:sp>
        <p:nvSpPr>
          <p:cNvPr id="1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AE6A5045-BE69-4DEF-89CA-BE8CD4AF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equipo identifica la etapa responsable y conserva evidencia antes y después del cambio.</a:t>
            </a:r>
          </a:p>
        </p:txBody>
      </p:sp>
      <p:sp>
        <p:nvSpPr>
          <p:cNvPr id="17" name="check">
            <a:extLst xmlns:a="http://schemas.openxmlformats.org/drawingml/2006/main">
              <a:ext uri="{FF2B5EF4-FFF2-40B4-BE49-F238E27FC236}">
                <a16:creationId xmlns:a16="http://schemas.microsoft.com/office/drawing/2014/main" id="{9A2DE3B3-384F-4ED8-9A3D-793857DA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Comprobación: ¿qué regla cambió y qué resultados deberían verse afectados?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F3A9AC64-ED04-4DB1-B23E-9B88B257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8D55C7B4-B989-4D6B-B019-EB564C0F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370AA-DC0E-4B6A-BFEB-9B4CC9B9ED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751885b9d473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3B193D-DAC3-4CB2-8B27-4574CC11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Receso de la tarde</a:t>
            </a:r>
          </a:p>
        </p:txBody>
      </p:sp>
      <p:sp>
        <p:nvSpPr>
          <p:cNvPr id="13" name="pause-time">
            <a:extLst xmlns:a="http://schemas.openxmlformats.org/drawingml/2006/main">
              <a:ext uri="{FF2B5EF4-FFF2-40B4-BE49-F238E27FC236}">
                <a16:creationId xmlns:a16="http://schemas.microsoft.com/office/drawing/2014/main" id="{8EC78DBD-BB6A-4627-88A3-F65026E7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15:00–15:15</a:t>
            </a:r>
          </a:p>
        </p:txBody>
      </p:sp>
      <p:sp>
        <p:nvSpPr>
          <p:cNvPr id="14" name="pause-return">
            <a:extLst xmlns:a="http://schemas.openxmlformats.org/drawingml/2006/main">
              <a:ext uri="{FF2B5EF4-FFF2-40B4-BE49-F238E27FC236}">
                <a16:creationId xmlns:a16="http://schemas.microsoft.com/office/drawing/2014/main" id="{CEB4F99F-E224-4767-9327-B07C258F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Continuación: auditoría, correcciones y revisión del candidato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92161359-BD6D-4E3F-9C32-F8C20541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B6497EFE-3109-4339-8213-D6FF3E70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1B7ED-AC15-4C11-97B2-C6A4932E8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7751986274a4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C644BA-783F-40CE-95AA-9E946817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Límites del producto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AEE72A6B-B031-4C8D-9E9A-03730BDF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explicación debe conservar el alcance de las fuentes.</a:t>
            </a:r>
          </a:p>
        </p:txBody>
      </p:sp>
      <p:sp>
        <p:nvSpPr>
          <p:cNvPr id="1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CEF1F72-B97B-40FD-AB12-8090059E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PQRS describe reportes de los cortes seleccionados. Su conteo no representa personas únicas ni prevalencia.</a:t>
            </a:r>
          </a:p>
        </p:txBody>
      </p:sp>
      <p:sp>
        <p:nvSpPr>
          <p:cNvPr id="1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F950F38-6965-4CDF-9448-CCBA6CC5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Una muestra de primeras filas permite comprobar el proceso, pero no sustenta inferencias sobre todo el país.</a:t>
            </a:r>
          </a:p>
        </p:txBody>
      </p:sp>
      <p:sp>
        <p:nvSpPr>
          <p:cNvPr id="1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90495992-55AC-44C4-807C-9144CEDD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Los agregados agrícolas requieren unidades y denominadores compatibles. La cobertura de enlace debe permanecer visible.</a:t>
            </a:r>
          </a:p>
        </p:txBody>
      </p:sp>
      <p:sp>
        <p:nvSpPr>
          <p:cNvPr id="17" name="check">
            <a:extLst xmlns:a="http://schemas.openxmlformats.org/drawingml/2006/main">
              <a:ext uri="{FF2B5EF4-FFF2-40B4-BE49-F238E27FC236}">
                <a16:creationId xmlns:a16="http://schemas.microsoft.com/office/drawing/2014/main" id="{C6234989-7F7E-4AAF-9FC5-1772C5CB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Cada equipo explica una conclusión que sus datos no permiten sostener.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CDDB6865-0374-4908-9490-8767C67E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A30FD8A5-36FB-413D-89C8-BC4329F5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33EC6-C1CC-47FB-BD48-A5DD6B0811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dbbb1c88d47a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648052-0C13-4C8C-B115-66F2850B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Candidato del proyecto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827B26BB-5921-4AF3-8426-EBF033B6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evidencia debe permitir ejecutar y revisar el recorrido.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061DB-E4E8-4D2E-87D6-DCA5627B0671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62656"/>
                <a:gridCol w="8010144"/>
              </a:tblGrid>
              <a:tr h="555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Componente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Contenido mínimo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4239C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Notebook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Etapas ordenadas y comprobaciones visibles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Instrucciones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Entorno, raíz, entradas y orden de ejecución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Publicación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Detalle y agregado regenerables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Controles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Consulta conciliada y dos registros de ejecución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E8F1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Auditoría</a:t>
                      </a:r>
                    </a:p>
                  </a:txBody>
                  <a:tcPr marL="133350" marR="133350" marT="76200" marB="76200" anchor="ctr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Hallazgo o control satisfactorio y pendientes</a:t>
                      </a:r>
                    </a:p>
                  </a:txBody>
                  <a:tcPr marL="133350" marR="133350" marT="76200" marB="76200" anchor="ctr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5" name="check">
            <a:extLst xmlns:a="http://schemas.openxmlformats.org/drawingml/2006/main">
              <a:ext uri="{FF2B5EF4-FFF2-40B4-BE49-F238E27FC236}">
                <a16:creationId xmlns:a16="http://schemas.microsoft.com/office/drawing/2014/main" id="{C7F5AD30-FB9A-4D5A-B704-301DF6EA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Los datos y salidas voluminosas se comparten por el medio del curso, fuera de Git.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9E5D017D-D820-46F6-8AA9-C5E8191D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EF3A938B-00B8-4332-8B98-E360E590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6C991-D845-41BC-BEC2-9F86192B29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aba25e18d4fd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9E6FA-D9A8-4794-9A6A-3852483D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Ampliación: actualización de un período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6FCFB380-B713-4412-AC66-F64BDF23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Se aborda cuando el pipeline básico supera los cuatro criterios.</a:t>
            </a:r>
          </a:p>
        </p:txBody>
      </p:sp>
      <p:sp>
        <p:nvSpPr>
          <p:cNvPr id="1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533E260-28AA-4ED3-8AF0-6111B129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Identificar un período afectado y conservar las entradas originales.</a:t>
            </a:r>
          </a:p>
        </p:txBody>
      </p:sp>
      <p:sp>
        <p:nvSpPr>
          <p:cNvPr id="1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C0C711B-5B63-4B77-BFA0-583F48AD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Reconstruir su detalle y agregado en un candidato nuevo.</a:t>
            </a:r>
          </a:p>
        </p:txBody>
      </p:sp>
      <p:sp>
        <p:nvSpPr>
          <p:cNvPr id="1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3F177E84-44C1-458E-BEB9-B31E1CF0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Comparar el período modificado y comprobar que los demás permanecen iguales.</a:t>
            </a:r>
          </a:p>
        </p:txBody>
      </p:sp>
      <p:sp>
        <p:nvSpPr>
          <p:cNvPr id="17" name="check">
            <a:extLst xmlns:a="http://schemas.openxmlformats.org/drawingml/2006/main">
              <a:ext uri="{FF2B5EF4-FFF2-40B4-BE49-F238E27FC236}">
                <a16:creationId xmlns:a16="http://schemas.microsoft.com/office/drawing/2014/main" id="{A89B9D42-A551-434D-B939-CE48AF23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La clínica del 6 de noviembre permite completar esta ampliación.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EDF016D1-1708-4C69-A7BC-A60166F2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BE971B35-C219-46EA-AAF2-895EDB24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ED915-DBBD-4759-81DA-04C2FCF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0325"/>
            <a:ext cx="12192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7C480-3430-4E79-A806-634C25A80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a4b82f30143c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2A5871-A61F-49E0-8423-7D7D37F0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Revisión individual del candidato</a:t>
            </a:r>
          </a:p>
        </p:txBody>
      </p:sp>
      <p:sp>
        <p:nvSpPr>
          <p:cNvPr id="13" name="lead">
            <a:extLst xmlns:a="http://schemas.openxmlformats.org/drawingml/2006/main">
              <a:ext uri="{FF2B5EF4-FFF2-40B4-BE49-F238E27FC236}">
                <a16:creationId xmlns:a16="http://schemas.microsoft.com/office/drawing/2014/main" id="{96B1C6DA-02BF-442E-93D6-B58B7B19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Cada integrante debe poder explicar una comprobación.</a:t>
            </a:r>
          </a:p>
        </p:txBody>
      </p:sp>
      <p:sp>
        <p:nvSpPr>
          <p:cNvPr id="1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C6D203D-EF18-452E-A43C-38179D60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¿Qué representa una fila del detalle y una del agregado?</a:t>
            </a:r>
          </a:p>
        </p:txBody>
      </p:sp>
      <p:sp>
        <p:nvSpPr>
          <p:cNvPr id="1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D49512A-76DC-4283-B0F7-E9614C46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¿Qué registro demuestra la conciliación y qué comparación demuestra la reejecución?</a:t>
            </a:r>
          </a:p>
        </p:txBody>
      </p:sp>
      <p:sp>
        <p:nvSpPr>
          <p:cNvPr id="1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17736EA8-706F-449B-B889-FF1C7569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¿Qué quedó pendiente y qué resultado no puede inferirse?</a:t>
            </a:r>
          </a:p>
        </p:txBody>
      </p:sp>
      <p:sp>
        <p:nvSpPr>
          <p:cNvPr id="17" name="check">
            <a:extLst xmlns:a="http://schemas.openxmlformats.org/drawingml/2006/main">
              <a:ext uri="{FF2B5EF4-FFF2-40B4-BE49-F238E27FC236}">
                <a16:creationId xmlns:a16="http://schemas.microsoft.com/office/drawing/2014/main" id="{D8C6D472-DCC5-490A-A434-F88FD40C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Cierre: candidato formativo y lista concreta de pendientes para la clínica.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44A22945-29CD-448E-AE01-D21E179F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7F7A4C4F-F7E9-44F1-AB6D-6641AC6E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982746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2026-10-25T02:31:25.1460000Z</dcterms:created>
  <dcterms:modified xsi:type="dcterms:W3CDTF">2026-10-25T02:31:25.1460000Z</dcterms:modified>
</coreProperties>
</file>