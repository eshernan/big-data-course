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276caf7b654831" /><Relationship Type="http://schemas.openxmlformats.org/officeDocument/2006/relationships/extended-properties" Target="/docProps/app.xml" Id="R82cc5956fea6485e" /><Relationship Type="http://schemas.openxmlformats.org/officeDocument/2006/relationships/officeDocument" Target="/ppt/presentation.xml" Id="R036b5512fc754a96" /></Relationships>
</file>

<file path=ppt/presentation.xml><?xml version="1.0" encoding="utf-8"?>
<p:presentation xmlns:p="http://schemas.openxmlformats.org/presentationml/2006/main">
  <p:sldMasterIdLst>
    <p:sldMasterId xmlns:r="http://schemas.openxmlformats.org/officeDocument/2006/relationships" id="2147483648" r:id="R897f371f58664934"/>
  </p:sldMasterIdLst>
  <p:notesMasterIdLst>
    <p:notesMasterId xmlns:r="http://schemas.openxmlformats.org/officeDocument/2006/relationships" r:id="Rf7e4d3dc34ca4108"/>
  </p:notesMasterIdLst>
  <p:sldIdLst>
    <p:sldId xmlns:r="http://schemas.openxmlformats.org/officeDocument/2006/relationships" id="256" r:id="Reb73876ff5ed4f12"/>
    <p:sldId xmlns:r="http://schemas.openxmlformats.org/officeDocument/2006/relationships" id="257" r:id="Rfb618434c3164d1c"/>
    <p:sldId xmlns:r="http://schemas.openxmlformats.org/officeDocument/2006/relationships" id="258" r:id="R6f973b96e3df472e"/>
    <p:sldId xmlns:r="http://schemas.openxmlformats.org/officeDocument/2006/relationships" id="259" r:id="R9c7b20fade934aba"/>
    <p:sldId xmlns:r="http://schemas.openxmlformats.org/officeDocument/2006/relationships" id="260" r:id="R02e022adef6f4662"/>
    <p:sldId xmlns:r="http://schemas.openxmlformats.org/officeDocument/2006/relationships" id="261" r:id="Rbfb0c71680a04d2f"/>
    <p:sldId xmlns:r="http://schemas.openxmlformats.org/officeDocument/2006/relationships" id="262" r:id="R8e8fc38511ef4369"/>
    <p:sldId xmlns:r="http://schemas.openxmlformats.org/officeDocument/2006/relationships" id="263" r:id="Rd9d9dfa6444143e4"/>
    <p:sldId xmlns:r="http://schemas.openxmlformats.org/officeDocument/2006/relationships" id="264" r:id="R35f0f421155147f7"/>
    <p:sldId xmlns:r="http://schemas.openxmlformats.org/officeDocument/2006/relationships" id="265" r:id="Rd59d7e432bb047ca"/>
    <p:sldId xmlns:r="http://schemas.openxmlformats.org/officeDocument/2006/relationships" id="266" r:id="R690bd8265a484ed3"/>
    <p:sldId xmlns:r="http://schemas.openxmlformats.org/officeDocument/2006/relationships" id="267" r:id="R8c43fd4700f24907"/>
    <p:sldId xmlns:r="http://schemas.openxmlformats.org/officeDocument/2006/relationships" id="268" r:id="R6c4299044fe24322"/>
    <p:sldId xmlns:r="http://schemas.openxmlformats.org/officeDocument/2006/relationships" id="269" r:id="R1952fc169bdf40e4"/>
    <p:sldId xmlns:r="http://schemas.openxmlformats.org/officeDocument/2006/relationships" id="270" r:id="R906c178aab684c5b"/>
    <p:sldId xmlns:r="http://schemas.openxmlformats.org/officeDocument/2006/relationships" id="271" r:id="Rd6db545240c14c1c"/>
    <p:sldId xmlns:r="http://schemas.openxmlformats.org/officeDocument/2006/relationships" id="272" r:id="R237549def5d94cde"/>
    <p:sldId xmlns:r="http://schemas.openxmlformats.org/officeDocument/2006/relationships" id="273" r:id="Rc204a624c9d348af"/>
    <p:sldId xmlns:r="http://schemas.openxmlformats.org/officeDocument/2006/relationships" id="274" r:id="Rb56eb19b885e4bf4"/>
    <p:sldId xmlns:r="http://schemas.openxmlformats.org/officeDocument/2006/relationships" id="275" r:id="R47100f58413a4cd9"/>
    <p:sldId xmlns:r="http://schemas.openxmlformats.org/officeDocument/2006/relationships" id="276" r:id="R6fbb5cba5559451b"/>
    <p:sldId xmlns:r="http://schemas.openxmlformats.org/officeDocument/2006/relationships" id="277" r:id="Ra4bfa89b0ae948ad"/>
    <p:sldId xmlns:r="http://schemas.openxmlformats.org/officeDocument/2006/relationships" id="278" r:id="R75922d7b9036464b"/>
    <p:sldId xmlns:r="http://schemas.openxmlformats.org/officeDocument/2006/relationships" id="279" r:id="Rdc1f8f2f8d594ce4"/>
    <p:sldId xmlns:r="http://schemas.openxmlformats.org/officeDocument/2006/relationships" id="280" r:id="Rb373438552e14395"/>
    <p:sldId xmlns:r="http://schemas.openxmlformats.org/officeDocument/2006/relationships" id="281" r:id="Reaee47fd30dc4447"/>
    <p:sldId xmlns:r="http://schemas.openxmlformats.org/officeDocument/2006/relationships" id="282" r:id="Re0a5d1afd6e54b4d"/>
    <p:sldId xmlns:r="http://schemas.openxmlformats.org/officeDocument/2006/relationships" id="283" r:id="R788661bad8294392"/>
    <p:sldId xmlns:r="http://schemas.openxmlformats.org/officeDocument/2006/relationships" id="284" r:id="R26f50e7935d547c6"/>
    <p:sldId xmlns:r="http://schemas.openxmlformats.org/officeDocument/2006/relationships" id="285" r:id="R4d3d9e7a27d64ab9"/>
    <p:sldId xmlns:r="http://schemas.openxmlformats.org/officeDocument/2006/relationships" id="286" r:id="R819246b0c5074ccb"/>
    <p:sldId xmlns:r="http://schemas.openxmlformats.org/officeDocument/2006/relationships" id="287" r:id="Re18b10385ca242b9"/>
    <p:sldId xmlns:r="http://schemas.openxmlformats.org/officeDocument/2006/relationships" id="288" r:id="Rc802499651d149be"/>
    <p:sldId xmlns:r="http://schemas.openxmlformats.org/officeDocument/2006/relationships" id="289" r:id="Rca1928c61bdd423a"/>
    <p:sldId xmlns:r="http://schemas.openxmlformats.org/officeDocument/2006/relationships" id="290" r:id="R469dbc85ab424b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cdd62ca0c64fa9" /><Relationship Type="http://schemas.openxmlformats.org/officeDocument/2006/relationships/slideMaster" Target="/ppt/slideMasters/slideMaster1.xml" Id="R897f371f58664934" /><Relationship Type="http://schemas.openxmlformats.org/officeDocument/2006/relationships/notesMaster" Target="/ppt/notesMasters/notesMaster1.xml" Id="Rf7e4d3dc34ca4108" /><Relationship Type="http://schemas.openxmlformats.org/officeDocument/2006/relationships/presProps" Target="/ppt/presProps.xml" Id="R6fde557468594f82" /><Relationship Type="http://schemas.openxmlformats.org/officeDocument/2006/relationships/tableStyles" Target="/ppt/tableStyles.xml" Id="R191557ca05ed4bf1" /><Relationship Type="http://schemas.openxmlformats.org/officeDocument/2006/relationships/slide" Target="/ppt/slides/slide1.xml" Id="Reb73876ff5ed4f12" /><Relationship Type="http://schemas.openxmlformats.org/officeDocument/2006/relationships/slide" Target="/ppt/slides/slide2.xml" Id="Rfb618434c3164d1c" /><Relationship Type="http://schemas.openxmlformats.org/officeDocument/2006/relationships/slide" Target="/ppt/slides/slide3.xml" Id="R6f973b96e3df472e" /><Relationship Type="http://schemas.openxmlformats.org/officeDocument/2006/relationships/slide" Target="/ppt/slides/slide4.xml" Id="R9c7b20fade934aba" /><Relationship Type="http://schemas.openxmlformats.org/officeDocument/2006/relationships/slide" Target="/ppt/slides/slide5.xml" Id="R02e022adef6f4662" /><Relationship Type="http://schemas.openxmlformats.org/officeDocument/2006/relationships/slide" Target="/ppt/slides/slide6.xml" Id="Rbfb0c71680a04d2f" /><Relationship Type="http://schemas.openxmlformats.org/officeDocument/2006/relationships/slide" Target="/ppt/slides/slide7.xml" Id="R8e8fc38511ef4369" /><Relationship Type="http://schemas.openxmlformats.org/officeDocument/2006/relationships/slide" Target="/ppt/slides/slide8.xml" Id="Rd9d9dfa6444143e4" /><Relationship Type="http://schemas.openxmlformats.org/officeDocument/2006/relationships/slide" Target="/ppt/slides/slide9.xml" Id="R35f0f421155147f7" /><Relationship Type="http://schemas.openxmlformats.org/officeDocument/2006/relationships/slide" Target="/ppt/slides/slide10.xml" Id="Rd59d7e432bb047ca" /><Relationship Type="http://schemas.openxmlformats.org/officeDocument/2006/relationships/slide" Target="/ppt/slides/slide11.xml" Id="R690bd8265a484ed3" /><Relationship Type="http://schemas.openxmlformats.org/officeDocument/2006/relationships/slide" Target="/ppt/slides/slide12.xml" Id="R8c43fd4700f24907" /><Relationship Type="http://schemas.openxmlformats.org/officeDocument/2006/relationships/slide" Target="/ppt/slides/slide13.xml" Id="R6c4299044fe24322" /><Relationship Type="http://schemas.openxmlformats.org/officeDocument/2006/relationships/slide" Target="/ppt/slides/slide14.xml" Id="R1952fc169bdf40e4" /><Relationship Type="http://schemas.openxmlformats.org/officeDocument/2006/relationships/slide" Target="/ppt/slides/slide15.xml" Id="R906c178aab684c5b" /><Relationship Type="http://schemas.openxmlformats.org/officeDocument/2006/relationships/slide" Target="/ppt/slides/slide16.xml" Id="Rd6db545240c14c1c" /><Relationship Type="http://schemas.openxmlformats.org/officeDocument/2006/relationships/slide" Target="/ppt/slides/slide17.xml" Id="R237549def5d94cde" /><Relationship Type="http://schemas.openxmlformats.org/officeDocument/2006/relationships/slide" Target="/ppt/slides/slide18.xml" Id="Rc204a624c9d348af" /><Relationship Type="http://schemas.openxmlformats.org/officeDocument/2006/relationships/slide" Target="/ppt/slides/slide19.xml" Id="Rb56eb19b885e4bf4" /><Relationship Type="http://schemas.openxmlformats.org/officeDocument/2006/relationships/slide" Target="/ppt/slides/slide20.xml" Id="R47100f58413a4cd9" /><Relationship Type="http://schemas.openxmlformats.org/officeDocument/2006/relationships/slide" Target="/ppt/slides/slide21.xml" Id="R6fbb5cba5559451b" /><Relationship Type="http://schemas.openxmlformats.org/officeDocument/2006/relationships/slide" Target="/ppt/slides/slide22.xml" Id="Ra4bfa89b0ae948ad" /><Relationship Type="http://schemas.openxmlformats.org/officeDocument/2006/relationships/slide" Target="/ppt/slides/slide23.xml" Id="R75922d7b9036464b" /><Relationship Type="http://schemas.openxmlformats.org/officeDocument/2006/relationships/slide" Target="/ppt/slides/slide24.xml" Id="Rdc1f8f2f8d594ce4" /><Relationship Type="http://schemas.openxmlformats.org/officeDocument/2006/relationships/slide" Target="/ppt/slides/slide25.xml" Id="Rb373438552e14395" /><Relationship Type="http://schemas.openxmlformats.org/officeDocument/2006/relationships/slide" Target="/ppt/slides/slide26.xml" Id="Reaee47fd30dc4447" /><Relationship Type="http://schemas.openxmlformats.org/officeDocument/2006/relationships/slide" Target="/ppt/slides/slide27.xml" Id="Re0a5d1afd6e54b4d" /><Relationship Type="http://schemas.openxmlformats.org/officeDocument/2006/relationships/slide" Target="/ppt/slides/slide28.xml" Id="R788661bad8294392" /><Relationship Type="http://schemas.openxmlformats.org/officeDocument/2006/relationships/slide" Target="/ppt/slides/slide29.xml" Id="R26f50e7935d547c6" /><Relationship Type="http://schemas.openxmlformats.org/officeDocument/2006/relationships/slide" Target="/ppt/slides/slide30.xml" Id="R4d3d9e7a27d64ab9" /><Relationship Type="http://schemas.openxmlformats.org/officeDocument/2006/relationships/slide" Target="/ppt/slides/slide31.xml" Id="R819246b0c5074ccb" /><Relationship Type="http://schemas.openxmlformats.org/officeDocument/2006/relationships/slide" Target="/ppt/slides/slide32.xml" Id="Re18b10385ca242b9" /><Relationship Type="http://schemas.openxmlformats.org/officeDocument/2006/relationships/slide" Target="/ppt/slides/slide33.xml" Id="Rc802499651d149be" /><Relationship Type="http://schemas.openxmlformats.org/officeDocument/2006/relationships/slide" Target="/ppt/slides/slide34.xml" Id="Rca1928c61bdd423a" /><Relationship Type="http://schemas.openxmlformats.org/officeDocument/2006/relationships/slide" Target="/ppt/slides/slide35.xml" Id="R469dbc85ab424b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db664ad03e45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676ed5ba26462f" /><Relationship Type="http://schemas.openxmlformats.org/officeDocument/2006/relationships/notesMaster" Target="/ppt/notesMasters/notesMaster1.xml" Id="Ref1321d4a31240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f3c89c2223481f" /><Relationship Type="http://schemas.openxmlformats.org/officeDocument/2006/relationships/notesMaster" Target="/ppt/notesMasters/notesMaster1.xml" Id="Rd2444529b1b94f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47a26f48774fb7" /><Relationship Type="http://schemas.openxmlformats.org/officeDocument/2006/relationships/notesMaster" Target="/ppt/notesMasters/notesMaster1.xml" Id="R75e1e73434ca46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a788d9742e49a1" /><Relationship Type="http://schemas.openxmlformats.org/officeDocument/2006/relationships/notesMaster" Target="/ppt/notesMasters/notesMaster1.xml" Id="R93514f7759264c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661686fe114f0e" /><Relationship Type="http://schemas.openxmlformats.org/officeDocument/2006/relationships/notesMaster" Target="/ppt/notesMasters/notesMaster1.xml" Id="R0016d56b52e940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2612d3933647b5" /><Relationship Type="http://schemas.openxmlformats.org/officeDocument/2006/relationships/notesMaster" Target="/ppt/notesMasters/notesMaster1.xml" Id="Re150b4493be641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c527b5c5c94290" /><Relationship Type="http://schemas.openxmlformats.org/officeDocument/2006/relationships/notesMaster" Target="/ppt/notesMasters/notesMaster1.xml" Id="R92dd0de899a14b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6ff4fe3d1842b8" /><Relationship Type="http://schemas.openxmlformats.org/officeDocument/2006/relationships/notesMaster" Target="/ppt/notesMasters/notesMaster1.xml" Id="R5ff906da6ba341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a1e1a6805e4e98" /><Relationship Type="http://schemas.openxmlformats.org/officeDocument/2006/relationships/notesMaster" Target="/ppt/notesMasters/notesMaster1.xml" Id="R81aeae4843d049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411e82a31b4a7e" /><Relationship Type="http://schemas.openxmlformats.org/officeDocument/2006/relationships/notesMaster" Target="/ppt/notesMasters/notesMaster1.xml" Id="Re3704bbf6bc343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c8865685004b82" /><Relationship Type="http://schemas.openxmlformats.org/officeDocument/2006/relationships/notesMaster" Target="/ppt/notesMasters/notesMaster1.xml" Id="Ra1c99f71d15941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903a5b5a38427c" /><Relationship Type="http://schemas.openxmlformats.org/officeDocument/2006/relationships/notesMaster" Target="/ppt/notesMasters/notesMaster1.xml" Id="R23b3a45fd3ef43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688a62676e4abd" /><Relationship Type="http://schemas.openxmlformats.org/officeDocument/2006/relationships/notesMaster" Target="/ppt/notesMasters/notesMaster1.xml" Id="Rea2eee19355546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7c1799a39f4700" /><Relationship Type="http://schemas.openxmlformats.org/officeDocument/2006/relationships/notesMaster" Target="/ppt/notesMasters/notesMaster1.xml" Id="Re9f2d72fbd3648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4dc44fac2ab4efd" /><Relationship Type="http://schemas.openxmlformats.org/officeDocument/2006/relationships/notesMaster" Target="/ppt/notesMasters/notesMaster1.xml" Id="R87688fde3cd546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04d77078ca4146" /><Relationship Type="http://schemas.openxmlformats.org/officeDocument/2006/relationships/notesMaster" Target="/ppt/notesMasters/notesMaster1.xml" Id="R8de536d7d85a488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d8075a6507417a" /><Relationship Type="http://schemas.openxmlformats.org/officeDocument/2006/relationships/notesMaster" Target="/ppt/notesMasters/notesMaster1.xml" Id="R85523fd8791846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ea6acbfd304ca9" /><Relationship Type="http://schemas.openxmlformats.org/officeDocument/2006/relationships/notesMaster" Target="/ppt/notesMasters/notesMaster1.xml" Id="Rdf72d0ec56f04a5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d288d844f8494e" /><Relationship Type="http://schemas.openxmlformats.org/officeDocument/2006/relationships/notesMaster" Target="/ppt/notesMasters/notesMaster1.xml" Id="R4988168c6d6743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4611e890244177" /><Relationship Type="http://schemas.openxmlformats.org/officeDocument/2006/relationships/notesMaster" Target="/ppt/notesMasters/notesMaster1.xml" Id="R5636b9bb0ce04b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1a8b8e99bb64342" /><Relationship Type="http://schemas.openxmlformats.org/officeDocument/2006/relationships/notesMaster" Target="/ppt/notesMasters/notesMaster1.xml" Id="Rb26f545fb0f9499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7a7e827c5664fb5" /><Relationship Type="http://schemas.openxmlformats.org/officeDocument/2006/relationships/notesMaster" Target="/ppt/notesMasters/notesMaster1.xml" Id="Rc6ced1a410ac41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35f11277e34b35" /><Relationship Type="http://schemas.openxmlformats.org/officeDocument/2006/relationships/notesMaster" Target="/ppt/notesMasters/notesMaster1.xml" Id="R75a31efab6a042e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550e768f5634b01" /><Relationship Type="http://schemas.openxmlformats.org/officeDocument/2006/relationships/notesMaster" Target="/ppt/notesMasters/notesMaster1.xml" Id="Rc03ec29db9814ef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f2a77c3a4814add" /><Relationship Type="http://schemas.openxmlformats.org/officeDocument/2006/relationships/notesMaster" Target="/ppt/notesMasters/notesMaster1.xml" Id="R6dafa0e9a82c42c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2475289d600460a" /><Relationship Type="http://schemas.openxmlformats.org/officeDocument/2006/relationships/notesMaster" Target="/ppt/notesMasters/notesMaster1.xml" Id="R08bbbb781410402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9e2cab812144267" /><Relationship Type="http://schemas.openxmlformats.org/officeDocument/2006/relationships/notesMaster" Target="/ppt/notesMasters/notesMaster1.xml" Id="R0ec178b309a5431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39cd6719d624ac4" /><Relationship Type="http://schemas.openxmlformats.org/officeDocument/2006/relationships/notesMaster" Target="/ppt/notesMasters/notesMaster1.xml" Id="R0add0687528f4b2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53225ea4dbc49b8" /><Relationship Type="http://schemas.openxmlformats.org/officeDocument/2006/relationships/notesMaster" Target="/ppt/notesMasters/notesMaster1.xml" Id="R1b878881dafa4f5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c944ac416d84965" /><Relationship Type="http://schemas.openxmlformats.org/officeDocument/2006/relationships/notesMaster" Target="/ppt/notesMasters/notesMaster1.xml" Id="R29572f23c0df43c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1f7950673c548b3" /><Relationship Type="http://schemas.openxmlformats.org/officeDocument/2006/relationships/notesMaster" Target="/ppt/notesMasters/notesMaster1.xml" Id="R9dfea165ba10483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25e5a7901f24b1c" /><Relationship Type="http://schemas.openxmlformats.org/officeDocument/2006/relationships/notesMaster" Target="/ppt/notesMasters/notesMaster1.xml" Id="R939086ffb70d49c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8d0e63c998a41a7" /><Relationship Type="http://schemas.openxmlformats.org/officeDocument/2006/relationships/notesMaster" Target="/ppt/notesMasters/notesMaster1.xml" Id="R932c7892e4d94bd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eff1a6506304531" /><Relationship Type="http://schemas.openxmlformats.org/officeDocument/2006/relationships/notesMaster" Target="/ppt/notesMasters/notesMaster1.xml" Id="Rbd1924eca2a744b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c91f76ad406439a" /><Relationship Type="http://schemas.openxmlformats.org/officeDocument/2006/relationships/notesMaster" Target="/ppt/notesMasters/notesMaster1.xml" Id="R8df37c8591544f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docs/calendario.md y docs/instalacion-wsl.md. 64 horas efectivas en 12 encuentros. Ampliación autónoma opcional. Un solo entorno en la raíz: uv venv --python 3.12 --seed .venv. Ejecutar en Ubuntu-26.04 sobre WSL.</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Distribución acordada con el docente. Explicación y demostración iniciales: 45 min. E04 30 min. P02 90 min. Cierre práctico 30 min. Explicación ETL/ELT 15 min. Defensa 15 min. Total 225 min de clase, más 15 min de receso.</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dominios agroambiental y administrativo permanecen separados. E04 compara formatos y contratos. P02 utiliza PQRS. La explicación breve introduce cada bloque práctico.</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y tamaños: kit/fuentes.json y kit/pqrs_fuentes.json. NASA 1.555 bytes. Correlación IGAC 11.827 bytes. Muestras PQRS 2.234.994 bytes. Completos 1.816.243.049 bytes. Las descargas de la ruta agro se realizan con 00_datos.py. No se requiere un clúster para estas prácticas.</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Preparación dentro de la demostración inicial. Las muestras PQRS ya están en data/pqrs_muestras. --listar muestra fuentes y tamaños, sin descargar los completos. 00_datos.py no sobrescribe archivos existentes. Si la fuente cambió, conserva .nueva para revisión. En esta sesión no usar eva.parquet: lo produce E05 el sábado. Guías: talleres/E04.md y P02.md.</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Warehouse, lake y lakehouse</a:t>
            </a:r>
          </a:p>
          <a:p xmlns:a="http://schemas.openxmlformats.org/drawingml/2006/main">
            <a:r>
              <a:t>Enfoque</a:t>
            </a:r>
          </a:p>
          <a:p xmlns:a="http://schemas.openxmlformats.org/drawingml/2006/main">
            <a:r>
              <a:t>Organización</a:t>
            </a:r>
          </a:p>
          <a:p xmlns:a="http://schemas.openxmlformats.org/drawingml/2006/main">
            <a:r>
              <a:t>Condición de uso</a:t>
            </a:r>
          </a:p>
          <a:p xmlns:a="http://schemas.openxmlformats.org/drawingml/2006/main">
            <a:r>
              <a:t>Warehouse</a:t>
            </a:r>
          </a:p>
          <a:p xmlns:a="http://schemas.openxmlformats.org/drawingml/2006/main">
            <a:r>
              <a:t>Datos modelados para análisis</a:t>
            </a:r>
          </a:p>
          <a:p xmlns:a="http://schemas.openxmlformats.org/drawingml/2006/main">
            <a:r>
              <a:t>Métricas y consultas consistentes</a:t>
            </a:r>
          </a:p>
          <a:p xmlns:a="http://schemas.openxmlformats.org/drawingml/2006/main">
            <a:r>
              <a:t>Data lake</a:t>
            </a:r>
          </a:p>
          <a:p xmlns:a="http://schemas.openxmlformats.org/drawingml/2006/main">
            <a:r>
              <a:t>Archivos de diversos tipos</a:t>
            </a:r>
          </a:p>
          <a:p xmlns:a="http://schemas.openxmlformats.org/drawingml/2006/main">
            <a:r>
              <a:t>Catálogo, permisos y calidad explícitos</a:t>
            </a:r>
          </a:p>
          <a:p xmlns:a="http://schemas.openxmlformats.org/drawingml/2006/main">
            <a:r>
              <a:t>Lakehouse</a:t>
            </a:r>
          </a:p>
          <a:p xmlns:a="http://schemas.openxmlformats.org/drawingml/2006/main">
            <a:r>
              <a:t>Lago con capacidades de tablas</a:t>
            </a:r>
          </a:p>
          <a:p xmlns:a="http://schemas.openxmlformats.org/drawingml/2006/main">
            <a:r>
              <a:t>Metadatos, transacciones y evolución</a:t>
            </a:r>
          </a:p>
          <a:p xmlns:a="http://schemas.openxmlformats.org/drawingml/2006/main">
            <a:r>
              <a:t>Big Data · caso agroambiental · Sesión 3</a:t>
            </a:r>
          </a:p>
          <a:p xmlns:a="http://schemas.openxmlformats.org/drawingml/2006/main">
            <a:r>
              <a:t>05</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Three distinct storage concepts side by side: a tidy cabinet of uniform data tables for warehouse; a lake-shaped tray containing diverse file types for data lake; a similar file tray covered by a clear table grid plus a small transaction lock and catalog for lakehouse. Equal visual prominence, no labels.</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S1:10–14. Actual S3:5,8.</a:t>
            </a:r>
          </a:p>
          <a:p xmlns:a="http://schemas.openxmlformats.org/drawingml/2006/main">
            <a:r>
              <a:t>Fuentes técnicas: https://www.postgresql.org/docs/current/ddl-partitioning.html</a:t>
            </a:r>
          </a:p>
          <a:p xmlns:a="http://schemas.openxmlformats.org/drawingml/2006/main">
            <a:r>
              <a:t>https://www.postgresql.org/docs/current/datatype-json.html</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Capas del proyecto</a:t>
            </a:r>
          </a:p>
          <a:p xmlns:a="http://schemas.openxmlformats.org/drawingml/2006/main">
            <a:r>
              <a:t>Originales</a:t>
            </a:r>
          </a:p>
          <a:p xmlns:a="http://schemas.openxmlformats.org/drawingml/2006/main">
            <a:r>
              <a:t>data/raw conserva los archivos descargados, sin correcciones.</a:t>
            </a:r>
          </a:p>
          <a:p xmlns:a="http://schemas.openxmlformats.org/drawingml/2006/main">
            <a:r>
              <a:t>Derivados</a:t>
            </a:r>
          </a:p>
          <a:p xmlns:a="http://schemas.openxmlformats.org/drawingml/2006/main">
            <a:r>
              <a:t>salidas contiene tablas curadas, controles y productos reconstruibles.</a:t>
            </a:r>
          </a:p>
          <a:p xmlns:a="http://schemas.openxmlformats.org/drawingml/2006/main">
            <a:r>
              <a:t>Big Data · caso agroambiental · Sesión 3</a:t>
            </a:r>
          </a:p>
          <a:p xmlns:a="http://schemas.openxmlformats.org/drawingml/2006/main">
            <a:r>
              <a:t>06</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A left to right three-stage data architecture. First a sealed archive of source files with padlock, second a workbench with data grid and quality check, third an analytical report with a chart and a target. Arrows join the three stages, thin dotted lineage line beneath connects all stages. NO TEXT.</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Organización por filas y columnas</a:t>
            </a:r>
          </a:p>
          <a:p xmlns:a="http://schemas.openxmlformats.org/drawingml/2006/main">
            <a:r>
              <a:t>Por filas</a:t>
            </a:r>
          </a:p>
          <a:p xmlns:a="http://schemas.openxmlformats.org/drawingml/2006/main">
            <a:r>
              <a:t>Mantiene juntos los campos de cada registro.</a:t>
            </a:r>
          </a:p>
          <a:p xmlns:a="http://schemas.openxmlformats.org/drawingml/2006/main">
            <a:r>
              <a:t>Útil para recuperar registros completos.</a:t>
            </a:r>
          </a:p>
          <a:p xmlns:a="http://schemas.openxmlformats.org/drawingml/2006/main">
            <a:r>
              <a:t>Por columnas</a:t>
            </a:r>
          </a:p>
          <a:p xmlns:a="http://schemas.openxmlformats.org/drawingml/2006/main">
            <a:r>
              <a:t>Agrupa valores de un campo.</a:t>
            </a:r>
          </a:p>
          <a:p xmlns:a="http://schemas.openxmlformats.org/drawingml/2006/main">
            <a:r>
              <a:t>Puede reducir lectura en consultas selectivas.</a:t>
            </a:r>
          </a:p>
          <a:p xmlns:a="http://schemas.openxmlformats.org/drawingml/2006/main">
            <a:r>
              <a:t>Big Data · caso agroambiental · Sesión 3</a:t>
            </a:r>
          </a:p>
          <a:p xmlns:a="http://schemas.openxmlformats.org/drawingml/2006/main">
            <a:r>
              <a:t>09</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Two separate large 4-by-4 data grids, side by side. Left grid: highlight one full horizontal row in amber, other rows pale gray. Right grid: highlight exactly one full vertical column turquoise, other columns pale gray. Below left a row strip, below right a column strip. No text, no numbers. Clear hand-drawn grid lines and highlighted read selection.</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de referencia:</a:t>
            </a:r>
          </a:p>
          <a:p xmlns:a="http://schemas.openxmlformats.org/drawingml/2006/main">
            <a:r>
              <a:t>Comparación de formatos</a:t>
            </a:r>
          </a:p>
          <a:p xmlns:a="http://schemas.openxmlformats.org/drawingml/2006/main">
            <a:r>
              <a:t>Formato</a:t>
            </a:r>
          </a:p>
          <a:p xmlns:a="http://schemas.openxmlformats.org/drawingml/2006/main">
            <a:r>
              <a:t>Ventaja a evaluar</a:t>
            </a:r>
          </a:p>
          <a:p xmlns:a="http://schemas.openxmlformats.org/drawingml/2006/main">
            <a:r>
              <a:t>Cuidado principal</a:t>
            </a:r>
          </a:p>
          <a:p xmlns:a="http://schemas.openxmlformats.org/drawingml/2006/main">
            <a:r>
              <a:t>CSV</a:t>
            </a:r>
          </a:p>
          <a:p xmlns:a="http://schemas.openxmlformats.org/drawingml/2006/main">
            <a:r>
              <a:t>Intercambio simple y lectura humana</a:t>
            </a:r>
          </a:p>
          <a:p xmlns:a="http://schemas.openxmlformats.org/drawingml/2006/main">
            <a:r>
              <a:t>Tipos, separadores y codificación</a:t>
            </a:r>
          </a:p>
          <a:p xmlns:a="http://schemas.openxmlformats.org/drawingml/2006/main">
            <a:r>
              <a:t>JSON</a:t>
            </a:r>
          </a:p>
          <a:p xmlns:a="http://schemas.openxmlformats.org/drawingml/2006/main">
            <a:r>
              <a:t>Estructuras y campos anidados</a:t>
            </a:r>
          </a:p>
          <a:p xmlns:a="http://schemas.openxmlformats.org/drawingml/2006/main">
            <a:r>
              <a:t>Variación de esquema y tamaño</a:t>
            </a:r>
          </a:p>
          <a:p xmlns:a="http://schemas.openxmlformats.org/drawingml/2006/main">
            <a:r>
              <a:t>Parquet</a:t>
            </a:r>
          </a:p>
          <a:p xmlns:a="http://schemas.openxmlformats.org/drawingml/2006/main">
            <a:r>
              <a:t>Columnas, compresión y metadatos</a:t>
            </a:r>
          </a:p>
          <a:p xmlns:a="http://schemas.openxmlformats.org/drawingml/2006/main">
            <a:r>
              <a:t>Diseño de archivos y compatibilidad</a:t>
            </a:r>
          </a:p>
          <a:p xmlns:a="http://schemas.openxmlformats.org/drawingml/2006/main">
            <a:r>
              <a:t>Big Data · caso agroambiental · Sesión 3</a:t>
            </a:r>
          </a:p>
          <a:p xmlns:a="http://schemas.openxmlformats.org/drawingml/2006/main">
            <a:r>
              <a:t>11</a:t>
            </a:r>
          </a:p>
          <a:p xmlns:a="http://schemas.openxmlformats.org/drawingml/2006/main">
            <a:r>
              <a:t>Ilustración conceptual generada con ImageGen. No representa una medición ni una fotografía documental.</a:t>
            </a:r>
          </a:p>
          <a:p xmlns:a="http://schemas.openxmlformats.org/drawingml/2006/main">
            <a:r>
              <a:t>Prompt: Create one educational hand-drawn SKETCH illustration for a postgraduate BigData course in a Database specialization. Horizontal 3:2 composition on pure white background. Navy #203B68 ink, visibly irregular pen outlines and colored-pencil hatching. Bright violet #5546ED, turquoise #16B8AD, amber #FFBF47, coral #F26A61 accents. Clear large symbols, spacious, no photorealism, no 3D rendering, no gradients. NO TEXT, NO LETTERS, NO NUMBERS unless explicitly requested. No logo, border or watermark. Three file representations side by side: a simple rows-and-delimiters sheet, a nested document with indented braces, and a column-organized file with compressed bundles and metadata tab. Only exact labels 'CSV', 'JSON', 'Parquet' under the respective objects. Handwritten labels large and clear.</a:t>
            </a:r>
          </a:p>
          <a:p xmlns:a="http://schemas.openxmlformats.org/drawingml/2006/main">
            <a:r>
              <a:t>La ilustración apoya una explicación por clic. Conservar los límites y supuestos expresados en la diapositiva.</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18:45–19:15. Contrato agroambiental como ejemplo, seguido del contrato PQRS. Las condiciones de pH y área dependen del dominio y de la pregunta.</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Guía E04. El contrato agroambiental documenta pH, fecha, método y profundidad cuando están disponibles. El contrato PQRS conserva procedencia con corte_archivo y fila_fuente. Clave candidata: corte_archivo y OBJECTID. No tratar id_afec como identificador de reclamo. Las 38 columnas originales PQRS permanecen intactas. La inspección Parquet continúa en P02.</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Estas son las claves admitidas por pqrs_talleres.py. El contrato y las particiones se implementan en el código, no con claves input/output/partition_by. Fuente: kit/pqrs_config.json.</a:t>
            </a:r>
          </a:p>
          <a:p xmlns:a="http://schemas.openxmlformats.org/drawingml/2006/main">
            <a:r>
              <a:t>Fuente: docs/mapa-ejercicios.md</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Contenido ampliado de referencia:</a:t>
            </a:r>
          </a:p>
          <a:p xmlns:a="http://schemas.openxmlformats.org/drawingml/2006/main">
            <a:r>
              <a:t>Particionamiento de archivos</a:t>
            </a:r>
          </a:p>
          <a:p xmlns:a="http://schemas.openxmlformats.org/drawingml/2006/main">
            <a:r>
              <a:t>Beneficio posible</a:t>
            </a:r>
          </a:p>
          <a:p xmlns:a="http://schemas.openxmlformats.org/drawingml/2006/main">
            <a:r>
              <a:t>Un filtro por fecha puede omitir carpetas ajenas al período.</a:t>
            </a:r>
          </a:p>
          <a:p xmlns:a="http://schemas.openxmlformats.org/drawingml/2006/main">
            <a:r>
              <a:t>Costo posible</a:t>
            </a:r>
          </a:p>
          <a:p xmlns:a="http://schemas.openxmlformats.org/drawingml/2006/main">
            <a:r>
              <a:t>Miles de archivos pequeños añaden apertura, metadatos y tareas.</a:t>
            </a:r>
          </a:p>
          <a:p xmlns:a="http://schemas.openxmlformats.org/drawingml/2006/main">
            <a:r>
              <a:t>Big Data · caso agroambiental · Sesión 3</a:t>
            </a:r>
          </a:p>
          <a:p xmlns:a="http://schemas.openxmlformats.org/drawingml/2006/main">
            <a:r>
              <a:t>13</a:t>
            </a:r>
          </a:p>
          <a:p xmlns:a="http://schemas.openxmlformats.org/drawingml/2006/main">
            <a:r>
              <a:t>Prompt visual: Use case: scientific-educational. A clean educational SKETCH diagram illustration for postgraduate Big Data, white background, horizontal 3:2. Navy #203B68 irregular ink strokes, pencil hatching, lively violet #5546ED, turquoise #16B8AD, amber #FFBF47, coral #F26A61 marker accents. Large legible objects, restrained details, no title, no logo, no watermark. Strictly hand-drawn pen and colored-pencil style, visibly sketchy lines and hatching, no photorealism, no polished 3D renders, no gradients. A folder tree. One root folder splits into exactly three child folders labeled '2023','2024','2025'. 2023 and 2024 muted pale violet with closed folders, 2025 brightly turquoise open with data file inside. A magnifying glass focuses only 2025, illustrating physical partition pruning. Only the three year labels.</a:t>
            </a:r>
          </a:p>
          <a:p xmlns:a="http://schemas.openxmlformats.org/drawingml/2006/main">
            <a:r>
              <a:t>Ilustración conceptual generada con ImageGen para esta clase. No representa una medición ni una fotografía documental.</a:t>
            </a:r>
          </a:p>
          <a:p xmlns:a="http://schemas.openxmlformats.org/drawingml/2006/main">
            <a:r>
              <a:t>Secuencia docente: observar primero el esquema y revelar cada explicación con clic.</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S1:16–17; S2:4–6. Actual S3:9,11,13.</a:t>
            </a:r>
          </a:p>
          <a:p xmlns:a="http://schemas.openxmlformats.org/drawingml/2006/main">
            <a:r>
              <a:t>Se retira “hasta 10x” como promesa y 256–1024 MB como regla universal. Un CSV también puede comprimirse externamente. Columnas, row groups y particiones son niveles diferentes de organización.</a:t>
            </a:r>
          </a:p>
          <a:p xmlns:a="http://schemas.openxmlformats.org/drawingml/2006/main">
            <a:r>
              <a:t>Fuentes técnicas: https://parquet.apache.org/docs/overview/</a:t>
            </a:r>
          </a:p>
          <a:p xmlns:a="http://schemas.openxmlformats.org/drawingml/2006/main">
            <a:r>
              <a:t>https://docs.dask.org/en/stable/best-practices.html</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P02 parte 1. En el notebook, separar temporalmente r1 = lab.formatos(a) de la segunda llamada r2 para comparar después del receso. Terminal: salidas/pqrs/control_formatos_pqrs.json. Notebook: salidas/notebooks/control_formatos_pqrs.json. Elegir una ruta y mantenerla. Muestras: 3.000 filas, 16 columnas y 8 archivos particionados. La proyección incorpora trazabilidad y no sustituye el original de 38 columnas.</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Consulta dependiente de P02, nunca de una salida aún no creada. El archivo EVA corresponde a E05 del sábado. La proyección conserva año derivado de periodo y mes_num. Se puede mostrar como demostración durante P02 parte 1; el taller de consultas entre motores ocurre el sábado.</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Ejecutar la sección Fallo controlado de Notebooks/02_Parquet_y_contratos.ipynb. El código retira una columna mediante chunk.drop, no modifica el CSV. La segunda ejecución debe conservar 3.000 filas y firma_contenido. La firma es un control de estabilidad y no prueba de igualdad semántica completa. La sustitución de archivos no constituye una transacción atómica de todo el producto. Fuente: talleres/P02.md y notebook.</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S3:7–11.</a:t>
            </a:r>
          </a:p>
          <a:p xmlns:a="http://schemas.openxmlformats.org/drawingml/2006/main">
            <a:r>
              <a:t>La regla original “más del 30 % con edad &gt;90” se conserva como ejemplo de umbral configurable en discusión, no como criterio clínico ni causal. Una edad mayor de 90 no es por sí misma un error. Separar alertas de calidad de decisiones operativas. No enviar correos reales durante el ejercicio.</a:t>
            </a:r>
          </a:p>
          <a:p xmlns:a="http://schemas.openxmlformats.org/drawingml/2006/main">
            <a:r>
              <a:t>Fuentes técnicas: </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21:00–21:15. Explicación breve de ETL/ELT junto con orquestación y monitoreo. Distribuir 5 minutos por tema. Relacionar con el pipeline ejecutado en P02.</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21:00–21:15. Orquestación dentro de la explicación de 15 minutos. Dependencias, parámetros, reintentos limitados y registro de estado.</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21:00–21:15. Monitoreo dentro de la explicación de 15 minutos. El cierre práctico de 21:15–21:45 utiliza estos controles, sin sumar tiempo adicional.</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S3:2–3,5. Actual S3:6; S4:14–19.</a:t>
            </a:r>
          </a:p>
          <a:p xmlns:a="http://schemas.openxmlformats.org/drawingml/2006/main">
            <a:r>
              <a:t>Fuentes técnicas: </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Caso aplicado: datos agroambientales. Fuente docente: big-data-postgraduate/docs/programa.md y clases de las sesiones 01–04.</a:t>
            </a:r>
          </a:p>
          <a:p xmlns:a="http://schemas.openxmlformats.org/drawingml/2006/main">
            <a:r>
              <a:t>Los conteos corresponden al corte docente suministrado y deben verificarse si se descargan nuevas versiones. Instalación desde la raíz según docs/instalacion-wsl.md. Talleres desde kit/. Los fragmentos Python se ejecutan en Python o en un notebook.</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controles de referencia corresponden al corte de muestras incluido. Si se usan completos o una nueva descarga, recalcular y documentar las diferencias. No convertir los conteos de referencia en objetivos universales. La definición de contrato Gold se aplica al producto futuro y no agrega un taller distinto.</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Evaluar corrección, reproducibilidad, justificación y límites. Evitar unir filas PQRS con muestras de suelo. La experiencia de pipeline se transfiere entre dominios, manteniendo las unidades de observación separadas.</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de consulta fuera de la secuencia obligatoria del viernes. HDFS y modelos NoSQL ayudan a contextualizar arquitecturas, sin instalación ni ejercicio adicional.</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de consulta fuera de la secuencia obligatoria del viernes. HDFS y modelos NoSQL ayudan a contextualizar arquitecturas, sin instalación ni ejercicio adicional.</a:t>
            </a:r>
          </a:p>
          <a:p xmlns:a="http://schemas.openxmlformats.org/drawingml/2006/main">
            <a:r>
              <a:t>Preparado por el PhD Esteban Hernández, CyberColombia. Ejecutar talleres desde kit/ con .venv de la raíz activo. Guía: docs/instalacion-wsl.md. 64 horas efectivas en línea. Los recesos no cuentan. Las muestras PQRS contienen las primeras 1.000 filas de cada corte y no son representativas. Las ilustraciones conservadas son conceptuales.</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S2:10–13.</a:t>
            </a:r>
          </a:p>
          <a:p xmlns:a="http://schemas.openxmlformats.org/drawingml/2006/main">
            <a:r>
              <a:t>Las coordenadas geográficas y unidades deben representarse con una convención o biblioteca adecuada, por ejemplo Xarray. No atribuir automáticamente a todo arreglo Zarr una semántica geográfica. Evitar mezclar detalles de metadatos de Zarr v2 y v3.</a:t>
            </a:r>
          </a:p>
          <a:p xmlns:a="http://schemas.openxmlformats.org/drawingml/2006/main">
            <a:r>
              <a:t>Fuentes técnicas: https://zarr.dev/</a:t>
            </a:r>
          </a:p>
          <a:p xmlns:a="http://schemas.openxmlformats.org/drawingml/2006/main">
            <a:r>
              <a:t>https://www.ogc.org/standards/zarr-storage-specification/</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Procedencia: Material S2:10–11. Ejercicio nuevo de integración.</a:t>
            </a:r>
          </a:p>
          <a:p xmlns:a="http://schemas.openxmlformats.org/drawingml/2006/main">
            <a:r>
              <a:t>Unidades decimales. Los bloques se decodifican completos para este modelo. Hay 12 bloques en la dimensión temporal y 100 en cada plano espacial. Elegir chunks alineados con la consulta reduce amplificación de lectura. El ejemplo no prescribe un tamaño universal.</a:t>
            </a:r>
          </a:p>
          <a:p xmlns:a="http://schemas.openxmlformats.org/drawingml/2006/main">
            <a:r>
              <a:t>Fuentes técnicas: https://zarr.dev/</a:t>
            </a:r>
          </a:p>
          <a:p xmlns:a="http://schemas.openxmlformats.org/drawingml/2006/main">
            <a:r>
              <a:t>Calendario: 64 horas efectivas en 12 encuentros. Trabajo autónomo opcional. Cierre 7 de noviembre de 2026.</a:t>
            </a:r>
          </a:p>
          <a:p xmlns:a="http://schemas.openxmlformats.org/drawingml/2006/main">
            <a:r>
              <a:t>Viernes: explicación y demostraciones guiadas por el profesor, sin entregas ni calificación. El profesor ejecuta, explica y comparte sus archivos de referencia; los estudiantes observan, preguntan y pueden seguir voluntariamente. Sábado: ejecución por los estudiantes, revisión y entrega durante la clase. La evidencia evaluable debe corresponder a su propia ejecución. No se exige una entrega ni trabajo autónomo obligatorio entre ambos encuentros.</a:t>
            </a:r>
          </a:p>
          <a:p xmlns:a="http://schemas.openxmlformats.org/drawingml/2006/main">
            <a:r>
              <a:t>E = ejercicio general del curso (E01–E13). P = práctica con datos PQRS (P01–P04); PQRS significa peticiones, quejas, reclamos y sugerencias. El número identifica la actividad, no la sesión. T01 = taller teórico de capacidad; I01 = introducción a eventos NASA.</a:t>
            </a:r>
          </a:p>
          <a:p xmlns:a="http://schemas.openxmlformats.org/drawingml/2006/main">
            <a:r>
              <a:t>Agenda vigente: [["18:00–18:45","Arquitecturas y formatos: explicación y demostración docente"],["18:45–19:15","E04: demostración docente del contrato y las capas"],["19:15–20:00","P02: demostración docente CSV a Parquet"],["20:00–20:15","Coffee break"],["20:15–21:00","P02: demostración docente de fallo y reejecución"],["21:00–21:15","Explicación / demostración docente: ETL/ELT, orquestación y monitoreo"],["21:15–21:45","Demostración docente de controles y publicación"],["21:45–22:00","Discusión y preparación de la entrega del sábado"]]</a:t>
            </a:r>
          </a:p>
          <a:p xmlns:a="http://schemas.openxmlformats.org/drawingml/2006/main">
            <a:r>
              <a:t>Entrega: 2026-10-10 16:30–16:45. Preparado por el PhD Esteban Hernández,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conceptual opcional. Se conserva el ejemplo de chunks de la presentación de referencia. Sin otra entrega ni horas.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c04b856fe244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0621a30fc64164" /><Relationship Type="http://schemas.openxmlformats.org/officeDocument/2006/relationships/slideLayout" Target="/ppt/slideLayouts/slideLayout1.xml" Id="R4ad3a7c71cf34e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d3a7c71cf34e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b95582db494dca" /><Relationship Type="http://schemas.openxmlformats.org/officeDocument/2006/relationships/image" Target="/ppt/media/image.png" Id="Rd0dada6d7ee04f95" /><Relationship Type="http://schemas.openxmlformats.org/officeDocument/2006/relationships/image" Target="/ppt/media/image2.png" Id="R73168d0863ad484b" /><Relationship Type="http://schemas.openxmlformats.org/officeDocument/2006/relationships/notesSlide" Target="/ppt/notesSlides/notesSlide1.xml" Id="R5e3e919ceda449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7fc55b11a064018" /><Relationship Type="http://schemas.openxmlformats.org/officeDocument/2006/relationships/image" Target="/ppt/media/image3.png" Id="R1d5a192f62804632" /><Relationship Type="http://schemas.openxmlformats.org/officeDocument/2006/relationships/notesSlide" Target="/ppt/notesSlides/notesSlide2.xml" Id="R5e390b8df2924f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60f3ef45324a9c" /><Relationship Type="http://schemas.openxmlformats.org/officeDocument/2006/relationships/image" Target="/ppt/media/image4.png" Id="R76d696eff7f74abe" /><Relationship Type="http://schemas.openxmlformats.org/officeDocument/2006/relationships/notesSlide" Target="/ppt/notesSlides/notesSlide3.xml" Id="Rc1727ef3aefc41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c92230a69a480a" /><Relationship Type="http://schemas.openxmlformats.org/officeDocument/2006/relationships/image" Target="/ppt/media/image5.png" Id="R5adb321aef88404b" /><Relationship Type="http://schemas.openxmlformats.org/officeDocument/2006/relationships/notesSlide" Target="/ppt/notesSlides/notesSlide4.xml" Id="R5e0c59117c2948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7f6895179e4d3a" /><Relationship Type="http://schemas.openxmlformats.org/officeDocument/2006/relationships/image" Target="/ppt/media/image6.png" Id="R96d1270e6e204405" /><Relationship Type="http://schemas.openxmlformats.org/officeDocument/2006/relationships/notesSlide" Target="/ppt/notesSlides/notesSlide5.xml" Id="R161894681e714b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2cc3aa48264247" /><Relationship Type="http://schemas.openxmlformats.org/officeDocument/2006/relationships/image" Target="/ppt/media/image7.png" Id="Rb7b40b8957da4885" /><Relationship Type="http://schemas.openxmlformats.org/officeDocument/2006/relationships/notesSlide" Target="/ppt/notesSlides/notesSlide6.xml" Id="R466eb1e8f18641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45d1db72074656" /><Relationship Type="http://schemas.openxmlformats.org/officeDocument/2006/relationships/image" Target="/ppt/media/image8.png" Id="R553c35f0c6f944cd" /><Relationship Type="http://schemas.openxmlformats.org/officeDocument/2006/relationships/image" Target="/ppt/media/image9.png" Id="R90e687072f2849af" /><Relationship Type="http://schemas.openxmlformats.org/officeDocument/2006/relationships/notesSlide" Target="/ppt/notesSlides/notesSlide7.xml" Id="R0fa607db5c7840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9884ded3d5472b" /><Relationship Type="http://schemas.openxmlformats.org/officeDocument/2006/relationships/image" Target="/ppt/media/image10.png" Id="R2b4b21a10f0942dd" /><Relationship Type="http://schemas.openxmlformats.org/officeDocument/2006/relationships/notesSlide" Target="/ppt/notesSlides/notesSlide8.xml" Id="Ra7d19e9a11f34f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345d3bfb584853" /><Relationship Type="http://schemas.openxmlformats.org/officeDocument/2006/relationships/image" Target="/ppt/media/image11.png" Id="R750b0a966f6e4c9e" /><Relationship Type="http://schemas.openxmlformats.org/officeDocument/2006/relationships/image" Target="/ppt/media/image12.png" Id="R0a759e25ef1144cc" /><Relationship Type="http://schemas.openxmlformats.org/officeDocument/2006/relationships/notesSlide" Target="/ppt/notesSlides/notesSlide9.xml" Id="R28c8695fce4745e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374172f0d54ca8" /><Relationship Type="http://schemas.openxmlformats.org/officeDocument/2006/relationships/image" Target="/ppt/media/image13.png" Id="R902bbe6de57e4679" /><Relationship Type="http://schemas.openxmlformats.org/officeDocument/2006/relationships/image" Target="/ppt/media/image14.png" Id="Rfe2362cfc81740a2" /><Relationship Type="http://schemas.openxmlformats.org/officeDocument/2006/relationships/notesSlide" Target="/ppt/notesSlides/notesSlide10.xml" Id="Rdd59e53dc34e45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7143d58a2b427b" /><Relationship Type="http://schemas.openxmlformats.org/officeDocument/2006/relationships/image" Target="/ppt/media/image15.png" Id="Re50874449bee4300" /><Relationship Type="http://schemas.openxmlformats.org/officeDocument/2006/relationships/notesSlide" Target="/ppt/notesSlides/notesSlide11.xml" Id="R48c862e5a22246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8f381df638a4451" /><Relationship Type="http://schemas.openxmlformats.org/officeDocument/2006/relationships/image" Target="/ppt/media/image16.png" Id="Rb77ef47fa8b54cd4" /><Relationship Type="http://schemas.openxmlformats.org/officeDocument/2006/relationships/image" Target="/ppt/media/image17.png" Id="R0347b92dfae54b64" /><Relationship Type="http://schemas.openxmlformats.org/officeDocument/2006/relationships/notesSlide" Target="/ppt/notesSlides/notesSlide12.xml" Id="R6ffc2d79a34745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92b979313d424f" /><Relationship Type="http://schemas.openxmlformats.org/officeDocument/2006/relationships/image" Target="/ppt/media/image18.png" Id="R26542d5ab0ac49a7" /><Relationship Type="http://schemas.openxmlformats.org/officeDocument/2006/relationships/image" Target="/ppt/media/image19.png" Id="R3af8d8bffbfe474a" /><Relationship Type="http://schemas.openxmlformats.org/officeDocument/2006/relationships/notesSlide" Target="/ppt/notesSlides/notesSlide13.xml" Id="R2aa18c7fa8874d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90ee464c23e4205" /><Relationship Type="http://schemas.openxmlformats.org/officeDocument/2006/relationships/image" Target="/ppt/media/image20.png" Id="Re8170d29971b44e9" /><Relationship Type="http://schemas.openxmlformats.org/officeDocument/2006/relationships/notesSlide" Target="/ppt/notesSlides/notesSlide14.xml" Id="Rfe153488f3d548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c97a2f0c4d74207" /><Relationship Type="http://schemas.openxmlformats.org/officeDocument/2006/relationships/image" Target="/ppt/media/image21.png" Id="R068e968a181d4974" /><Relationship Type="http://schemas.openxmlformats.org/officeDocument/2006/relationships/notesSlide" Target="/ppt/notesSlides/notesSlide15.xml" Id="R4e6cd1294e0643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ffca5cc7e704a53" /><Relationship Type="http://schemas.openxmlformats.org/officeDocument/2006/relationships/image" Target="/ppt/media/image22.png" Id="R36c5981e2ef0473b" /><Relationship Type="http://schemas.openxmlformats.org/officeDocument/2006/relationships/image" Target="/ppt/media/image23.png" Id="R925a4b8fc4d54dd5" /><Relationship Type="http://schemas.openxmlformats.org/officeDocument/2006/relationships/notesSlide" Target="/ppt/notesSlides/notesSlide16.xml" Id="R1ff1ffc966c542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c08c6bcf83041fd" /><Relationship Type="http://schemas.openxmlformats.org/officeDocument/2006/relationships/image" Target="/ppt/media/image24.png" Id="Rb0e46a81199b4e6c" /><Relationship Type="http://schemas.openxmlformats.org/officeDocument/2006/relationships/image" Target="/ppt/media/image25.png" Id="Rc99a6487d3984dae" /><Relationship Type="http://schemas.openxmlformats.org/officeDocument/2006/relationships/notesSlide" Target="/ppt/notesSlides/notesSlide17.xml" Id="Rfce9cf54e2f04b2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f2dbb345164fd7" /><Relationship Type="http://schemas.openxmlformats.org/officeDocument/2006/relationships/image" Target="/ppt/media/image26.png" Id="Rc71ba30be31e4ced" /><Relationship Type="http://schemas.openxmlformats.org/officeDocument/2006/relationships/notesSlide" Target="/ppt/notesSlides/notesSlide18.xml" Id="Rdd5b4edcd7e440a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c4f6d9967ee4d39" /><Relationship Type="http://schemas.openxmlformats.org/officeDocument/2006/relationships/image" Target="/ppt/media/image27.png" Id="R1bb3356f6767487f" /><Relationship Type="http://schemas.openxmlformats.org/officeDocument/2006/relationships/notesSlide" Target="/ppt/notesSlides/notesSlide19.xml" Id="Rb03448040ff34b4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8725de12f5e4326" /><Relationship Type="http://schemas.openxmlformats.org/officeDocument/2006/relationships/image" Target="/ppt/media/image28.png" Id="Re9c4503630aa48c4" /><Relationship Type="http://schemas.openxmlformats.org/officeDocument/2006/relationships/notesSlide" Target="/ppt/notesSlides/notesSlide20.xml" Id="R975aea87af5549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3aeb484ba904b32" /><Relationship Type="http://schemas.openxmlformats.org/officeDocument/2006/relationships/image" Target="/ppt/media/image29.png" Id="Rbe4f9df3cb624ac1" /><Relationship Type="http://schemas.openxmlformats.org/officeDocument/2006/relationships/notesSlide" Target="/ppt/notesSlides/notesSlide21.xml" Id="Rc80640afa0ee4ff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9d2cd102d184eeb" /><Relationship Type="http://schemas.openxmlformats.org/officeDocument/2006/relationships/image" Target="/ppt/media/image30.png" Id="R06385392486e4fa7" /><Relationship Type="http://schemas.openxmlformats.org/officeDocument/2006/relationships/notesSlide" Target="/ppt/notesSlides/notesSlide22.xml" Id="Ra5991ebb9f2b4ff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8386f7179c2423a" /><Relationship Type="http://schemas.openxmlformats.org/officeDocument/2006/relationships/image" Target="/ppt/media/image31.png" Id="Rbf1d6351015b49ef" /><Relationship Type="http://schemas.openxmlformats.org/officeDocument/2006/relationships/image" Target="/ppt/media/image32.png" Id="Rfebaf4588bf642ba" /><Relationship Type="http://schemas.openxmlformats.org/officeDocument/2006/relationships/notesSlide" Target="/ppt/notesSlides/notesSlide23.xml" Id="Rf492139e0986435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257c4ecf32b4aad" /><Relationship Type="http://schemas.openxmlformats.org/officeDocument/2006/relationships/image" Target="/ppt/media/image33.png" Id="R519826550136431e" /><Relationship Type="http://schemas.openxmlformats.org/officeDocument/2006/relationships/image" Target="/ppt/media/image34.png" Id="R782ce10ba6c34482" /><Relationship Type="http://schemas.openxmlformats.org/officeDocument/2006/relationships/notesSlide" Target="/ppt/notesSlides/notesSlide24.xml" Id="Ra80510575d4e446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67b6c85b02a4b6a" /><Relationship Type="http://schemas.openxmlformats.org/officeDocument/2006/relationships/image" Target="/ppt/media/image35.png" Id="R97f3bccbcf914157" /><Relationship Type="http://schemas.openxmlformats.org/officeDocument/2006/relationships/image" Target="/ppt/media/image36.png" Id="Rd151e6fdcb52428b" /><Relationship Type="http://schemas.openxmlformats.org/officeDocument/2006/relationships/notesSlide" Target="/ppt/notesSlides/notesSlide25.xml" Id="Rdf5bc5bcd50e45d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a370fbb6b0c4cc7" /><Relationship Type="http://schemas.openxmlformats.org/officeDocument/2006/relationships/image" Target="/ppt/media/image37.png" Id="R0afcfadbabea447c" /><Relationship Type="http://schemas.openxmlformats.org/officeDocument/2006/relationships/notesSlide" Target="/ppt/notesSlides/notesSlide26.xml" Id="Rf3ffcb875dc24dc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1637ec9d6cb4c10" /><Relationship Type="http://schemas.openxmlformats.org/officeDocument/2006/relationships/image" Target="/ppt/media/image38.png" Id="R9fcc84f7aa8349f9" /><Relationship Type="http://schemas.openxmlformats.org/officeDocument/2006/relationships/notesSlide" Target="/ppt/notesSlides/notesSlide27.xml" Id="Ra72d99092b11406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1a2d910a95d4fc1" /><Relationship Type="http://schemas.openxmlformats.org/officeDocument/2006/relationships/image" Target="/ppt/media/image39.png" Id="Rbe196cb02b0d4deb" /><Relationship Type="http://schemas.openxmlformats.org/officeDocument/2006/relationships/notesSlide" Target="/ppt/notesSlides/notesSlide28.xml" Id="Ra36a18a5ccd340e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8529df2f1ad486f" /><Relationship Type="http://schemas.openxmlformats.org/officeDocument/2006/relationships/image" Target="/ppt/media/image40.png" Id="Rdf31902ee8e34528" /><Relationship Type="http://schemas.openxmlformats.org/officeDocument/2006/relationships/notesSlide" Target="/ppt/notesSlides/notesSlide29.xml" Id="R9ec8c07ca95043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032223736db4fca" /><Relationship Type="http://schemas.openxmlformats.org/officeDocument/2006/relationships/image" Target="/ppt/media/image41.png" Id="R2f0280a67cfa4905" /><Relationship Type="http://schemas.openxmlformats.org/officeDocument/2006/relationships/notesSlide" Target="/ppt/notesSlides/notesSlide30.xml" Id="R5f5956399ff9455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68851de4dd044be" /><Relationship Type="http://schemas.openxmlformats.org/officeDocument/2006/relationships/image" Target="/ppt/media/image42.png" Id="R5f9bacc42aea4331" /><Relationship Type="http://schemas.openxmlformats.org/officeDocument/2006/relationships/image" Target="/ppt/media/image43.png" Id="R504fac0212e04b7d" /><Relationship Type="http://schemas.openxmlformats.org/officeDocument/2006/relationships/notesSlide" Target="/ppt/notesSlides/notesSlide31.xml" Id="R2f62e97ee1c646c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45005e6daa0482a" /><Relationship Type="http://schemas.openxmlformats.org/officeDocument/2006/relationships/image" Target="/ppt/media/image44.png" Id="Rc35e4dc806f6417d" /><Relationship Type="http://schemas.openxmlformats.org/officeDocument/2006/relationships/image" Target="/ppt/media/image45.png" Id="R1b6cc97feb714c8d" /><Relationship Type="http://schemas.openxmlformats.org/officeDocument/2006/relationships/notesSlide" Target="/ppt/notesSlides/notesSlide32.xml" Id="Rf06659cb79164c6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ea89ddcea484f0a" /><Relationship Type="http://schemas.openxmlformats.org/officeDocument/2006/relationships/image" Target="/ppt/media/image46.png" Id="R50a419c4ad9441aa" /><Relationship Type="http://schemas.openxmlformats.org/officeDocument/2006/relationships/image" Target="/ppt/media/image47.png" Id="Ra3370da6bef649a1" /><Relationship Type="http://schemas.openxmlformats.org/officeDocument/2006/relationships/notesSlide" Target="/ppt/notesSlides/notesSlide33.xml" Id="Refa049677b1e435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34a1d40c1a14f7c" /><Relationship Type="http://schemas.openxmlformats.org/officeDocument/2006/relationships/image" Target="/ppt/media/image48.png" Id="R06fb70b7aaa34c1e" /><Relationship Type="http://schemas.openxmlformats.org/officeDocument/2006/relationships/notesSlide" Target="/ppt/notesSlides/notesSlide34.xml" Id="R5a16a71ec0ca467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873ad1612094b78" /><Relationship Type="http://schemas.openxmlformats.org/officeDocument/2006/relationships/image" Target="/ppt/media/image49.png" Id="R5fec31e736f44543" /><Relationship Type="http://schemas.openxmlformats.org/officeDocument/2006/relationships/notesSlide" Target="/ppt/notesSlides/notesSlide35.xml" Id="Rc14ce665435b4447" /></Relationships>
</file>

<file path=ppt/slides/slide1.xml><?xml version="1.0" encoding="utf-8"?>
<p:sld xmlns:p="http://schemas.openxmlformats.org/presentationml/2006/main">
  <p:cSld>
    <p:bg>
      <p:bgPr>
        <ns1:solidFill xmlns:ns1="http://schemas.openxmlformats.org/drawingml/2006/main">
          <ns1:srgbClr val="FFFFFF"/>
        </ns1:solidFill>
        <ns2:effectLst xmlns:ns2="http://schemas.openxmlformats.org/drawingml/2006/main"/>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0dada6d7ee04f9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3168d0863ad484b"/>
          <a:stretch xmlns:a="http://schemas.openxmlformats.org/drawingml/2006/main"/>
        </p:blipFill>
        <p:spPr>
          <a:xfrm xmlns:a="http://schemas.openxmlformats.org/drawingml/2006/main">
            <a:off x="6667500" y="1833563"/>
            <a:ext cx="5143500" cy="3429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9CAC97-65E8-482C-B50E-C6CAF0848F70}"/>
              </a:ext>
            </a:extLst>
          </p:cNvPr>
          <p:cNvSpPr>
            <a:spLocks xmlns:a="http://schemas.openxmlformats.org/drawingml/2006/main" noGrp="1"/>
          </p:cNvSpPr>
          <p:nvPr/>
        </p:nvSpPr>
        <p:spPr>
          <a:xfrm xmlns:a="http://schemas.openxmlformats.org/drawingml/2006/main">
            <a:off x="609600" y="1476375"/>
            <a:ext cx="590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Curso de Postgrado:</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BigData</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Especialización en</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Bases de datos</a:t>
            </a:r>
          </a:p>
        </p:txBody>
      </p:sp>
      <p:sp>
        <p:nvSpPr>
          <p:cNvPr id="3" name="">
            <a:extLst xmlns:a="http://schemas.openxmlformats.org/drawingml/2006/main">
              <a:ext uri="{FF2B5EF4-FFF2-40B4-BE49-F238E27FC236}">
                <a16:creationId xmlns:a16="http://schemas.microsoft.com/office/drawing/2014/main" id="{ADEE5398-6EAD-4B2E-B385-A9B7C9245884}"/>
              </a:ext>
            </a:extLst>
          </p:cNvPr>
          <p:cNvSpPr>
            <a:spLocks xmlns:a="http://schemas.openxmlformats.org/drawingml/2006/main" noGrp="1"/>
          </p:cNvSpPr>
          <p:nvPr/>
        </p:nvSpPr>
        <p:spPr>
          <a:xfrm xmlns:a="http://schemas.openxmlformats.org/drawingml/2006/main">
            <a:off x="609600" y="3857625"/>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Arquitecturas, formatos</a:t>
            </a:r>
          </a:p>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y pipelines</a:t>
            </a:r>
          </a:p>
        </p:txBody>
      </p:sp>
      <p:sp>
        <p:nvSpPr>
          <p:cNvPr id="5" name="">
            <a:extLst xmlns:a="http://schemas.openxmlformats.org/drawingml/2006/main">
              <a:ext uri="{FF2B5EF4-FFF2-40B4-BE49-F238E27FC236}">
                <a16:creationId xmlns:a16="http://schemas.microsoft.com/office/drawing/2014/main" id="{31266BBF-1DA3-4D69-B4A5-CF35771CF54F}"/>
              </a:ext>
            </a:extLst>
          </p:cNvPr>
          <p:cNvSpPr>
            <a:spLocks xmlns:a="http://schemas.openxmlformats.org/drawingml/2006/main" noGrp="1"/>
          </p:cNvSpPr>
          <p:nvPr/>
        </p:nvSpPr>
        <p:spPr>
          <a:xfrm xmlns:a="http://schemas.openxmlformats.org/drawingml/2006/main">
            <a:off x="609600" y="52482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Sesión 03 · Viernes 9 de octubre de 2026</a:t>
            </a:r>
          </a:p>
        </p:txBody>
      </p:sp>
      <p:sp>
        <p:nvSpPr>
          <p:cNvPr id="6" name="">
            <a:extLst xmlns:a="http://schemas.openxmlformats.org/drawingml/2006/main">
              <a:ext uri="{FF2B5EF4-FFF2-40B4-BE49-F238E27FC236}">
                <a16:creationId xmlns:a16="http://schemas.microsoft.com/office/drawing/2014/main" id="{0D10366B-4A99-4F25-9039-1B4652C7E5F1}"/>
              </a:ext>
            </a:extLst>
          </p:cNvPr>
          <p:cNvSpPr>
            <a:spLocks xmlns:a="http://schemas.openxmlformats.org/drawingml/2006/main" noGrp="1"/>
          </p:cNvSpPr>
          <p:nvPr/>
        </p:nvSpPr>
        <p:spPr>
          <a:xfrm xmlns:a="http://schemas.openxmlformats.org/drawingml/2006/main">
            <a:off x="609600" y="57340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18:00–22:00 · Esteban Hernández, PhD</a:t>
            </a:r>
          </a:p>
        </p:txBody>
      </p:sp>
      <p:sp>
        <p:nvSpPr>
          <p:cNvPr id="9" name="">
            <a:extLst xmlns:a="http://schemas.openxmlformats.org/drawingml/2006/main">
              <a:ext uri="{FF2B5EF4-FFF2-40B4-BE49-F238E27FC236}">
                <a16:creationId xmlns:a16="http://schemas.microsoft.com/office/drawing/2014/main" id="{C827664F-B540-4E9D-BA2E-364A72FA5427}"/>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118D15BB-560C-4014-9E79-0D2FE5E5657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1" name="">
            <a:extLst xmlns:a="http://schemas.openxmlformats.org/drawingml/2006/main">
              <a:ext uri="{FF2B5EF4-FFF2-40B4-BE49-F238E27FC236}">
                <a16:creationId xmlns:a16="http://schemas.microsoft.com/office/drawing/2014/main" id="{D874F72B-D8F6-42CC-BCD2-84181FCB04E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2" name="">
            <a:extLst xmlns:a="http://schemas.openxmlformats.org/drawingml/2006/main">
              <a:ext uri="{FF2B5EF4-FFF2-40B4-BE49-F238E27FC236}">
                <a16:creationId xmlns:a16="http://schemas.microsoft.com/office/drawing/2014/main" id="{A09A8B77-7430-42EB-B1FB-92937089334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01</a:t>
            </a:r>
          </a:p>
        </p:txBody>
      </p:sp>
    </p:spTree>
    <p:extLst>
      <p:ext uri="{BB962C8B-B14F-4D97-AF65-F5344CB8AC3E}">
        <p14:creationId xmlns:p14="http://schemas.microsoft.com/office/powerpoint/2010/main" val="1014200155"/>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d5a192f62804632"/>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12" name=""/>
          <p:cNvGraphicFramePr/>
          <p:nvPr/>
        </p:nvGraphicFramePr>
        <p:xfrm>
          <a:off xmlns:a="http://schemas.openxmlformats.org/drawingml/2006/main" x="609600" y="1428750"/>
          <a:ext xmlns:a="http://schemas.openxmlformats.org/drawingml/2006/main" cx="10972800" cy="4333875"/>
        </p:xfrm>
        <a:graphic xmlns:a="http://schemas.openxmlformats.org/drawingml/2006/main">
          <a:graphicData uri="http://schemas.openxmlformats.org/drawingml/2006/table">
            <a:tbl>
              <a:tblPr/>
              <a:tblGrid>
                <a:gridCol w="2286000"/>
                <a:gridCol w="8686800"/>
              </a:tblGrid>
              <a:tr h="481542">
                <a:tc>
                  <a:txBody>
                    <a:bodyPr/>
                    <a:lstStyle/>
                    <a:p>
                      <a:r>
                        <a:rPr sz="1650" b="1">
                          <a:solidFill>
                            <a:srgbClr val="FFFFFF"/>
                          </a:solidFill>
                          <a:latin typeface="Calibri"/>
                          <a:ea typeface="Calibri"/>
                          <a:cs typeface="Calibri"/>
                        </a:rPr>
                        <a:t>Horario</a:t>
                      </a:r>
                    </a:p>
                  </a:txBody>
                  <a:tcPr marL="91440" marR="91440" marT="45720" marB="45720">
                    <a:solidFill>
                      <a:srgbClr val="4237BF"/>
                    </a:solidFill>
                  </a:tcPr>
                </a:tc>
                <a:tc>
                  <a:txBody>
                    <a:bodyPr/>
                    <a:lstStyle/>
                    <a:p>
                      <a:r>
                        <a:rPr sz="1650" b="1">
                          <a:solidFill>
                            <a:srgbClr val="FFFFFF"/>
                          </a:solidFill>
                          <a:latin typeface="Calibri"/>
                          <a:ea typeface="Calibri"/>
                          <a:cs typeface="Calibri"/>
                        </a:rPr>
                        <a:t>Tema y actividad</a:t>
                      </a:r>
                    </a:p>
                  </a:txBody>
                  <a:tcPr marL="91440" marR="91440" marT="45720" marB="45720">
                    <a:solidFill>
                      <a:srgbClr val="4237BF"/>
                    </a:solidFill>
                  </a:tcPr>
                </a:tc>
              </a:tr>
              <a:tr h="481542">
                <a:tc>
                  <a:txBody>
                    <a:bodyPr/>
                    <a:lstStyle/>
                    <a:p>
                      <a:r>
                        <a:rPr sz="1650" b="0">
                          <a:solidFill>
                            <a:srgbClr val="203B68"/>
                          </a:solidFill>
                          <a:latin typeface="Calibri"/>
                          <a:ea typeface="Calibri"/>
                          <a:cs typeface="Calibri"/>
                        </a:rPr>
                        <a:t>18:00–18:45</a:t>
                      </a:r>
                    </a:p>
                  </a:txBody>
                  <a:tcPr marL="91440" marR="91440" marT="45720" marB="45720">
                    <a:solidFill>
                      <a:srgbClr val="F4F8F8"/>
                    </a:solidFill>
                  </a:tcPr>
                </a:tc>
                <a:tc>
                  <a:txBody>
                    <a:bodyPr/>
                    <a:lstStyle/>
                    <a:p>
                      <a:r>
                        <a:rPr sz="1650" b="0">
                          <a:solidFill>
                            <a:srgbClr val="203B68"/>
                          </a:solidFill>
                          <a:latin typeface="Calibri"/>
                          <a:ea typeface="Calibri"/>
                          <a:cs typeface="Calibri"/>
                        </a:rPr>
                        <a:t>Arquitecturas y formatos: explicación y demostración docente</a:t>
                      </a:r>
                    </a:p>
                  </a:txBody>
                  <a:tcPr marL="91440" marR="91440" marT="45720" marB="45720">
                    <a:solidFill>
                      <a:srgbClr val="F4F8F8"/>
                    </a:solidFill>
                  </a:tcPr>
                </a:tc>
              </a:tr>
              <a:tr h="481542">
                <a:tc>
                  <a:txBody>
                    <a:bodyPr/>
                    <a:lstStyle/>
                    <a:p>
                      <a:r>
                        <a:rPr sz="1650" b="0">
                          <a:solidFill>
                            <a:srgbClr val="203B68"/>
                          </a:solidFill>
                          <a:latin typeface="Calibri"/>
                          <a:ea typeface="Calibri"/>
                          <a:cs typeface="Calibri"/>
                        </a:rPr>
                        <a:t>18:45–19:15</a:t>
                      </a:r>
                    </a:p>
                  </a:txBody>
                  <a:tcPr marL="91440" marR="91440" marT="45720" marB="45720">
                    <a:solidFill>
                      <a:srgbClr val="E9F0F1"/>
                    </a:solidFill>
                  </a:tcPr>
                </a:tc>
                <a:tc>
                  <a:txBody>
                    <a:bodyPr/>
                    <a:lstStyle/>
                    <a:p>
                      <a:r>
                        <a:rPr sz="1650" b="0">
                          <a:solidFill>
                            <a:srgbClr val="203B68"/>
                          </a:solidFill>
                          <a:latin typeface="Calibri"/>
                          <a:ea typeface="Calibri"/>
                          <a:cs typeface="Calibri"/>
                        </a:rPr>
                        <a:t>E04: demostración docente del contrato y las capas</a:t>
                      </a:r>
                    </a:p>
                  </a:txBody>
                  <a:tcPr marL="91440" marR="91440" marT="45720" marB="45720">
                    <a:solidFill>
                      <a:srgbClr val="E9F0F1"/>
                    </a:solidFill>
                  </a:tcPr>
                </a:tc>
              </a:tr>
              <a:tr h="481542">
                <a:tc>
                  <a:txBody>
                    <a:bodyPr/>
                    <a:lstStyle/>
                    <a:p>
                      <a:r>
                        <a:rPr sz="1650" b="0">
                          <a:solidFill>
                            <a:srgbClr val="203B68"/>
                          </a:solidFill>
                          <a:latin typeface="Calibri"/>
                          <a:ea typeface="Calibri"/>
                          <a:cs typeface="Calibri"/>
                        </a:rPr>
                        <a:t>19:15–20:00</a:t>
                      </a:r>
                    </a:p>
                  </a:txBody>
                  <a:tcPr marL="91440" marR="91440" marT="45720" marB="45720">
                    <a:solidFill>
                      <a:srgbClr val="F4F8F8"/>
                    </a:solidFill>
                  </a:tcPr>
                </a:tc>
                <a:tc>
                  <a:txBody>
                    <a:bodyPr/>
                    <a:lstStyle/>
                    <a:p>
                      <a:r>
                        <a:rPr sz="1650" b="0">
                          <a:solidFill>
                            <a:srgbClr val="203B68"/>
                          </a:solidFill>
                          <a:latin typeface="Calibri"/>
                          <a:ea typeface="Calibri"/>
                          <a:cs typeface="Calibri"/>
                        </a:rPr>
                        <a:t>P02: demostración docente CSV a Parquet</a:t>
                      </a:r>
                    </a:p>
                  </a:txBody>
                  <a:tcPr marL="91440" marR="91440" marT="45720" marB="45720">
                    <a:solidFill>
                      <a:srgbClr val="F4F8F8"/>
                    </a:solidFill>
                  </a:tcPr>
                </a:tc>
              </a:tr>
              <a:tr h="481542">
                <a:tc>
                  <a:txBody>
                    <a:bodyPr/>
                    <a:lstStyle/>
                    <a:p>
                      <a:r>
                        <a:rPr sz="1650" b="0">
                          <a:solidFill>
                            <a:srgbClr val="203B68"/>
                          </a:solidFill>
                          <a:latin typeface="Calibri"/>
                          <a:ea typeface="Calibri"/>
                          <a:cs typeface="Calibri"/>
                        </a:rPr>
                        <a:t>20:00–20:15</a:t>
                      </a:r>
                    </a:p>
                  </a:txBody>
                  <a:tcPr marL="91440" marR="91440" marT="45720" marB="45720">
                    <a:solidFill>
                      <a:srgbClr val="E9F0F1"/>
                    </a:solidFill>
                  </a:tcPr>
                </a:tc>
                <a:tc>
                  <a:txBody>
                    <a:bodyPr/>
                    <a:lstStyle/>
                    <a:p>
                      <a:r>
                        <a:rPr sz="1650" b="0">
                          <a:solidFill>
                            <a:srgbClr val="203B68"/>
                          </a:solidFill>
                          <a:latin typeface="Calibri"/>
                          <a:ea typeface="Calibri"/>
                          <a:cs typeface="Calibri"/>
                        </a:rPr>
                        <a:t>Coffee break</a:t>
                      </a:r>
                    </a:p>
                  </a:txBody>
                  <a:tcPr marL="91440" marR="91440" marT="45720" marB="45720">
                    <a:solidFill>
                      <a:srgbClr val="E9F0F1"/>
                    </a:solidFill>
                  </a:tcPr>
                </a:tc>
              </a:tr>
              <a:tr h="481542">
                <a:tc>
                  <a:txBody>
                    <a:bodyPr/>
                    <a:lstStyle/>
                    <a:p>
                      <a:r>
                        <a:rPr sz="1650" b="0">
                          <a:solidFill>
                            <a:srgbClr val="203B68"/>
                          </a:solidFill>
                          <a:latin typeface="Calibri"/>
                          <a:ea typeface="Calibri"/>
                          <a:cs typeface="Calibri"/>
                        </a:rPr>
                        <a:t>20:15–21:00</a:t>
                      </a:r>
                    </a:p>
                  </a:txBody>
                  <a:tcPr marL="91440" marR="91440" marT="45720" marB="45720">
                    <a:solidFill>
                      <a:srgbClr val="F4F8F8"/>
                    </a:solidFill>
                  </a:tcPr>
                </a:tc>
                <a:tc>
                  <a:txBody>
                    <a:bodyPr/>
                    <a:lstStyle/>
                    <a:p>
                      <a:r>
                        <a:rPr sz="1650" b="0">
                          <a:solidFill>
                            <a:srgbClr val="203B68"/>
                          </a:solidFill>
                          <a:latin typeface="Calibri"/>
                          <a:ea typeface="Calibri"/>
                          <a:cs typeface="Calibri"/>
                        </a:rPr>
                        <a:t>P02: demostración docente de fallo y reejecución</a:t>
                      </a:r>
                    </a:p>
                  </a:txBody>
                  <a:tcPr marL="91440" marR="91440" marT="45720" marB="45720">
                    <a:solidFill>
                      <a:srgbClr val="F4F8F8"/>
                    </a:solidFill>
                  </a:tcPr>
                </a:tc>
              </a:tr>
              <a:tr h="481542">
                <a:tc>
                  <a:txBody>
                    <a:bodyPr/>
                    <a:lstStyle/>
                    <a:p>
                      <a:r>
                        <a:rPr sz="1650" b="0">
                          <a:solidFill>
                            <a:srgbClr val="203B68"/>
                          </a:solidFill>
                          <a:latin typeface="Calibri"/>
                          <a:ea typeface="Calibri"/>
                          <a:cs typeface="Calibri"/>
                        </a:rPr>
                        <a:t>21:00–21:15</a:t>
                      </a:r>
                    </a:p>
                  </a:txBody>
                  <a:tcPr marL="91440" marR="91440" marT="45720" marB="45720">
                    <a:solidFill>
                      <a:srgbClr val="E9F0F1"/>
                    </a:solidFill>
                  </a:tcPr>
                </a:tc>
                <a:tc>
                  <a:txBody>
                    <a:bodyPr/>
                    <a:lstStyle/>
                    <a:p>
                      <a:r>
                        <a:rPr sz="1650" b="0">
                          <a:solidFill>
                            <a:srgbClr val="203B68"/>
                          </a:solidFill>
                          <a:latin typeface="Calibri"/>
                          <a:ea typeface="Calibri"/>
                          <a:cs typeface="Calibri"/>
                        </a:rPr>
                        <a:t>Explicación / demostración docente: ETL/ELT, orquestación y monitoreo</a:t>
                      </a:r>
                    </a:p>
                  </a:txBody>
                  <a:tcPr marL="91440" marR="91440" marT="45720" marB="45720">
                    <a:solidFill>
                      <a:srgbClr val="E9F0F1"/>
                    </a:solidFill>
                  </a:tcPr>
                </a:tc>
              </a:tr>
              <a:tr h="481542">
                <a:tc>
                  <a:txBody>
                    <a:bodyPr/>
                    <a:lstStyle/>
                    <a:p>
                      <a:r>
                        <a:rPr sz="1650" b="0">
                          <a:solidFill>
                            <a:srgbClr val="203B68"/>
                          </a:solidFill>
                          <a:latin typeface="Calibri"/>
                          <a:ea typeface="Calibri"/>
                          <a:cs typeface="Calibri"/>
                        </a:rPr>
                        <a:t>21:15–21:45</a:t>
                      </a:r>
                    </a:p>
                  </a:txBody>
                  <a:tcPr marL="91440" marR="91440" marT="45720" marB="45720">
                    <a:solidFill>
                      <a:srgbClr val="F4F8F8"/>
                    </a:solidFill>
                  </a:tcPr>
                </a:tc>
                <a:tc>
                  <a:txBody>
                    <a:bodyPr/>
                    <a:lstStyle/>
                    <a:p>
                      <a:r>
                        <a:rPr sz="1650" b="0">
                          <a:solidFill>
                            <a:srgbClr val="203B68"/>
                          </a:solidFill>
                          <a:latin typeface="Calibri"/>
                          <a:ea typeface="Calibri"/>
                          <a:cs typeface="Calibri"/>
                        </a:rPr>
                        <a:t>Demostración docente de controles y publicación</a:t>
                      </a:r>
                    </a:p>
                  </a:txBody>
                  <a:tcPr marL="91440" marR="91440" marT="45720" marB="45720">
                    <a:solidFill>
                      <a:srgbClr val="F4F8F8"/>
                    </a:solidFill>
                  </a:tcPr>
                </a:tc>
              </a:tr>
              <a:tr h="481542">
                <a:tc>
                  <a:txBody>
                    <a:bodyPr/>
                    <a:lstStyle/>
                    <a:p>
                      <a:r>
                        <a:rPr sz="1650" b="0">
                          <a:solidFill>
                            <a:srgbClr val="203B68"/>
                          </a:solidFill>
                          <a:latin typeface="Calibri"/>
                          <a:ea typeface="Calibri"/>
                          <a:cs typeface="Calibri"/>
                        </a:rPr>
                        <a:t>21:45–22:00</a:t>
                      </a:r>
                    </a:p>
                  </a:txBody>
                  <a:tcPr marL="91440" marR="91440" marT="45720" marB="45720">
                    <a:solidFill>
                      <a:srgbClr val="E9F0F1"/>
                    </a:solidFill>
                  </a:tcPr>
                </a:tc>
                <a:tc>
                  <a:txBody>
                    <a:bodyPr/>
                    <a:lstStyle/>
                    <a:p>
                      <a:r>
                        <a:rPr sz="1650" b="0">
                          <a:solidFill>
                            <a:srgbClr val="203B68"/>
                          </a:solidFill>
                          <a:latin typeface="Calibri"/>
                          <a:ea typeface="Calibri"/>
                          <a:cs typeface="Calibri"/>
                        </a:rPr>
                        <a:t>Discusión y preparación de la entrega del sábado</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10D0E81B-CC48-4947-A2D8-D24C0A9D64FC}"/>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Agenda de la sesión</a:t>
            </a:r>
          </a:p>
        </p:txBody>
      </p:sp>
      <p:sp>
        <p:nvSpPr>
          <p:cNvPr id="3" name="">
            <a:extLst xmlns:a="http://schemas.openxmlformats.org/drawingml/2006/main">
              <a:ext uri="{FF2B5EF4-FFF2-40B4-BE49-F238E27FC236}">
                <a16:creationId xmlns:a16="http://schemas.microsoft.com/office/drawing/2014/main" id="{0739B16E-652D-4E0A-8D17-D86E0F21DC14}"/>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Viernes 09/10/2026 · 225 min efectivos · Demostración docente; sin entrega</a:t>
            </a:r>
          </a:p>
        </p:txBody>
      </p:sp>
      <p:sp>
        <p:nvSpPr>
          <p:cNvPr id="5" name="">
            <a:extLst xmlns:a="http://schemas.openxmlformats.org/drawingml/2006/main">
              <a:ext uri="{FF2B5EF4-FFF2-40B4-BE49-F238E27FC236}">
                <a16:creationId xmlns:a16="http://schemas.microsoft.com/office/drawing/2014/main" id="{97D87D5D-377C-4ED0-9947-AA46DAC1146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6" name="">
            <a:extLst xmlns:a="http://schemas.openxmlformats.org/drawingml/2006/main">
              <a:ext uri="{FF2B5EF4-FFF2-40B4-BE49-F238E27FC236}">
                <a16:creationId xmlns:a16="http://schemas.microsoft.com/office/drawing/2014/main" id="{ECF6727A-E8DC-4394-B465-C5E1E9DF95DD}"/>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E04 — Ejercicio 04: Formatos y contrato de datos  |  P02 — Práctica PQRS 02: Parquet, contrato y reejecución</a:t>
            </a:r>
          </a:p>
        </p:txBody>
      </p:sp>
      <p:sp>
        <p:nvSpPr>
          <p:cNvPr id="7" name="">
            <a:extLst xmlns:a="http://schemas.openxmlformats.org/drawingml/2006/main">
              <a:ext uri="{FF2B5EF4-FFF2-40B4-BE49-F238E27FC236}">
                <a16:creationId xmlns:a16="http://schemas.microsoft.com/office/drawing/2014/main" id="{8AEA8689-F34C-42B0-8CDE-8CE263EBECA6}"/>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8" name="">
            <a:extLst xmlns:a="http://schemas.openxmlformats.org/drawingml/2006/main">
              <a:ext uri="{FF2B5EF4-FFF2-40B4-BE49-F238E27FC236}">
                <a16:creationId xmlns:a16="http://schemas.microsoft.com/office/drawing/2014/main" id="{A9BF41FE-79FB-462A-A849-22D98C05C11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02</a:t>
            </a:r>
          </a:p>
        </p:txBody>
      </p:sp>
    </p:spTree>
    <p:extLst>
      <p:ext uri="{BB962C8B-B14F-4D97-AF65-F5344CB8AC3E}">
        <p14:creationId xmlns:p14="http://schemas.microsoft.com/office/powerpoint/2010/main" val="1378695089"/>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6d696eff7f74ab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C81F975-1753-4C5A-9922-FE5558926629}"/>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Cómo trabajaremos este viernes</a:t>
            </a:r>
          </a:p>
        </p:txBody>
      </p:sp>
      <p:sp>
        <p:nvSpPr>
          <p:cNvPr id="3" name="">
            <a:extLst xmlns:a="http://schemas.openxmlformats.org/drawingml/2006/main">
              <a:ext uri="{FF2B5EF4-FFF2-40B4-BE49-F238E27FC236}">
                <a16:creationId xmlns:a16="http://schemas.microsoft.com/office/drawing/2014/main" id="{20E345DF-8BD5-4B0C-AB44-CAEE1B23FC00}"/>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El profesor ejecuta y explica</a:t>
            </a:r>
          </a:p>
        </p:txBody>
      </p:sp>
      <p:sp>
        <p:nvSpPr>
          <p:cNvPr id="4" name="">
            <a:extLst xmlns:a="http://schemas.openxmlformats.org/drawingml/2006/main">
              <a:ext uri="{FF2B5EF4-FFF2-40B4-BE49-F238E27FC236}">
                <a16:creationId xmlns:a16="http://schemas.microsoft.com/office/drawing/2014/main" id="{071C9C41-6373-48A1-A088-B3A0F5350155}"/>
              </a:ext>
            </a:extLst>
          </p:cNvPr>
          <p:cNvSpPr>
            <a:spLocks xmlns:a="http://schemas.openxmlformats.org/drawingml/2006/main" noGrp="1"/>
          </p:cNvSpPr>
          <p:nvPr/>
        </p:nvSpPr>
        <p:spPr>
          <a:xfrm xmlns:a="http://schemas.openxmlformats.org/drawingml/2006/main">
            <a:off x="685800" y="1952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E04 / P02: contrato, CSV y Parquet. Se usan los datos y comandos reales del kit.</a:t>
            </a:r>
          </a:p>
        </p:txBody>
      </p:sp>
      <p:sp>
        <p:nvSpPr>
          <p:cNvPr id="5" name="">
            <a:extLst xmlns:a="http://schemas.openxmlformats.org/drawingml/2006/main">
              <a:ext uri="{FF2B5EF4-FFF2-40B4-BE49-F238E27FC236}">
                <a16:creationId xmlns:a16="http://schemas.microsoft.com/office/drawing/2014/main" id="{EE9C40DD-B5BF-456B-8F5E-CBE7D434502A}"/>
              </a:ext>
            </a:extLst>
          </p:cNvPr>
          <p:cNvSpPr>
            <a:spLocks xmlns:a="http://schemas.openxmlformats.org/drawingml/2006/main" noGrp="1"/>
          </p:cNvSpPr>
          <p:nvPr/>
        </p:nvSpPr>
        <p:spPr>
          <a:xfrm xmlns:a="http://schemas.openxmlformats.org/drawingml/2006/main">
            <a:off x="685800" y="2886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Los estudiantes observan y preguntan</a:t>
            </a:r>
          </a:p>
        </p:txBody>
      </p:sp>
      <p:sp>
        <p:nvSpPr>
          <p:cNvPr id="6" name="">
            <a:extLst xmlns:a="http://schemas.openxmlformats.org/drawingml/2006/main">
              <a:ext uri="{FF2B5EF4-FFF2-40B4-BE49-F238E27FC236}">
                <a16:creationId xmlns:a16="http://schemas.microsoft.com/office/drawing/2014/main" id="{0D4F7079-A78C-459D-9835-E5BDA8B7A2AE}"/>
              </a:ext>
            </a:extLst>
          </p:cNvPr>
          <p:cNvSpPr>
            <a:spLocks xmlns:a="http://schemas.openxmlformats.org/drawingml/2006/main" noGrp="1"/>
          </p:cNvSpPr>
          <p:nvPr/>
        </p:nvSpPr>
        <p:spPr>
          <a:xfrm xmlns:a="http://schemas.openxmlformats.org/drawingml/2006/main">
            <a:off x="685800" y="3333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Pueden seguir el código voluntariamente. Se discuten decisiones, errores y controles.</a:t>
            </a:r>
          </a:p>
        </p:txBody>
      </p:sp>
      <p:sp>
        <p:nvSpPr>
          <p:cNvPr id="7" name="">
            <a:extLst xmlns:a="http://schemas.openxmlformats.org/drawingml/2006/main">
              <a:ext uri="{FF2B5EF4-FFF2-40B4-BE49-F238E27FC236}">
                <a16:creationId xmlns:a16="http://schemas.microsoft.com/office/drawing/2014/main" id="{B0AD627D-FCAC-42F8-BCC2-EED385AEBE0D}"/>
              </a:ext>
            </a:extLst>
          </p:cNvPr>
          <p:cNvSpPr>
            <a:spLocks xmlns:a="http://schemas.openxmlformats.org/drawingml/2006/main" noGrp="1"/>
          </p:cNvSpPr>
          <p:nvPr/>
        </p:nvSpPr>
        <p:spPr>
          <a:xfrm xmlns:a="http://schemas.openxmlformats.org/drawingml/2006/main">
            <a:off x="68580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Ejecución propia el sábado</a:t>
            </a:r>
          </a:p>
        </p:txBody>
      </p:sp>
      <p:sp>
        <p:nvSpPr>
          <p:cNvPr id="8" name="">
            <a:extLst xmlns:a="http://schemas.openxmlformats.org/drawingml/2006/main">
              <a:ext uri="{FF2B5EF4-FFF2-40B4-BE49-F238E27FC236}">
                <a16:creationId xmlns:a16="http://schemas.microsoft.com/office/drawing/2014/main" id="{14D404DC-DC61-4A0B-87B9-CEB79EECDA59}"/>
              </a:ext>
            </a:extLst>
          </p:cNvPr>
          <p:cNvSpPr>
            <a:spLocks xmlns:a="http://schemas.openxmlformats.org/drawingml/2006/main" noGrp="1"/>
          </p:cNvSpPr>
          <p:nvPr/>
        </p:nvSpPr>
        <p:spPr>
          <a:xfrm xmlns:a="http://schemas.openxmlformats.org/drawingml/2006/main">
            <a:off x="685800" y="47148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2026-10-10: E04–E06 / P02–P03. La entrega reúne resultados obtenidos por los estudiantes.</a:t>
            </a:r>
          </a:p>
        </p:txBody>
      </p:sp>
      <p:sp>
        <p:nvSpPr>
          <p:cNvPr id="9" name="">
            <a:extLst xmlns:a="http://schemas.openxmlformats.org/drawingml/2006/main">
              <a:ext uri="{FF2B5EF4-FFF2-40B4-BE49-F238E27FC236}">
                <a16:creationId xmlns:a16="http://schemas.microsoft.com/office/drawing/2014/main" id="{CF053F80-1973-4B8E-92B8-FA7585AA20D2}"/>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Viernes sin entrega ni calificación. Referencias del profesor disponibles para el sábado.</a:t>
            </a:r>
          </a:p>
        </p:txBody>
      </p:sp>
      <p:sp>
        <p:nvSpPr>
          <p:cNvPr id="10" name="">
            <a:extLst xmlns:a="http://schemas.openxmlformats.org/drawingml/2006/main">
              <a:ext uri="{FF2B5EF4-FFF2-40B4-BE49-F238E27FC236}">
                <a16:creationId xmlns:a16="http://schemas.microsoft.com/office/drawing/2014/main" id="{E0D38B1D-851C-441E-980F-D6EA6DDB48A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8B0B5EF8-02C2-455B-A3AE-A490BCED12E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E04 — Ejercicio 04: Formatos y contrato de datos  |  E05 — Ejercicio 05: Calidad de análisis de suelo  |  E06 — Ejercicio 06: Rendimiento agrícola e integración SQL  |  P02 — Práctica PQRS 02: Parquet, contrato y reejecución  |  P03 — Práctica PQRS 03: Calidad de reportes y consulta diferida</a:t>
            </a:r>
          </a:p>
        </p:txBody>
      </p:sp>
      <p:sp>
        <p:nvSpPr>
          <p:cNvPr id="12" name="">
            <a:extLst xmlns:a="http://schemas.openxmlformats.org/drawingml/2006/main">
              <a:ext uri="{FF2B5EF4-FFF2-40B4-BE49-F238E27FC236}">
                <a16:creationId xmlns:a16="http://schemas.microsoft.com/office/drawing/2014/main" id="{876EFAEF-151B-4CE9-840E-C65F54112646}"/>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3" name="">
            <a:extLst xmlns:a="http://schemas.openxmlformats.org/drawingml/2006/main">
              <a:ext uri="{FF2B5EF4-FFF2-40B4-BE49-F238E27FC236}">
                <a16:creationId xmlns:a16="http://schemas.microsoft.com/office/drawing/2014/main" id="{C1E43A96-9E9B-4304-BD14-20D28079E4CA}"/>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03</a:t>
            </a:r>
          </a:p>
        </p:txBody>
      </p:sp>
    </p:spTree>
    <p:extLst>
      <p:ext uri="{BB962C8B-B14F-4D97-AF65-F5344CB8AC3E}">
        <p14:creationId xmlns:p14="http://schemas.microsoft.com/office/powerpoint/2010/main" val="149790474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adb321aef88404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16" name=""/>
          <p:cNvGraphicFramePr/>
          <p:nvPr/>
        </p:nvGraphicFramePr>
        <p:xfrm>
          <a:off xmlns:a="http://schemas.openxmlformats.org/drawingml/2006/main" x="609600" y="1476375"/>
          <a:ext xmlns:a="http://schemas.openxmlformats.org/drawingml/2006/main" cx="10972800" cy="4286250"/>
        </p:xfrm>
        <a:graphic xmlns:a="http://schemas.openxmlformats.org/drawingml/2006/main">
          <a:graphicData uri="http://schemas.openxmlformats.org/drawingml/2006/table">
            <a:tbl>
              <a:tblPr/>
              <a:tblGrid>
                <a:gridCol w="2619375"/>
                <a:gridCol w="2286000"/>
                <a:gridCol w="6067425"/>
              </a:tblGrid>
              <a:tr h="714375">
                <a:tc>
                  <a:txBody>
                    <a:bodyPr/>
                    <a:lstStyle/>
                    <a:p>
                      <a:r>
                        <a:rPr sz="1800" b="1">
                          <a:solidFill>
                            <a:srgbClr val="FFFFFF"/>
                          </a:solidFill>
                          <a:latin typeface="Calibri"/>
                          <a:ea typeface="Calibri"/>
                          <a:cs typeface="Calibri"/>
                        </a:rPr>
                        <a:t>Datos</a:t>
                      </a:r>
                    </a:p>
                  </a:txBody>
                  <a:tcPr marL="91440" marR="91440" marT="45720" marB="45720">
                    <a:solidFill>
                      <a:srgbClr val="4237BF"/>
                    </a:solidFill>
                  </a:tcPr>
                </a:tc>
                <a:tc>
                  <a:txBody>
                    <a:bodyPr/>
                    <a:lstStyle/>
                    <a:p>
                      <a:r>
                        <a:rPr sz="1800" b="1">
                          <a:solidFill>
                            <a:srgbClr val="FFFFFF"/>
                          </a:solidFill>
                          <a:latin typeface="Calibri"/>
                          <a:ea typeface="Calibri"/>
                          <a:cs typeface="Calibri"/>
                        </a:rPr>
                        <a:t>Tamaño del corte</a:t>
                      </a:r>
                    </a:p>
                  </a:txBody>
                  <a:tcPr marL="91440" marR="91440" marT="45720" marB="45720">
                    <a:solidFill>
                      <a:srgbClr val="4237BF"/>
                    </a:solidFill>
                  </a:tcPr>
                </a:tc>
                <a:tc>
                  <a:txBody>
                    <a:bodyPr/>
                    <a:lstStyle/>
                    <a:p>
                      <a:r>
                        <a:rPr sz="1800" b="1">
                          <a:solidFill>
                            <a:srgbClr val="FFFFFF"/>
                          </a:solidFill>
                          <a:latin typeface="Calibri"/>
                          <a:ea typeface="Calibri"/>
                          <a:cs typeface="Calibri"/>
                        </a:rPr>
                        <a:t>Uso en clase</a:t>
                      </a:r>
                    </a:p>
                  </a:txBody>
                  <a:tcPr marL="91440" marR="91440" marT="45720" marB="45720">
                    <a:solidFill>
                      <a:srgbClr val="4237BF"/>
                    </a:solidFill>
                  </a:tcPr>
                </a:tc>
              </a:tr>
              <a:tr h="714375">
                <a:tc>
                  <a:txBody>
                    <a:bodyPr/>
                    <a:lstStyle/>
                    <a:p>
                      <a:r>
                        <a:rPr sz="1800" b="0">
                          <a:solidFill>
                            <a:srgbClr val="203B68"/>
                          </a:solidFill>
                          <a:latin typeface="Calibri"/>
                          <a:ea typeface="Calibri"/>
                          <a:cs typeface="Calibri"/>
                        </a:rPr>
                        <a:t>AGROSAVIA</a:t>
                      </a:r>
                    </a:p>
                  </a:txBody>
                  <a:tcPr marL="91440" marR="91440" marT="45720" marB="45720">
                    <a:solidFill>
                      <a:srgbClr val="F4F8F8"/>
                    </a:solidFill>
                  </a:tcPr>
                </a:tc>
                <a:tc>
                  <a:txBody>
                    <a:bodyPr/>
                    <a:lstStyle/>
                    <a:p>
                      <a:r>
                        <a:rPr sz="1800" b="0">
                          <a:solidFill>
                            <a:srgbClr val="203B68"/>
                          </a:solidFill>
                          <a:latin typeface="Calibri"/>
                          <a:ea typeface="Calibri"/>
                          <a:cs typeface="Calibri"/>
                        </a:rPr>
                        <a:t>20,38 MB</a:t>
                      </a:r>
                    </a:p>
                  </a:txBody>
                  <a:tcPr marL="91440" marR="91440" marT="45720" marB="45720">
                    <a:solidFill>
                      <a:srgbClr val="F4F8F8"/>
                    </a:solidFill>
                  </a:tcPr>
                </a:tc>
                <a:tc>
                  <a:txBody>
                    <a:bodyPr/>
                    <a:lstStyle/>
                    <a:p>
                      <a:r>
                        <a:rPr sz="1800" b="0">
                          <a:solidFill>
                            <a:srgbClr val="203B68"/>
                          </a:solidFill>
                          <a:latin typeface="Calibri"/>
                          <a:ea typeface="Calibri"/>
                          <a:cs typeface="Calibri"/>
                        </a:rPr>
                        <a:t>Contrato de pH y organización por capas en E04</a:t>
                      </a:r>
                    </a:p>
                  </a:txBody>
                  <a:tcPr marL="91440" marR="91440" marT="45720" marB="45720">
                    <a:solidFill>
                      <a:srgbClr val="F4F8F8"/>
                    </a:solidFill>
                  </a:tcPr>
                </a:tc>
              </a:tr>
              <a:tr h="714375">
                <a:tc>
                  <a:txBody>
                    <a:bodyPr/>
                    <a:lstStyle/>
                    <a:p>
                      <a:r>
                        <a:rPr sz="1800" b="0">
                          <a:solidFill>
                            <a:srgbClr val="203B68"/>
                          </a:solidFill>
                          <a:latin typeface="Calibri"/>
                          <a:ea typeface="Calibri"/>
                          <a:cs typeface="Calibri"/>
                        </a:rPr>
                        <a:t>DIVIPOLA</a:t>
                      </a:r>
                    </a:p>
                  </a:txBody>
                  <a:tcPr marL="91440" marR="91440" marT="45720" marB="45720">
                    <a:solidFill>
                      <a:srgbClr val="E9F0F1"/>
                    </a:solidFill>
                  </a:tcPr>
                </a:tc>
                <a:tc>
                  <a:txBody>
                    <a:bodyPr/>
                    <a:lstStyle/>
                    <a:p>
                      <a:r>
                        <a:rPr sz="1800" b="0">
                          <a:solidFill>
                            <a:srgbClr val="203B68"/>
                          </a:solidFill>
                          <a:latin typeface="Calibri"/>
                          <a:ea typeface="Calibri"/>
                          <a:cs typeface="Calibri"/>
                        </a:rPr>
                        <a:t>0,071 MB</a:t>
                      </a:r>
                    </a:p>
                  </a:txBody>
                  <a:tcPr marL="91440" marR="91440" marT="45720" marB="45720">
                    <a:solidFill>
                      <a:srgbClr val="E9F0F1"/>
                    </a:solidFill>
                  </a:tcPr>
                </a:tc>
                <a:tc>
                  <a:txBody>
                    <a:bodyPr/>
                    <a:lstStyle/>
                    <a:p>
                      <a:r>
                        <a:rPr sz="1800" b="0">
                          <a:solidFill>
                            <a:srgbClr val="203B68"/>
                          </a:solidFill>
                          <a:latin typeface="Calibri"/>
                          <a:ea typeface="Calibri"/>
                          <a:cs typeface="Calibri"/>
                        </a:rPr>
                        <a:t>Códigos territoriales como texto en E04</a:t>
                      </a:r>
                    </a:p>
                  </a:txBody>
                  <a:tcPr marL="91440" marR="91440" marT="45720" marB="45720">
                    <a:solidFill>
                      <a:srgbClr val="E9F0F1"/>
                    </a:solidFill>
                  </a:tcPr>
                </a:tc>
              </a:tr>
              <a:tr h="714375">
                <a:tc>
                  <a:txBody>
                    <a:bodyPr/>
                    <a:lstStyle/>
                    <a:p>
                      <a:r>
                        <a:rPr sz="1800" b="0">
                          <a:solidFill>
                            <a:srgbClr val="203B68"/>
                          </a:solidFill>
                          <a:latin typeface="Calibri"/>
                          <a:ea typeface="Calibri"/>
                          <a:cs typeface="Calibri"/>
                        </a:rPr>
                        <a:t>NASA e IGAC</a:t>
                      </a:r>
                    </a:p>
                  </a:txBody>
                  <a:tcPr marL="91440" marR="91440" marT="45720" marB="45720">
                    <a:solidFill>
                      <a:srgbClr val="F4F8F8"/>
                    </a:solidFill>
                  </a:tcPr>
                </a:tc>
                <a:tc>
                  <a:txBody>
                    <a:bodyPr/>
                    <a:lstStyle/>
                    <a:p>
                      <a:r>
                        <a:rPr sz="1800" b="0">
                          <a:solidFill>
                            <a:srgbClr val="203B68"/>
                          </a:solidFill>
                          <a:latin typeface="Calibri"/>
                          <a:ea typeface="Calibri"/>
                          <a:cs typeface="Calibri"/>
                        </a:rPr>
                        <a:t>Menos de 0,02 MB</a:t>
                      </a:r>
                    </a:p>
                  </a:txBody>
                  <a:tcPr marL="91440" marR="91440" marT="45720" marB="45720">
                    <a:solidFill>
                      <a:srgbClr val="F4F8F8"/>
                    </a:solidFill>
                  </a:tcPr>
                </a:tc>
                <a:tc>
                  <a:txBody>
                    <a:bodyPr/>
                    <a:lstStyle/>
                    <a:p>
                      <a:r>
                        <a:rPr sz="1800" b="0">
                          <a:solidFill>
                            <a:srgbClr val="203B68"/>
                          </a:solidFill>
                          <a:latin typeface="Calibri"/>
                          <a:ea typeface="Calibri"/>
                          <a:cs typeface="Calibri"/>
                        </a:rPr>
                        <a:t>Inspección de JSON y atributos en E04</a:t>
                      </a:r>
                    </a:p>
                  </a:txBody>
                  <a:tcPr marL="91440" marR="91440" marT="45720" marB="45720">
                    <a:solidFill>
                      <a:srgbClr val="F4F8F8"/>
                    </a:solidFill>
                  </a:tcPr>
                </a:tc>
              </a:tr>
              <a:tr h="714375">
                <a:tc>
                  <a:txBody>
                    <a:bodyPr/>
                    <a:lstStyle/>
                    <a:p>
                      <a:r>
                        <a:rPr sz="1800" b="0">
                          <a:solidFill>
                            <a:srgbClr val="203B68"/>
                          </a:solidFill>
                          <a:latin typeface="Calibri"/>
                          <a:ea typeface="Calibri"/>
                          <a:cs typeface="Calibri"/>
                        </a:rPr>
                        <a:t>PQRS: tres muestras</a:t>
                      </a:r>
                    </a:p>
                  </a:txBody>
                  <a:tcPr marL="91440" marR="91440" marT="45720" marB="45720">
                    <a:solidFill>
                      <a:srgbClr val="E9F0F1"/>
                    </a:solidFill>
                  </a:tcPr>
                </a:tc>
                <a:tc>
                  <a:txBody>
                    <a:bodyPr/>
                    <a:lstStyle/>
                    <a:p>
                      <a:r>
                        <a:rPr sz="1800" b="0">
                          <a:solidFill>
                            <a:srgbClr val="203B68"/>
                          </a:solidFill>
                          <a:latin typeface="Calibri"/>
                          <a:ea typeface="Calibri"/>
                          <a:cs typeface="Calibri"/>
                        </a:rPr>
                        <a:t>2,235 MB</a:t>
                      </a:r>
                    </a:p>
                  </a:txBody>
                  <a:tcPr marL="91440" marR="91440" marT="45720" marB="45720">
                    <a:solidFill>
                      <a:srgbClr val="E9F0F1"/>
                    </a:solidFill>
                  </a:tcPr>
                </a:tc>
                <a:tc>
                  <a:txBody>
                    <a:bodyPr/>
                    <a:lstStyle/>
                    <a:p>
                      <a:r>
                        <a:rPr sz="1800" b="0">
                          <a:solidFill>
                            <a:srgbClr val="203B68"/>
                          </a:solidFill>
                          <a:latin typeface="Calibri"/>
                          <a:ea typeface="Calibri"/>
                          <a:cs typeface="Calibri"/>
                        </a:rPr>
                        <a:t>P02. 3.000 filas reales para probar el pipeline</a:t>
                      </a:r>
                    </a:p>
                  </a:txBody>
                  <a:tcPr marL="91440" marR="91440" marT="45720" marB="45720">
                    <a:solidFill>
                      <a:srgbClr val="E9F0F1"/>
                    </a:solidFill>
                  </a:tcPr>
                </a:tc>
              </a:tr>
              <a:tr h="714375">
                <a:tc>
                  <a:txBody>
                    <a:bodyPr/>
                    <a:lstStyle/>
                    <a:p>
                      <a:r>
                        <a:rPr sz="1800" b="0">
                          <a:solidFill>
                            <a:srgbClr val="203B68"/>
                          </a:solidFill>
                          <a:latin typeface="Calibri"/>
                          <a:ea typeface="Calibri"/>
                          <a:cs typeface="Calibri"/>
                        </a:rPr>
                        <a:t>PQRS: tres completos</a:t>
                      </a:r>
                    </a:p>
                  </a:txBody>
                  <a:tcPr marL="91440" marR="91440" marT="45720" marB="45720">
                    <a:solidFill>
                      <a:srgbClr val="F4F8F8"/>
                    </a:solidFill>
                  </a:tcPr>
                </a:tc>
                <a:tc>
                  <a:txBody>
                    <a:bodyPr/>
                    <a:lstStyle/>
                    <a:p>
                      <a:r>
                        <a:rPr sz="1800" b="0">
                          <a:solidFill>
                            <a:srgbClr val="203B68"/>
                          </a:solidFill>
                          <a:latin typeface="Calibri"/>
                          <a:ea typeface="Calibri"/>
                          <a:cs typeface="Calibri"/>
                        </a:rPr>
                        <a:t>1,816 GB</a:t>
                      </a:r>
                    </a:p>
                  </a:txBody>
                  <a:tcPr marL="91440" marR="91440" marT="45720" marB="45720">
                    <a:solidFill>
                      <a:srgbClr val="F4F8F8"/>
                    </a:solidFill>
                  </a:tcPr>
                </a:tc>
                <a:tc>
                  <a:txBody>
                    <a:bodyPr/>
                    <a:lstStyle/>
                    <a:p>
                      <a:r>
                        <a:rPr sz="1800" b="0">
                          <a:solidFill>
                            <a:srgbClr val="203B68"/>
                          </a:solidFill>
                          <a:latin typeface="Calibri"/>
                          <a:ea typeface="Calibri"/>
                          <a:cs typeface="Calibri"/>
                        </a:rPr>
                        <a:t>Ampliación opcional según recursos del portátil</a:t>
                      </a:r>
                    </a:p>
                  </a:txBody>
                  <a:tcPr marL="91440" marR="91440" marT="45720" marB="45720">
                    <a:solidFill>
                      <a:srgbClr val="F4F8F8"/>
                    </a:solidFill>
                  </a:tcPr>
                </a:tc>
              </a:tr>
            </a:tbl>
          </a:graphicData>
        </a:graphic>
      </p:graphicFrame>
      <p:sp>
        <p:nvSpPr>
          <p:cNvPr id="2" name="">
            <a:extLst xmlns:a="http://schemas.openxmlformats.org/drawingml/2006/main">
              <a:ext uri="{FF2B5EF4-FFF2-40B4-BE49-F238E27FC236}">
                <a16:creationId xmlns:a16="http://schemas.microsoft.com/office/drawing/2014/main" id="{A3809D8D-EB0B-4B0D-B0D6-36153588E8B5}"/>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Entradas para los talleres del viernes</a:t>
            </a:r>
          </a:p>
        </p:txBody>
      </p:sp>
      <p:sp>
        <p:nvSpPr>
          <p:cNvPr id="4" name="">
            <a:extLst xmlns:a="http://schemas.openxmlformats.org/drawingml/2006/main">
              <a:ext uri="{FF2B5EF4-FFF2-40B4-BE49-F238E27FC236}">
                <a16:creationId xmlns:a16="http://schemas.microsoft.com/office/drawing/2014/main" id="{D2EDCCE1-7070-4B2E-BF93-A03292E4ED75}"/>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Tamaños decimales. Reservar espacio para derivados. Muestras PQRS no representativas.</a:t>
            </a:r>
          </a:p>
        </p:txBody>
      </p:sp>
      <p:sp>
        <p:nvSpPr>
          <p:cNvPr id="9" name="">
            <a:extLst xmlns:a="http://schemas.openxmlformats.org/drawingml/2006/main">
              <a:ext uri="{FF2B5EF4-FFF2-40B4-BE49-F238E27FC236}">
                <a16:creationId xmlns:a16="http://schemas.microsoft.com/office/drawing/2014/main" id="{64677F9A-5F9B-44BD-8AED-B8734D2DCC07}"/>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192C834F-D6A3-44A8-9607-0D5DC7EF2AD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E04 — Ejercicio 04: Formatos y contrato de datos  |  P02 — Práctica PQRS 02: Parquet, contrato y reejecución</a:t>
            </a:r>
          </a:p>
        </p:txBody>
      </p:sp>
      <p:sp>
        <p:nvSpPr>
          <p:cNvPr id="11" name="">
            <a:extLst xmlns:a="http://schemas.openxmlformats.org/drawingml/2006/main">
              <a:ext uri="{FF2B5EF4-FFF2-40B4-BE49-F238E27FC236}">
                <a16:creationId xmlns:a16="http://schemas.microsoft.com/office/drawing/2014/main" id="{96DE793E-11B6-4533-92E6-7FA674C8415E}"/>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2" name="">
            <a:extLst xmlns:a="http://schemas.openxmlformats.org/drawingml/2006/main">
              <a:ext uri="{FF2B5EF4-FFF2-40B4-BE49-F238E27FC236}">
                <a16:creationId xmlns:a16="http://schemas.microsoft.com/office/drawing/2014/main" id="{5ADCE9C0-E658-4281-983F-F9003C844473}"/>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04</a:t>
            </a:r>
          </a:p>
        </p:txBody>
      </p:sp>
    </p:spTree>
    <p:extLst>
      <p:ext uri="{BB962C8B-B14F-4D97-AF65-F5344CB8AC3E}">
        <p14:creationId xmlns:p14="http://schemas.microsoft.com/office/powerpoint/2010/main" val="285991475"/>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6d1270e6e20440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6A5949-8569-4010-A01C-4A7973FDB70E}"/>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Inicio de la demostración en el entorno del curso</a:t>
            </a:r>
          </a:p>
        </p:txBody>
      </p:sp>
      <p:sp>
        <p:nvSpPr>
          <p:cNvPr id="3" name="">
            <a:extLst xmlns:a="http://schemas.openxmlformats.org/drawingml/2006/main">
              <a:ext uri="{FF2B5EF4-FFF2-40B4-BE49-F238E27FC236}">
                <a16:creationId xmlns:a16="http://schemas.microsoft.com/office/drawing/2014/main" id="{5175BA34-5AD9-4D43-BE71-364486BBDBD9}"/>
              </a:ext>
            </a:extLst>
          </p:cNvPr>
          <p:cNvSpPr>
            <a:spLocks xmlns:a="http://schemas.openxmlformats.org/drawingml/2006/main" noGrp="1"/>
          </p:cNvSpPr>
          <p:nvPr/>
        </p:nvSpPr>
        <p:spPr>
          <a:xfrm xmlns:a="http://schemas.openxmlformats.org/drawingml/2006/main">
            <a:off x="685800" y="1524000"/>
            <a:ext cx="108204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Desde la raíz del repositorio, en Ubuntu WSL</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source .venv/bin/activate</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cd kit</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python 00_datos.py --listar</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python pqrs_descarga.py --listar</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python 00_datos.py --descargar agrosavia divipola igac_correlacion nasa</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python -m jupyter lab --no-browser --ip=127.0.0.1</a:t>
            </a:r>
          </a:p>
        </p:txBody>
      </p:sp>
      <p:sp>
        <p:nvSpPr>
          <p:cNvPr id="4" name="">
            <a:extLst xmlns:a="http://schemas.openxmlformats.org/drawingml/2006/main">
              <a:ext uri="{FF2B5EF4-FFF2-40B4-BE49-F238E27FC236}">
                <a16:creationId xmlns:a16="http://schemas.microsoft.com/office/drawing/2014/main" id="{4F7B1273-E98F-43F2-90C0-935C0A5AB569}"/>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Abrir Notebooks/02_Parquet_y_contratos.ipynb. Kernel del entorno de la raíz.</a:t>
            </a:r>
          </a:p>
        </p:txBody>
      </p:sp>
      <p:sp>
        <p:nvSpPr>
          <p:cNvPr id="8" name="">
            <a:extLst xmlns:a="http://schemas.openxmlformats.org/drawingml/2006/main">
              <a:ext uri="{FF2B5EF4-FFF2-40B4-BE49-F238E27FC236}">
                <a16:creationId xmlns:a16="http://schemas.microsoft.com/office/drawing/2014/main" id="{09E25C0E-300B-4758-A781-F2AC4B22C5FC}"/>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E731B5F8-CEF2-4702-9535-E61C10DAE0D8}"/>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0" name="">
            <a:extLst xmlns:a="http://schemas.openxmlformats.org/drawingml/2006/main">
              <a:ext uri="{FF2B5EF4-FFF2-40B4-BE49-F238E27FC236}">
                <a16:creationId xmlns:a16="http://schemas.microsoft.com/office/drawing/2014/main" id="{E1646166-5C66-45A5-8151-4C39917B88DE}"/>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1" name="">
            <a:extLst xmlns:a="http://schemas.openxmlformats.org/drawingml/2006/main">
              <a:ext uri="{FF2B5EF4-FFF2-40B4-BE49-F238E27FC236}">
                <a16:creationId xmlns:a16="http://schemas.microsoft.com/office/drawing/2014/main" id="{98CCE7E5-9436-4E56-BF9A-D48CB761ACB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05</a:t>
            </a:r>
          </a:p>
        </p:txBody>
      </p:sp>
    </p:spTree>
    <p:extLst>
      <p:ext uri="{BB962C8B-B14F-4D97-AF65-F5344CB8AC3E}">
        <p14:creationId xmlns:p14="http://schemas.microsoft.com/office/powerpoint/2010/main" val="1676227770"/>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7b40b8957da4885"/>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C490FB9-F1AA-4A67-9417-0C4F90759AC9}"/>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Punto de partida</a:t>
            </a:r>
          </a:p>
        </p:txBody>
      </p:sp>
      <p:sp>
        <p:nvSpPr>
          <p:cNvPr id="2" name="">
            <a:extLst xmlns:a="http://schemas.openxmlformats.org/drawingml/2006/main">
              <a:ext uri="{FF2B5EF4-FFF2-40B4-BE49-F238E27FC236}">
                <a16:creationId xmlns:a16="http://schemas.microsoft.com/office/drawing/2014/main" id="{19C84D87-C2D4-4843-81E3-33117D78761B}"/>
              </a:ext>
            </a:extLst>
          </p:cNvPr>
          <p:cNvSpPr>
            <a:spLocks xmlns:a="http://schemas.openxmlformats.org/drawingml/2006/main" noGrp="1"/>
          </p:cNvSpPr>
          <p:nvPr/>
        </p:nvSpPr>
        <p:spPr>
          <a:xfrm xmlns:a="http://schemas.openxmlformats.org/drawingml/2006/main">
            <a:off x="609600" y="2019300"/>
            <a:ext cx="10477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F3864"/>
                </a:solidFill>
                <a:latin typeface="Helvetica Neue"/>
                <a:ea typeface="Helvetica Neue"/>
                <a:cs typeface="Helvetica Neue"/>
              </a:defRPr>
            </a:pPr>
            <a:r>
              <a:rPr sz="3450" b="1">
                <a:solidFill>
                  <a:srgbClr val="1F3864"/>
                </a:solidFill>
                <a:latin typeface="Helvetica Neue"/>
                <a:ea typeface="Helvetica Neue"/>
                <a:cs typeface="Helvetica Neue"/>
              </a:rPr>
              <a:t>¿Cómo conservarías la procedencia de cada fila después de unir suelos, cultivos y municipios?</a:t>
            </a:r>
          </a:p>
        </p:txBody>
      </p:sp>
      <p:sp>
        <p:nvSpPr>
          <p:cNvPr id="3" name="">
            <a:extLst xmlns:a="http://schemas.openxmlformats.org/drawingml/2006/main">
              <a:ext uri="{FF2B5EF4-FFF2-40B4-BE49-F238E27FC236}">
                <a16:creationId xmlns:a16="http://schemas.microsoft.com/office/drawing/2014/main" id="{E2A076D8-2ECD-4EB0-9C1B-BCCE310D74B3}"/>
              </a:ext>
            </a:extLst>
          </p:cNvPr>
          <p:cNvSpPr>
            <a:spLocks xmlns:a="http://schemas.openxmlformats.org/drawingml/2006/main" noGrp="1"/>
          </p:cNvSpPr>
          <p:nvPr/>
        </p:nvSpPr>
        <p:spPr>
          <a:xfrm xmlns:a="http://schemas.openxmlformats.org/drawingml/2006/main">
            <a:off x="609600" y="54387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Helvetica Neue"/>
                <a:ea typeface="Helvetica Neue"/>
                <a:cs typeface="Helvetica Neue"/>
              </a:defRPr>
            </a:pPr>
            <a:r>
              <a:rPr sz="1875" b="0">
                <a:solidFill>
                  <a:srgbClr val="1F3864"/>
                </a:solidFill>
                <a:latin typeface="Helvetica Neue"/>
                <a:ea typeface="Helvetica Neue"/>
                <a:cs typeface="Helvetica Neue"/>
              </a:rPr>
              <a:t>Respuesta individual y discusión en grupo</a:t>
            </a:r>
          </a:p>
        </p:txBody>
      </p:sp>
      <p:sp>
        <p:nvSpPr>
          <p:cNvPr id="20" name="">
            <a:extLst xmlns:a="http://schemas.openxmlformats.org/drawingml/2006/main">
              <a:ext uri="{FF2B5EF4-FFF2-40B4-BE49-F238E27FC236}">
                <a16:creationId xmlns:a16="http://schemas.microsoft.com/office/drawing/2014/main" id="{0C1A7FEB-E1DE-42F8-B109-B45B85B33B4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B6F3450D-C881-4810-B67E-DBC9FA7A993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2" name="">
            <a:extLst xmlns:a="http://schemas.openxmlformats.org/drawingml/2006/main">
              <a:ext uri="{FF2B5EF4-FFF2-40B4-BE49-F238E27FC236}">
                <a16:creationId xmlns:a16="http://schemas.microsoft.com/office/drawing/2014/main" id="{559B71E8-C3F3-44C0-AABD-AC208D1DE0E0}"/>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3" name="">
            <a:extLst xmlns:a="http://schemas.openxmlformats.org/drawingml/2006/main">
              <a:ext uri="{FF2B5EF4-FFF2-40B4-BE49-F238E27FC236}">
                <a16:creationId xmlns:a16="http://schemas.microsoft.com/office/drawing/2014/main" id="{0072111C-B94B-4935-B0B1-0D860FEF7DD2}"/>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06</a:t>
            </a:r>
          </a:p>
        </p:txBody>
      </p:sp>
    </p:spTree>
    <p:extLst>
      <p:ext uri="{BB962C8B-B14F-4D97-AF65-F5344CB8AC3E}">
        <p14:creationId xmlns:p14="http://schemas.microsoft.com/office/powerpoint/2010/main" val="1912023284"/>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553c35f0c6f944cd"/>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90e687072f2849af"/>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6E25DB0-3182-4586-A6BD-6E462534AE1E}"/>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Warehouse, lake y lakehouse</a:t>
            </a:r>
          </a:p>
        </p:txBody>
      </p:sp>
      <p:sp>
        <p:nvSpPr>
          <p:cNvPr id="9" name="">
            <a:extLst xmlns:a="http://schemas.openxmlformats.org/drawingml/2006/main">
              <a:ext uri="{FF2B5EF4-FFF2-40B4-BE49-F238E27FC236}">
                <a16:creationId xmlns:a16="http://schemas.microsoft.com/office/drawing/2014/main" id="{C43F93F8-5475-4BA7-BC0F-CEC48068D97D}"/>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Warehouse</a:t>
            </a:r>
          </a:p>
        </p:txBody>
      </p:sp>
      <p:sp>
        <p:nvSpPr>
          <p:cNvPr id="10" name="">
            <a:extLst xmlns:a="http://schemas.openxmlformats.org/drawingml/2006/main">
              <a:ext uri="{FF2B5EF4-FFF2-40B4-BE49-F238E27FC236}">
                <a16:creationId xmlns:a16="http://schemas.microsoft.com/office/drawing/2014/main" id="{D4172A9C-0DF7-494A-94E0-AC736C3FE66C}"/>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Datos modelados para métricas y consultas consistentes.</a:t>
            </a:r>
          </a:p>
        </p:txBody>
      </p:sp>
      <p:sp>
        <p:nvSpPr>
          <p:cNvPr id="11" name="">
            <a:extLst xmlns:a="http://schemas.openxmlformats.org/drawingml/2006/main">
              <a:ext uri="{FF2B5EF4-FFF2-40B4-BE49-F238E27FC236}">
                <a16:creationId xmlns:a16="http://schemas.microsoft.com/office/drawing/2014/main" id="{0EC2FADB-AC9E-4CC7-98A0-72F8C218BE53}"/>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Data lake</a:t>
            </a:r>
          </a:p>
        </p:txBody>
      </p:sp>
      <p:sp>
        <p:nvSpPr>
          <p:cNvPr id="12" name="">
            <a:extLst xmlns:a="http://schemas.openxmlformats.org/drawingml/2006/main">
              <a:ext uri="{FF2B5EF4-FFF2-40B4-BE49-F238E27FC236}">
                <a16:creationId xmlns:a16="http://schemas.microsoft.com/office/drawing/2014/main" id="{AE8CFD71-59C8-4D37-9DAA-90E317634493}"/>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Archivos diversos, con catálogo, permisos y calidad explícitos.</a:t>
            </a:r>
          </a:p>
        </p:txBody>
      </p:sp>
      <p:sp>
        <p:nvSpPr>
          <p:cNvPr id="13" name="">
            <a:extLst xmlns:a="http://schemas.openxmlformats.org/drawingml/2006/main">
              <a:ext uri="{FF2B5EF4-FFF2-40B4-BE49-F238E27FC236}">
                <a16:creationId xmlns:a16="http://schemas.microsoft.com/office/drawing/2014/main" id="{88130C47-6CD7-45B0-A6C9-C39B53F1FFD3}"/>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Lakehouse</a:t>
            </a:r>
          </a:p>
        </p:txBody>
      </p:sp>
      <p:sp>
        <p:nvSpPr>
          <p:cNvPr id="14" name="">
            <a:extLst xmlns:a="http://schemas.openxmlformats.org/drawingml/2006/main">
              <a:ext uri="{FF2B5EF4-FFF2-40B4-BE49-F238E27FC236}">
                <a16:creationId xmlns:a16="http://schemas.microsoft.com/office/drawing/2014/main" id="{EF0347BE-4628-46AA-BD7B-07FEAC605035}"/>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Lago con tablas, metadatos, transacciones y evolución.</a:t>
            </a:r>
          </a:p>
        </p:txBody>
      </p:sp>
      <p:sp>
        <p:nvSpPr>
          <p:cNvPr id="15" name="">
            <a:extLst xmlns:a="http://schemas.openxmlformats.org/drawingml/2006/main">
              <a:ext uri="{FF2B5EF4-FFF2-40B4-BE49-F238E27FC236}">
                <a16:creationId xmlns:a16="http://schemas.microsoft.com/office/drawing/2014/main" id="{B5032026-5410-44A8-99C0-86B86A77E059}"/>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La arquitectura se reconoce por sus capacidades y controles</a:t>
            </a:r>
          </a:p>
        </p:txBody>
      </p:sp>
      <p:sp>
        <p:nvSpPr>
          <p:cNvPr id="34" name="">
            <a:extLst xmlns:a="http://schemas.openxmlformats.org/drawingml/2006/main">
              <a:ext uri="{FF2B5EF4-FFF2-40B4-BE49-F238E27FC236}">
                <a16:creationId xmlns:a16="http://schemas.microsoft.com/office/drawing/2014/main" id="{89091BEF-95ED-42B3-8997-B0230FE1DFA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DD83A0A4-9E98-438E-88FE-005D7852401A}"/>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3A7C19B2-35C6-488C-8642-624FE8947894}"/>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7" name="">
            <a:extLst xmlns:a="http://schemas.openxmlformats.org/drawingml/2006/main">
              <a:ext uri="{FF2B5EF4-FFF2-40B4-BE49-F238E27FC236}">
                <a16:creationId xmlns:a16="http://schemas.microsoft.com/office/drawing/2014/main" id="{2A9E2910-ACD0-4080-A3D9-E5973D06BC80}"/>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07</a:t>
            </a:r>
          </a:p>
        </p:txBody>
      </p:sp>
    </p:spTree>
    <p:extLst>
      <p:ext uri="{BB962C8B-B14F-4D97-AF65-F5344CB8AC3E}">
        <p14:creationId xmlns:p14="http://schemas.microsoft.com/office/powerpoint/2010/main" val="132028538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b4b21a10f0942d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CFBD149-B9DE-4CC2-957A-F7E7D8B58399}"/>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Bases relacionales dentro de BigData</a:t>
            </a:r>
          </a:p>
        </p:txBody>
      </p:sp>
      <p:sp>
        <p:nvSpPr>
          <p:cNvPr id="3" name="">
            <a:extLst xmlns:a="http://schemas.openxmlformats.org/drawingml/2006/main">
              <a:ext uri="{FF2B5EF4-FFF2-40B4-BE49-F238E27FC236}">
                <a16:creationId xmlns:a16="http://schemas.microsoft.com/office/drawing/2014/main" id="{1A33837B-2720-4745-8769-40F4AD7A3D26}"/>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Transacciones y relaciones</a:t>
            </a:r>
          </a:p>
        </p:txBody>
      </p:sp>
      <p:sp>
        <p:nvSpPr>
          <p:cNvPr id="4" name="">
            <a:extLst xmlns:a="http://schemas.openxmlformats.org/drawingml/2006/main">
              <a:ext uri="{FF2B5EF4-FFF2-40B4-BE49-F238E27FC236}">
                <a16:creationId xmlns:a16="http://schemas.microsoft.com/office/drawing/2014/main" id="{F3470DB7-82DB-4F66-B087-992422D13EAE}"/>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Integridad, concurrencia y consultas siguen siendo capacidades útiles.</a:t>
            </a:r>
          </a:p>
        </p:txBody>
      </p:sp>
      <p:sp>
        <p:nvSpPr>
          <p:cNvPr id="5" name="">
            <a:extLst xmlns:a="http://schemas.openxmlformats.org/drawingml/2006/main">
              <a:ext uri="{FF2B5EF4-FFF2-40B4-BE49-F238E27FC236}">
                <a16:creationId xmlns:a16="http://schemas.microsoft.com/office/drawing/2014/main" id="{83A09035-1B2E-4DB8-99AA-69600FC340B4}"/>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Capacidades del motor</a:t>
            </a:r>
          </a:p>
        </p:txBody>
      </p:sp>
      <p:sp>
        <p:nvSpPr>
          <p:cNvPr id="6" name="">
            <a:extLst xmlns:a="http://schemas.openxmlformats.org/drawingml/2006/main">
              <a:ext uri="{FF2B5EF4-FFF2-40B4-BE49-F238E27FC236}">
                <a16:creationId xmlns:a16="http://schemas.microsoft.com/office/drawing/2014/main" id="{AA3D1D7D-AF94-40BD-BEF1-64F5BD757FA7}"/>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Hay soporte de JSON, particiones y ejecución paralela según el sistema.</a:t>
            </a:r>
          </a:p>
        </p:txBody>
      </p:sp>
      <p:sp>
        <p:nvSpPr>
          <p:cNvPr id="7" name="">
            <a:extLst xmlns:a="http://schemas.openxmlformats.org/drawingml/2006/main">
              <a:ext uri="{FF2B5EF4-FFF2-40B4-BE49-F238E27FC236}">
                <a16:creationId xmlns:a16="http://schemas.microsoft.com/office/drawing/2014/main" id="{9758C745-6187-4D09-B55D-2D6C7F11902E}"/>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Elección de arquitectura</a:t>
            </a:r>
          </a:p>
        </p:txBody>
      </p:sp>
      <p:sp>
        <p:nvSpPr>
          <p:cNvPr id="8" name="">
            <a:extLst xmlns:a="http://schemas.openxmlformats.org/drawingml/2006/main">
              <a:ext uri="{FF2B5EF4-FFF2-40B4-BE49-F238E27FC236}">
                <a16:creationId xmlns:a16="http://schemas.microsoft.com/office/drawing/2014/main" id="{BDC5E800-2375-4C3D-90EF-ECF3072985BA}"/>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3B68"/>
                </a:solidFill>
                <a:latin typeface="Calibri"/>
                <a:ea typeface="Calibri"/>
                <a:cs typeface="Calibri"/>
              </a:defRPr>
            </a:pPr>
            <a:r>
              <a:rPr sz="2175" b="0">
                <a:solidFill>
                  <a:srgbClr val="203B68"/>
                </a:solidFill>
                <a:latin typeface="Calibri"/>
                <a:ea typeface="Calibri"/>
                <a:cs typeface="Calibri"/>
              </a:rPr>
              <a:t>Medir consulta, crecimiento y operación antes de cambiar de tecnología.</a:t>
            </a:r>
          </a:p>
        </p:txBody>
      </p:sp>
      <p:sp>
        <p:nvSpPr>
          <p:cNvPr id="9" name="">
            <a:extLst xmlns:a="http://schemas.openxmlformats.org/drawingml/2006/main">
              <a:ext uri="{FF2B5EF4-FFF2-40B4-BE49-F238E27FC236}">
                <a16:creationId xmlns:a16="http://schemas.microsoft.com/office/drawing/2014/main" id="{EFB1DCB7-611A-4152-A6FC-5CED6ED9CE58}"/>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El volumen por sí solo no vuelve obsoleto el modelo relacional</a:t>
            </a:r>
          </a:p>
        </p:txBody>
      </p:sp>
      <p:sp>
        <p:nvSpPr>
          <p:cNvPr id="22" name="">
            <a:extLst xmlns:a="http://schemas.openxmlformats.org/drawingml/2006/main">
              <a:ext uri="{FF2B5EF4-FFF2-40B4-BE49-F238E27FC236}">
                <a16:creationId xmlns:a16="http://schemas.microsoft.com/office/drawing/2014/main" id="{F10205EA-7407-48B8-935F-F89D344D6F5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3" name="">
            <a:extLst xmlns:a="http://schemas.openxmlformats.org/drawingml/2006/main">
              <a:ext uri="{FF2B5EF4-FFF2-40B4-BE49-F238E27FC236}">
                <a16:creationId xmlns:a16="http://schemas.microsoft.com/office/drawing/2014/main" id="{A45B9672-F92A-41C5-A2ED-03A0146C3C2B}"/>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4" name="">
            <a:extLst xmlns:a="http://schemas.openxmlformats.org/drawingml/2006/main">
              <a:ext uri="{FF2B5EF4-FFF2-40B4-BE49-F238E27FC236}">
                <a16:creationId xmlns:a16="http://schemas.microsoft.com/office/drawing/2014/main" id="{6D4F15D0-F2F5-41EC-A697-358F7C2D6E85}"/>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5" name="">
            <a:extLst xmlns:a="http://schemas.openxmlformats.org/drawingml/2006/main">
              <a:ext uri="{FF2B5EF4-FFF2-40B4-BE49-F238E27FC236}">
                <a16:creationId xmlns:a16="http://schemas.microsoft.com/office/drawing/2014/main" id="{8F8999E2-D60E-4EBA-8643-BA1C4E6BE6AC}"/>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08</a:t>
            </a:r>
          </a:p>
        </p:txBody>
      </p:sp>
    </p:spTree>
    <p:extLst>
      <p:ext uri="{BB962C8B-B14F-4D97-AF65-F5344CB8AC3E}">
        <p14:creationId xmlns:p14="http://schemas.microsoft.com/office/powerpoint/2010/main" val="104741962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750b0a966f6e4c9e"/>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0a759e25ef1144cc"/>
          <a:stretch xmlns:a="http://schemas.openxmlformats.org/drawingml/2006/main"/>
        </p:blipFill>
        <p:spPr>
          <a:xfrm xmlns:a="http://schemas.openxmlformats.org/drawingml/2006/main">
            <a:off x="404813" y="1447800"/>
            <a:ext cx="6715125"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81A1A27-7AF5-4ECB-8A68-A9D05C5E8037}"/>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Capas del proyecto</a:t>
            </a:r>
          </a:p>
        </p:txBody>
      </p:sp>
      <p:sp>
        <p:nvSpPr>
          <p:cNvPr id="11" name="">
            <a:extLst xmlns:a="http://schemas.openxmlformats.org/drawingml/2006/main">
              <a:ext uri="{FF2B5EF4-FFF2-40B4-BE49-F238E27FC236}">
                <a16:creationId xmlns:a16="http://schemas.microsoft.com/office/drawing/2014/main" id="{95E4C3B8-4915-4322-A5B0-8A0A162588D4}"/>
              </a:ext>
            </a:extLst>
          </p:cNvPr>
          <p:cNvSpPr>
            <a:spLocks xmlns:a="http://schemas.openxmlformats.org/drawingml/2006/main" noGrp="1"/>
          </p:cNvSpPr>
          <p:nvPr/>
        </p:nvSpPr>
        <p:spPr>
          <a:xfrm xmlns:a="http://schemas.openxmlformats.org/drawingml/2006/main">
            <a:off x="7639050" y="166687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Originales</a:t>
            </a:r>
          </a:p>
        </p:txBody>
      </p:sp>
      <p:sp>
        <p:nvSpPr>
          <p:cNvPr id="12" name="">
            <a:extLst xmlns:a="http://schemas.openxmlformats.org/drawingml/2006/main">
              <a:ext uri="{FF2B5EF4-FFF2-40B4-BE49-F238E27FC236}">
                <a16:creationId xmlns:a16="http://schemas.microsoft.com/office/drawing/2014/main" id="{D6A11950-F25E-4189-BC3D-E7967818CFB2}"/>
              </a:ext>
            </a:extLst>
          </p:cNvPr>
          <p:cNvSpPr>
            <a:spLocks xmlns:a="http://schemas.openxmlformats.org/drawingml/2006/main" noGrp="1"/>
          </p:cNvSpPr>
          <p:nvPr/>
        </p:nvSpPr>
        <p:spPr>
          <a:xfrm xmlns:a="http://schemas.openxmlformats.org/drawingml/2006/main">
            <a:off x="7639050" y="211455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data/raw conserva cada archivo descargado.</a:t>
            </a:r>
          </a:p>
        </p:txBody>
      </p:sp>
      <p:sp>
        <p:nvSpPr>
          <p:cNvPr id="13" name="">
            <a:extLst xmlns:a="http://schemas.openxmlformats.org/drawingml/2006/main">
              <a:ext uri="{FF2B5EF4-FFF2-40B4-BE49-F238E27FC236}">
                <a16:creationId xmlns:a16="http://schemas.microsoft.com/office/drawing/2014/main" id="{2D3BA79F-1941-4E25-AB71-07B5141DCA8E}"/>
              </a:ext>
            </a:extLst>
          </p:cNvPr>
          <p:cNvSpPr>
            <a:spLocks xmlns:a="http://schemas.openxmlformats.org/drawingml/2006/main" noGrp="1"/>
          </p:cNvSpPr>
          <p:nvPr/>
        </p:nvSpPr>
        <p:spPr>
          <a:xfrm xmlns:a="http://schemas.openxmlformats.org/drawingml/2006/main">
            <a:off x="7639050" y="30670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Curados</a:t>
            </a:r>
          </a:p>
        </p:txBody>
      </p:sp>
      <p:sp>
        <p:nvSpPr>
          <p:cNvPr id="14" name="">
            <a:extLst xmlns:a="http://schemas.openxmlformats.org/drawingml/2006/main">
              <a:ext uri="{FF2B5EF4-FFF2-40B4-BE49-F238E27FC236}">
                <a16:creationId xmlns:a16="http://schemas.microsoft.com/office/drawing/2014/main" id="{E3495110-D661-4883-B65E-EF7DD8BB8646}"/>
              </a:ext>
            </a:extLst>
          </p:cNvPr>
          <p:cNvSpPr>
            <a:spLocks xmlns:a="http://schemas.openxmlformats.org/drawingml/2006/main" noGrp="1"/>
          </p:cNvSpPr>
          <p:nvPr/>
        </p:nvSpPr>
        <p:spPr>
          <a:xfrm xmlns:a="http://schemas.openxmlformats.org/drawingml/2006/main">
            <a:off x="7639050" y="3514725"/>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Tablas validadas y controles documentados.</a:t>
            </a:r>
          </a:p>
        </p:txBody>
      </p:sp>
      <p:sp>
        <p:nvSpPr>
          <p:cNvPr id="15" name="">
            <a:extLst xmlns:a="http://schemas.openxmlformats.org/drawingml/2006/main">
              <a:ext uri="{FF2B5EF4-FFF2-40B4-BE49-F238E27FC236}">
                <a16:creationId xmlns:a16="http://schemas.microsoft.com/office/drawing/2014/main" id="{D56795A2-A25B-4526-80EF-4D6D1781306C}"/>
              </a:ext>
            </a:extLst>
          </p:cNvPr>
          <p:cNvSpPr>
            <a:spLocks xmlns:a="http://schemas.openxmlformats.org/drawingml/2006/main" noGrp="1"/>
          </p:cNvSpPr>
          <p:nvPr/>
        </p:nvSpPr>
        <p:spPr>
          <a:xfrm xmlns:a="http://schemas.openxmlformats.org/drawingml/2006/main">
            <a:off x="7639050" y="4467225"/>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Analítica</a:t>
            </a:r>
          </a:p>
        </p:txBody>
      </p:sp>
      <p:sp>
        <p:nvSpPr>
          <p:cNvPr id="16" name="">
            <a:extLst xmlns:a="http://schemas.openxmlformats.org/drawingml/2006/main">
              <a:ext uri="{FF2B5EF4-FFF2-40B4-BE49-F238E27FC236}">
                <a16:creationId xmlns:a16="http://schemas.microsoft.com/office/drawing/2014/main" id="{CBBD6A45-0251-421C-9DE4-BD3E6CA9B209}"/>
              </a:ext>
            </a:extLst>
          </p:cNvPr>
          <p:cNvSpPr>
            <a:spLocks xmlns:a="http://schemas.openxmlformats.org/drawingml/2006/main" noGrp="1"/>
          </p:cNvSpPr>
          <p:nvPr/>
        </p:nvSpPr>
        <p:spPr>
          <a:xfrm xmlns:a="http://schemas.openxmlformats.org/drawingml/2006/main">
            <a:off x="7639050" y="4914900"/>
            <a:ext cx="4038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Productos reconstruibles en salidas.</a:t>
            </a:r>
          </a:p>
        </p:txBody>
      </p:sp>
      <p:sp>
        <p:nvSpPr>
          <p:cNvPr id="17" name="">
            <a:extLst xmlns:a="http://schemas.openxmlformats.org/drawingml/2006/main">
              <a:ext uri="{FF2B5EF4-FFF2-40B4-BE49-F238E27FC236}">
                <a16:creationId xmlns:a16="http://schemas.microsoft.com/office/drawing/2014/main" id="{035ED64B-57AD-4701-8E3E-CBC551A71898}"/>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La transformación debe permitir regresar a la fuente</a:t>
            </a:r>
          </a:p>
        </p:txBody>
      </p:sp>
      <p:sp>
        <p:nvSpPr>
          <p:cNvPr id="36" name="">
            <a:extLst xmlns:a="http://schemas.openxmlformats.org/drawingml/2006/main">
              <a:ext uri="{FF2B5EF4-FFF2-40B4-BE49-F238E27FC236}">
                <a16:creationId xmlns:a16="http://schemas.microsoft.com/office/drawing/2014/main" id="{FF6F70C6-8200-401E-89BA-4DEF3D18892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BA83C083-496C-411A-8C30-9A7C1AA7CB4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8" name="">
            <a:extLst xmlns:a="http://schemas.openxmlformats.org/drawingml/2006/main">
              <a:ext uri="{FF2B5EF4-FFF2-40B4-BE49-F238E27FC236}">
                <a16:creationId xmlns:a16="http://schemas.microsoft.com/office/drawing/2014/main" id="{19E40224-EC96-4943-8AB7-7B32F284BEB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9" name="">
            <a:extLst xmlns:a="http://schemas.openxmlformats.org/drawingml/2006/main">
              <a:ext uri="{FF2B5EF4-FFF2-40B4-BE49-F238E27FC236}">
                <a16:creationId xmlns:a16="http://schemas.microsoft.com/office/drawing/2014/main" id="{398CC905-4355-423F-A2F0-71F69F4AE9E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09</a:t>
            </a:r>
          </a:p>
        </p:txBody>
      </p:sp>
    </p:spTree>
    <p:extLst>
      <p:ext uri="{BB962C8B-B14F-4D97-AF65-F5344CB8AC3E}">
        <p14:creationId xmlns:p14="http://schemas.microsoft.com/office/powerpoint/2010/main" val="116559409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02bbe6de57e4679"/>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e2362cfc81740a2"/>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9FEE9B0-3DEA-4151-9E59-9604684FE2DA}"/>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Organización por filas y columnas</a:t>
            </a:r>
          </a:p>
        </p:txBody>
      </p:sp>
      <p:sp>
        <p:nvSpPr>
          <p:cNvPr id="11" name="">
            <a:extLst xmlns:a="http://schemas.openxmlformats.org/drawingml/2006/main">
              <a:ext uri="{FF2B5EF4-FFF2-40B4-BE49-F238E27FC236}">
                <a16:creationId xmlns:a16="http://schemas.microsoft.com/office/drawing/2014/main" id="{6B59505E-590D-422E-9BAD-08EA3E4BE843}"/>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Por filas</a:t>
            </a:r>
          </a:p>
        </p:txBody>
      </p:sp>
      <p:sp>
        <p:nvSpPr>
          <p:cNvPr id="12" name="">
            <a:extLst xmlns:a="http://schemas.openxmlformats.org/drawingml/2006/main">
              <a:ext uri="{FF2B5EF4-FFF2-40B4-BE49-F238E27FC236}">
                <a16:creationId xmlns:a16="http://schemas.microsoft.com/office/drawing/2014/main" id="{2D94202A-B09A-4D35-9F48-B95FDE2EDEF6}"/>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Campos de un registro juntos. Útil para recuperar el registro completo.</a:t>
            </a:r>
          </a:p>
        </p:txBody>
      </p:sp>
      <p:sp>
        <p:nvSpPr>
          <p:cNvPr id="13" name="">
            <a:extLst xmlns:a="http://schemas.openxmlformats.org/drawingml/2006/main">
              <a:ext uri="{FF2B5EF4-FFF2-40B4-BE49-F238E27FC236}">
                <a16:creationId xmlns:a16="http://schemas.microsoft.com/office/drawing/2014/main" id="{F23E4312-C162-4451-8010-363F489411D5}"/>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Por columnas</a:t>
            </a:r>
          </a:p>
        </p:txBody>
      </p:sp>
      <p:sp>
        <p:nvSpPr>
          <p:cNvPr id="14" name="">
            <a:extLst xmlns:a="http://schemas.openxmlformats.org/drawingml/2006/main">
              <a:ext uri="{FF2B5EF4-FFF2-40B4-BE49-F238E27FC236}">
                <a16:creationId xmlns:a16="http://schemas.microsoft.com/office/drawing/2014/main" id="{CDAD56D6-852A-4FCE-AFA5-D86AF8D00BAD}"/>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Valores del mismo campo juntos.</a:t>
            </a:r>
          </a:p>
        </p:txBody>
      </p:sp>
      <p:sp>
        <p:nvSpPr>
          <p:cNvPr id="15" name="">
            <a:extLst xmlns:a="http://schemas.openxmlformats.org/drawingml/2006/main">
              <a:ext uri="{FF2B5EF4-FFF2-40B4-BE49-F238E27FC236}">
                <a16:creationId xmlns:a16="http://schemas.microsoft.com/office/drawing/2014/main" id="{617F6D02-5016-4719-97CF-3772A3FD68A7}"/>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Consulta selectiva</a:t>
            </a:r>
          </a:p>
        </p:txBody>
      </p:sp>
      <p:sp>
        <p:nvSpPr>
          <p:cNvPr id="16" name="">
            <a:extLst xmlns:a="http://schemas.openxmlformats.org/drawingml/2006/main">
              <a:ext uri="{FF2B5EF4-FFF2-40B4-BE49-F238E27FC236}">
                <a16:creationId xmlns:a16="http://schemas.microsoft.com/office/drawing/2014/main" id="{2795CBD5-2B65-4147-904B-370F7304484D}"/>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Leer pocas columnas puede reducir los bytes examinados.</a:t>
            </a:r>
          </a:p>
        </p:txBody>
      </p:sp>
      <p:sp>
        <p:nvSpPr>
          <p:cNvPr id="17" name="">
            <a:extLst xmlns:a="http://schemas.openxmlformats.org/drawingml/2006/main">
              <a:ext uri="{FF2B5EF4-FFF2-40B4-BE49-F238E27FC236}">
                <a16:creationId xmlns:a16="http://schemas.microsoft.com/office/drawing/2014/main" id="{105A9752-A2B5-4D11-800B-674353C56E07}"/>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La elección depende de las columnas y registros que necesita la consulta</a:t>
            </a:r>
          </a:p>
        </p:txBody>
      </p:sp>
      <p:sp>
        <p:nvSpPr>
          <p:cNvPr id="36" name="">
            <a:extLst xmlns:a="http://schemas.openxmlformats.org/drawingml/2006/main">
              <a:ext uri="{FF2B5EF4-FFF2-40B4-BE49-F238E27FC236}">
                <a16:creationId xmlns:a16="http://schemas.microsoft.com/office/drawing/2014/main" id="{9AE2699C-0305-4353-BEBD-4938B5FA2464}"/>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DC282432-F67A-40BF-BE89-6062F5E5C442}"/>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8" name="">
            <a:extLst xmlns:a="http://schemas.openxmlformats.org/drawingml/2006/main">
              <a:ext uri="{FF2B5EF4-FFF2-40B4-BE49-F238E27FC236}">
                <a16:creationId xmlns:a16="http://schemas.microsoft.com/office/drawing/2014/main" id="{4B1C855E-5936-4670-89DC-D2EF42848430}"/>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9" name="">
            <a:extLst xmlns:a="http://schemas.openxmlformats.org/drawingml/2006/main">
              <a:ext uri="{FF2B5EF4-FFF2-40B4-BE49-F238E27FC236}">
                <a16:creationId xmlns:a16="http://schemas.microsoft.com/office/drawing/2014/main" id="{E6D88CAC-BDCD-4861-9CCD-3037C2787A5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10</a:t>
            </a:r>
          </a:p>
        </p:txBody>
      </p:sp>
    </p:spTree>
    <p:extLst>
      <p:ext uri="{BB962C8B-B14F-4D97-AF65-F5344CB8AC3E}">
        <p14:creationId xmlns:p14="http://schemas.microsoft.com/office/powerpoint/2010/main" val="176643529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50874449bee4300"/>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84AF90F-605B-4134-9D3F-D049FE62B541}"/>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CSV y JSON de fuentes reales</a:t>
            </a:r>
          </a:p>
        </p:txBody>
      </p:sp>
      <p:sp>
        <p:nvSpPr>
          <p:cNvPr id="2" name="">
            <a:extLst xmlns:a="http://schemas.openxmlformats.org/drawingml/2006/main">
              <a:ext uri="{FF2B5EF4-FFF2-40B4-BE49-F238E27FC236}">
                <a16:creationId xmlns:a16="http://schemas.microsoft.com/office/drawing/2014/main" id="{DF376F65-DA77-4900-BA76-D16AAE04C37F}"/>
              </a:ext>
            </a:extLst>
          </p:cNvPr>
          <p:cNvSpPr>
            <a:spLocks xmlns:a="http://schemas.openxmlformats.org/drawingml/2006/main" noGrp="1"/>
          </p:cNvSpPr>
          <p:nvPr/>
        </p:nvSpPr>
        <p:spPr>
          <a:xfrm xmlns:a="http://schemas.openxmlformats.org/drawingml/2006/main">
            <a:off x="609600" y="1952625"/>
            <a:ext cx="109537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import pandas as pd, json</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d = pd.read_csv("data/raw/divipola.csv", dtype=str)</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n = json.load(open("data/raw/nasa.json"))</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print(d.columns.tolist())</a:t>
            </a:r>
          </a:p>
          <a:p xmlns:a="http://schemas.openxmlformats.org/drawingml/2006/main">
            <a:pPr>
              <a:buNone/>
              <a:defRPr sz="1875" b="0">
                <a:solidFill>
                  <a:srgbClr val="1F3864"/>
                </a:solidFill>
                <a:latin typeface="Menlo"/>
                <a:ea typeface="Menlo"/>
                <a:cs typeface="Menlo"/>
              </a:defRPr>
            </a:pPr>
            <a:r>
              <a:rPr sz="1875" b="0">
                <a:solidFill>
                  <a:srgbClr val="1F3864"/>
                </a:solidFill>
                <a:latin typeface="Menlo"/>
                <a:ea typeface="Menlo"/>
                <a:cs typeface="Menlo"/>
              </a:rPr>
              <a:t>print(n["properties"]["parameter"].keys())</a:t>
            </a:r>
          </a:p>
        </p:txBody>
      </p:sp>
      <p:sp>
        <p:nvSpPr>
          <p:cNvPr id="3" name="">
            <a:extLst xmlns:a="http://schemas.openxmlformats.org/drawingml/2006/main">
              <a:ext uri="{FF2B5EF4-FFF2-40B4-BE49-F238E27FC236}">
                <a16:creationId xmlns:a16="http://schemas.microsoft.com/office/drawing/2014/main" id="{5F940820-F7D1-4A08-910A-01E37F5D108E}"/>
              </a:ext>
            </a:extLst>
          </p:cNvPr>
          <p:cNvSpPr>
            <a:spLocks xmlns:a="http://schemas.openxmlformats.org/drawingml/2006/main" noGrp="1"/>
          </p:cNvSpPr>
          <p:nvPr/>
        </p:nvSpPr>
        <p:spPr>
          <a:xfrm xmlns:a="http://schemas.openxmlformats.org/drawingml/2006/main">
            <a:off x="609600" y="56578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Helvetica Neue"/>
                <a:ea typeface="Helvetica Neue"/>
                <a:cs typeface="Helvetica Neue"/>
              </a:defRPr>
            </a:pPr>
            <a:r>
              <a:rPr sz="1875" b="0">
                <a:solidFill>
                  <a:srgbClr val="1F3864"/>
                </a:solidFill>
                <a:latin typeface="Helvetica Neue"/>
                <a:ea typeface="Helvetica Neue"/>
                <a:cs typeface="Helvetica Neue"/>
              </a:rPr>
              <a:t>Comparar tabla territorial y series anidadas; no son la misma entidad.</a:t>
            </a:r>
          </a:p>
        </p:txBody>
      </p:sp>
      <p:sp>
        <p:nvSpPr>
          <p:cNvPr id="20" name="">
            <a:extLst xmlns:a="http://schemas.openxmlformats.org/drawingml/2006/main">
              <a:ext uri="{FF2B5EF4-FFF2-40B4-BE49-F238E27FC236}">
                <a16:creationId xmlns:a16="http://schemas.microsoft.com/office/drawing/2014/main" id="{9A1A42E9-EF26-4BF1-BBE1-2488EE213F8F}"/>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905A5062-C23C-47DA-BBF2-95121222925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2" name="">
            <a:extLst xmlns:a="http://schemas.openxmlformats.org/drawingml/2006/main">
              <a:ext uri="{FF2B5EF4-FFF2-40B4-BE49-F238E27FC236}">
                <a16:creationId xmlns:a16="http://schemas.microsoft.com/office/drawing/2014/main" id="{4A7CCD37-368D-4081-BBC9-5B8DDEEC909E}"/>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3" name="">
            <a:extLst xmlns:a="http://schemas.openxmlformats.org/drawingml/2006/main">
              <a:ext uri="{FF2B5EF4-FFF2-40B4-BE49-F238E27FC236}">
                <a16:creationId xmlns:a16="http://schemas.microsoft.com/office/drawing/2014/main" id="{728A0417-27D5-4AC3-BF2A-16FB0052090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11</a:t>
            </a:r>
          </a:p>
        </p:txBody>
      </p:sp>
    </p:spTree>
    <p:extLst>
      <p:ext uri="{BB962C8B-B14F-4D97-AF65-F5344CB8AC3E}">
        <p14:creationId xmlns:p14="http://schemas.microsoft.com/office/powerpoint/2010/main" val="1568837652"/>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77ef47fa8b54cd4"/>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0347b92dfae54b64"/>
          <a:stretch xmlns:a="http://schemas.openxmlformats.org/drawingml/2006/main"/>
        </p:blipFill>
        <p:spPr>
          <a:xfrm xmlns:a="http://schemas.openxmlformats.org/drawingml/2006/main">
            <a:off x="400050" y="1412875"/>
            <a:ext cx="6705600" cy="4470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9FDC289-39D1-4942-8C82-19007A68271B}"/>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Comparación de formatos</a:t>
            </a:r>
          </a:p>
        </p:txBody>
      </p:sp>
      <p:sp>
        <p:nvSpPr>
          <p:cNvPr id="9" name="">
            <a:extLst xmlns:a="http://schemas.openxmlformats.org/drawingml/2006/main">
              <a:ext uri="{FF2B5EF4-FFF2-40B4-BE49-F238E27FC236}">
                <a16:creationId xmlns:a16="http://schemas.microsoft.com/office/drawing/2014/main" id="{C8E4D632-7910-48A8-A2EF-9BA0200DC737}"/>
              </a:ext>
            </a:extLst>
          </p:cNvPr>
          <p:cNvSpPr>
            <a:spLocks xmlns:a="http://schemas.openxmlformats.org/drawingml/2006/main" noGrp="1"/>
          </p:cNvSpPr>
          <p:nvPr/>
        </p:nvSpPr>
        <p:spPr>
          <a:xfrm xmlns:a="http://schemas.openxmlformats.org/drawingml/2006/main">
            <a:off x="76200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CSV</a:t>
            </a:r>
          </a:p>
        </p:txBody>
      </p:sp>
      <p:sp>
        <p:nvSpPr>
          <p:cNvPr id="10" name="">
            <a:extLst xmlns:a="http://schemas.openxmlformats.org/drawingml/2006/main">
              <a:ext uri="{FF2B5EF4-FFF2-40B4-BE49-F238E27FC236}">
                <a16:creationId xmlns:a16="http://schemas.microsoft.com/office/drawing/2014/main" id="{A7327DFC-828F-4E56-835F-0D6929ECF274}"/>
              </a:ext>
            </a:extLst>
          </p:cNvPr>
          <p:cNvSpPr>
            <a:spLocks xmlns:a="http://schemas.openxmlformats.org/drawingml/2006/main" noGrp="1"/>
          </p:cNvSpPr>
          <p:nvPr/>
        </p:nvSpPr>
        <p:spPr>
          <a:xfrm xmlns:a="http://schemas.openxmlformats.org/drawingml/2006/main">
            <a:off x="76200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Intercambio simple. Revisar tipos, separadores y codificación.</a:t>
            </a:r>
          </a:p>
        </p:txBody>
      </p:sp>
      <p:sp>
        <p:nvSpPr>
          <p:cNvPr id="11" name="">
            <a:extLst xmlns:a="http://schemas.openxmlformats.org/drawingml/2006/main">
              <a:ext uri="{FF2B5EF4-FFF2-40B4-BE49-F238E27FC236}">
                <a16:creationId xmlns:a16="http://schemas.microsoft.com/office/drawing/2014/main" id="{A1C91E9B-4169-43AE-9580-F443663B6CC6}"/>
              </a:ext>
            </a:extLst>
          </p:cNvPr>
          <p:cNvSpPr>
            <a:spLocks xmlns:a="http://schemas.openxmlformats.org/drawingml/2006/main" noGrp="1"/>
          </p:cNvSpPr>
          <p:nvPr/>
        </p:nvSpPr>
        <p:spPr>
          <a:xfrm xmlns:a="http://schemas.openxmlformats.org/drawingml/2006/main">
            <a:off x="76200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JSON</a:t>
            </a:r>
          </a:p>
        </p:txBody>
      </p:sp>
      <p:sp>
        <p:nvSpPr>
          <p:cNvPr id="12" name="">
            <a:extLst xmlns:a="http://schemas.openxmlformats.org/drawingml/2006/main">
              <a:ext uri="{FF2B5EF4-FFF2-40B4-BE49-F238E27FC236}">
                <a16:creationId xmlns:a16="http://schemas.microsoft.com/office/drawing/2014/main" id="{88137B8E-4F6A-497D-B016-F556E01707FB}"/>
              </a:ext>
            </a:extLst>
          </p:cNvPr>
          <p:cNvSpPr>
            <a:spLocks xmlns:a="http://schemas.openxmlformats.org/drawingml/2006/main" noGrp="1"/>
          </p:cNvSpPr>
          <p:nvPr/>
        </p:nvSpPr>
        <p:spPr>
          <a:xfrm xmlns:a="http://schemas.openxmlformats.org/drawingml/2006/main">
            <a:off x="76200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Estructuras anidadas. Revisar variación de esquema y tamaño.</a:t>
            </a:r>
          </a:p>
        </p:txBody>
      </p:sp>
      <p:sp>
        <p:nvSpPr>
          <p:cNvPr id="13" name="">
            <a:extLst xmlns:a="http://schemas.openxmlformats.org/drawingml/2006/main">
              <a:ext uri="{FF2B5EF4-FFF2-40B4-BE49-F238E27FC236}">
                <a16:creationId xmlns:a16="http://schemas.microsoft.com/office/drawing/2014/main" id="{F1563624-D7C2-4A69-B120-49DB33A37FAE}"/>
              </a:ext>
            </a:extLst>
          </p:cNvPr>
          <p:cNvSpPr>
            <a:spLocks xmlns:a="http://schemas.openxmlformats.org/drawingml/2006/main" noGrp="1"/>
          </p:cNvSpPr>
          <p:nvPr/>
        </p:nvSpPr>
        <p:spPr>
          <a:xfrm xmlns:a="http://schemas.openxmlformats.org/drawingml/2006/main">
            <a:off x="76200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Parquet</a:t>
            </a:r>
          </a:p>
        </p:txBody>
      </p:sp>
      <p:sp>
        <p:nvSpPr>
          <p:cNvPr id="14" name="">
            <a:extLst xmlns:a="http://schemas.openxmlformats.org/drawingml/2006/main">
              <a:ext uri="{FF2B5EF4-FFF2-40B4-BE49-F238E27FC236}">
                <a16:creationId xmlns:a16="http://schemas.microsoft.com/office/drawing/2014/main" id="{1CDF8FAE-2467-41C9-AB19-2681C977EACC}"/>
              </a:ext>
            </a:extLst>
          </p:cNvPr>
          <p:cNvSpPr>
            <a:spLocks xmlns:a="http://schemas.openxmlformats.org/drawingml/2006/main" noGrp="1"/>
          </p:cNvSpPr>
          <p:nvPr/>
        </p:nvSpPr>
        <p:spPr>
          <a:xfrm xmlns:a="http://schemas.openxmlformats.org/drawingml/2006/main">
            <a:off x="76200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Columnas, compresión y metadatos. Evaluar diseño y compatibilidad.</a:t>
            </a:r>
          </a:p>
        </p:txBody>
      </p:sp>
      <p:sp>
        <p:nvSpPr>
          <p:cNvPr id="15" name="">
            <a:extLst xmlns:a="http://schemas.openxmlformats.org/drawingml/2006/main">
              <a:ext uri="{FF2B5EF4-FFF2-40B4-BE49-F238E27FC236}">
                <a16:creationId xmlns:a16="http://schemas.microsoft.com/office/drawing/2014/main" id="{F47D893A-D710-4AA5-AD2D-A62066E1771A}"/>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Comparar formatos para la consulta real, con el mismo conjunto de datos</a:t>
            </a:r>
          </a:p>
        </p:txBody>
      </p:sp>
      <p:sp>
        <p:nvSpPr>
          <p:cNvPr id="34" name="">
            <a:extLst xmlns:a="http://schemas.openxmlformats.org/drawingml/2006/main">
              <a:ext uri="{FF2B5EF4-FFF2-40B4-BE49-F238E27FC236}">
                <a16:creationId xmlns:a16="http://schemas.microsoft.com/office/drawing/2014/main" id="{894767D2-635A-4966-A5B8-BC28604CC4A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ACB40523-AD13-42E2-AB57-ADBC2699561D}"/>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53501363-1C59-41B1-AE65-CB6FBD65F8C7}"/>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7" name="">
            <a:extLst xmlns:a="http://schemas.openxmlformats.org/drawingml/2006/main">
              <a:ext uri="{FF2B5EF4-FFF2-40B4-BE49-F238E27FC236}">
                <a16:creationId xmlns:a16="http://schemas.microsoft.com/office/drawing/2014/main" id="{B891D073-0593-44EF-8316-4832B95B52C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12</a:t>
            </a:r>
          </a:p>
        </p:txBody>
      </p:sp>
    </p:spTree>
    <p:extLst>
      <p:ext uri="{BB962C8B-B14F-4D97-AF65-F5344CB8AC3E}">
        <p14:creationId xmlns:p14="http://schemas.microsoft.com/office/powerpoint/2010/main" val="91896448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26542d5ab0ac49a7"/>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af8d8bffbfe474a"/>
          <a:stretch xmlns:a="http://schemas.openxmlformats.org/drawingml/2006/main"/>
        </p:blipFill>
        <p:spPr>
          <a:xfrm xmlns:a="http://schemas.openxmlformats.org/drawingml/2006/main">
            <a:off x="5067300" y="1412875"/>
            <a:ext cx="6705600" cy="4470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BD18A79-F907-444A-A805-6830A1CEC8E3}"/>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Contrato mínimo de datos</a:t>
            </a:r>
          </a:p>
        </p:txBody>
      </p:sp>
      <p:sp>
        <p:nvSpPr>
          <p:cNvPr id="9" name="">
            <a:extLst xmlns:a="http://schemas.openxmlformats.org/drawingml/2006/main">
              <a:ext uri="{FF2B5EF4-FFF2-40B4-BE49-F238E27FC236}">
                <a16:creationId xmlns:a16="http://schemas.microsoft.com/office/drawing/2014/main" id="{0C71EE9C-8920-4040-975D-CD8B0410C3BF}"/>
              </a:ext>
            </a:extLst>
          </p:cNvPr>
          <p:cNvSpPr>
            <a:spLocks xmlns:a="http://schemas.openxmlformats.org/drawingml/2006/main" noGrp="1"/>
          </p:cNvSpPr>
          <p:nvPr/>
        </p:nvSpPr>
        <p:spPr>
          <a:xfrm xmlns:a="http://schemas.openxmlformats.org/drawingml/2006/main">
            <a:off x="609600" y="16764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Identidad y período</a:t>
            </a:r>
          </a:p>
        </p:txBody>
      </p:sp>
      <p:sp>
        <p:nvSpPr>
          <p:cNvPr id="10" name="">
            <a:extLst xmlns:a="http://schemas.openxmlformats.org/drawingml/2006/main">
              <a:ext uri="{FF2B5EF4-FFF2-40B4-BE49-F238E27FC236}">
                <a16:creationId xmlns:a16="http://schemas.microsoft.com/office/drawing/2014/main" id="{2E847E06-8329-495B-AEA2-4DEF2033D9F0}"/>
              </a:ext>
            </a:extLst>
          </p:cNvPr>
          <p:cNvSpPr>
            <a:spLocks xmlns:a="http://schemas.openxmlformats.org/drawingml/2006/main" noGrp="1"/>
          </p:cNvSpPr>
          <p:nvPr/>
        </p:nvSpPr>
        <p:spPr>
          <a:xfrm xmlns:a="http://schemas.openxmlformats.org/drawingml/2006/main">
            <a:off x="609600" y="208597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Código municipal: texto de 5 caracteres. Año documentado.</a:t>
            </a:r>
          </a:p>
        </p:txBody>
      </p:sp>
      <p:sp>
        <p:nvSpPr>
          <p:cNvPr id="11" name="">
            <a:extLst xmlns:a="http://schemas.openxmlformats.org/drawingml/2006/main">
              <a:ext uri="{FF2B5EF4-FFF2-40B4-BE49-F238E27FC236}">
                <a16:creationId xmlns:a16="http://schemas.microsoft.com/office/drawing/2014/main" id="{70A55C0C-8EA6-4FA4-A239-81E72898E278}"/>
              </a:ext>
            </a:extLst>
          </p:cNvPr>
          <p:cNvSpPr>
            <a:spLocks xmlns:a="http://schemas.openxmlformats.org/drawingml/2006/main" noGrp="1"/>
          </p:cNvSpPr>
          <p:nvPr/>
        </p:nvSpPr>
        <p:spPr>
          <a:xfrm xmlns:a="http://schemas.openxmlformats.org/drawingml/2006/main">
            <a:off x="609600" y="30765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Área y producción</a:t>
            </a:r>
          </a:p>
        </p:txBody>
      </p:sp>
      <p:sp>
        <p:nvSpPr>
          <p:cNvPr id="12" name="">
            <a:extLst xmlns:a="http://schemas.openxmlformats.org/drawingml/2006/main">
              <a:ext uri="{FF2B5EF4-FFF2-40B4-BE49-F238E27FC236}">
                <a16:creationId xmlns:a16="http://schemas.microsoft.com/office/drawing/2014/main" id="{DC924CDA-BC03-4DAF-8AF1-D972EA52D522}"/>
              </a:ext>
            </a:extLst>
          </p:cNvPr>
          <p:cNvSpPr>
            <a:spLocks xmlns:a="http://schemas.openxmlformats.org/drawingml/2006/main" noGrp="1"/>
          </p:cNvSpPr>
          <p:nvPr/>
        </p:nvSpPr>
        <p:spPr>
          <a:xfrm xmlns:a="http://schemas.openxmlformats.org/drawingml/2006/main">
            <a:off x="609600" y="3486150"/>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Área cosechada mayor que cero. Toneladas y estado físico explícitos.</a:t>
            </a:r>
          </a:p>
        </p:txBody>
      </p:sp>
      <p:sp>
        <p:nvSpPr>
          <p:cNvPr id="13" name="">
            <a:extLst xmlns:a="http://schemas.openxmlformats.org/drawingml/2006/main">
              <a:ext uri="{FF2B5EF4-FFF2-40B4-BE49-F238E27FC236}">
                <a16:creationId xmlns:a16="http://schemas.microsoft.com/office/drawing/2014/main" id="{1B312BF4-3A44-4C92-A225-F91C07A87F9C}"/>
              </a:ext>
            </a:extLst>
          </p:cNvPr>
          <p:cNvSpPr>
            <a:spLocks xmlns:a="http://schemas.openxmlformats.org/drawingml/2006/main" noGrp="1"/>
          </p:cNvSpPr>
          <p:nvPr/>
        </p:nvSpPr>
        <p:spPr>
          <a:xfrm xmlns:a="http://schemas.openxmlformats.org/drawingml/2006/main">
            <a:off x="609600" y="44767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pH</a:t>
            </a:r>
          </a:p>
        </p:txBody>
      </p:sp>
      <p:sp>
        <p:nvSpPr>
          <p:cNvPr id="14" name="">
            <a:extLst xmlns:a="http://schemas.openxmlformats.org/drawingml/2006/main">
              <a:ext uri="{FF2B5EF4-FFF2-40B4-BE49-F238E27FC236}">
                <a16:creationId xmlns:a16="http://schemas.microsoft.com/office/drawing/2014/main" id="{F8096AD1-DA24-4A44-B087-B8F4CF535F32}"/>
              </a:ext>
            </a:extLst>
          </p:cNvPr>
          <p:cNvSpPr>
            <a:spLocks xmlns:a="http://schemas.openxmlformats.org/drawingml/2006/main" noGrp="1"/>
          </p:cNvSpPr>
          <p:nvPr/>
        </p:nvSpPr>
        <p:spPr>
          <a:xfrm xmlns:a="http://schemas.openxmlformats.org/drawingml/2006/main">
            <a:off x="609600" y="4886325"/>
            <a:ext cx="40195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Método, unidad, fecha y profundidad documentados.</a:t>
            </a:r>
          </a:p>
        </p:txBody>
      </p:sp>
      <p:sp>
        <p:nvSpPr>
          <p:cNvPr id="15" name="">
            <a:extLst xmlns:a="http://schemas.openxmlformats.org/drawingml/2006/main">
              <a:ext uri="{FF2B5EF4-FFF2-40B4-BE49-F238E27FC236}">
                <a16:creationId xmlns:a16="http://schemas.microsoft.com/office/drawing/2014/main" id="{22265391-33E1-4B82-A358-E40AAF684B34}"/>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Un contrato permite verificar significado, tipos y reglas antes del análisis</a:t>
            </a:r>
          </a:p>
        </p:txBody>
      </p:sp>
      <p:sp>
        <p:nvSpPr>
          <p:cNvPr id="34" name="">
            <a:extLst xmlns:a="http://schemas.openxmlformats.org/drawingml/2006/main">
              <a:ext uri="{FF2B5EF4-FFF2-40B4-BE49-F238E27FC236}">
                <a16:creationId xmlns:a16="http://schemas.microsoft.com/office/drawing/2014/main" id="{F644B964-6346-45CD-AF9B-7E73CB733CE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C9CC9FB9-503E-46E5-A6B5-80E85AF4369E}"/>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6" name="">
            <a:extLst xmlns:a="http://schemas.openxmlformats.org/drawingml/2006/main">
              <a:ext uri="{FF2B5EF4-FFF2-40B4-BE49-F238E27FC236}">
                <a16:creationId xmlns:a16="http://schemas.microsoft.com/office/drawing/2014/main" id="{C7D8C532-7407-45DA-8202-F0D0715EFA75}"/>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7" name="">
            <a:extLst xmlns:a="http://schemas.openxmlformats.org/drawingml/2006/main">
              <a:ext uri="{FF2B5EF4-FFF2-40B4-BE49-F238E27FC236}">
                <a16:creationId xmlns:a16="http://schemas.microsoft.com/office/drawing/2014/main" id="{F3F04C85-6564-4B23-A9E0-675CE321B0B0}"/>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13</a:t>
            </a:r>
          </a:p>
        </p:txBody>
      </p:sp>
    </p:spTree>
    <p:extLst>
      <p:ext uri="{BB962C8B-B14F-4D97-AF65-F5344CB8AC3E}">
        <p14:creationId xmlns:p14="http://schemas.microsoft.com/office/powerpoint/2010/main" val="182548359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8170d29971b44e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962DE97-84E9-4C9C-8280-8633BFCC874C}"/>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E04: demostración del contrato</a:t>
            </a:r>
          </a:p>
        </p:txBody>
      </p:sp>
      <p:sp>
        <p:nvSpPr>
          <p:cNvPr id="3" name="">
            <a:extLst xmlns:a="http://schemas.openxmlformats.org/drawingml/2006/main">
              <a:ext uri="{FF2B5EF4-FFF2-40B4-BE49-F238E27FC236}">
                <a16:creationId xmlns:a16="http://schemas.microsoft.com/office/drawing/2014/main" id="{A83A6FB1-0784-4860-8CA7-F782D867205F}"/>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18:45–19:15: ejecución del profesor</a:t>
            </a:r>
          </a:p>
        </p:txBody>
      </p:sp>
      <p:sp>
        <p:nvSpPr>
          <p:cNvPr id="4" name="">
            <a:extLst xmlns:a="http://schemas.openxmlformats.org/drawingml/2006/main">
              <a:ext uri="{FF2B5EF4-FFF2-40B4-BE49-F238E27FC236}">
                <a16:creationId xmlns:a16="http://schemas.microsoft.com/office/drawing/2014/main" id="{84844507-79E0-49E4-9BDD-FC9FE11E52FE}"/>
              </a:ext>
            </a:extLst>
          </p:cNvPr>
          <p:cNvSpPr>
            <a:spLocks xmlns:a="http://schemas.openxmlformats.org/drawingml/2006/main" noGrp="1"/>
          </p:cNvSpPr>
          <p:nvPr/>
        </p:nvSpPr>
        <p:spPr>
          <a:xfrm xmlns:a="http://schemas.openxmlformats.org/drawingml/2006/main">
            <a:off x="685800" y="1952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Mostrar tipos, claves, reglas y ausencias. Contrastar suelo, territorio y reportes PQRS.</a:t>
            </a:r>
          </a:p>
        </p:txBody>
      </p:sp>
      <p:sp>
        <p:nvSpPr>
          <p:cNvPr id="5" name="">
            <a:extLst xmlns:a="http://schemas.openxmlformats.org/drawingml/2006/main">
              <a:ext uri="{FF2B5EF4-FFF2-40B4-BE49-F238E27FC236}">
                <a16:creationId xmlns:a16="http://schemas.microsoft.com/office/drawing/2014/main" id="{9C0086D0-F8EF-4C5C-ACA8-9EF951478A6D}"/>
              </a:ext>
            </a:extLst>
          </p:cNvPr>
          <p:cNvSpPr>
            <a:spLocks xmlns:a="http://schemas.openxmlformats.org/drawingml/2006/main" noGrp="1"/>
          </p:cNvSpPr>
          <p:nvPr/>
        </p:nvSpPr>
        <p:spPr>
          <a:xfrm xmlns:a="http://schemas.openxmlformats.org/drawingml/2006/main">
            <a:off x="685800" y="2886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Decisiones de arquitectura</a:t>
            </a:r>
          </a:p>
        </p:txBody>
      </p:sp>
      <p:sp>
        <p:nvSpPr>
          <p:cNvPr id="6" name="">
            <a:extLst xmlns:a="http://schemas.openxmlformats.org/drawingml/2006/main">
              <a:ext uri="{FF2B5EF4-FFF2-40B4-BE49-F238E27FC236}">
                <a16:creationId xmlns:a16="http://schemas.microsoft.com/office/drawing/2014/main" id="{65B86FF6-F216-4771-8A91-67AF72BE67E7}"/>
              </a:ext>
            </a:extLst>
          </p:cNvPr>
          <p:cNvSpPr>
            <a:spLocks xmlns:a="http://schemas.openxmlformats.org/drawingml/2006/main" noGrp="1"/>
          </p:cNvSpPr>
          <p:nvPr/>
        </p:nvSpPr>
        <p:spPr>
          <a:xfrm xmlns:a="http://schemas.openxmlformats.org/drawingml/2006/main">
            <a:off x="685800" y="3333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Separar originales, proyección Parquet y productos analíticos; justificar particiones.</a:t>
            </a:r>
          </a:p>
        </p:txBody>
      </p:sp>
      <p:sp>
        <p:nvSpPr>
          <p:cNvPr id="7" name="">
            <a:extLst xmlns:a="http://schemas.openxmlformats.org/drawingml/2006/main">
              <a:ext uri="{FF2B5EF4-FFF2-40B4-BE49-F238E27FC236}">
                <a16:creationId xmlns:a16="http://schemas.microsoft.com/office/drawing/2014/main" id="{F34C4B9A-A129-4E1E-A9FA-868A9B47F077}"/>
              </a:ext>
            </a:extLst>
          </p:cNvPr>
          <p:cNvSpPr>
            <a:spLocks xmlns:a="http://schemas.openxmlformats.org/drawingml/2006/main" noGrp="1"/>
          </p:cNvSpPr>
          <p:nvPr/>
        </p:nvSpPr>
        <p:spPr>
          <a:xfrm xmlns:a="http://schemas.openxmlformats.org/drawingml/2006/main">
            <a:off x="68580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Actividad propia del sábado</a:t>
            </a:r>
          </a:p>
        </p:txBody>
      </p:sp>
      <p:sp>
        <p:nvSpPr>
          <p:cNvPr id="8" name="">
            <a:extLst xmlns:a="http://schemas.openxmlformats.org/drawingml/2006/main">
              <a:ext uri="{FF2B5EF4-FFF2-40B4-BE49-F238E27FC236}">
                <a16:creationId xmlns:a16="http://schemas.microsoft.com/office/drawing/2014/main" id="{30EEB298-7F5B-4845-BBB0-B4858BED8182}"/>
              </a:ext>
            </a:extLst>
          </p:cNvPr>
          <p:cNvSpPr>
            <a:spLocks xmlns:a="http://schemas.openxmlformats.org/drawingml/2006/main" noGrp="1"/>
          </p:cNvSpPr>
          <p:nvPr/>
        </p:nvSpPr>
        <p:spPr>
          <a:xfrm xmlns:a="http://schemas.openxmlformats.org/drawingml/2006/main">
            <a:off x="685800" y="47148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Completar su contrato y ejecutar P02 de 10:00 a 10:20. Adjuntar la prueba de reejecución.</a:t>
            </a:r>
          </a:p>
        </p:txBody>
      </p:sp>
      <p:sp>
        <p:nvSpPr>
          <p:cNvPr id="9" name="">
            <a:extLst xmlns:a="http://schemas.openxmlformats.org/drawingml/2006/main">
              <a:ext uri="{FF2B5EF4-FFF2-40B4-BE49-F238E27FC236}">
                <a16:creationId xmlns:a16="http://schemas.microsoft.com/office/drawing/2014/main" id="{419C6C01-F002-40EF-B2CB-845EADC5B2D9}"/>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E04 se demuestra el viernes y se entrega el sábado 10/10.</a:t>
            </a:r>
          </a:p>
        </p:txBody>
      </p:sp>
      <p:sp>
        <p:nvSpPr>
          <p:cNvPr id="10" name="">
            <a:extLst xmlns:a="http://schemas.openxmlformats.org/drawingml/2006/main">
              <a:ext uri="{FF2B5EF4-FFF2-40B4-BE49-F238E27FC236}">
                <a16:creationId xmlns:a16="http://schemas.microsoft.com/office/drawing/2014/main" id="{D40D5354-61D2-421D-866A-0749F4FAFE63}"/>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579F9B62-0E3F-4703-A84C-25213E29C4E9}"/>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E04 — Ejercicio 04: Formatos y contrato de datos  |  P02 — Práctica PQRS 02: Parquet, contrato y reejecución</a:t>
            </a:r>
          </a:p>
        </p:txBody>
      </p:sp>
      <p:sp>
        <p:nvSpPr>
          <p:cNvPr id="12" name="">
            <a:extLst xmlns:a="http://schemas.openxmlformats.org/drawingml/2006/main">
              <a:ext uri="{FF2B5EF4-FFF2-40B4-BE49-F238E27FC236}">
                <a16:creationId xmlns:a16="http://schemas.microsoft.com/office/drawing/2014/main" id="{3B905143-FA30-4C52-B4FC-C797C856347B}"/>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3" name="">
            <a:extLst xmlns:a="http://schemas.openxmlformats.org/drawingml/2006/main">
              <a:ext uri="{FF2B5EF4-FFF2-40B4-BE49-F238E27FC236}">
                <a16:creationId xmlns:a16="http://schemas.microsoft.com/office/drawing/2014/main" id="{D2BA9DAB-4B8A-45B4-8A6A-2AE91A7A651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14</a:t>
            </a:r>
          </a:p>
        </p:txBody>
      </p:sp>
    </p:spTree>
    <p:extLst>
      <p:ext uri="{BB962C8B-B14F-4D97-AF65-F5344CB8AC3E}">
        <p14:creationId xmlns:p14="http://schemas.microsoft.com/office/powerpoint/2010/main" val="82483524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8e968a181d497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031EBA-78B8-4209-9033-03873278FB7F}"/>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Configuración vigente de PQRS</a:t>
            </a:r>
          </a:p>
        </p:txBody>
      </p:sp>
      <p:sp>
        <p:nvSpPr>
          <p:cNvPr id="3" name="">
            <a:extLst xmlns:a="http://schemas.openxmlformats.org/drawingml/2006/main">
              <a:ext uri="{FF2B5EF4-FFF2-40B4-BE49-F238E27FC236}">
                <a16:creationId xmlns:a16="http://schemas.microsoft.com/office/drawing/2014/main" id="{817F24FB-B2E9-4543-A00C-3329C0BBE642}"/>
              </a:ext>
            </a:extLst>
          </p:cNvPr>
          <p:cNvSpPr>
            <a:spLocks xmlns:a="http://schemas.openxmlformats.org/drawingml/2006/main" noGrp="1"/>
          </p:cNvSpPr>
          <p:nvPr/>
        </p:nvSpPr>
        <p:spPr>
          <a:xfrm xmlns:a="http://schemas.openxmlformats.org/drawingml/2006/main">
            <a:off x="685800" y="1524000"/>
            <a:ext cx="10820400" cy="431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"datos": "data/pqrs_muestras",</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"completo": false,</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"bloque": 25000,</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"repeticiones": 3</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a:t>
            </a:r>
          </a:p>
        </p:txBody>
      </p:sp>
      <p:sp>
        <p:nvSpPr>
          <p:cNvPr id="4" name="">
            <a:extLst xmlns:a="http://schemas.openxmlformats.org/drawingml/2006/main">
              <a:ext uri="{FF2B5EF4-FFF2-40B4-BE49-F238E27FC236}">
                <a16:creationId xmlns:a16="http://schemas.microsoft.com/office/drawing/2014/main" id="{A5D6A370-40E1-4E43-92F3-4616CB7FBC41}"/>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Archivo: kit/pqrs_config.json. Rutas relativas interpretadas desde kit/.</a:t>
            </a:r>
          </a:p>
        </p:txBody>
      </p:sp>
      <p:sp>
        <p:nvSpPr>
          <p:cNvPr id="11" name="">
            <a:extLst xmlns:a="http://schemas.openxmlformats.org/drawingml/2006/main">
              <a:ext uri="{FF2B5EF4-FFF2-40B4-BE49-F238E27FC236}">
                <a16:creationId xmlns:a16="http://schemas.microsoft.com/office/drawing/2014/main" id="{EDC771B3-2534-46DF-97C0-93176D350096}"/>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2" name="">
            <a:extLst xmlns:a="http://schemas.openxmlformats.org/drawingml/2006/main">
              <a:ext uri="{FF2B5EF4-FFF2-40B4-BE49-F238E27FC236}">
                <a16:creationId xmlns:a16="http://schemas.microsoft.com/office/drawing/2014/main" id="{12251F31-E8B3-4699-B470-558EB9AF4403}"/>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3" name="">
            <a:extLst xmlns:a="http://schemas.openxmlformats.org/drawingml/2006/main">
              <a:ext uri="{FF2B5EF4-FFF2-40B4-BE49-F238E27FC236}">
                <a16:creationId xmlns:a16="http://schemas.microsoft.com/office/drawing/2014/main" id="{C889EDC3-2069-43AB-82DA-0EE5DD2814D6}"/>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4" name="">
            <a:extLst xmlns:a="http://schemas.openxmlformats.org/drawingml/2006/main">
              <a:ext uri="{FF2B5EF4-FFF2-40B4-BE49-F238E27FC236}">
                <a16:creationId xmlns:a16="http://schemas.microsoft.com/office/drawing/2014/main" id="{1A231679-1F8E-4198-A12F-CAC010807F7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15</a:t>
            </a:r>
          </a:p>
        </p:txBody>
      </p:sp>
    </p:spTree>
    <p:extLst>
      <p:ext uri="{BB962C8B-B14F-4D97-AF65-F5344CB8AC3E}">
        <p14:creationId xmlns:p14="http://schemas.microsoft.com/office/powerpoint/2010/main" val="184460366"/>
      </p:ext>
    </p:extLst>
  </p:cSld>
  <p:transition spd="med" advClick="1">
    <p:fade/>
  </p:transition>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6c5981e2ef0473b"/>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25a4b8fc4d54dd5"/>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62D7FEA-6EB8-48DE-A792-63619ED720EB}"/>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Particionamiento de archivos</a:t>
            </a:r>
          </a:p>
        </p:txBody>
      </p:sp>
      <p:sp>
        <p:nvSpPr>
          <p:cNvPr id="11" name="">
            <a:extLst xmlns:a="http://schemas.openxmlformats.org/drawingml/2006/main">
              <a:ext uri="{FF2B5EF4-FFF2-40B4-BE49-F238E27FC236}">
                <a16:creationId xmlns:a16="http://schemas.microsoft.com/office/drawing/2014/main" id="{37274C5A-1EC6-4E88-BD4A-9683B46E77F9}"/>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Filtro por año</a:t>
            </a:r>
          </a:p>
        </p:txBody>
      </p:sp>
      <p:sp>
        <p:nvSpPr>
          <p:cNvPr id="12" name="">
            <a:extLst xmlns:a="http://schemas.openxmlformats.org/drawingml/2006/main">
              <a:ext uri="{FF2B5EF4-FFF2-40B4-BE49-F238E27FC236}">
                <a16:creationId xmlns:a16="http://schemas.microsoft.com/office/drawing/2014/main" id="{96368CFC-898C-41BC-A3D3-69A5C01E6D03}"/>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La consulta pide 2025.</a:t>
            </a:r>
          </a:p>
        </p:txBody>
      </p:sp>
      <p:sp>
        <p:nvSpPr>
          <p:cNvPr id="13" name="">
            <a:extLst xmlns:a="http://schemas.openxmlformats.org/drawingml/2006/main">
              <a:ext uri="{FF2B5EF4-FFF2-40B4-BE49-F238E27FC236}">
                <a16:creationId xmlns:a16="http://schemas.microsoft.com/office/drawing/2014/main" id="{64FA2E5C-A987-4DC8-8C20-BB7AB067FE1D}"/>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Lectura selectiva</a:t>
            </a:r>
          </a:p>
        </p:txBody>
      </p:sp>
      <p:sp>
        <p:nvSpPr>
          <p:cNvPr id="14" name="">
            <a:extLst xmlns:a="http://schemas.openxmlformats.org/drawingml/2006/main">
              <a:ext uri="{FF2B5EF4-FFF2-40B4-BE49-F238E27FC236}">
                <a16:creationId xmlns:a16="http://schemas.microsoft.com/office/drawing/2014/main" id="{09F17DA9-0D54-4573-9855-6685F8D44DAA}"/>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Omitir carpetas ajenas cuando el motor aprovecha la partición.</a:t>
            </a:r>
          </a:p>
        </p:txBody>
      </p:sp>
      <p:sp>
        <p:nvSpPr>
          <p:cNvPr id="15" name="">
            <a:extLst xmlns:a="http://schemas.openxmlformats.org/drawingml/2006/main">
              <a:ext uri="{FF2B5EF4-FFF2-40B4-BE49-F238E27FC236}">
                <a16:creationId xmlns:a16="http://schemas.microsoft.com/office/drawing/2014/main" id="{BEA4FFC5-D92B-42BF-B1A9-9B75154826EB}"/>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Costo de fragmentar</a:t>
            </a:r>
          </a:p>
        </p:txBody>
      </p:sp>
      <p:sp>
        <p:nvSpPr>
          <p:cNvPr id="16" name="">
            <a:extLst xmlns:a="http://schemas.openxmlformats.org/drawingml/2006/main">
              <a:ext uri="{FF2B5EF4-FFF2-40B4-BE49-F238E27FC236}">
                <a16:creationId xmlns:a16="http://schemas.microsoft.com/office/drawing/2014/main" id="{43A7AC56-B353-4137-98D7-849B4DACD87D}"/>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Muchos archivos pequeños aumentan apertura y metadatos.</a:t>
            </a:r>
          </a:p>
        </p:txBody>
      </p:sp>
      <p:sp>
        <p:nvSpPr>
          <p:cNvPr id="17" name="">
            <a:extLst xmlns:a="http://schemas.openxmlformats.org/drawingml/2006/main">
              <a:ext uri="{FF2B5EF4-FFF2-40B4-BE49-F238E27FC236}">
                <a16:creationId xmlns:a16="http://schemas.microsoft.com/office/drawing/2014/main" id="{CC7FD0B5-5E94-47DD-B70E-DF2740124268}"/>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Filtrar registros después de leer no equivale a omitir archivos</a:t>
            </a:r>
          </a:p>
        </p:txBody>
      </p:sp>
      <p:sp>
        <p:nvSpPr>
          <p:cNvPr id="36" name="">
            <a:extLst xmlns:a="http://schemas.openxmlformats.org/drawingml/2006/main">
              <a:ext uri="{FF2B5EF4-FFF2-40B4-BE49-F238E27FC236}">
                <a16:creationId xmlns:a16="http://schemas.microsoft.com/office/drawing/2014/main" id="{C703491C-B25B-4792-A14F-A928A70A0BAB}"/>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AD5145CF-1247-431C-A3A3-A5767E7D1F0E}"/>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8" name="">
            <a:extLst xmlns:a="http://schemas.openxmlformats.org/drawingml/2006/main">
              <a:ext uri="{FF2B5EF4-FFF2-40B4-BE49-F238E27FC236}">
                <a16:creationId xmlns:a16="http://schemas.microsoft.com/office/drawing/2014/main" id="{F9E5E66C-F071-4C83-BA54-695EC25CB9E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9" name="">
            <a:extLst xmlns:a="http://schemas.openxmlformats.org/drawingml/2006/main">
              <a:ext uri="{FF2B5EF4-FFF2-40B4-BE49-F238E27FC236}">
                <a16:creationId xmlns:a16="http://schemas.microsoft.com/office/drawing/2014/main" id="{8C6FED5B-6EE4-4552-9B85-E422B27A1ED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16</a:t>
            </a:r>
          </a:p>
        </p:txBody>
      </p:sp>
    </p:spTree>
    <p:extLst>
      <p:ext uri="{BB962C8B-B14F-4D97-AF65-F5344CB8AC3E}">
        <p14:creationId xmlns:p14="http://schemas.microsoft.com/office/powerpoint/2010/main" val="201541816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0e46a81199b4e6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99a6487d3984dae"/>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3927967-38B5-4293-A227-095E694541C7}"/>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Particiones y archivos Parquet</a:t>
            </a:r>
          </a:p>
        </p:txBody>
      </p:sp>
      <p:sp>
        <p:nvSpPr>
          <p:cNvPr id="4" name="">
            <a:extLst xmlns:a="http://schemas.openxmlformats.org/drawingml/2006/main">
              <a:ext uri="{FF2B5EF4-FFF2-40B4-BE49-F238E27FC236}">
                <a16:creationId xmlns:a16="http://schemas.microsoft.com/office/drawing/2014/main" id="{40977164-4BFC-4102-8859-06F4F14CE17B}"/>
              </a:ext>
            </a:extLst>
          </p:cNvPr>
          <p:cNvSpPr>
            <a:spLocks xmlns:a="http://schemas.openxmlformats.org/drawingml/2006/main" noGrp="1"/>
          </p:cNvSpPr>
          <p:nvPr/>
        </p:nvSpPr>
        <p:spPr>
          <a:xfrm xmlns:a="http://schemas.openxmlformats.org/drawingml/2006/main">
            <a:off x="7620000" y="157162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Elegir por la consulta</a:t>
            </a:r>
          </a:p>
        </p:txBody>
      </p:sp>
      <p:sp>
        <p:nvSpPr>
          <p:cNvPr id="5" name="">
            <a:extLst xmlns:a="http://schemas.openxmlformats.org/drawingml/2006/main">
              <a:ext uri="{FF2B5EF4-FFF2-40B4-BE49-F238E27FC236}">
                <a16:creationId xmlns:a16="http://schemas.microsoft.com/office/drawing/2014/main" id="{CDCE1D33-F66B-44BF-939C-7083C3BE4149}"/>
              </a:ext>
            </a:extLst>
          </p:cNvPr>
          <p:cNvSpPr>
            <a:spLocks xmlns:a="http://schemas.openxmlformats.org/drawingml/2006/main" noGrp="1"/>
          </p:cNvSpPr>
          <p:nvPr/>
        </p:nvSpPr>
        <p:spPr>
          <a:xfrm xmlns:a="http://schemas.openxmlformats.org/drawingml/2006/main">
            <a:off x="7620000" y="20097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Particionar por filtros frecuentes, con cardinalidad controlada.</a:t>
            </a:r>
          </a:p>
        </p:txBody>
      </p:sp>
      <p:sp>
        <p:nvSpPr>
          <p:cNvPr id="6" name="">
            <a:extLst xmlns:a="http://schemas.openxmlformats.org/drawingml/2006/main">
              <a:ext uri="{FF2B5EF4-FFF2-40B4-BE49-F238E27FC236}">
                <a16:creationId xmlns:a16="http://schemas.microsoft.com/office/drawing/2014/main" id="{2A34C363-2356-43E6-A84B-BF771E124464}"/>
              </a:ext>
            </a:extLst>
          </p:cNvPr>
          <p:cNvSpPr>
            <a:spLocks xmlns:a="http://schemas.openxmlformats.org/drawingml/2006/main" noGrp="1"/>
          </p:cNvSpPr>
          <p:nvPr/>
        </p:nvSpPr>
        <p:spPr>
          <a:xfrm xmlns:a="http://schemas.openxmlformats.org/drawingml/2006/main">
            <a:off x="7620000" y="296227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Revisar distribución</a:t>
            </a:r>
          </a:p>
        </p:txBody>
      </p:sp>
      <p:sp>
        <p:nvSpPr>
          <p:cNvPr id="7" name="">
            <a:extLst xmlns:a="http://schemas.openxmlformats.org/drawingml/2006/main">
              <a:ext uri="{FF2B5EF4-FFF2-40B4-BE49-F238E27FC236}">
                <a16:creationId xmlns:a16="http://schemas.microsoft.com/office/drawing/2014/main" id="{363FD776-552E-4DF5-8864-E57AC14CDF3D}"/>
              </a:ext>
            </a:extLst>
          </p:cNvPr>
          <p:cNvSpPr>
            <a:spLocks xmlns:a="http://schemas.openxmlformats.org/drawingml/2006/main" noGrp="1"/>
          </p:cNvSpPr>
          <p:nvPr/>
        </p:nvSpPr>
        <p:spPr>
          <a:xfrm xmlns:a="http://schemas.openxmlformats.org/drawingml/2006/main">
            <a:off x="7620000" y="340042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Detectar particiones calientes y exceso de archivos pequeños.</a:t>
            </a:r>
          </a:p>
        </p:txBody>
      </p:sp>
      <p:sp>
        <p:nvSpPr>
          <p:cNvPr id="8" name="">
            <a:extLst xmlns:a="http://schemas.openxmlformats.org/drawingml/2006/main">
              <a:ext uri="{FF2B5EF4-FFF2-40B4-BE49-F238E27FC236}">
                <a16:creationId xmlns:a16="http://schemas.microsoft.com/office/drawing/2014/main" id="{DBC16F28-A881-4C72-815E-3AF23AD62E43}"/>
              </a:ext>
            </a:extLst>
          </p:cNvPr>
          <p:cNvSpPr>
            <a:spLocks xmlns:a="http://schemas.openxmlformats.org/drawingml/2006/main" noGrp="1"/>
          </p:cNvSpPr>
          <p:nvPr/>
        </p:nvSpPr>
        <p:spPr>
          <a:xfrm xmlns:a="http://schemas.openxmlformats.org/drawingml/2006/main">
            <a:off x="7620000" y="435292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Medir el resultado</a:t>
            </a:r>
          </a:p>
        </p:txBody>
      </p:sp>
      <p:sp>
        <p:nvSpPr>
          <p:cNvPr id="9" name="">
            <a:extLst xmlns:a="http://schemas.openxmlformats.org/drawingml/2006/main">
              <a:ext uri="{FF2B5EF4-FFF2-40B4-BE49-F238E27FC236}">
                <a16:creationId xmlns:a16="http://schemas.microsoft.com/office/drawing/2014/main" id="{6CE40A93-88E7-4082-B522-28F647F3E598}"/>
              </a:ext>
            </a:extLst>
          </p:cNvPr>
          <p:cNvSpPr>
            <a:spLocks xmlns:a="http://schemas.openxmlformats.org/drawingml/2006/main" noGrp="1"/>
          </p:cNvSpPr>
          <p:nvPr/>
        </p:nvSpPr>
        <p:spPr>
          <a:xfrm xmlns:a="http://schemas.openxmlformats.org/drawingml/2006/main">
            <a:off x="7620000" y="47910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Comparar bytes, archivos leídos, tiempo y memoria con la misma consulta.</a:t>
            </a:r>
          </a:p>
        </p:txBody>
      </p:sp>
      <p:sp>
        <p:nvSpPr>
          <p:cNvPr id="10" name="">
            <a:extLst xmlns:a="http://schemas.openxmlformats.org/drawingml/2006/main">
              <a:ext uri="{FF2B5EF4-FFF2-40B4-BE49-F238E27FC236}">
                <a16:creationId xmlns:a16="http://schemas.microsoft.com/office/drawing/2014/main" id="{44C1F6E1-B201-473E-8111-A3F1D97CBACE}"/>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Compresión y tamaño de archivo dependen de los datos y del motor</a:t>
            </a:r>
          </a:p>
        </p:txBody>
      </p:sp>
      <p:sp>
        <p:nvSpPr>
          <p:cNvPr id="27" name="">
            <a:extLst xmlns:a="http://schemas.openxmlformats.org/drawingml/2006/main">
              <a:ext uri="{FF2B5EF4-FFF2-40B4-BE49-F238E27FC236}">
                <a16:creationId xmlns:a16="http://schemas.microsoft.com/office/drawing/2014/main" id="{779B60DA-E6F6-483A-891C-29497229AE23}"/>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55CA3E33-C06B-403B-AE46-AC0E8E36A63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9" name="">
            <a:extLst xmlns:a="http://schemas.openxmlformats.org/drawingml/2006/main">
              <a:ext uri="{FF2B5EF4-FFF2-40B4-BE49-F238E27FC236}">
                <a16:creationId xmlns:a16="http://schemas.microsoft.com/office/drawing/2014/main" id="{97356611-DD5B-4AA9-AF68-70DE6F17D5E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0" name="">
            <a:extLst xmlns:a="http://schemas.openxmlformats.org/drawingml/2006/main">
              <a:ext uri="{FF2B5EF4-FFF2-40B4-BE49-F238E27FC236}">
                <a16:creationId xmlns:a16="http://schemas.microsoft.com/office/drawing/2014/main" id="{5D90CACD-9C41-44C5-9B09-162B9E683B04}"/>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17</a:t>
            </a:r>
          </a:p>
        </p:txBody>
      </p:sp>
    </p:spTree>
    <p:extLst>
      <p:ext uri="{BB962C8B-B14F-4D97-AF65-F5344CB8AC3E}">
        <p14:creationId xmlns:p14="http://schemas.microsoft.com/office/powerpoint/2010/main" val="103226582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71ba30be31e4ced"/>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68BEABA-CB19-47D6-9050-9C284F4450FB}"/>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Una carpeta Parquet</a:t>
            </a:r>
          </a:p>
        </p:txBody>
      </p:sp>
      <p:sp>
        <p:nvSpPr>
          <p:cNvPr id="2" name="">
            <a:extLst xmlns:a="http://schemas.openxmlformats.org/drawingml/2006/main">
              <a:ext uri="{FF2B5EF4-FFF2-40B4-BE49-F238E27FC236}">
                <a16:creationId xmlns:a16="http://schemas.microsoft.com/office/drawing/2014/main" id="{7A9FA6FB-59F4-4B1C-B400-B4E29CA181D7}"/>
              </a:ext>
            </a:extLst>
          </p:cNvPr>
          <p:cNvSpPr>
            <a:spLocks xmlns:a="http://schemas.openxmlformats.org/drawingml/2006/main" noGrp="1"/>
          </p:cNvSpPr>
          <p:nvPr/>
        </p:nvSpPr>
        <p:spPr>
          <a:xfrm xmlns:a="http://schemas.openxmlformats.org/drawingml/2006/main">
            <a:off x="609600" y="2019300"/>
            <a:ext cx="10477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1F3864"/>
                </a:solidFill>
                <a:latin typeface="Helvetica Neue"/>
                <a:ea typeface="Helvetica Neue"/>
                <a:cs typeface="Helvetica Neue"/>
              </a:defRPr>
            </a:pPr>
            <a:r>
              <a:rPr sz="3450" b="1">
                <a:solidFill>
                  <a:srgbClr val="1F3864"/>
                </a:solidFill>
                <a:latin typeface="Helvetica Neue"/>
                <a:ea typeface="Helvetica Neue"/>
                <a:cs typeface="Helvetica Neue"/>
              </a:rPr>
              <a:t>¿Qué falta para llamarla lakehouse?</a:t>
            </a:r>
          </a:p>
        </p:txBody>
      </p:sp>
      <p:sp>
        <p:nvSpPr>
          <p:cNvPr id="3" name="">
            <a:extLst xmlns:a="http://schemas.openxmlformats.org/drawingml/2006/main">
              <a:ext uri="{FF2B5EF4-FFF2-40B4-BE49-F238E27FC236}">
                <a16:creationId xmlns:a16="http://schemas.microsoft.com/office/drawing/2014/main" id="{B928DA54-78BC-40FA-A3DF-E2B2E79E946F}"/>
              </a:ext>
            </a:extLst>
          </p:cNvPr>
          <p:cNvSpPr>
            <a:spLocks xmlns:a="http://schemas.openxmlformats.org/drawingml/2006/main" noGrp="1"/>
          </p:cNvSpPr>
          <p:nvPr/>
        </p:nvSpPr>
        <p:spPr>
          <a:xfrm xmlns:a="http://schemas.openxmlformats.org/drawingml/2006/main">
            <a:off x="609600" y="54387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75" b="0">
                <a:solidFill>
                  <a:srgbClr val="1F3864"/>
                </a:solidFill>
                <a:latin typeface="Helvetica Neue"/>
                <a:ea typeface="Helvetica Neue"/>
                <a:cs typeface="Helvetica Neue"/>
              </a:defRPr>
            </a:pPr>
            <a:r>
              <a:rPr sz="1875" b="0">
                <a:solidFill>
                  <a:srgbClr val="1F3864"/>
                </a:solidFill>
                <a:latin typeface="Helvetica Neue"/>
                <a:ea typeface="Helvetica Neue"/>
                <a:cs typeface="Helvetica Neue"/>
              </a:rPr>
              <a:t>Respuesta individual y discusión en grupo</a:t>
            </a:r>
          </a:p>
        </p:txBody>
      </p:sp>
      <p:sp>
        <p:nvSpPr>
          <p:cNvPr id="20" name="">
            <a:extLst xmlns:a="http://schemas.openxmlformats.org/drawingml/2006/main">
              <a:ext uri="{FF2B5EF4-FFF2-40B4-BE49-F238E27FC236}">
                <a16:creationId xmlns:a16="http://schemas.microsoft.com/office/drawing/2014/main" id="{82FACDA0-E728-444A-87D7-15409B4F1EC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6AA9E7D7-5F92-4E09-9210-F4C18E7E47C4}"/>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2" name="">
            <a:extLst xmlns:a="http://schemas.openxmlformats.org/drawingml/2006/main">
              <a:ext uri="{FF2B5EF4-FFF2-40B4-BE49-F238E27FC236}">
                <a16:creationId xmlns:a16="http://schemas.microsoft.com/office/drawing/2014/main" id="{8C688E5A-49A8-488A-BFF8-7DA66DE1B296}"/>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3" name="">
            <a:extLst xmlns:a="http://schemas.openxmlformats.org/drawingml/2006/main">
              <a:ext uri="{FF2B5EF4-FFF2-40B4-BE49-F238E27FC236}">
                <a16:creationId xmlns:a16="http://schemas.microsoft.com/office/drawing/2014/main" id="{8085B7C1-BD1B-4F92-9E54-CA94DB3AF342}"/>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18</a:t>
            </a:r>
          </a:p>
        </p:txBody>
      </p:sp>
    </p:spTree>
    <p:extLst>
      <p:ext uri="{BB962C8B-B14F-4D97-AF65-F5344CB8AC3E}">
        <p14:creationId xmlns:p14="http://schemas.microsoft.com/office/powerpoint/2010/main" val="470299233"/>
      </p:ext>
    </p:extLst>
  </p:cSld>
  <p:transition spd="med" advClick="1">
    <p:fade/>
  </p:transition>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bb3356f6767487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22B5FA5-CADA-4CD9-AB8D-D24E85FC879C}"/>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P02, parte 1: transformación a Parquet</a:t>
            </a:r>
          </a:p>
        </p:txBody>
      </p:sp>
      <p:sp>
        <p:nvSpPr>
          <p:cNvPr id="3" name="">
            <a:extLst xmlns:a="http://schemas.openxmlformats.org/drawingml/2006/main">
              <a:ext uri="{FF2B5EF4-FFF2-40B4-BE49-F238E27FC236}">
                <a16:creationId xmlns:a16="http://schemas.microsoft.com/office/drawing/2014/main" id="{A2C8D103-825E-4C31-94A5-1D136AB03930}"/>
              </a:ext>
            </a:extLst>
          </p:cNvPr>
          <p:cNvSpPr>
            <a:spLocks xmlns:a="http://schemas.openxmlformats.org/drawingml/2006/main" noGrp="1"/>
          </p:cNvSpPr>
          <p:nvPr/>
        </p:nvSpPr>
        <p:spPr>
          <a:xfrm xmlns:a="http://schemas.openxmlformats.org/drawingml/2006/main">
            <a:off x="685800" y="1524000"/>
            <a:ext cx="108204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19:15–20:00. Desde kit/</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python pqrs_talleres.py formatos --config pqrs_config.json</a:t>
            </a:r>
          </a:p>
          <a:p xmlns:a="http://schemas.openxmlformats.org/drawingml/2006/main">
            <a:r>
              <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Abrir Notebooks/02_Parquet_y_contratos.ipynb</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Ejecutar preparación y primera llamada a lab.formatos(a)</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Inspeccionar las 16 columnas del producto</a:t>
            </a:r>
          </a:p>
          <a:p xmlns:a="http://schemas.openxmlformats.org/drawingml/2006/main">
            <a:pPr>
              <a:buNone/>
              <a:defRPr sz="1875" b="0">
                <a:solidFill>
                  <a:srgbClr val="203B68"/>
                </a:solidFill>
                <a:latin typeface="Consolas"/>
                <a:ea typeface="Consolas"/>
                <a:cs typeface="Consolas"/>
              </a:defRPr>
            </a:pPr>
            <a:r>
              <a:rPr sz="1875" b="0">
                <a:solidFill>
                  <a:srgbClr val="203B68"/>
                </a:solidFill>
                <a:latin typeface="Consolas"/>
                <a:ea typeface="Consolas"/>
                <a:cs typeface="Consolas"/>
              </a:rPr>
              <a:t># Revisar control_formatos_pqrs.json</a:t>
            </a:r>
          </a:p>
        </p:txBody>
      </p:sp>
      <p:sp>
        <p:nvSpPr>
          <p:cNvPr id="4" name="">
            <a:extLst xmlns:a="http://schemas.openxmlformats.org/drawingml/2006/main">
              <a:ext uri="{FF2B5EF4-FFF2-40B4-BE49-F238E27FC236}">
                <a16:creationId xmlns:a16="http://schemas.microsoft.com/office/drawing/2014/main" id="{796AF140-5979-43B2-A99B-9946E24914F0}"/>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45 min de ejecución. Conservar el control de la primera corrida antes de repetir.</a:t>
            </a:r>
          </a:p>
        </p:txBody>
      </p:sp>
      <p:sp>
        <p:nvSpPr>
          <p:cNvPr id="8" name="">
            <a:extLst xmlns:a="http://schemas.openxmlformats.org/drawingml/2006/main">
              <a:ext uri="{FF2B5EF4-FFF2-40B4-BE49-F238E27FC236}">
                <a16:creationId xmlns:a16="http://schemas.microsoft.com/office/drawing/2014/main" id="{F49B3543-B5FE-4374-9382-B9395AD22B3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62391C7B-6C9F-4AE9-A7EC-AE068514518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P02 — Práctica PQRS 02: Parquet, contrato y reejecución</a:t>
            </a:r>
          </a:p>
        </p:txBody>
      </p:sp>
      <p:sp>
        <p:nvSpPr>
          <p:cNvPr id="10" name="">
            <a:extLst xmlns:a="http://schemas.openxmlformats.org/drawingml/2006/main">
              <a:ext uri="{FF2B5EF4-FFF2-40B4-BE49-F238E27FC236}">
                <a16:creationId xmlns:a16="http://schemas.microsoft.com/office/drawing/2014/main" id="{F86D99A5-5892-4BFE-B876-0596722F91F1}"/>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1" name="">
            <a:extLst xmlns:a="http://schemas.openxmlformats.org/drawingml/2006/main">
              <a:ext uri="{FF2B5EF4-FFF2-40B4-BE49-F238E27FC236}">
                <a16:creationId xmlns:a16="http://schemas.microsoft.com/office/drawing/2014/main" id="{56DE53D2-79B8-4160-9072-E0A027B94E14}"/>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19</a:t>
            </a:r>
          </a:p>
        </p:txBody>
      </p:sp>
    </p:spTree>
    <p:extLst>
      <p:ext uri="{BB962C8B-B14F-4D97-AF65-F5344CB8AC3E}">
        <p14:creationId xmlns:p14="http://schemas.microsoft.com/office/powerpoint/2010/main" val="6694593"/>
      </p:ext>
    </p:extLst>
  </p:cSld>
  <p:transition spd="med" advClick="1">
    <p:fade/>
  </p:transition>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9c4503630aa48c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C8693C-4D06-4DDB-89AB-BC1BCBD7F359}"/>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Consulta del Parquet construido en P02</a:t>
            </a:r>
          </a:p>
        </p:txBody>
      </p:sp>
      <p:sp>
        <p:nvSpPr>
          <p:cNvPr id="3" name="">
            <a:extLst xmlns:a="http://schemas.openxmlformats.org/drawingml/2006/main">
              <a:ext uri="{FF2B5EF4-FFF2-40B4-BE49-F238E27FC236}">
                <a16:creationId xmlns:a16="http://schemas.microsoft.com/office/drawing/2014/main" id="{5AFB3631-E750-4D5A-8F21-5C46D5C1AD84}"/>
              </a:ext>
            </a:extLst>
          </p:cNvPr>
          <p:cNvSpPr>
            <a:spLocks xmlns:a="http://schemas.openxmlformats.org/drawingml/2006/main" noGrp="1"/>
          </p:cNvSpPr>
          <p:nvPr/>
        </p:nvSpPr>
        <p:spPr>
          <a:xfrm xmlns:a="http://schemas.openxmlformats.org/drawingml/2006/main">
            <a:off x="685800" y="1524000"/>
            <a:ext cx="108204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 En Python o una celda de Jupyter, tras formatos</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import duckdb</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con = duckdb.connect()</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print(con.sql("""</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SELECT corte_archivo, anio, mes_num</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FROM read_parquet('salidas/pqrs/pqrs.parquet')</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WHERE anio = 2024 LIMIT 10</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a:t>
            </a:r>
          </a:p>
          <a:p xmlns:a="http://schemas.openxmlformats.org/drawingml/2006/main">
            <a:pPr>
              <a:buNone/>
              <a:defRPr sz="1800" b="0">
                <a:solidFill>
                  <a:srgbClr val="203B68"/>
                </a:solidFill>
                <a:latin typeface="Consolas"/>
                <a:ea typeface="Consolas"/>
                <a:cs typeface="Consolas"/>
              </a:defRPr>
            </a:pPr>
            <a:r>
              <a:rPr sz="1800" b="0">
                <a:solidFill>
                  <a:srgbClr val="203B68"/>
                </a:solidFill>
                <a:latin typeface="Consolas"/>
                <a:ea typeface="Consolas"/>
                <a:cs typeface="Consolas"/>
              </a:rPr>
              <a:t>con.close()</a:t>
            </a:r>
          </a:p>
        </p:txBody>
      </p:sp>
      <p:sp>
        <p:nvSpPr>
          <p:cNvPr id="4" name="">
            <a:extLst xmlns:a="http://schemas.openxmlformats.org/drawingml/2006/main">
              <a:ext uri="{FF2B5EF4-FFF2-40B4-BE49-F238E27FC236}">
                <a16:creationId xmlns:a16="http://schemas.microsoft.com/office/drawing/2014/main" id="{04C3DD8F-4144-473D-9F98-F34EA6966F4A}"/>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Ruta terminal. En el notebook usar a.out / "pqrs.parquet".</a:t>
            </a:r>
          </a:p>
        </p:txBody>
      </p:sp>
      <p:sp>
        <p:nvSpPr>
          <p:cNvPr id="8" name="">
            <a:extLst xmlns:a="http://schemas.openxmlformats.org/drawingml/2006/main">
              <a:ext uri="{FF2B5EF4-FFF2-40B4-BE49-F238E27FC236}">
                <a16:creationId xmlns:a16="http://schemas.microsoft.com/office/drawing/2014/main" id="{E8FF4EFD-C22C-4131-9000-93EBD92D929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3FFCFE0B-91E8-4939-B625-3CB7ADEF3752}"/>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P02 — Práctica PQRS 02: Parquet, contrato y reejecución</a:t>
            </a:r>
          </a:p>
        </p:txBody>
      </p:sp>
      <p:sp>
        <p:nvSpPr>
          <p:cNvPr id="10" name="">
            <a:extLst xmlns:a="http://schemas.openxmlformats.org/drawingml/2006/main">
              <a:ext uri="{FF2B5EF4-FFF2-40B4-BE49-F238E27FC236}">
                <a16:creationId xmlns:a16="http://schemas.microsoft.com/office/drawing/2014/main" id="{B7A8DD40-21AD-4C3A-B5A2-5EEBF1437085}"/>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1" name="">
            <a:extLst xmlns:a="http://schemas.openxmlformats.org/drawingml/2006/main">
              <a:ext uri="{FF2B5EF4-FFF2-40B4-BE49-F238E27FC236}">
                <a16:creationId xmlns:a16="http://schemas.microsoft.com/office/drawing/2014/main" id="{69DED408-10DA-4B06-9ACA-25E1CA95BD44}"/>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20</a:t>
            </a:r>
          </a:p>
        </p:txBody>
      </p:sp>
    </p:spTree>
    <p:extLst>
      <p:ext uri="{BB962C8B-B14F-4D97-AF65-F5344CB8AC3E}">
        <p14:creationId xmlns:p14="http://schemas.microsoft.com/office/powerpoint/2010/main" val="1423147390"/>
      </p:ext>
    </p:extLst>
  </p:cSld>
  <p:transition spd="med" advClick="1">
    <p:fade/>
  </p:transition>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e4f9df3cb624ac1"/>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322C7FD-0F0A-4E3B-B84B-12B7AE5E6845}"/>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Receso</a:t>
            </a:r>
          </a:p>
        </p:txBody>
      </p:sp>
      <p:sp>
        <p:nvSpPr>
          <p:cNvPr id="2" name="">
            <a:extLst xmlns:a="http://schemas.openxmlformats.org/drawingml/2006/main">
              <a:ext uri="{FF2B5EF4-FFF2-40B4-BE49-F238E27FC236}">
                <a16:creationId xmlns:a16="http://schemas.microsoft.com/office/drawing/2014/main" id="{F130666F-02CB-4605-B653-233D043E7F94}"/>
              </a:ext>
            </a:extLst>
          </p:cNvPr>
          <p:cNvSpPr>
            <a:spLocks xmlns:a="http://schemas.openxmlformats.org/drawingml/2006/main" noGrp="1"/>
          </p:cNvSpPr>
          <p:nvPr/>
        </p:nvSpPr>
        <p:spPr>
          <a:xfrm xmlns:a="http://schemas.openxmlformats.org/drawingml/2006/main">
            <a:off x="609600" y="2714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5850" b="1">
                <a:solidFill>
                  <a:srgbClr val="1F3864"/>
                </a:solidFill>
                <a:latin typeface="Helvetica Neue"/>
                <a:ea typeface="Helvetica Neue"/>
                <a:cs typeface="Helvetica Neue"/>
              </a:defRPr>
            </a:pPr>
            <a:r>
              <a:rPr sz="5850" b="1">
                <a:solidFill>
                  <a:srgbClr val="1F3864"/>
                </a:solidFill>
                <a:latin typeface="Helvetica Neue"/>
                <a:ea typeface="Helvetica Neue"/>
                <a:cs typeface="Helvetica Neue"/>
              </a:rPr>
              <a:t>20:00–20:15</a:t>
            </a:r>
          </a:p>
        </p:txBody>
      </p:sp>
      <p:sp>
        <p:nvSpPr>
          <p:cNvPr id="3" name="">
            <a:extLst xmlns:a="http://schemas.openxmlformats.org/drawingml/2006/main">
              <a:ext uri="{FF2B5EF4-FFF2-40B4-BE49-F238E27FC236}">
                <a16:creationId xmlns:a16="http://schemas.microsoft.com/office/drawing/2014/main" id="{FA80F039-0CBC-4171-9F7A-57E61EE0AE60}"/>
              </a:ext>
            </a:extLst>
          </p:cNvPr>
          <p:cNvSpPr>
            <a:spLocks xmlns:a="http://schemas.openxmlformats.org/drawingml/2006/main" noGrp="1"/>
          </p:cNvSpPr>
          <p:nvPr/>
        </p:nvSpPr>
        <p:spPr>
          <a:xfrm xmlns:a="http://schemas.openxmlformats.org/drawingml/2006/main">
            <a:off x="609600" y="4524375"/>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400" b="0">
                <a:solidFill>
                  <a:srgbClr val="1F3864"/>
                </a:solidFill>
                <a:latin typeface="Helvetica Neue"/>
                <a:ea typeface="Helvetica Neue"/>
                <a:cs typeface="Helvetica Neue"/>
              </a:defRPr>
            </a:pPr>
            <a:r>
              <a:rPr sz="2400" b="0">
                <a:solidFill>
                  <a:srgbClr val="1F3864"/>
                </a:solidFill>
                <a:latin typeface="Helvetica Neue"/>
                <a:ea typeface="Helvetica Neue"/>
                <a:cs typeface="Helvetica Neue"/>
              </a:rPr>
              <a:t>Regresamos a las 20:15 para el fallo controlado y la reejecución de P02</a:t>
            </a:r>
          </a:p>
        </p:txBody>
      </p:sp>
      <p:sp>
        <p:nvSpPr>
          <p:cNvPr id="20" name="">
            <a:extLst xmlns:a="http://schemas.openxmlformats.org/drawingml/2006/main">
              <a:ext uri="{FF2B5EF4-FFF2-40B4-BE49-F238E27FC236}">
                <a16:creationId xmlns:a16="http://schemas.microsoft.com/office/drawing/2014/main" id="{7412DB40-3495-4673-8728-BC3283C333F5}"/>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1" name="">
            <a:extLst xmlns:a="http://schemas.openxmlformats.org/drawingml/2006/main">
              <a:ext uri="{FF2B5EF4-FFF2-40B4-BE49-F238E27FC236}">
                <a16:creationId xmlns:a16="http://schemas.microsoft.com/office/drawing/2014/main" id="{4426FFD6-2EA9-4D30-B857-E1F8E968280A}"/>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P02 — Práctica PQRS 02: Parquet, contrato y reejecución</a:t>
            </a:r>
          </a:p>
        </p:txBody>
      </p:sp>
      <p:sp>
        <p:nvSpPr>
          <p:cNvPr id="22" name="">
            <a:extLst xmlns:a="http://schemas.openxmlformats.org/drawingml/2006/main">
              <a:ext uri="{FF2B5EF4-FFF2-40B4-BE49-F238E27FC236}">
                <a16:creationId xmlns:a16="http://schemas.microsoft.com/office/drawing/2014/main" id="{E7B22520-0E7B-4138-BE82-6FFAF9FBA72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3" name="">
            <a:extLst xmlns:a="http://schemas.openxmlformats.org/drawingml/2006/main">
              <a:ext uri="{FF2B5EF4-FFF2-40B4-BE49-F238E27FC236}">
                <a16:creationId xmlns:a16="http://schemas.microsoft.com/office/drawing/2014/main" id="{D4EA218C-F037-4A51-B2E5-C90E814B8A84}"/>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21</a:t>
            </a:r>
          </a:p>
        </p:txBody>
      </p:sp>
    </p:spTree>
    <p:extLst>
      <p:ext uri="{BB962C8B-B14F-4D97-AF65-F5344CB8AC3E}">
        <p14:creationId xmlns:p14="http://schemas.microsoft.com/office/powerpoint/2010/main" val="1988291510"/>
      </p:ext>
    </p:extLst>
  </p:cSld>
  <p:transition spd="med" advClick="1">
    <p:fade/>
  </p:transition>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6385392486e4fa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828836-77D1-4202-A385-80CF72E5D0D0}"/>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P02, parte 2: fallo y reejecución</a:t>
            </a:r>
          </a:p>
        </p:txBody>
      </p:sp>
      <p:sp>
        <p:nvSpPr>
          <p:cNvPr id="3" name="">
            <a:extLst xmlns:a="http://schemas.openxmlformats.org/drawingml/2006/main">
              <a:ext uri="{FF2B5EF4-FFF2-40B4-BE49-F238E27FC236}">
                <a16:creationId xmlns:a16="http://schemas.microsoft.com/office/drawing/2014/main" id="{455B4549-8A58-4E26-ABE6-7C46ED77564F}"/>
              </a:ext>
            </a:extLst>
          </p:cNvPr>
          <p:cNvSpPr>
            <a:spLocks xmlns:a="http://schemas.openxmlformats.org/drawingml/2006/main" noGrp="1"/>
          </p:cNvSpPr>
          <p:nvPr/>
        </p:nvSpPr>
        <p:spPr>
          <a:xfrm xmlns:a="http://schemas.openxmlformats.org/drawingml/2006/main">
            <a:off x="685800" y="15240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20:15–20:30. Fallo controlado</a:t>
            </a:r>
          </a:p>
        </p:txBody>
      </p:sp>
      <p:sp>
        <p:nvSpPr>
          <p:cNvPr id="4" name="">
            <a:extLst xmlns:a="http://schemas.openxmlformats.org/drawingml/2006/main">
              <a:ext uri="{FF2B5EF4-FFF2-40B4-BE49-F238E27FC236}">
                <a16:creationId xmlns:a16="http://schemas.microsoft.com/office/drawing/2014/main" id="{76477A31-EEE7-4F72-B7FE-0F58537AB8ED}"/>
              </a:ext>
            </a:extLst>
          </p:cNvPr>
          <p:cNvSpPr>
            <a:spLocks xmlns:a="http://schemas.openxmlformats.org/drawingml/2006/main" noGrp="1"/>
          </p:cNvSpPr>
          <p:nvPr/>
        </p:nvSpPr>
        <p:spPr>
          <a:xfrm xmlns:a="http://schemas.openxmlformats.org/drawingml/2006/main">
            <a:off x="685800" y="19716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En el notebook retirar una columna solo en memoria. Ejecutar normalizar y comprobar ValueError.</a:t>
            </a:r>
          </a:p>
        </p:txBody>
      </p:sp>
      <p:sp>
        <p:nvSpPr>
          <p:cNvPr id="5" name="">
            <a:extLst xmlns:a="http://schemas.openxmlformats.org/drawingml/2006/main">
              <a:ext uri="{FF2B5EF4-FFF2-40B4-BE49-F238E27FC236}">
                <a16:creationId xmlns:a16="http://schemas.microsoft.com/office/drawing/2014/main" id="{2E583B4A-6E16-4D42-98C1-85C800635C6F}"/>
              </a:ext>
            </a:extLst>
          </p:cNvPr>
          <p:cNvSpPr>
            <a:spLocks xmlns:a="http://schemas.openxmlformats.org/drawingml/2006/main" noGrp="1"/>
          </p:cNvSpPr>
          <p:nvPr/>
        </p:nvSpPr>
        <p:spPr>
          <a:xfrm xmlns:a="http://schemas.openxmlformats.org/drawingml/2006/main">
            <a:off x="685800" y="29146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20:30–20:50. Recuperación</a:t>
            </a:r>
          </a:p>
        </p:txBody>
      </p:sp>
      <p:sp>
        <p:nvSpPr>
          <p:cNvPr id="6" name="">
            <a:extLst xmlns:a="http://schemas.openxmlformats.org/drawingml/2006/main">
              <a:ext uri="{FF2B5EF4-FFF2-40B4-BE49-F238E27FC236}">
                <a16:creationId xmlns:a16="http://schemas.microsoft.com/office/drawing/2014/main" id="{0A59176B-F3B9-4BFA-8B80-84E82005129A}"/>
              </a:ext>
            </a:extLst>
          </p:cNvPr>
          <p:cNvSpPr>
            <a:spLocks xmlns:a="http://schemas.openxmlformats.org/drawingml/2006/main" noGrp="1"/>
          </p:cNvSpPr>
          <p:nvPr/>
        </p:nvSpPr>
        <p:spPr>
          <a:xfrm xmlns:a="http://schemas.openxmlformats.org/drawingml/2006/main">
            <a:off x="685800" y="336232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Restaurar el esquema en memoria. Reejecutar formatos con la misma entrada y configuración.</a:t>
            </a:r>
          </a:p>
        </p:txBody>
      </p:sp>
      <p:sp>
        <p:nvSpPr>
          <p:cNvPr id="7" name="">
            <a:extLst xmlns:a="http://schemas.openxmlformats.org/drawingml/2006/main">
              <a:ext uri="{FF2B5EF4-FFF2-40B4-BE49-F238E27FC236}">
                <a16:creationId xmlns:a16="http://schemas.microsoft.com/office/drawing/2014/main" id="{F5931B0F-B387-43D0-A333-ADFF9F00DA3D}"/>
              </a:ext>
            </a:extLst>
          </p:cNvPr>
          <p:cNvSpPr>
            <a:spLocks xmlns:a="http://schemas.openxmlformats.org/drawingml/2006/main" noGrp="1"/>
          </p:cNvSpPr>
          <p:nvPr/>
        </p:nvSpPr>
        <p:spPr>
          <a:xfrm xmlns:a="http://schemas.openxmlformats.org/drawingml/2006/main">
            <a:off x="685800" y="43053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20:50–21:00. Conciliación</a:t>
            </a:r>
          </a:p>
        </p:txBody>
      </p:sp>
      <p:sp>
        <p:nvSpPr>
          <p:cNvPr id="8" name="">
            <a:extLst xmlns:a="http://schemas.openxmlformats.org/drawingml/2006/main">
              <a:ext uri="{FF2B5EF4-FFF2-40B4-BE49-F238E27FC236}">
                <a16:creationId xmlns:a16="http://schemas.microsoft.com/office/drawing/2014/main" id="{559365EF-8C24-41D7-9265-DA1D59CE8300}"/>
              </a:ext>
            </a:extLst>
          </p:cNvPr>
          <p:cNvSpPr>
            <a:spLocks xmlns:a="http://schemas.openxmlformats.org/drawingml/2006/main" noGrp="1"/>
          </p:cNvSpPr>
          <p:nvPr/>
        </p:nvSpPr>
        <p:spPr>
          <a:xfrm xmlns:a="http://schemas.openxmlformats.org/drawingml/2006/main">
            <a:off x="685800" y="47529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Comparar filas, firma_contenido y particiones. Documentar el bloqueo y la recuperación.</a:t>
            </a:r>
          </a:p>
        </p:txBody>
      </p:sp>
      <p:sp>
        <p:nvSpPr>
          <p:cNvPr id="9" name="">
            <a:extLst xmlns:a="http://schemas.openxmlformats.org/drawingml/2006/main">
              <a:ext uri="{FF2B5EF4-FFF2-40B4-BE49-F238E27FC236}">
                <a16:creationId xmlns:a16="http://schemas.microsoft.com/office/drawing/2014/main" id="{0B33DCF5-9EE5-406E-8F05-588695D799A6}"/>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45 min de demostración docente. Originales intactos. Reejecución por reemplazo de salidas.</a:t>
            </a:r>
          </a:p>
        </p:txBody>
      </p:sp>
      <p:sp>
        <p:nvSpPr>
          <p:cNvPr id="13" name="">
            <a:extLst xmlns:a="http://schemas.openxmlformats.org/drawingml/2006/main">
              <a:ext uri="{FF2B5EF4-FFF2-40B4-BE49-F238E27FC236}">
                <a16:creationId xmlns:a16="http://schemas.microsoft.com/office/drawing/2014/main" id="{80A2F19A-D035-461A-9A1C-94E1F10A992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3A59BD71-70A4-42B0-87C7-FF8EAF0E6F3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P02 — Práctica PQRS 02: Parquet, contrato y reejecución</a:t>
            </a:r>
          </a:p>
        </p:txBody>
      </p:sp>
      <p:sp>
        <p:nvSpPr>
          <p:cNvPr id="15" name="">
            <a:extLst xmlns:a="http://schemas.openxmlformats.org/drawingml/2006/main">
              <a:ext uri="{FF2B5EF4-FFF2-40B4-BE49-F238E27FC236}">
                <a16:creationId xmlns:a16="http://schemas.microsoft.com/office/drawing/2014/main" id="{41575F80-55E8-4F68-BD57-54AA57ECFD7B}"/>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6" name="">
            <a:extLst xmlns:a="http://schemas.openxmlformats.org/drawingml/2006/main">
              <a:ext uri="{FF2B5EF4-FFF2-40B4-BE49-F238E27FC236}">
                <a16:creationId xmlns:a16="http://schemas.microsoft.com/office/drawing/2014/main" id="{C9872CC2-8F90-43F3-BF20-9D6F5D32C03E}"/>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22</a:t>
            </a:r>
          </a:p>
        </p:txBody>
      </p:sp>
    </p:spTree>
    <p:extLst>
      <p:ext uri="{BB962C8B-B14F-4D97-AF65-F5344CB8AC3E}">
        <p14:creationId xmlns:p14="http://schemas.microsoft.com/office/powerpoint/2010/main" val="141920879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f1d6351015b49e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ebaf4588bf642ba"/>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8D211B-767C-46D2-A412-72E731999E21}"/>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Reglas para detener, revisar o publicar</a:t>
            </a:r>
          </a:p>
        </p:txBody>
      </p:sp>
      <p:sp>
        <p:nvSpPr>
          <p:cNvPr id="4" name="">
            <a:extLst xmlns:a="http://schemas.openxmlformats.org/drawingml/2006/main">
              <a:ext uri="{FF2B5EF4-FFF2-40B4-BE49-F238E27FC236}">
                <a16:creationId xmlns:a16="http://schemas.microsoft.com/office/drawing/2014/main" id="{3D8D9960-FECD-4789-8EF7-03D6D85F14AF}"/>
              </a:ext>
            </a:extLst>
          </p:cNvPr>
          <p:cNvSpPr>
            <a:spLocks xmlns:a="http://schemas.openxmlformats.org/drawingml/2006/main" noGrp="1"/>
          </p:cNvSpPr>
          <p:nvPr/>
        </p:nvSpPr>
        <p:spPr>
          <a:xfrm xmlns:a="http://schemas.openxmlformats.org/drawingml/2006/main">
            <a:off x="7620000" y="157162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Detener</a:t>
            </a:r>
          </a:p>
        </p:txBody>
      </p:sp>
      <p:sp>
        <p:nvSpPr>
          <p:cNvPr id="5" name="">
            <a:extLst xmlns:a="http://schemas.openxmlformats.org/drawingml/2006/main">
              <a:ext uri="{FF2B5EF4-FFF2-40B4-BE49-F238E27FC236}">
                <a16:creationId xmlns:a16="http://schemas.microsoft.com/office/drawing/2014/main" id="{33F57CD4-EC7D-4FEE-ABD5-0B8159925755}"/>
              </a:ext>
            </a:extLst>
          </p:cNvPr>
          <p:cNvSpPr>
            <a:spLocks xmlns:a="http://schemas.openxmlformats.org/drawingml/2006/main" noGrp="1"/>
          </p:cNvSpPr>
          <p:nvPr/>
        </p:nvSpPr>
        <p:spPr>
          <a:xfrm xmlns:a="http://schemas.openxmlformats.org/drawingml/2006/main">
            <a:off x="7620000" y="20097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Esquema incompatible o clave obligatoria ausente.</a:t>
            </a:r>
          </a:p>
        </p:txBody>
      </p:sp>
      <p:sp>
        <p:nvSpPr>
          <p:cNvPr id="6" name="">
            <a:extLst xmlns:a="http://schemas.openxmlformats.org/drawingml/2006/main">
              <a:ext uri="{FF2B5EF4-FFF2-40B4-BE49-F238E27FC236}">
                <a16:creationId xmlns:a16="http://schemas.microsoft.com/office/drawing/2014/main" id="{7CFBFAEF-AFDE-4882-9B3C-A83844FC57DB}"/>
              </a:ext>
            </a:extLst>
          </p:cNvPr>
          <p:cNvSpPr>
            <a:spLocks xmlns:a="http://schemas.openxmlformats.org/drawingml/2006/main" noGrp="1"/>
          </p:cNvSpPr>
          <p:nvPr/>
        </p:nvSpPr>
        <p:spPr>
          <a:xfrm xmlns:a="http://schemas.openxmlformats.org/drawingml/2006/main">
            <a:off x="7620000" y="296227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Revisar</a:t>
            </a:r>
          </a:p>
        </p:txBody>
      </p:sp>
      <p:sp>
        <p:nvSpPr>
          <p:cNvPr id="7" name="">
            <a:extLst xmlns:a="http://schemas.openxmlformats.org/drawingml/2006/main">
              <a:ext uri="{FF2B5EF4-FFF2-40B4-BE49-F238E27FC236}">
                <a16:creationId xmlns:a16="http://schemas.microsoft.com/office/drawing/2014/main" id="{8E5E02E5-324D-42C7-B489-F6AAFABC9286}"/>
              </a:ext>
            </a:extLst>
          </p:cNvPr>
          <p:cNvSpPr>
            <a:spLocks xmlns:a="http://schemas.openxmlformats.org/drawingml/2006/main" noGrp="1"/>
          </p:cNvSpPr>
          <p:nvPr/>
        </p:nvSpPr>
        <p:spPr>
          <a:xfrm xmlns:a="http://schemas.openxmlformats.org/drawingml/2006/main">
            <a:off x="7620000" y="340042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Cambios de distribución o rangos inesperados, con evidencia.</a:t>
            </a:r>
          </a:p>
        </p:txBody>
      </p:sp>
      <p:sp>
        <p:nvSpPr>
          <p:cNvPr id="8" name="">
            <a:extLst xmlns:a="http://schemas.openxmlformats.org/drawingml/2006/main">
              <a:ext uri="{FF2B5EF4-FFF2-40B4-BE49-F238E27FC236}">
                <a16:creationId xmlns:a16="http://schemas.microsoft.com/office/drawing/2014/main" id="{7E7CB809-8E67-441D-AC22-6A066DCED23C}"/>
              </a:ext>
            </a:extLst>
          </p:cNvPr>
          <p:cNvSpPr>
            <a:spLocks xmlns:a="http://schemas.openxmlformats.org/drawingml/2006/main" noGrp="1"/>
          </p:cNvSpPr>
          <p:nvPr/>
        </p:nvSpPr>
        <p:spPr>
          <a:xfrm xmlns:a="http://schemas.openxmlformats.org/drawingml/2006/main">
            <a:off x="7620000" y="435292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Publicar</a:t>
            </a:r>
          </a:p>
        </p:txBody>
      </p:sp>
      <p:sp>
        <p:nvSpPr>
          <p:cNvPr id="9" name="">
            <a:extLst xmlns:a="http://schemas.openxmlformats.org/drawingml/2006/main">
              <a:ext uri="{FF2B5EF4-FFF2-40B4-BE49-F238E27FC236}">
                <a16:creationId xmlns:a16="http://schemas.microsoft.com/office/drawing/2014/main" id="{5A11CFFF-ACCA-4E69-AD5F-E429CE07ED7E}"/>
              </a:ext>
            </a:extLst>
          </p:cNvPr>
          <p:cNvSpPr>
            <a:spLocks xmlns:a="http://schemas.openxmlformats.org/drawingml/2006/main" noGrp="1"/>
          </p:cNvSpPr>
          <p:nvPr/>
        </p:nvSpPr>
        <p:spPr>
          <a:xfrm xmlns:a="http://schemas.openxmlformats.org/drawingml/2006/main">
            <a:off x="7620000" y="47910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Contrato cumplido y conciliación documentada.</a:t>
            </a:r>
          </a:p>
        </p:txBody>
      </p:sp>
      <p:sp>
        <p:nvSpPr>
          <p:cNvPr id="10" name="">
            <a:extLst xmlns:a="http://schemas.openxmlformats.org/drawingml/2006/main">
              <a:ext uri="{FF2B5EF4-FFF2-40B4-BE49-F238E27FC236}">
                <a16:creationId xmlns:a16="http://schemas.microsoft.com/office/drawing/2014/main" id="{11E3020E-EB52-4632-8BA8-2963B7F8FE21}"/>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Los umbrales son decisiones del dominio y deben justificarse</a:t>
            </a:r>
          </a:p>
        </p:txBody>
      </p:sp>
      <p:sp>
        <p:nvSpPr>
          <p:cNvPr id="27" name="">
            <a:extLst xmlns:a="http://schemas.openxmlformats.org/drawingml/2006/main">
              <a:ext uri="{FF2B5EF4-FFF2-40B4-BE49-F238E27FC236}">
                <a16:creationId xmlns:a16="http://schemas.microsoft.com/office/drawing/2014/main" id="{7694704C-1873-4406-964F-A8D3740A5DCC}"/>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BEFF1C76-24E7-4081-9D0B-E1C7FF5E0EE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9" name="">
            <a:extLst xmlns:a="http://schemas.openxmlformats.org/drawingml/2006/main">
              <a:ext uri="{FF2B5EF4-FFF2-40B4-BE49-F238E27FC236}">
                <a16:creationId xmlns:a16="http://schemas.microsoft.com/office/drawing/2014/main" id="{2D8CD860-1F01-4B01-9EC0-DFD839AF1B3E}"/>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0" name="">
            <a:extLst xmlns:a="http://schemas.openxmlformats.org/drawingml/2006/main">
              <a:ext uri="{FF2B5EF4-FFF2-40B4-BE49-F238E27FC236}">
                <a16:creationId xmlns:a16="http://schemas.microsoft.com/office/drawing/2014/main" id="{B356893E-EE65-4444-8ECD-9AA4E62E466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23</a:t>
            </a:r>
          </a:p>
        </p:txBody>
      </p:sp>
    </p:spTree>
    <p:extLst>
      <p:ext uri="{BB962C8B-B14F-4D97-AF65-F5344CB8AC3E}">
        <p14:creationId xmlns:p14="http://schemas.microsoft.com/office/powerpoint/2010/main" val="29036477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519826550136431e"/>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782ce10ba6c34482"/>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3DA1953-A16E-4674-BF48-5DCAF5430C8D}"/>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ETL y ELT</a:t>
            </a:r>
          </a:p>
        </p:txBody>
      </p:sp>
      <p:sp>
        <p:nvSpPr>
          <p:cNvPr id="11" name="">
            <a:extLst xmlns:a="http://schemas.openxmlformats.org/drawingml/2006/main">
              <a:ext uri="{FF2B5EF4-FFF2-40B4-BE49-F238E27FC236}">
                <a16:creationId xmlns:a16="http://schemas.microsoft.com/office/drawing/2014/main" id="{D2EF986F-7954-4558-94F3-FEE6F2C56733}"/>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ETL: fila superior</a:t>
            </a:r>
          </a:p>
        </p:txBody>
      </p:sp>
      <p:sp>
        <p:nvSpPr>
          <p:cNvPr id="12" name="">
            <a:extLst xmlns:a="http://schemas.openxmlformats.org/drawingml/2006/main">
              <a:ext uri="{FF2B5EF4-FFF2-40B4-BE49-F238E27FC236}">
                <a16:creationId xmlns:a16="http://schemas.microsoft.com/office/drawing/2014/main" id="{B00EAD9D-E0A9-4CCC-8335-AC2B203D4859}"/>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Extraer, transformar y cargar en el destino.</a:t>
            </a:r>
          </a:p>
        </p:txBody>
      </p:sp>
      <p:sp>
        <p:nvSpPr>
          <p:cNvPr id="13" name="">
            <a:extLst xmlns:a="http://schemas.openxmlformats.org/drawingml/2006/main">
              <a:ext uri="{FF2B5EF4-FFF2-40B4-BE49-F238E27FC236}">
                <a16:creationId xmlns:a16="http://schemas.microsoft.com/office/drawing/2014/main" id="{A300D68A-B5F1-4AB9-89C3-9E34A155F4A2}"/>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ELT: fila inferior</a:t>
            </a:r>
          </a:p>
        </p:txBody>
      </p:sp>
      <p:sp>
        <p:nvSpPr>
          <p:cNvPr id="14" name="">
            <a:extLst xmlns:a="http://schemas.openxmlformats.org/drawingml/2006/main">
              <a:ext uri="{FF2B5EF4-FFF2-40B4-BE49-F238E27FC236}">
                <a16:creationId xmlns:a16="http://schemas.microsoft.com/office/drawing/2014/main" id="{00B3CDA0-437F-47B1-904E-A6466A9DB785}"/>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Extraer y cargar. Transformar dentro del destino.</a:t>
            </a:r>
          </a:p>
        </p:txBody>
      </p:sp>
      <p:sp>
        <p:nvSpPr>
          <p:cNvPr id="15" name="">
            <a:extLst xmlns:a="http://schemas.openxmlformats.org/drawingml/2006/main">
              <a:ext uri="{FF2B5EF4-FFF2-40B4-BE49-F238E27FC236}">
                <a16:creationId xmlns:a16="http://schemas.microsoft.com/office/drawing/2014/main" id="{EA6C1A1D-A525-408A-9C48-BECA40DFFFCE}"/>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Diferencia central</a:t>
            </a:r>
          </a:p>
        </p:txBody>
      </p:sp>
      <p:sp>
        <p:nvSpPr>
          <p:cNvPr id="16" name="">
            <a:extLst xmlns:a="http://schemas.openxmlformats.org/drawingml/2006/main">
              <a:ext uri="{FF2B5EF4-FFF2-40B4-BE49-F238E27FC236}">
                <a16:creationId xmlns:a16="http://schemas.microsoft.com/office/drawing/2014/main" id="{83AE4A6E-FD42-43CD-9178-12CBB967B7D0}"/>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Dónde ocurre la transformación respecto a la carga.</a:t>
            </a:r>
          </a:p>
        </p:txBody>
      </p:sp>
      <p:sp>
        <p:nvSpPr>
          <p:cNvPr id="17" name="">
            <a:extLst xmlns:a="http://schemas.openxmlformats.org/drawingml/2006/main">
              <a:ext uri="{FF2B5EF4-FFF2-40B4-BE49-F238E27FC236}">
                <a16:creationId xmlns:a16="http://schemas.microsoft.com/office/drawing/2014/main" id="{9FAE9438-A03C-429E-ABFC-BDA6CA3C6417}"/>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La decisión depende de capacidad, reglas y operación</a:t>
            </a:r>
          </a:p>
        </p:txBody>
      </p:sp>
      <p:sp>
        <p:nvSpPr>
          <p:cNvPr id="36" name="">
            <a:extLst xmlns:a="http://schemas.openxmlformats.org/drawingml/2006/main">
              <a:ext uri="{FF2B5EF4-FFF2-40B4-BE49-F238E27FC236}">
                <a16:creationId xmlns:a16="http://schemas.microsoft.com/office/drawing/2014/main" id="{64830F3E-CD60-4E3E-885E-65E92413F59C}"/>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6AC28A20-6B04-4271-97A6-394049284DFA}"/>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8" name="">
            <a:extLst xmlns:a="http://schemas.openxmlformats.org/drawingml/2006/main">
              <a:ext uri="{FF2B5EF4-FFF2-40B4-BE49-F238E27FC236}">
                <a16:creationId xmlns:a16="http://schemas.microsoft.com/office/drawing/2014/main" id="{73D0E4DA-EDF4-423D-8A1A-6AD79999A22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9" name="">
            <a:extLst xmlns:a="http://schemas.openxmlformats.org/drawingml/2006/main">
              <a:ext uri="{FF2B5EF4-FFF2-40B4-BE49-F238E27FC236}">
                <a16:creationId xmlns:a16="http://schemas.microsoft.com/office/drawing/2014/main" id="{2663F10F-5296-4A9A-AAD1-63B6831752F2}"/>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24</a:t>
            </a:r>
          </a:p>
        </p:txBody>
      </p:sp>
    </p:spTree>
    <p:extLst>
      <p:ext uri="{BB962C8B-B14F-4D97-AF65-F5344CB8AC3E}">
        <p14:creationId xmlns:p14="http://schemas.microsoft.com/office/powerpoint/2010/main" val="107044990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7f3bccbcf91415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151e6fdcb52428b"/>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9EDDF3-350E-4017-8E93-C8BD76FECD96}"/>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Orquestación de un pipeline</a:t>
            </a:r>
          </a:p>
        </p:txBody>
      </p:sp>
      <p:sp>
        <p:nvSpPr>
          <p:cNvPr id="4" name="">
            <a:extLst xmlns:a="http://schemas.openxmlformats.org/drawingml/2006/main">
              <a:ext uri="{FF2B5EF4-FFF2-40B4-BE49-F238E27FC236}">
                <a16:creationId xmlns:a16="http://schemas.microsoft.com/office/drawing/2014/main" id="{BE63F087-CA59-49A9-A276-AD953D88737B}"/>
              </a:ext>
            </a:extLst>
          </p:cNvPr>
          <p:cNvSpPr>
            <a:spLocks xmlns:a="http://schemas.openxmlformats.org/drawingml/2006/main" noGrp="1"/>
          </p:cNvSpPr>
          <p:nvPr/>
        </p:nvSpPr>
        <p:spPr>
          <a:xfrm xmlns:a="http://schemas.openxmlformats.org/drawingml/2006/main">
            <a:off x="7620000" y="157162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Dependencias</a:t>
            </a:r>
          </a:p>
        </p:txBody>
      </p:sp>
      <p:sp>
        <p:nvSpPr>
          <p:cNvPr id="5" name="">
            <a:extLst xmlns:a="http://schemas.openxmlformats.org/drawingml/2006/main">
              <a:ext uri="{FF2B5EF4-FFF2-40B4-BE49-F238E27FC236}">
                <a16:creationId xmlns:a16="http://schemas.microsoft.com/office/drawing/2014/main" id="{260AFF0F-45BE-4685-A5A3-9E0E569C3094}"/>
              </a:ext>
            </a:extLst>
          </p:cNvPr>
          <p:cNvSpPr>
            <a:spLocks xmlns:a="http://schemas.openxmlformats.org/drawingml/2006/main" noGrp="1"/>
          </p:cNvSpPr>
          <p:nvPr/>
        </p:nvSpPr>
        <p:spPr>
          <a:xfrm xmlns:a="http://schemas.openxmlformats.org/drawingml/2006/main">
            <a:off x="7620000" y="20097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La validación debe aprobarse antes de publicar el producto.</a:t>
            </a:r>
          </a:p>
        </p:txBody>
      </p:sp>
      <p:sp>
        <p:nvSpPr>
          <p:cNvPr id="6" name="">
            <a:extLst xmlns:a="http://schemas.openxmlformats.org/drawingml/2006/main">
              <a:ext uri="{FF2B5EF4-FFF2-40B4-BE49-F238E27FC236}">
                <a16:creationId xmlns:a16="http://schemas.microsoft.com/office/drawing/2014/main" id="{0841E032-DD2F-4B1D-ADA6-FD16743D6EA6}"/>
              </a:ext>
            </a:extLst>
          </p:cNvPr>
          <p:cNvSpPr>
            <a:spLocks xmlns:a="http://schemas.openxmlformats.org/drawingml/2006/main" noGrp="1"/>
          </p:cNvSpPr>
          <p:nvPr/>
        </p:nvSpPr>
        <p:spPr>
          <a:xfrm xmlns:a="http://schemas.openxmlformats.org/drawingml/2006/main">
            <a:off x="7620000" y="296227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Ejecución</a:t>
            </a:r>
          </a:p>
        </p:txBody>
      </p:sp>
      <p:sp>
        <p:nvSpPr>
          <p:cNvPr id="7" name="">
            <a:extLst xmlns:a="http://schemas.openxmlformats.org/drawingml/2006/main">
              <a:ext uri="{FF2B5EF4-FFF2-40B4-BE49-F238E27FC236}">
                <a16:creationId xmlns:a16="http://schemas.microsoft.com/office/drawing/2014/main" id="{B3BEC264-9B5C-439D-B913-7B22AB4465FA}"/>
              </a:ext>
            </a:extLst>
          </p:cNvPr>
          <p:cNvSpPr>
            <a:spLocks xmlns:a="http://schemas.openxmlformats.org/drawingml/2006/main" noGrp="1"/>
          </p:cNvSpPr>
          <p:nvPr/>
        </p:nvSpPr>
        <p:spPr>
          <a:xfrm xmlns:a="http://schemas.openxmlformats.org/drawingml/2006/main">
            <a:off x="7620000" y="340042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Parámetros, reintentos limitados y salidas idempotentes.</a:t>
            </a:r>
          </a:p>
        </p:txBody>
      </p:sp>
      <p:sp>
        <p:nvSpPr>
          <p:cNvPr id="8" name="">
            <a:extLst xmlns:a="http://schemas.openxmlformats.org/drawingml/2006/main">
              <a:ext uri="{FF2B5EF4-FFF2-40B4-BE49-F238E27FC236}">
                <a16:creationId xmlns:a16="http://schemas.microsoft.com/office/drawing/2014/main" id="{6D8ED105-3043-4677-BA1C-F0F14D2FBBAC}"/>
              </a:ext>
            </a:extLst>
          </p:cNvPr>
          <p:cNvSpPr>
            <a:spLocks xmlns:a="http://schemas.openxmlformats.org/drawingml/2006/main" noGrp="1"/>
          </p:cNvSpPr>
          <p:nvPr/>
        </p:nvSpPr>
        <p:spPr>
          <a:xfrm xmlns:a="http://schemas.openxmlformats.org/drawingml/2006/main">
            <a:off x="7620000" y="435292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Operación</a:t>
            </a:r>
          </a:p>
        </p:txBody>
      </p:sp>
      <p:sp>
        <p:nvSpPr>
          <p:cNvPr id="9" name="">
            <a:extLst xmlns:a="http://schemas.openxmlformats.org/drawingml/2006/main">
              <a:ext uri="{FF2B5EF4-FFF2-40B4-BE49-F238E27FC236}">
                <a16:creationId xmlns:a16="http://schemas.microsoft.com/office/drawing/2014/main" id="{24BD3F63-6AB2-4C53-9691-467BF14F0B0E}"/>
              </a:ext>
            </a:extLst>
          </p:cNvPr>
          <p:cNvSpPr>
            <a:spLocks xmlns:a="http://schemas.openxmlformats.org/drawingml/2006/main" noGrp="1"/>
          </p:cNvSpPr>
          <p:nvPr/>
        </p:nvSpPr>
        <p:spPr>
          <a:xfrm xmlns:a="http://schemas.openxmlformats.org/drawingml/2006/main">
            <a:off x="7620000" y="47910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Registrar estado, duración, filas y causa de falla por etapa.</a:t>
            </a:r>
          </a:p>
        </p:txBody>
      </p:sp>
      <p:sp>
        <p:nvSpPr>
          <p:cNvPr id="10" name="">
            <a:extLst xmlns:a="http://schemas.openxmlformats.org/drawingml/2006/main">
              <a:ext uri="{FF2B5EF4-FFF2-40B4-BE49-F238E27FC236}">
                <a16:creationId xmlns:a16="http://schemas.microsoft.com/office/drawing/2014/main" id="{0125667A-3F84-4EDE-A0D9-7DC61FFF2BB6}"/>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Serverless o low-code describen opciones de ejecución, no garantías de calidad</a:t>
            </a:r>
          </a:p>
        </p:txBody>
      </p:sp>
      <p:sp>
        <p:nvSpPr>
          <p:cNvPr id="27" name="">
            <a:extLst xmlns:a="http://schemas.openxmlformats.org/drawingml/2006/main">
              <a:ext uri="{FF2B5EF4-FFF2-40B4-BE49-F238E27FC236}">
                <a16:creationId xmlns:a16="http://schemas.microsoft.com/office/drawing/2014/main" id="{7CE6E3C5-0ABE-4636-B099-79251675D0B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8" name="">
            <a:extLst xmlns:a="http://schemas.openxmlformats.org/drawingml/2006/main">
              <a:ext uri="{FF2B5EF4-FFF2-40B4-BE49-F238E27FC236}">
                <a16:creationId xmlns:a16="http://schemas.microsoft.com/office/drawing/2014/main" id="{A12916B5-FC76-437C-B78D-F629ACB1010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9" name="">
            <a:extLst xmlns:a="http://schemas.openxmlformats.org/drawingml/2006/main">
              <a:ext uri="{FF2B5EF4-FFF2-40B4-BE49-F238E27FC236}">
                <a16:creationId xmlns:a16="http://schemas.microsoft.com/office/drawing/2014/main" id="{3241CBEA-0674-4512-A7A5-34F425A6DBFA}"/>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0" name="">
            <a:extLst xmlns:a="http://schemas.openxmlformats.org/drawingml/2006/main">
              <a:ext uri="{FF2B5EF4-FFF2-40B4-BE49-F238E27FC236}">
                <a16:creationId xmlns:a16="http://schemas.microsoft.com/office/drawing/2014/main" id="{27D1762A-0E47-4286-878E-29C19537561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25</a:t>
            </a:r>
          </a:p>
        </p:txBody>
      </p:sp>
    </p:spTree>
    <p:extLst>
      <p:ext uri="{BB962C8B-B14F-4D97-AF65-F5344CB8AC3E}">
        <p14:creationId xmlns:p14="http://schemas.microsoft.com/office/powerpoint/2010/main" val="76745961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afcfadbabea447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28" name=""/>
          <p:cNvGraphicFramePr/>
          <p:nvPr/>
        </p:nvGraphicFramePr>
        <p:xfrm>
          <a:off xmlns:a="http://schemas.openxmlformats.org/drawingml/2006/main" x="609600" y="1495425"/>
          <a:ext xmlns:a="http://schemas.openxmlformats.org/drawingml/2006/main" cx="10972800" cy="4210050"/>
        </p:xfrm>
        <a:graphic xmlns:a="http://schemas.openxmlformats.org/drawingml/2006/main">
          <a:graphicData uri="http://schemas.openxmlformats.org/drawingml/2006/table">
            <a:tbl>
              <a:tblPr/>
              <a:tblGrid>
                <a:gridCol w="3714750"/>
                <a:gridCol w="7258050"/>
              </a:tblGrid>
              <a:tr h="842010">
                <a:tc>
                  <a:txBody>
                    <a:bodyPr/>
                    <a:lstStyle/>
                    <a:p>
                      <a:r>
                        <a:rPr sz="1950" b="1">
                          <a:solidFill>
                            <a:srgbClr val="FFFFFF"/>
                          </a:solidFill>
                          <a:latin typeface="Calibri"/>
                          <a:ea typeface="Calibri"/>
                          <a:cs typeface="Calibri"/>
                        </a:rPr>
                        <a:t>Medición</a:t>
                      </a:r>
                    </a:p>
                  </a:txBody>
                  <a:tcPr marL="91440" marR="91440" marT="45720" marB="45720">
                    <a:solidFill>
                      <a:srgbClr val="4237BF"/>
                    </a:solidFill>
                  </a:tcPr>
                </a:tc>
                <a:tc>
                  <a:txBody>
                    <a:bodyPr/>
                    <a:lstStyle/>
                    <a:p>
                      <a:r>
                        <a:rPr sz="1950" b="1">
                          <a:solidFill>
                            <a:srgbClr val="FFFFFF"/>
                          </a:solidFill>
                          <a:latin typeface="Calibri"/>
                          <a:ea typeface="Calibri"/>
                          <a:cs typeface="Calibri"/>
                        </a:rPr>
                        <a:t>Interpretación y acción</a:t>
                      </a:r>
                    </a:p>
                  </a:txBody>
                  <a:tcPr marL="91440" marR="91440" marT="45720" marB="45720">
                    <a:solidFill>
                      <a:srgbClr val="4237BF"/>
                    </a:solidFill>
                  </a:tcPr>
                </a:tc>
              </a:tr>
              <a:tr h="842010">
                <a:tc>
                  <a:txBody>
                    <a:bodyPr/>
                    <a:lstStyle/>
                    <a:p>
                      <a:r>
                        <a:rPr sz="1950" b="0">
                          <a:solidFill>
                            <a:srgbClr val="203B68"/>
                          </a:solidFill>
                          <a:latin typeface="Calibri"/>
                          <a:ea typeface="Calibri"/>
                          <a:cs typeface="Calibri"/>
                        </a:rPr>
                        <a:t>Filas de entrada y salida</a:t>
                      </a:r>
                    </a:p>
                  </a:txBody>
                  <a:tcPr marL="91440" marR="91440" marT="45720" marB="45720">
                    <a:solidFill>
                      <a:srgbClr val="F4F8F8"/>
                    </a:solidFill>
                  </a:tcPr>
                </a:tc>
                <a:tc>
                  <a:txBody>
                    <a:bodyPr/>
                    <a:lstStyle/>
                    <a:p>
                      <a:r>
                        <a:rPr sz="1950" b="0">
                          <a:solidFill>
                            <a:srgbClr val="203B68"/>
                          </a:solidFill>
                          <a:latin typeface="Calibri"/>
                          <a:ea typeface="Calibri"/>
                          <a:cs typeface="Calibri"/>
                        </a:rPr>
                        <a:t>Conciliar exclusiones, rechazos y duplicados</a:t>
                      </a:r>
                    </a:p>
                  </a:txBody>
                  <a:tcPr marL="91440" marR="91440" marT="45720" marB="45720">
                    <a:solidFill>
                      <a:srgbClr val="F4F8F8"/>
                    </a:solidFill>
                  </a:tcPr>
                </a:tc>
              </a:tr>
              <a:tr h="842010">
                <a:tc>
                  <a:txBody>
                    <a:bodyPr/>
                    <a:lstStyle/>
                    <a:p>
                      <a:r>
                        <a:rPr sz="1950" b="0">
                          <a:solidFill>
                            <a:srgbClr val="203B68"/>
                          </a:solidFill>
                          <a:latin typeface="Calibri"/>
                          <a:ea typeface="Calibri"/>
                          <a:cs typeface="Calibri"/>
                        </a:rPr>
                        <a:t>Duración y pico de RAM</a:t>
                      </a:r>
                    </a:p>
                  </a:txBody>
                  <a:tcPr marL="91440" marR="91440" marT="45720" marB="45720">
                    <a:solidFill>
                      <a:srgbClr val="E9F0F1"/>
                    </a:solidFill>
                  </a:tcPr>
                </a:tc>
                <a:tc>
                  <a:txBody>
                    <a:bodyPr/>
                    <a:lstStyle/>
                    <a:p>
                      <a:r>
                        <a:rPr sz="1950" b="0">
                          <a:solidFill>
                            <a:srgbClr val="203B68"/>
                          </a:solidFill>
                          <a:latin typeface="Calibri"/>
                          <a:ea typeface="Calibri"/>
                          <a:cs typeface="Calibri"/>
                        </a:rPr>
                        <a:t>Localizar etapas que degradan el proceso</a:t>
                      </a:r>
                    </a:p>
                  </a:txBody>
                  <a:tcPr marL="91440" marR="91440" marT="45720" marB="45720">
                    <a:solidFill>
                      <a:srgbClr val="E9F0F1"/>
                    </a:solidFill>
                  </a:tcPr>
                </a:tc>
              </a:tr>
              <a:tr h="842010">
                <a:tc>
                  <a:txBody>
                    <a:bodyPr/>
                    <a:lstStyle/>
                    <a:p>
                      <a:r>
                        <a:rPr sz="1950" b="0">
                          <a:solidFill>
                            <a:srgbClr val="203B68"/>
                          </a:solidFill>
                          <a:latin typeface="Calibri"/>
                          <a:ea typeface="Calibri"/>
                          <a:cs typeface="Calibri"/>
                        </a:rPr>
                        <a:t>Nulos y claves sin cruce</a:t>
                      </a:r>
                    </a:p>
                  </a:txBody>
                  <a:tcPr marL="91440" marR="91440" marT="45720" marB="45720">
                    <a:solidFill>
                      <a:srgbClr val="F4F8F8"/>
                    </a:solidFill>
                  </a:tcPr>
                </a:tc>
                <a:tc>
                  <a:txBody>
                    <a:bodyPr/>
                    <a:lstStyle/>
                    <a:p>
                      <a:r>
                        <a:rPr sz="1950" b="0">
                          <a:solidFill>
                            <a:srgbClr val="203B68"/>
                          </a:solidFill>
                          <a:latin typeface="Calibri"/>
                          <a:ea typeface="Calibri"/>
                          <a:cs typeface="Calibri"/>
                        </a:rPr>
                        <a:t>Comparar con el corte previo y el contrato</a:t>
                      </a:r>
                    </a:p>
                  </a:txBody>
                  <a:tcPr marL="91440" marR="91440" marT="45720" marB="45720">
                    <a:solidFill>
                      <a:srgbClr val="F4F8F8"/>
                    </a:solidFill>
                  </a:tcPr>
                </a:tc>
              </a:tr>
              <a:tr h="842010">
                <a:tc>
                  <a:txBody>
                    <a:bodyPr/>
                    <a:lstStyle/>
                    <a:p>
                      <a:r>
                        <a:rPr sz="1950" b="0">
                          <a:solidFill>
                            <a:srgbClr val="203B68"/>
                          </a:solidFill>
                          <a:latin typeface="Calibri"/>
                          <a:ea typeface="Calibri"/>
                          <a:cs typeface="Calibri"/>
                        </a:rPr>
                        <a:t>Estado, error y reintento</a:t>
                      </a:r>
                    </a:p>
                  </a:txBody>
                  <a:tcPr marL="91440" marR="91440" marT="45720" marB="45720">
                    <a:solidFill>
                      <a:srgbClr val="E9F0F1"/>
                    </a:solidFill>
                  </a:tcPr>
                </a:tc>
                <a:tc>
                  <a:txBody>
                    <a:bodyPr/>
                    <a:lstStyle/>
                    <a:p>
                      <a:r>
                        <a:rPr sz="1950" b="0">
                          <a:solidFill>
                            <a:srgbClr val="203B68"/>
                          </a:solidFill>
                          <a:latin typeface="Calibri"/>
                          <a:ea typeface="Calibri"/>
                          <a:cs typeface="Calibri"/>
                        </a:rPr>
                        <a:t>Reanudar de forma segura sin duplicar salidas</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FD61AA97-D4E2-4F6C-A9C1-3381B82ACE3D}"/>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Monitoreo mínimo por ejecución</a:t>
            </a:r>
          </a:p>
        </p:txBody>
      </p:sp>
      <p:sp>
        <p:nvSpPr>
          <p:cNvPr id="4" name="">
            <a:extLst xmlns:a="http://schemas.openxmlformats.org/drawingml/2006/main">
              <a:ext uri="{FF2B5EF4-FFF2-40B4-BE49-F238E27FC236}">
                <a16:creationId xmlns:a16="http://schemas.microsoft.com/office/drawing/2014/main" id="{D76CE973-885F-4213-B634-2D7AC618FD61}"/>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Comparar condiciones equivalentes y registrar versiones de datos, reglas y herramientas</a:t>
            </a:r>
          </a:p>
        </p:txBody>
      </p:sp>
      <p:sp>
        <p:nvSpPr>
          <p:cNvPr id="21" name="">
            <a:extLst xmlns:a="http://schemas.openxmlformats.org/drawingml/2006/main">
              <a:ext uri="{FF2B5EF4-FFF2-40B4-BE49-F238E27FC236}">
                <a16:creationId xmlns:a16="http://schemas.microsoft.com/office/drawing/2014/main" id="{BC0A7E30-2DAC-41CE-8B3E-339B4A7D55A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FD4C2A62-BAA0-4C14-995B-7E70D5CF6C2A}"/>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3" name="">
            <a:extLst xmlns:a="http://schemas.openxmlformats.org/drawingml/2006/main">
              <a:ext uri="{FF2B5EF4-FFF2-40B4-BE49-F238E27FC236}">
                <a16:creationId xmlns:a16="http://schemas.microsoft.com/office/drawing/2014/main" id="{80720404-5407-4D23-9D74-641D50C50395}"/>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4" name="">
            <a:extLst xmlns:a="http://schemas.openxmlformats.org/drawingml/2006/main">
              <a:ext uri="{FF2B5EF4-FFF2-40B4-BE49-F238E27FC236}">
                <a16:creationId xmlns:a16="http://schemas.microsoft.com/office/drawing/2014/main" id="{91D221A8-D2D7-4585-8C63-D5427696740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26</a:t>
            </a:r>
          </a:p>
        </p:txBody>
      </p:sp>
    </p:spTree>
    <p:extLst>
      <p:ext uri="{BB962C8B-B14F-4D97-AF65-F5344CB8AC3E}">
        <p14:creationId xmlns:p14="http://schemas.microsoft.com/office/powerpoint/2010/main" val="1596186773"/>
      </p:ext>
    </p:extLst>
  </p:cSld>
  <p:transition spd="med" advClick="1">
    <p:fade/>
  </p:transition>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fcc84f7aa8349f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28" name=""/>
          <p:cNvGraphicFramePr/>
          <p:nvPr/>
        </p:nvGraphicFramePr>
        <p:xfrm>
          <a:off xmlns:a="http://schemas.openxmlformats.org/drawingml/2006/main" x="609600" y="1495425"/>
          <a:ext xmlns:a="http://schemas.openxmlformats.org/drawingml/2006/main" cx="10972800" cy="4210050"/>
        </p:xfrm>
        <a:graphic xmlns:a="http://schemas.openxmlformats.org/drawingml/2006/main">
          <a:graphicData uri="http://schemas.openxmlformats.org/drawingml/2006/table">
            <a:tbl>
              <a:tblPr/>
              <a:tblGrid>
                <a:gridCol w="3714750"/>
                <a:gridCol w="7258050"/>
              </a:tblGrid>
              <a:tr h="842010">
                <a:tc>
                  <a:txBody>
                    <a:bodyPr/>
                    <a:lstStyle/>
                    <a:p>
                      <a:r>
                        <a:rPr sz="1950" b="1">
                          <a:solidFill>
                            <a:srgbClr val="FFFFFF"/>
                          </a:solidFill>
                          <a:latin typeface="Calibri"/>
                          <a:ea typeface="Calibri"/>
                          <a:cs typeface="Calibri"/>
                        </a:rPr>
                        <a:t>Contrato Gold</a:t>
                      </a:r>
                    </a:p>
                  </a:txBody>
                  <a:tcPr marL="91440" marR="91440" marT="45720" marB="45720">
                    <a:solidFill>
                      <a:srgbClr val="4237BF"/>
                    </a:solidFill>
                  </a:tcPr>
                </a:tc>
                <a:tc>
                  <a:txBody>
                    <a:bodyPr/>
                    <a:lstStyle/>
                    <a:p>
                      <a:r>
                        <a:rPr sz="1950" b="1">
                          <a:solidFill>
                            <a:srgbClr val="FFFFFF"/>
                          </a:solidFill>
                          <a:latin typeface="Calibri"/>
                          <a:ea typeface="Calibri"/>
                          <a:cs typeface="Calibri"/>
                        </a:rPr>
                        <a:t>Evidencia requerida</a:t>
                      </a:r>
                    </a:p>
                  </a:txBody>
                  <a:tcPr marL="91440" marR="91440" marT="45720" marB="45720">
                    <a:solidFill>
                      <a:srgbClr val="4237BF"/>
                    </a:solidFill>
                  </a:tcPr>
                </a:tc>
              </a:tr>
              <a:tr h="842010">
                <a:tc>
                  <a:txBody>
                    <a:bodyPr/>
                    <a:lstStyle/>
                    <a:p>
                      <a:r>
                        <a:rPr sz="1950" b="0">
                          <a:solidFill>
                            <a:srgbClr val="203B68"/>
                          </a:solidFill>
                          <a:latin typeface="Calibri"/>
                          <a:ea typeface="Calibri"/>
                          <a:cs typeface="Calibri"/>
                        </a:rPr>
                        <a:t>Granularidad</a:t>
                      </a:r>
                    </a:p>
                  </a:txBody>
                  <a:tcPr marL="91440" marR="91440" marT="45720" marB="45720">
                    <a:solidFill>
                      <a:srgbClr val="F4F8F8"/>
                    </a:solidFill>
                  </a:tcPr>
                </a:tc>
                <a:tc>
                  <a:txBody>
                    <a:bodyPr/>
                    <a:lstStyle/>
                    <a:p>
                      <a:r>
                        <a:rPr sz="1950" b="0">
                          <a:solidFill>
                            <a:srgbClr val="203B68"/>
                          </a:solidFill>
                          <a:latin typeface="Calibri"/>
                          <a:ea typeface="Calibri"/>
                          <a:cs typeface="Calibri"/>
                        </a:rPr>
                        <a:t>Una fila por clave de análisis y período</a:t>
                      </a:r>
                    </a:p>
                  </a:txBody>
                  <a:tcPr marL="91440" marR="91440" marT="45720" marB="45720">
                    <a:solidFill>
                      <a:srgbClr val="F4F8F8"/>
                    </a:solidFill>
                  </a:tcPr>
                </a:tc>
              </a:tr>
              <a:tr h="842010">
                <a:tc>
                  <a:txBody>
                    <a:bodyPr/>
                    <a:lstStyle/>
                    <a:p>
                      <a:r>
                        <a:rPr sz="1950" b="0">
                          <a:solidFill>
                            <a:srgbClr val="203B68"/>
                          </a:solidFill>
                          <a:latin typeface="Calibri"/>
                          <a:ea typeface="Calibri"/>
                          <a:cs typeface="Calibri"/>
                        </a:rPr>
                        <a:t>Métrica</a:t>
                      </a:r>
                    </a:p>
                  </a:txBody>
                  <a:tcPr marL="91440" marR="91440" marT="45720" marB="45720">
                    <a:solidFill>
                      <a:srgbClr val="E9F0F1"/>
                    </a:solidFill>
                  </a:tcPr>
                </a:tc>
                <a:tc>
                  <a:txBody>
                    <a:bodyPr/>
                    <a:lstStyle/>
                    <a:p>
                      <a:r>
                        <a:rPr sz="1950" b="0">
                          <a:solidFill>
                            <a:srgbClr val="203B68"/>
                          </a:solidFill>
                          <a:latin typeface="Calibri"/>
                          <a:ea typeface="Calibri"/>
                          <a:cs typeface="Calibri"/>
                        </a:rPr>
                        <a:t>Fórmula, unidades, filtros y tratamiento de ausencias</a:t>
                      </a:r>
                    </a:p>
                  </a:txBody>
                  <a:tcPr marL="91440" marR="91440" marT="45720" marB="45720">
                    <a:solidFill>
                      <a:srgbClr val="E9F0F1"/>
                    </a:solidFill>
                  </a:tcPr>
                </a:tc>
              </a:tr>
              <a:tr h="842010">
                <a:tc>
                  <a:txBody>
                    <a:bodyPr/>
                    <a:lstStyle/>
                    <a:p>
                      <a:r>
                        <a:rPr sz="1950" b="0">
                          <a:solidFill>
                            <a:srgbClr val="203B68"/>
                          </a:solidFill>
                          <a:latin typeface="Calibri"/>
                          <a:ea typeface="Calibri"/>
                          <a:cs typeface="Calibri"/>
                        </a:rPr>
                        <a:t>Publicación</a:t>
                      </a:r>
                    </a:p>
                  </a:txBody>
                  <a:tcPr marL="91440" marR="91440" marT="45720" marB="45720">
                    <a:solidFill>
                      <a:srgbClr val="F4F8F8"/>
                    </a:solidFill>
                  </a:tcPr>
                </a:tc>
                <a:tc>
                  <a:txBody>
                    <a:bodyPr/>
                    <a:lstStyle/>
                    <a:p>
                      <a:r>
                        <a:rPr sz="1950" b="0">
                          <a:solidFill>
                            <a:srgbClr val="203B68"/>
                          </a:solidFill>
                          <a:latin typeface="Calibri"/>
                          <a:ea typeface="Calibri"/>
                          <a:cs typeface="Calibri"/>
                        </a:rPr>
                        <a:t>Datos y manifiesto coherentes, reemplazo controlado</a:t>
                      </a:r>
                    </a:p>
                  </a:txBody>
                  <a:tcPr marL="91440" marR="91440" marT="45720" marB="45720">
                    <a:solidFill>
                      <a:srgbClr val="F4F8F8"/>
                    </a:solidFill>
                  </a:tcPr>
                </a:tc>
              </a:tr>
              <a:tr h="842010">
                <a:tc>
                  <a:txBody>
                    <a:bodyPr/>
                    <a:lstStyle/>
                    <a:p>
                      <a:r>
                        <a:rPr sz="1950" b="0">
                          <a:solidFill>
                            <a:srgbClr val="203B68"/>
                          </a:solidFill>
                          <a:latin typeface="Calibri"/>
                          <a:ea typeface="Calibri"/>
                          <a:cs typeface="Calibri"/>
                        </a:rPr>
                        <a:t>Operación</a:t>
                      </a:r>
                    </a:p>
                  </a:txBody>
                  <a:tcPr marL="91440" marR="91440" marT="45720" marB="45720">
                    <a:solidFill>
                      <a:srgbClr val="E9F0F1"/>
                    </a:solidFill>
                  </a:tcPr>
                </a:tc>
                <a:tc>
                  <a:txBody>
                    <a:bodyPr/>
                    <a:lstStyle/>
                    <a:p>
                      <a:r>
                        <a:rPr sz="1950" b="0">
                          <a:solidFill>
                            <a:srgbClr val="203B68"/>
                          </a:solidFill>
                          <a:latin typeface="Calibri"/>
                          <a:ea typeface="Calibri"/>
                          <a:cs typeface="Calibri"/>
                        </a:rPr>
                        <a:t>Responsable, frecuencia, historial y recuperación</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2EEA8E74-710C-464A-AABE-B7CB357541C0}"/>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Producto analítico listo para consumo</a:t>
            </a:r>
          </a:p>
        </p:txBody>
      </p:sp>
      <p:sp>
        <p:nvSpPr>
          <p:cNvPr id="4" name="">
            <a:extLst xmlns:a="http://schemas.openxmlformats.org/drawingml/2006/main">
              <a:ext uri="{FF2B5EF4-FFF2-40B4-BE49-F238E27FC236}">
                <a16:creationId xmlns:a16="http://schemas.microsoft.com/office/drawing/2014/main" id="{9DAC9F31-6DF7-45D3-9982-F751141D6070}"/>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Una salida Gold debe ser reconstruible, comprobable y comprensible</a:t>
            </a:r>
          </a:p>
        </p:txBody>
      </p:sp>
      <p:sp>
        <p:nvSpPr>
          <p:cNvPr id="21" name="">
            <a:extLst xmlns:a="http://schemas.openxmlformats.org/drawingml/2006/main">
              <a:ext uri="{FF2B5EF4-FFF2-40B4-BE49-F238E27FC236}">
                <a16:creationId xmlns:a16="http://schemas.microsoft.com/office/drawing/2014/main" id="{E63F44AD-E764-471A-9CE9-D3EC6A6CF23C}"/>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AB20BDBA-8CDA-4BA3-84F4-1C52922549BF}"/>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3" name="">
            <a:extLst xmlns:a="http://schemas.openxmlformats.org/drawingml/2006/main">
              <a:ext uri="{FF2B5EF4-FFF2-40B4-BE49-F238E27FC236}">
                <a16:creationId xmlns:a16="http://schemas.microsoft.com/office/drawing/2014/main" id="{07EA75DA-0B3C-4F30-B3D2-1C208A9610E7}"/>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4" name="">
            <a:extLst xmlns:a="http://schemas.openxmlformats.org/drawingml/2006/main">
              <a:ext uri="{FF2B5EF4-FFF2-40B4-BE49-F238E27FC236}">
                <a16:creationId xmlns:a16="http://schemas.microsoft.com/office/drawing/2014/main" id="{AA8AE37F-BC22-46A0-99C2-B32E26AB55CB}"/>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27</a:t>
            </a:r>
          </a:p>
        </p:txBody>
      </p:sp>
    </p:spTree>
    <p:extLst>
      <p:ext uri="{BB962C8B-B14F-4D97-AF65-F5344CB8AC3E}">
        <p14:creationId xmlns:p14="http://schemas.microsoft.com/office/powerpoint/2010/main" val="88925757"/>
      </p:ext>
    </p:extLst>
  </p:cSld>
  <p:transition spd="med" advClick="1">
    <p:fade/>
  </p:transition>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30" name=""/>
          <p:cNvGraphicFramePr/>
          <p:nvPr/>
        </p:nvGraphicFramePr>
        <p:xfrm>
          <a:off xmlns:a="http://schemas.openxmlformats.org/drawingml/2006/main" x="609600" y="1809750"/>
          <a:ext xmlns:a="http://schemas.openxmlformats.org/drawingml/2006/main" cx="10972800" cy="3095625"/>
        </p:xfrm>
        <a:graphic xmlns:a="http://schemas.openxmlformats.org/drawingml/2006/main">
          <a:graphicData uri="http://schemas.openxmlformats.org/drawingml/2006/table">
            <a:tbl>
              <a:tblPr/>
              <a:tblGrid>
                <a:gridCol w="3072384"/>
                <a:gridCol w="7900416"/>
              </a:tblGrid>
              <a:tr h="619125">
                <a:tc>
                  <a:txBody>
                    <a:bodyPr/>
                    <a:lstStyle/>
                    <a:p>
                      <a:r>
                        <a:rPr sz="1725" b="1">
                          <a:solidFill>
                            <a:srgbClr val="FFFFFF"/>
                          </a:solidFill>
                          <a:latin typeface="Helvetica Neue"/>
                          <a:ea typeface="Helvetica Neue"/>
                          <a:cs typeface="Helvetica Neue"/>
                        </a:rPr>
                        <a:t>Criterio</a:t>
                      </a:r>
                    </a:p>
                  </a:txBody>
                  <a:tcPr marL="152400" marR="152400" marT="95250" marB="95250" anchor="ctr">
                    <a:solidFill>
                      <a:srgbClr val="4239C8"/>
                    </a:solidFill>
                  </a:tcPr>
                </a:tc>
                <a:tc>
                  <a:txBody>
                    <a:bodyPr/>
                    <a:lstStyle/>
                    <a:p>
                      <a:r>
                        <a:rPr sz="1725" b="1">
                          <a:solidFill>
                            <a:srgbClr val="FFFFFF"/>
                          </a:solidFill>
                          <a:latin typeface="Helvetica Neue"/>
                          <a:ea typeface="Helvetica Neue"/>
                          <a:cs typeface="Helvetica Neue"/>
                        </a:rPr>
                        <a:t>Evidencia esperada</a:t>
                      </a:r>
                    </a:p>
                  </a:txBody>
                  <a:tcPr marL="152400" marR="152400" marT="95250" marB="95250" anchor="ctr">
                    <a:solidFill>
                      <a:srgbClr val="4239C8"/>
                    </a:solidFill>
                  </a:tcPr>
                </a:tc>
              </a:tr>
              <a:tr h="619125">
                <a:tc>
                  <a:txBody>
                    <a:bodyPr/>
                    <a:lstStyle/>
                    <a:p>
                      <a:r>
                        <a:rPr sz="1875" b="0">
                          <a:solidFill>
                            <a:srgbClr val="13262C"/>
                          </a:solidFill>
                          <a:latin typeface="Helvetica Neue"/>
                          <a:ea typeface="Helvetica Neue"/>
                          <a:cs typeface="Helvetica Neue"/>
                        </a:rPr>
                        <a:t>Corrección</a:t>
                      </a:r>
                    </a:p>
                  </a:txBody>
                  <a:tcPr marL="152400" marR="152400" marT="95250" marB="95250" anchor="ctr">
                    <a:solidFill>
                      <a:srgbClr val="F5F7F6"/>
                    </a:solidFill>
                  </a:tcPr>
                </a:tc>
                <a:tc>
                  <a:txBody>
                    <a:bodyPr/>
                    <a:lstStyle/>
                    <a:p>
                      <a:r>
                        <a:rPr sz="1875" b="0">
                          <a:solidFill>
                            <a:srgbClr val="13262C"/>
                          </a:solidFill>
                          <a:latin typeface="Helvetica Neue"/>
                          <a:ea typeface="Helvetica Neue"/>
                          <a:cs typeface="Helvetica Neue"/>
                        </a:rPr>
                        <a:t>Controles de filas, claves y unidades</a:t>
                      </a:r>
                    </a:p>
                  </a:txBody>
                  <a:tcPr marL="152400" marR="152400" marT="95250" marB="95250" anchor="ctr">
                    <a:solidFill>
                      <a:srgbClr val="F5F7F6"/>
                    </a:solidFill>
                  </a:tcPr>
                </a:tc>
              </a:tr>
              <a:tr h="619125">
                <a:tc>
                  <a:txBody>
                    <a:bodyPr/>
                    <a:lstStyle/>
                    <a:p>
                      <a:r>
                        <a:rPr sz="1875" b="0">
                          <a:solidFill>
                            <a:srgbClr val="13262C"/>
                          </a:solidFill>
                          <a:latin typeface="Helvetica Neue"/>
                          <a:ea typeface="Helvetica Neue"/>
                          <a:cs typeface="Helvetica Neue"/>
                        </a:rPr>
                        <a:t>Consulta</a:t>
                      </a:r>
                    </a:p>
                  </a:txBody>
                  <a:tcPr marL="152400" marR="152400" marT="95250" marB="95250" anchor="ctr">
                    <a:solidFill>
                      <a:srgbClr val="EBF1EF"/>
                    </a:solidFill>
                  </a:tcPr>
                </a:tc>
                <a:tc>
                  <a:txBody>
                    <a:bodyPr/>
                    <a:lstStyle/>
                    <a:p>
                      <a:r>
                        <a:rPr sz="1875" b="0">
                          <a:solidFill>
                            <a:srgbClr val="13262C"/>
                          </a:solidFill>
                          <a:latin typeface="Helvetica Neue"/>
                          <a:ea typeface="Helvetica Neue"/>
                          <a:cs typeface="Helvetica Neue"/>
                        </a:rPr>
                        <a:t>Columnas y filtros que se utilizarán</a:t>
                      </a:r>
                    </a:p>
                  </a:txBody>
                  <a:tcPr marL="152400" marR="152400" marT="95250" marB="95250" anchor="ctr">
                    <a:solidFill>
                      <a:srgbClr val="EBF1EF"/>
                    </a:solidFill>
                  </a:tcPr>
                </a:tc>
              </a:tr>
              <a:tr h="619125">
                <a:tc>
                  <a:txBody>
                    <a:bodyPr/>
                    <a:lstStyle/>
                    <a:p>
                      <a:r>
                        <a:rPr sz="1875" b="0">
                          <a:solidFill>
                            <a:srgbClr val="13262C"/>
                          </a:solidFill>
                          <a:latin typeface="Helvetica Neue"/>
                          <a:ea typeface="Helvetica Neue"/>
                          <a:cs typeface="Helvetica Neue"/>
                        </a:rPr>
                        <a:t>Operación</a:t>
                      </a:r>
                    </a:p>
                  </a:txBody>
                  <a:tcPr marL="152400" marR="152400" marT="95250" marB="95250" anchor="ctr">
                    <a:solidFill>
                      <a:srgbClr val="F5F7F6"/>
                    </a:solidFill>
                  </a:tcPr>
                </a:tc>
                <a:tc>
                  <a:txBody>
                    <a:bodyPr/>
                    <a:lstStyle/>
                    <a:p>
                      <a:r>
                        <a:rPr sz="1875" b="0">
                          <a:solidFill>
                            <a:srgbClr val="13262C"/>
                          </a:solidFill>
                          <a:latin typeface="Helvetica Neue"/>
                          <a:ea typeface="Helvetica Neue"/>
                          <a:cs typeface="Helvetica Neue"/>
                        </a:rPr>
                        <a:t>Memoria, instalación y facilidad de repetición</a:t>
                      </a:r>
                    </a:p>
                  </a:txBody>
                  <a:tcPr marL="152400" marR="152400" marT="95250" marB="95250" anchor="ctr">
                    <a:solidFill>
                      <a:srgbClr val="F5F7F6"/>
                    </a:solidFill>
                  </a:tcPr>
                </a:tc>
              </a:tr>
              <a:tr h="619125">
                <a:tc>
                  <a:txBody>
                    <a:bodyPr/>
                    <a:lstStyle/>
                    <a:p>
                      <a:r>
                        <a:rPr sz="1875" b="0">
                          <a:solidFill>
                            <a:srgbClr val="13262C"/>
                          </a:solidFill>
                          <a:latin typeface="Helvetica Neue"/>
                          <a:ea typeface="Helvetica Neue"/>
                          <a:cs typeface="Helvetica Neue"/>
                        </a:rPr>
                        <a:t>Crecimiento</a:t>
                      </a:r>
                    </a:p>
                  </a:txBody>
                  <a:tcPr marL="152400" marR="152400" marT="95250" marB="95250" anchor="ctr">
                    <a:solidFill>
                      <a:srgbClr val="EBF1EF"/>
                    </a:solidFill>
                  </a:tcPr>
                </a:tc>
                <a:tc>
                  <a:txBody>
                    <a:bodyPr/>
                    <a:lstStyle/>
                    <a:p>
                      <a:r>
                        <a:rPr sz="1875" b="0">
                          <a:solidFill>
                            <a:srgbClr val="13262C"/>
                          </a:solidFill>
                          <a:latin typeface="Helvetica Neue"/>
                          <a:ea typeface="Helvetica Neue"/>
                          <a:cs typeface="Helvetica Neue"/>
                        </a:rPr>
                        <a:t>Hipótesis para cambiar la arquitectura</a:t>
                      </a:r>
                    </a:p>
                  </a:txBody>
                  <a:tcPr marL="152400" marR="152400" marT="95250" marB="95250" anchor="ctr">
                    <a:solidFill>
                      <a:srgbClr val="EBF1EF"/>
                    </a:solidFill>
                  </a:tcPr>
                </a:tc>
              </a:tr>
            </a:tbl>
          </a:graphicData>
        </a:graphic>
      </p:graphicFrame>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e196cb02b0d4deb"/>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163A75-A7E5-486F-A22E-A073234FA20F}"/>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Matriz de justificación</a:t>
            </a:r>
          </a:p>
        </p:txBody>
      </p:sp>
      <p:sp>
        <p:nvSpPr>
          <p:cNvPr id="24" name="">
            <a:extLst xmlns:a="http://schemas.openxmlformats.org/drawingml/2006/main">
              <a:ext uri="{FF2B5EF4-FFF2-40B4-BE49-F238E27FC236}">
                <a16:creationId xmlns:a16="http://schemas.microsoft.com/office/drawing/2014/main" id="{A27C0E87-8B79-4DE0-BB81-18753F2D13E0}"/>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5" name="">
            <a:extLst xmlns:a="http://schemas.openxmlformats.org/drawingml/2006/main">
              <a:ext uri="{FF2B5EF4-FFF2-40B4-BE49-F238E27FC236}">
                <a16:creationId xmlns:a16="http://schemas.microsoft.com/office/drawing/2014/main" id="{9173F673-657F-45AA-8705-2C04B1CAA0ED}"/>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26" name="">
            <a:extLst xmlns:a="http://schemas.openxmlformats.org/drawingml/2006/main">
              <a:ext uri="{FF2B5EF4-FFF2-40B4-BE49-F238E27FC236}">
                <a16:creationId xmlns:a16="http://schemas.microsoft.com/office/drawing/2014/main" id="{737ADB6E-6A53-4DEE-BAD9-35B92DC61822}"/>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27" name="">
            <a:extLst xmlns:a="http://schemas.openxmlformats.org/drawingml/2006/main">
              <a:ext uri="{FF2B5EF4-FFF2-40B4-BE49-F238E27FC236}">
                <a16:creationId xmlns:a16="http://schemas.microsoft.com/office/drawing/2014/main" id="{96D94359-21C5-4084-9F56-6F98C64767C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28</a:t>
            </a:r>
          </a:p>
        </p:txBody>
      </p:sp>
    </p:spTree>
    <p:extLst>
      <p:ext uri="{BB962C8B-B14F-4D97-AF65-F5344CB8AC3E}">
        <p14:creationId xmlns:p14="http://schemas.microsoft.com/office/powerpoint/2010/main" val="477735838"/>
      </p:ext>
    </p:extLst>
  </p:cSld>
  <p:transition spd="med" advClick="1">
    <p:fade/>
  </p:transition>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f31902ee8e34528"/>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16" name=""/>
          <p:cNvGraphicFramePr/>
          <p:nvPr/>
        </p:nvGraphicFramePr>
        <p:xfrm>
          <a:off xmlns:a="http://schemas.openxmlformats.org/drawingml/2006/main" x="609600" y="1476375"/>
          <a:ext xmlns:a="http://schemas.openxmlformats.org/drawingml/2006/main" cx="10972800" cy="4286250"/>
        </p:xfrm>
        <a:graphic xmlns:a="http://schemas.openxmlformats.org/drawingml/2006/main">
          <a:graphicData uri="http://schemas.openxmlformats.org/drawingml/2006/table">
            <a:tbl>
              <a:tblPr/>
              <a:tblGrid>
                <a:gridCol w="2809875"/>
                <a:gridCol w="8162925"/>
              </a:tblGrid>
              <a:tr h="714375">
                <a:tc>
                  <a:txBody>
                    <a:bodyPr/>
                    <a:lstStyle/>
                    <a:p>
                      <a:r>
                        <a:rPr sz="1800" b="1">
                          <a:solidFill>
                            <a:srgbClr val="FFFFFF"/>
                          </a:solidFill>
                          <a:latin typeface="Calibri"/>
                          <a:ea typeface="Calibri"/>
                          <a:cs typeface="Calibri"/>
                        </a:rPr>
                        <a:t>21:15–21:45</a:t>
                      </a:r>
                    </a:p>
                  </a:txBody>
                  <a:tcPr marL="91440" marR="91440" marT="45720" marB="45720">
                    <a:solidFill>
                      <a:srgbClr val="4237BF"/>
                    </a:solidFill>
                  </a:tcPr>
                </a:tc>
                <a:tc>
                  <a:txBody>
                    <a:bodyPr/>
                    <a:lstStyle/>
                    <a:p>
                      <a:r>
                        <a:rPr sz="1800" b="1">
                          <a:solidFill>
                            <a:srgbClr val="FFFFFF"/>
                          </a:solidFill>
                          <a:latin typeface="Calibri"/>
                          <a:ea typeface="Calibri"/>
                          <a:cs typeface="Calibri"/>
                        </a:rPr>
                        <a:t>Comprobación y evidencia</a:t>
                      </a:r>
                    </a:p>
                  </a:txBody>
                  <a:tcPr marL="91440" marR="91440" marT="45720" marB="45720">
                    <a:solidFill>
                      <a:srgbClr val="4237BF"/>
                    </a:solidFill>
                  </a:tcPr>
                </a:tc>
              </a:tr>
              <a:tr h="714375">
                <a:tc>
                  <a:txBody>
                    <a:bodyPr/>
                    <a:lstStyle/>
                    <a:p>
                      <a:r>
                        <a:rPr sz="1800" b="0">
                          <a:solidFill>
                            <a:srgbClr val="203B68"/>
                          </a:solidFill>
                          <a:latin typeface="Calibri"/>
                          <a:ea typeface="Calibri"/>
                          <a:cs typeface="Calibri"/>
                        </a:rPr>
                        <a:t>Entrada y salida</a:t>
                      </a:r>
                    </a:p>
                  </a:txBody>
                  <a:tcPr marL="91440" marR="91440" marT="45720" marB="45720">
                    <a:solidFill>
                      <a:srgbClr val="F4F8F8"/>
                    </a:solidFill>
                  </a:tcPr>
                </a:tc>
                <a:tc>
                  <a:txBody>
                    <a:bodyPr/>
                    <a:lstStyle/>
                    <a:p>
                      <a:r>
                        <a:rPr sz="1800" b="0">
                          <a:solidFill>
                            <a:srgbClr val="203B68"/>
                          </a:solidFill>
                          <a:latin typeface="Calibri"/>
                          <a:ea typeface="Calibri"/>
                          <a:cs typeface="Calibri"/>
                        </a:rPr>
                        <a:t>3.000 filas. Original de 38 campos, proyección de 16</a:t>
                      </a:r>
                    </a:p>
                  </a:txBody>
                  <a:tcPr marL="91440" marR="91440" marT="45720" marB="45720">
                    <a:solidFill>
                      <a:srgbClr val="F4F8F8"/>
                    </a:solidFill>
                  </a:tcPr>
                </a:tc>
              </a:tr>
              <a:tr h="714375">
                <a:tc>
                  <a:txBody>
                    <a:bodyPr/>
                    <a:lstStyle/>
                    <a:p>
                      <a:r>
                        <a:rPr sz="1800" b="0">
                          <a:solidFill>
                            <a:srgbClr val="203B68"/>
                          </a:solidFill>
                          <a:latin typeface="Calibri"/>
                          <a:ea typeface="Calibri"/>
                          <a:cs typeface="Calibri"/>
                        </a:rPr>
                        <a:t>Particiones</a:t>
                      </a:r>
                    </a:p>
                  </a:txBody>
                  <a:tcPr marL="91440" marR="91440" marT="45720" marB="45720">
                    <a:solidFill>
                      <a:srgbClr val="E9F0F1"/>
                    </a:solidFill>
                  </a:tcPr>
                </a:tc>
                <a:tc>
                  <a:txBody>
                    <a:bodyPr/>
                    <a:lstStyle/>
                    <a:p>
                      <a:r>
                        <a:rPr sz="1800" b="0">
                          <a:solidFill>
                            <a:srgbClr val="203B68"/>
                          </a:solidFill>
                          <a:latin typeface="Calibri"/>
                          <a:ea typeface="Calibri"/>
                          <a:cs typeface="Calibri"/>
                        </a:rPr>
                        <a:t>8 archivos en el corte de muestras. Año y mes documentados</a:t>
                      </a:r>
                    </a:p>
                  </a:txBody>
                  <a:tcPr marL="91440" marR="91440" marT="45720" marB="45720">
                    <a:solidFill>
                      <a:srgbClr val="E9F0F1"/>
                    </a:solidFill>
                  </a:tcPr>
                </a:tc>
              </a:tr>
              <a:tr h="714375">
                <a:tc>
                  <a:txBody>
                    <a:bodyPr/>
                    <a:lstStyle/>
                    <a:p>
                      <a:r>
                        <a:rPr sz="1800" b="0">
                          <a:solidFill>
                            <a:srgbClr val="203B68"/>
                          </a:solidFill>
                          <a:latin typeface="Calibri"/>
                          <a:ea typeface="Calibri"/>
                          <a:cs typeface="Calibri"/>
                        </a:rPr>
                        <a:t>Reejecución</a:t>
                      </a:r>
                    </a:p>
                  </a:txBody>
                  <a:tcPr marL="91440" marR="91440" marT="45720" marB="45720">
                    <a:solidFill>
                      <a:srgbClr val="F4F8F8"/>
                    </a:solidFill>
                  </a:tcPr>
                </a:tc>
                <a:tc>
                  <a:txBody>
                    <a:bodyPr/>
                    <a:lstStyle/>
                    <a:p>
                      <a:r>
                        <a:rPr sz="1800" b="0">
                          <a:solidFill>
                            <a:srgbClr val="203B68"/>
                          </a:solidFill>
                          <a:latin typeface="Calibri"/>
                          <a:ea typeface="Calibri"/>
                          <a:cs typeface="Calibri"/>
                        </a:rPr>
                        <a:t>Mismas filas y firma_contenido entre ambas corridas</a:t>
                      </a:r>
                    </a:p>
                  </a:txBody>
                  <a:tcPr marL="91440" marR="91440" marT="45720" marB="45720">
                    <a:solidFill>
                      <a:srgbClr val="F4F8F8"/>
                    </a:solidFill>
                  </a:tcPr>
                </a:tc>
              </a:tr>
              <a:tr h="714375">
                <a:tc>
                  <a:txBody>
                    <a:bodyPr/>
                    <a:lstStyle/>
                    <a:p>
                      <a:r>
                        <a:rPr sz="1800" b="0">
                          <a:solidFill>
                            <a:srgbClr val="203B68"/>
                          </a:solidFill>
                          <a:latin typeface="Calibri"/>
                          <a:ea typeface="Calibri"/>
                          <a:cs typeface="Calibri"/>
                        </a:rPr>
                        <a:t>Fallo controlado</a:t>
                      </a:r>
                    </a:p>
                  </a:txBody>
                  <a:tcPr marL="91440" marR="91440" marT="45720" marB="45720">
                    <a:solidFill>
                      <a:srgbClr val="E9F0F1"/>
                    </a:solidFill>
                  </a:tcPr>
                </a:tc>
                <a:tc>
                  <a:txBody>
                    <a:bodyPr/>
                    <a:lstStyle/>
                    <a:p>
                      <a:r>
                        <a:rPr sz="1800" b="0">
                          <a:solidFill>
                            <a:srgbClr val="203B68"/>
                          </a:solidFill>
                          <a:latin typeface="Calibri"/>
                          <a:ea typeface="Calibri"/>
                          <a:cs typeface="Calibri"/>
                        </a:rPr>
                        <a:t>Mensaje de contrato y recuperación con el esquema correcto</a:t>
                      </a:r>
                    </a:p>
                  </a:txBody>
                  <a:tcPr marL="91440" marR="91440" marT="45720" marB="45720">
                    <a:solidFill>
                      <a:srgbClr val="E9F0F1"/>
                    </a:solidFill>
                  </a:tcPr>
                </a:tc>
              </a:tr>
              <a:tr h="714375">
                <a:tc>
                  <a:txBody>
                    <a:bodyPr/>
                    <a:lstStyle/>
                    <a:p>
                      <a:r>
                        <a:rPr sz="1800" b="0">
                          <a:solidFill>
                            <a:srgbClr val="203B68"/>
                          </a:solidFill>
                          <a:latin typeface="Calibri"/>
                          <a:ea typeface="Calibri"/>
                          <a:cs typeface="Calibri"/>
                        </a:rPr>
                        <a:t>Decisión del equipo</a:t>
                      </a:r>
                    </a:p>
                  </a:txBody>
                  <a:tcPr marL="91440" marR="91440" marT="45720" marB="45720">
                    <a:solidFill>
                      <a:srgbClr val="F4F8F8"/>
                    </a:solidFill>
                  </a:tcPr>
                </a:tc>
                <a:tc>
                  <a:txBody>
                    <a:bodyPr/>
                    <a:lstStyle/>
                    <a:p>
                      <a:r>
                        <a:rPr sz="1800" b="0">
                          <a:solidFill>
                            <a:srgbClr val="203B68"/>
                          </a:solidFill>
                          <a:latin typeface="Calibri"/>
                          <a:ea typeface="Calibri"/>
                          <a:cs typeface="Calibri"/>
                        </a:rPr>
                        <a:t>Contrato, configuración y regla para publicar, revisar o detener</a:t>
                      </a:r>
                    </a:p>
                  </a:txBody>
                  <a:tcPr marL="91440" marR="91440" marT="45720" marB="45720">
                    <a:solidFill>
                      <a:srgbClr val="F4F8F8"/>
                    </a:solidFill>
                  </a:tcPr>
                </a:tc>
              </a:tr>
            </a:tbl>
          </a:graphicData>
        </a:graphic>
      </p:graphicFrame>
      <p:sp>
        <p:nvSpPr>
          <p:cNvPr id="2" name="">
            <a:extLst xmlns:a="http://schemas.openxmlformats.org/drawingml/2006/main">
              <a:ext uri="{FF2B5EF4-FFF2-40B4-BE49-F238E27FC236}">
                <a16:creationId xmlns:a16="http://schemas.microsoft.com/office/drawing/2014/main" id="{F22EA0F6-FFBE-4A64-9461-149A78DE4A62}"/>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Cierre práctico: publicación del producto</a:t>
            </a:r>
          </a:p>
        </p:txBody>
      </p:sp>
      <p:sp>
        <p:nvSpPr>
          <p:cNvPr id="4" name="">
            <a:extLst xmlns:a="http://schemas.openxmlformats.org/drawingml/2006/main">
              <a:ext uri="{FF2B5EF4-FFF2-40B4-BE49-F238E27FC236}">
                <a16:creationId xmlns:a16="http://schemas.microsoft.com/office/drawing/2014/main" id="{4323D1BF-CC25-462B-AD63-0E0C6B35B393}"/>
              </a:ext>
            </a:extLst>
          </p:cNvPr>
          <p:cNvSpPr>
            <a:spLocks xmlns:a="http://schemas.openxmlformats.org/drawingml/2006/main" noGrp="1"/>
          </p:cNvSpPr>
          <p:nvPr/>
        </p:nvSpPr>
        <p:spPr>
          <a:xfrm xmlns:a="http://schemas.openxmlformats.org/drawingml/2006/main">
            <a:off x="609600" y="59531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30 min de demostración docente; el profesor explica los controles.</a:t>
            </a:r>
          </a:p>
        </p:txBody>
      </p:sp>
      <p:sp>
        <p:nvSpPr>
          <p:cNvPr id="9" name="">
            <a:extLst xmlns:a="http://schemas.openxmlformats.org/drawingml/2006/main">
              <a:ext uri="{FF2B5EF4-FFF2-40B4-BE49-F238E27FC236}">
                <a16:creationId xmlns:a16="http://schemas.microsoft.com/office/drawing/2014/main" id="{45EA287A-5E9C-48A4-83D5-6974CE6A02A2}"/>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0" name="">
            <a:extLst xmlns:a="http://schemas.openxmlformats.org/drawingml/2006/main">
              <a:ext uri="{FF2B5EF4-FFF2-40B4-BE49-F238E27FC236}">
                <a16:creationId xmlns:a16="http://schemas.microsoft.com/office/drawing/2014/main" id="{F7E939E1-A7B5-45EE-BC56-6F8CBA4D6F0A}"/>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1" name="">
            <a:extLst xmlns:a="http://schemas.openxmlformats.org/drawingml/2006/main">
              <a:ext uri="{FF2B5EF4-FFF2-40B4-BE49-F238E27FC236}">
                <a16:creationId xmlns:a16="http://schemas.microsoft.com/office/drawing/2014/main" id="{A9CD0B49-CE7B-4CDB-99E8-EE5024BF150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2" name="">
            <a:extLst xmlns:a="http://schemas.openxmlformats.org/drawingml/2006/main">
              <a:ext uri="{FF2B5EF4-FFF2-40B4-BE49-F238E27FC236}">
                <a16:creationId xmlns:a16="http://schemas.microsoft.com/office/drawing/2014/main" id="{F4380AE0-500D-4BB7-9DCC-8BF1E920A7B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29</a:t>
            </a:r>
          </a:p>
        </p:txBody>
      </p:sp>
    </p:spTree>
    <p:extLst>
      <p:ext uri="{BB962C8B-B14F-4D97-AF65-F5344CB8AC3E}">
        <p14:creationId xmlns:p14="http://schemas.microsoft.com/office/powerpoint/2010/main" val="1949035020"/>
      </p:ext>
    </p:extLst>
  </p:cSld>
  <p:transition spd="med" advClick="1">
    <p:fade/>
  </p:transition>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f0280a67cfa4905"/>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0AEE17B-E98A-4F48-B32A-1E303916AC2C}"/>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Discusión y continuidad del sábado</a:t>
            </a:r>
          </a:p>
        </p:txBody>
      </p:sp>
      <p:sp>
        <p:nvSpPr>
          <p:cNvPr id="3" name="">
            <a:extLst xmlns:a="http://schemas.openxmlformats.org/drawingml/2006/main">
              <a:ext uri="{FF2B5EF4-FFF2-40B4-BE49-F238E27FC236}">
                <a16:creationId xmlns:a16="http://schemas.microsoft.com/office/drawing/2014/main" id="{E074FE0A-6ECF-4AAF-B240-B36CCB253EA0}"/>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21:45–22:00: preguntas y controles</a:t>
            </a:r>
          </a:p>
        </p:txBody>
      </p:sp>
      <p:sp>
        <p:nvSpPr>
          <p:cNvPr id="4" name="">
            <a:extLst xmlns:a="http://schemas.openxmlformats.org/drawingml/2006/main">
              <a:ext uri="{FF2B5EF4-FFF2-40B4-BE49-F238E27FC236}">
                <a16:creationId xmlns:a16="http://schemas.microsoft.com/office/drawing/2014/main" id="{BDF1DD8A-E741-4D2B-A575-0945EDC31196}"/>
              </a:ext>
            </a:extLst>
          </p:cNvPr>
          <p:cNvSpPr>
            <a:spLocks xmlns:a="http://schemas.openxmlformats.org/drawingml/2006/main" noGrp="1"/>
          </p:cNvSpPr>
          <p:nvPr/>
        </p:nvSpPr>
        <p:spPr>
          <a:xfrm xmlns:a="http://schemas.openxmlformats.org/drawingml/2006/main">
            <a:off x="685800" y="1952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El profesor explica el contrato, el fallo controlado y la reejecución observados.</a:t>
            </a:r>
          </a:p>
        </p:txBody>
      </p:sp>
      <p:sp>
        <p:nvSpPr>
          <p:cNvPr id="5" name="">
            <a:extLst xmlns:a="http://schemas.openxmlformats.org/drawingml/2006/main">
              <a:ext uri="{FF2B5EF4-FFF2-40B4-BE49-F238E27FC236}">
                <a16:creationId xmlns:a16="http://schemas.microsoft.com/office/drawing/2014/main" id="{CA62B23D-426D-4813-979F-E5B0E6A98ECD}"/>
              </a:ext>
            </a:extLst>
          </p:cNvPr>
          <p:cNvSpPr>
            <a:spLocks xmlns:a="http://schemas.openxmlformats.org/drawingml/2006/main" noGrp="1"/>
          </p:cNvSpPr>
          <p:nvPr/>
        </p:nvSpPr>
        <p:spPr>
          <a:xfrm xmlns:a="http://schemas.openxmlformats.org/drawingml/2006/main">
            <a:off x="685800" y="2886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Preparación de la ejecución estudiantil</a:t>
            </a:r>
          </a:p>
        </p:txBody>
      </p:sp>
      <p:sp>
        <p:nvSpPr>
          <p:cNvPr id="6" name="">
            <a:extLst xmlns:a="http://schemas.openxmlformats.org/drawingml/2006/main">
              <a:ext uri="{FF2B5EF4-FFF2-40B4-BE49-F238E27FC236}">
                <a16:creationId xmlns:a16="http://schemas.microsoft.com/office/drawing/2014/main" id="{15A95B2C-8653-42E6-9C8C-D95E6BF43C5F}"/>
              </a:ext>
            </a:extLst>
          </p:cNvPr>
          <p:cNvSpPr>
            <a:spLocks xmlns:a="http://schemas.openxmlformats.org/drawingml/2006/main" noGrp="1"/>
          </p:cNvSpPr>
          <p:nvPr/>
        </p:nvSpPr>
        <p:spPr>
          <a:xfrm xmlns:a="http://schemas.openxmlformats.org/drawingml/2006/main">
            <a:off x="685800" y="3333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El profesor comparte configuración y código. Se usará la ruta con muestras reales.</a:t>
            </a:r>
          </a:p>
        </p:txBody>
      </p:sp>
      <p:sp>
        <p:nvSpPr>
          <p:cNvPr id="7" name="">
            <a:extLst xmlns:a="http://schemas.openxmlformats.org/drawingml/2006/main">
              <a:ext uri="{FF2B5EF4-FFF2-40B4-BE49-F238E27FC236}">
                <a16:creationId xmlns:a16="http://schemas.microsoft.com/office/drawing/2014/main" id="{275901DC-3C55-492A-B0CD-09BEB04A1553}"/>
              </a:ext>
            </a:extLst>
          </p:cNvPr>
          <p:cNvSpPr>
            <a:spLocks xmlns:a="http://schemas.openxmlformats.org/drawingml/2006/main" noGrp="1"/>
          </p:cNvSpPr>
          <p:nvPr/>
        </p:nvSpPr>
        <p:spPr>
          <a:xfrm xmlns:a="http://schemas.openxmlformats.org/drawingml/2006/main">
            <a:off x="68580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Entrega única: sábado 10/10</a:t>
            </a:r>
          </a:p>
        </p:txBody>
      </p:sp>
      <p:sp>
        <p:nvSpPr>
          <p:cNvPr id="8" name="">
            <a:extLst xmlns:a="http://schemas.openxmlformats.org/drawingml/2006/main">
              <a:ext uri="{FF2B5EF4-FFF2-40B4-BE49-F238E27FC236}">
                <a16:creationId xmlns:a16="http://schemas.microsoft.com/office/drawing/2014/main" id="{C1E2F448-73A9-4DDD-B20D-59FB3C179191}"/>
              </a:ext>
            </a:extLst>
          </p:cNvPr>
          <p:cNvSpPr>
            <a:spLocks xmlns:a="http://schemas.openxmlformats.org/drawingml/2006/main" noGrp="1"/>
          </p:cNvSpPr>
          <p:nvPr/>
        </p:nvSpPr>
        <p:spPr>
          <a:xfrm xmlns:a="http://schemas.openxmlformats.org/drawingml/2006/main">
            <a:off x="685800" y="47148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Cada equipo produce contrato y Parquet propios, controles de calidad y consultas conciliadas.</a:t>
            </a:r>
          </a:p>
        </p:txBody>
      </p:sp>
      <p:sp>
        <p:nvSpPr>
          <p:cNvPr id="9" name="">
            <a:extLst xmlns:a="http://schemas.openxmlformats.org/drawingml/2006/main">
              <a:ext uri="{FF2B5EF4-FFF2-40B4-BE49-F238E27FC236}">
                <a16:creationId xmlns:a16="http://schemas.microsoft.com/office/drawing/2014/main" id="{82F82928-6787-4E38-955D-0FACB5C57A8E}"/>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Sin entrega el viernes. El cierre sabatino reúne E04–E06/P02–P03.</a:t>
            </a:r>
          </a:p>
        </p:txBody>
      </p:sp>
      <p:sp>
        <p:nvSpPr>
          <p:cNvPr id="10" name="">
            <a:extLst xmlns:a="http://schemas.openxmlformats.org/drawingml/2006/main">
              <a:ext uri="{FF2B5EF4-FFF2-40B4-BE49-F238E27FC236}">
                <a16:creationId xmlns:a16="http://schemas.microsoft.com/office/drawing/2014/main" id="{92285977-7622-4CBE-A58E-315EBD372DB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EAF3035E-A5F9-4209-822F-9FD5390D49D1}"/>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975" b="1">
                <a:solidFill>
                  <a:srgbClr val="4239C8"/>
                </a:solidFill>
                <a:latin typeface="Calibri"/>
                <a:ea typeface="Calibri"/>
                <a:cs typeface="Calibri"/>
              </a:defRPr>
            </a:pPr>
            <a:r>
              <a:rPr sz="975" b="1">
                <a:solidFill>
                  <a:srgbClr val="4239C8"/>
                </a:solidFill>
                <a:latin typeface="Calibri"/>
                <a:ea typeface="Calibri"/>
                <a:cs typeface="Calibri"/>
              </a:rPr>
              <a:t>E04 — Ejercicio 04: Formatos y contrato de datos  |  E05 — Ejercicio 05: Calidad de análisis de suelo  |  E06 — Ejercicio 06: Rendimiento agrícola e integración SQL  |  P02 — Práctica PQRS 02: Parquet, contrato y reejecución  |  P03 — Práctica PQRS 03: Calidad de reportes y consulta diferida</a:t>
            </a:r>
          </a:p>
        </p:txBody>
      </p:sp>
      <p:sp>
        <p:nvSpPr>
          <p:cNvPr id="12" name="">
            <a:extLst xmlns:a="http://schemas.openxmlformats.org/drawingml/2006/main">
              <a:ext uri="{FF2B5EF4-FFF2-40B4-BE49-F238E27FC236}">
                <a16:creationId xmlns:a16="http://schemas.microsoft.com/office/drawing/2014/main" id="{59C50A36-408C-475E-A3A1-C777566BC3A2}"/>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3" name="">
            <a:extLst xmlns:a="http://schemas.openxmlformats.org/drawingml/2006/main">
              <a:ext uri="{FF2B5EF4-FFF2-40B4-BE49-F238E27FC236}">
                <a16:creationId xmlns:a16="http://schemas.microsoft.com/office/drawing/2014/main" id="{032E0D0D-A593-41FD-8EA6-344DB2806EE4}"/>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30</a:t>
            </a:r>
          </a:p>
        </p:txBody>
      </p:sp>
    </p:spTree>
    <p:extLst>
      <p:ext uri="{BB962C8B-B14F-4D97-AF65-F5344CB8AC3E}">
        <p14:creationId xmlns:p14="http://schemas.microsoft.com/office/powerpoint/2010/main" val="78632620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5f9bacc42aea4331"/>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504fac0212e04b7d"/>
          <a:stretch xmlns:a="http://schemas.openxmlformats.org/drawingml/2006/main"/>
        </p:blipFill>
        <p:spPr>
          <a:xfrm xmlns:a="http://schemas.openxmlformats.org/drawingml/2006/main">
            <a:off x="5053013" y="1447800"/>
            <a:ext cx="6715125"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198E68B-FABB-4822-9EF6-71C5D524D0F1}"/>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Hadoop y HDFS</a:t>
            </a:r>
          </a:p>
        </p:txBody>
      </p:sp>
      <p:sp>
        <p:nvSpPr>
          <p:cNvPr id="11" name="">
            <a:extLst xmlns:a="http://schemas.openxmlformats.org/drawingml/2006/main">
              <a:ext uri="{FF2B5EF4-FFF2-40B4-BE49-F238E27FC236}">
                <a16:creationId xmlns:a16="http://schemas.microsoft.com/office/drawing/2014/main" id="{4F0DED75-E68F-4C1A-9CB6-F85162D53DFE}"/>
              </a:ext>
            </a:extLst>
          </p:cNvPr>
          <p:cNvSpPr>
            <a:spLocks xmlns:a="http://schemas.openxmlformats.org/drawingml/2006/main" noGrp="1"/>
          </p:cNvSpPr>
          <p:nvPr/>
        </p:nvSpPr>
        <p:spPr>
          <a:xfrm xmlns:a="http://schemas.openxmlformats.org/drawingml/2006/main">
            <a:off x="609600" y="166687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5546ED"/>
                </a:solidFill>
                <a:latin typeface="Calibri"/>
                <a:ea typeface="Calibri"/>
                <a:cs typeface="Calibri"/>
              </a:defRPr>
            </a:pPr>
            <a:r>
              <a:rPr sz="2100" b="1">
                <a:solidFill>
                  <a:srgbClr val="5546ED"/>
                </a:solidFill>
                <a:latin typeface="Calibri"/>
                <a:ea typeface="Calibri"/>
                <a:cs typeface="Calibri"/>
              </a:rPr>
              <a:t>Partición</a:t>
            </a:r>
          </a:p>
        </p:txBody>
      </p:sp>
      <p:sp>
        <p:nvSpPr>
          <p:cNvPr id="12" name="">
            <a:extLst xmlns:a="http://schemas.openxmlformats.org/drawingml/2006/main">
              <a:ext uri="{FF2B5EF4-FFF2-40B4-BE49-F238E27FC236}">
                <a16:creationId xmlns:a16="http://schemas.microsoft.com/office/drawing/2014/main" id="{8B80A589-F375-43AA-A05B-CB2444508FF0}"/>
              </a:ext>
            </a:extLst>
          </p:cNvPr>
          <p:cNvSpPr>
            <a:spLocks xmlns:a="http://schemas.openxmlformats.org/drawingml/2006/main" noGrp="1"/>
          </p:cNvSpPr>
          <p:nvPr/>
        </p:nvSpPr>
        <p:spPr>
          <a:xfrm xmlns:a="http://schemas.openxmlformats.org/drawingml/2006/main">
            <a:off x="609600" y="211455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El archivo se divide en bloques A, B y C.</a:t>
            </a:r>
          </a:p>
        </p:txBody>
      </p:sp>
      <p:sp>
        <p:nvSpPr>
          <p:cNvPr id="13" name="">
            <a:extLst xmlns:a="http://schemas.openxmlformats.org/drawingml/2006/main">
              <a:ext uri="{FF2B5EF4-FFF2-40B4-BE49-F238E27FC236}">
                <a16:creationId xmlns:a16="http://schemas.microsoft.com/office/drawing/2014/main" id="{6352760B-580E-467D-AF61-6AB53CBF365B}"/>
              </a:ext>
            </a:extLst>
          </p:cNvPr>
          <p:cNvSpPr>
            <a:spLocks xmlns:a="http://schemas.openxmlformats.org/drawingml/2006/main" noGrp="1"/>
          </p:cNvSpPr>
          <p:nvPr/>
        </p:nvSpPr>
        <p:spPr>
          <a:xfrm xmlns:a="http://schemas.openxmlformats.org/drawingml/2006/main">
            <a:off x="609600" y="30670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C948B"/>
                </a:solidFill>
                <a:latin typeface="Calibri"/>
                <a:ea typeface="Calibri"/>
                <a:cs typeface="Calibri"/>
              </a:defRPr>
            </a:pPr>
            <a:r>
              <a:rPr sz="2100" b="1">
                <a:solidFill>
                  <a:srgbClr val="0C948B"/>
                </a:solidFill>
                <a:latin typeface="Calibri"/>
                <a:ea typeface="Calibri"/>
                <a:cs typeface="Calibri"/>
              </a:rPr>
              <a:t>Réplica</a:t>
            </a:r>
          </a:p>
        </p:txBody>
      </p:sp>
      <p:sp>
        <p:nvSpPr>
          <p:cNvPr id="14" name="">
            <a:extLst xmlns:a="http://schemas.openxmlformats.org/drawingml/2006/main">
              <a:ext uri="{FF2B5EF4-FFF2-40B4-BE49-F238E27FC236}">
                <a16:creationId xmlns:a16="http://schemas.microsoft.com/office/drawing/2014/main" id="{025A5068-2B15-4FEB-AB91-57501FF7E6AD}"/>
              </a:ext>
            </a:extLst>
          </p:cNvPr>
          <p:cNvSpPr>
            <a:spLocks xmlns:a="http://schemas.openxmlformats.org/drawingml/2006/main" noGrp="1"/>
          </p:cNvSpPr>
          <p:nvPr/>
        </p:nvSpPr>
        <p:spPr>
          <a:xfrm xmlns:a="http://schemas.openxmlformats.org/drawingml/2006/main">
            <a:off x="609600" y="3514725"/>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Cada bloque aparece en dos nodos en este ejemplo.</a:t>
            </a:r>
          </a:p>
        </p:txBody>
      </p:sp>
      <p:sp>
        <p:nvSpPr>
          <p:cNvPr id="15" name="">
            <a:extLst xmlns:a="http://schemas.openxmlformats.org/drawingml/2006/main">
              <a:ext uri="{FF2B5EF4-FFF2-40B4-BE49-F238E27FC236}">
                <a16:creationId xmlns:a16="http://schemas.microsoft.com/office/drawing/2014/main" id="{546E8EFC-E80B-4EFD-B5FA-28AC4B60C805}"/>
              </a:ext>
            </a:extLst>
          </p:cNvPr>
          <p:cNvSpPr>
            <a:spLocks xmlns:a="http://schemas.openxmlformats.org/drawingml/2006/main" noGrp="1"/>
          </p:cNvSpPr>
          <p:nvPr/>
        </p:nvSpPr>
        <p:spPr>
          <a:xfrm xmlns:a="http://schemas.openxmlformats.org/drawingml/2006/main">
            <a:off x="609600" y="4467225"/>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CF4E48"/>
                </a:solidFill>
                <a:latin typeface="Calibri"/>
                <a:ea typeface="Calibri"/>
                <a:cs typeface="Calibri"/>
              </a:defRPr>
            </a:pPr>
            <a:r>
              <a:rPr sz="2100" b="1">
                <a:solidFill>
                  <a:srgbClr val="CF4E48"/>
                </a:solidFill>
                <a:latin typeface="Calibri"/>
                <a:ea typeface="Calibri"/>
                <a:cs typeface="Calibri"/>
              </a:rPr>
              <a:t>Coordinación</a:t>
            </a:r>
          </a:p>
        </p:txBody>
      </p:sp>
      <p:sp>
        <p:nvSpPr>
          <p:cNvPr id="16" name="">
            <a:extLst xmlns:a="http://schemas.openxmlformats.org/drawingml/2006/main">
              <a:ext uri="{FF2B5EF4-FFF2-40B4-BE49-F238E27FC236}">
                <a16:creationId xmlns:a16="http://schemas.microsoft.com/office/drawing/2014/main" id="{4D61B26E-C8AC-4C84-8C91-F3A3B0F49AAB}"/>
              </a:ext>
            </a:extLst>
          </p:cNvPr>
          <p:cNvSpPr>
            <a:spLocks xmlns:a="http://schemas.openxmlformats.org/drawingml/2006/main" noGrp="1"/>
          </p:cNvSpPr>
          <p:nvPr/>
        </p:nvSpPr>
        <p:spPr>
          <a:xfrm xmlns:a="http://schemas.openxmlformats.org/drawingml/2006/main">
            <a:off x="609600" y="4914900"/>
            <a:ext cx="4048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03B68"/>
                </a:solidFill>
                <a:latin typeface="Calibri"/>
                <a:ea typeface="Calibri"/>
                <a:cs typeface="Calibri"/>
              </a:defRPr>
            </a:pPr>
            <a:r>
              <a:rPr sz="1950" b="0">
                <a:solidFill>
                  <a:srgbClr val="203B68"/>
                </a:solidFill>
                <a:latin typeface="Calibri"/>
                <a:ea typeface="Calibri"/>
                <a:cs typeface="Calibri"/>
              </a:rPr>
              <a:t>HDFS administra bloques y disponibilidad.</a:t>
            </a:r>
          </a:p>
        </p:txBody>
      </p:sp>
      <p:sp>
        <p:nvSpPr>
          <p:cNvPr id="17" name="">
            <a:extLst xmlns:a="http://schemas.openxmlformats.org/drawingml/2006/main">
              <a:ext uri="{FF2B5EF4-FFF2-40B4-BE49-F238E27FC236}">
                <a16:creationId xmlns:a16="http://schemas.microsoft.com/office/drawing/2014/main" id="{A111E560-5F69-40E9-A17C-96D2939C65DA}"/>
              </a:ext>
            </a:extLst>
          </p:cNvPr>
          <p:cNvSpPr>
            <a:spLocks xmlns:a="http://schemas.openxmlformats.org/drawingml/2006/main" noGrp="1"/>
          </p:cNvSpPr>
          <p:nvPr/>
        </p:nvSpPr>
        <p:spPr>
          <a:xfrm xmlns:a="http://schemas.openxmlformats.org/drawingml/2006/main">
            <a:off x="609600" y="5981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Ejemplo conceptual: factor de réplica 2, no una configuración por defecto</a:t>
            </a:r>
          </a:p>
        </p:txBody>
      </p:sp>
      <p:sp>
        <p:nvSpPr>
          <p:cNvPr id="32" name="">
            <a:extLst xmlns:a="http://schemas.openxmlformats.org/drawingml/2006/main">
              <a:ext uri="{FF2B5EF4-FFF2-40B4-BE49-F238E27FC236}">
                <a16:creationId xmlns:a16="http://schemas.microsoft.com/office/drawing/2014/main" id="{BB23A887-4D9C-4F0D-8EC7-DE007C9966AE}"/>
              </a:ext>
            </a:extLst>
          </p:cNvPr>
          <p:cNvSpPr>
            <a:spLocks xmlns:a="http://schemas.openxmlformats.org/drawingml/2006/main" noGrp="1"/>
          </p:cNvSpPr>
          <p:nvPr/>
        </p:nvSpPr>
        <p:spPr>
          <a:xfrm xmlns:a="http://schemas.openxmlformats.org/drawingml/2006/main">
            <a:off x="609600" y="11430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5546ED"/>
                </a:solidFill>
                <a:latin typeface="Calibri"/>
                <a:ea typeface="Calibri"/>
                <a:cs typeface="Calibri"/>
              </a:defRPr>
            </a:pPr>
            <a:r>
              <a:rPr sz="1425" b="1">
                <a:solidFill>
                  <a:srgbClr val="5546ED"/>
                </a:solidFill>
                <a:latin typeface="Calibri"/>
                <a:ea typeface="Calibri"/>
                <a:cs typeface="Calibri"/>
              </a:rPr>
              <a:t>Referencia conceptual opcional</a:t>
            </a:r>
          </a:p>
        </p:txBody>
      </p:sp>
      <p:sp>
        <p:nvSpPr>
          <p:cNvPr id="37" name="">
            <a:extLst xmlns:a="http://schemas.openxmlformats.org/drawingml/2006/main">
              <a:ext uri="{FF2B5EF4-FFF2-40B4-BE49-F238E27FC236}">
                <a16:creationId xmlns:a16="http://schemas.microsoft.com/office/drawing/2014/main" id="{5BF5E047-6819-4F88-9560-30DBFD15F3AD}"/>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3225C6A9-F77E-4DDB-A3FA-29E290B34AD3}"/>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9" name="">
            <a:extLst xmlns:a="http://schemas.openxmlformats.org/drawingml/2006/main">
              <a:ext uri="{FF2B5EF4-FFF2-40B4-BE49-F238E27FC236}">
                <a16:creationId xmlns:a16="http://schemas.microsoft.com/office/drawing/2014/main" id="{99DD7DDA-DFA8-434F-BFD7-72FEB642F1D3}"/>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40" name="">
            <a:extLst xmlns:a="http://schemas.openxmlformats.org/drawingml/2006/main">
              <a:ext uri="{FF2B5EF4-FFF2-40B4-BE49-F238E27FC236}">
                <a16:creationId xmlns:a16="http://schemas.microsoft.com/office/drawing/2014/main" id="{2A25C190-F672-439B-B62F-2C86099F9791}"/>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31</a:t>
            </a:r>
          </a:p>
        </p:txBody>
      </p:sp>
    </p:spTree>
    <p:extLst>
      <p:ext uri="{BB962C8B-B14F-4D97-AF65-F5344CB8AC3E}">
        <p14:creationId xmlns:p14="http://schemas.microsoft.com/office/powerpoint/2010/main" val="651234905"/>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nodeType="clickEffect">
                                  <p:stCondLst>
                                    <p:cond delay="0"/>
                                  </p:stCondLst>
                                  <p:childTnLst>
                                    <p:set>
                                      <p:cBhvr>
                                        <p:cTn id="9" dur="1" fill="hold"/>
                                        <p:tgtEl>
                                          <p:spTgt spid="12"/>
                                        </p:tgtEl>
                                        <p:attrNameLst>
                                          <p:attrName>style.visibility</p:attrName>
                                        </p:attrNameLst>
                                      </p:cBhvr>
                                      <p:to>
                                        <p:strVal val="visible"/>
                                      </p:to>
                                    </p:set>
                                    <p:animEffect transition="in" filter="fade">
                                      <p:cBhvr>
                                        <p:cTn id="10" dur="3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3"/>
                                        </p:tgtEl>
                                        <p:attrNameLst>
                                          <p:attrName>style.visibility</p:attrName>
                                        </p:attrNameLst>
                                      </p:cBhvr>
                                      <p:to>
                                        <p:strVal val="visible"/>
                                      </p:to>
                                    </p:set>
                                    <p:animEffect transition="in" filter="fade">
                                      <p:cBhvr>
                                        <p:cTn id="15" dur="300"/>
                                        <p:tgtEl>
                                          <p:spTgt spid="13"/>
                                        </p:tgtEl>
                                      </p:cBhvr>
                                    </p:animEffect>
                                  </p:childTnLst>
                                </p:cTn>
                              </p:par>
                              <p:par>
                                <p:cTn id="16" presetID="10" presetClass="entr" presetSubtype="0" fill="hold" nodeType="clickEffect">
                                  <p:stCondLst>
                                    <p:cond delay="0"/>
                                  </p:stCondLst>
                                  <p:childTnLst>
                                    <p:set>
                                      <p:cBhvr>
                                        <p:cTn id="17" dur="1" fill="hold"/>
                                        <p:tgtEl>
                                          <p:spTgt spid="14"/>
                                        </p:tgtEl>
                                        <p:attrNameLst>
                                          <p:attrName>style.visibility</p:attrName>
                                        </p:attrNameLst>
                                      </p:cBhvr>
                                      <p:to>
                                        <p:strVal val="visible"/>
                                      </p:to>
                                    </p:set>
                                    <p:animEffect transition="in" filter="fade">
                                      <p:cBhvr>
                                        <p:cTn id="18" dur="3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5"/>
                                        </p:tgtEl>
                                        <p:attrNameLst>
                                          <p:attrName>style.visibility</p:attrName>
                                        </p:attrNameLst>
                                      </p:cBhvr>
                                      <p:to>
                                        <p:strVal val="visible"/>
                                      </p:to>
                                    </p:set>
                                    <p:animEffect transition="in" filter="fade">
                                      <p:cBhvr>
                                        <p:cTn id="23" dur="300"/>
                                        <p:tgtEl>
                                          <p:spTgt spid="15"/>
                                        </p:tgtEl>
                                      </p:cBhvr>
                                    </p:animEffect>
                                  </p:childTnLst>
                                </p:cTn>
                              </p:par>
                              <p:par>
                                <p:cTn id="24" presetID="10" presetClass="entr" presetSubtype="0" fill="hold" nodeType="clickEffect">
                                  <p:stCondLst>
                                    <p:cond delay="0"/>
                                  </p:stCondLst>
                                  <p:childTnLst>
                                    <p:set>
                                      <p:cBhvr>
                                        <p:cTn id="25" dur="1" fill="hold"/>
                                        <p:tgtEl>
                                          <p:spTgt spid="16"/>
                                        </p:tgtEl>
                                        <p:attrNameLst>
                                          <p:attrName>style.visibility</p:attrName>
                                        </p:attrNameLst>
                                      </p:cBhvr>
                                      <p:to>
                                        <p:strVal val="visible"/>
                                      </p:to>
                                    </p:set>
                                    <p:animEffect transition="in" filter="fade">
                                      <p:cBhvr>
                                        <p:cTn id="2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35e4dc806f6417d"/>
          <a:srcRect xmlns:a="http://schemas.openxmlformats.org/drawingml/2006/main" l="0" t="0" r="0" b="0"/>
          <a:stretch xmlns:a="http://schemas.openxmlformats.org/drawingml/2006/main">
            <a:fillRect l="0" t="0" r="0" b="0"/>
          </a:stretch>
        </p:blipFill>
        <p:spPr>
          <a:xfrm xmlns:a="http://schemas.openxmlformats.org/drawingml/2006/main">
            <a:off x="0" y="0"/>
            <a:ext cx="12192000" cy="1143000"/>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1b6cc97feb714c8d"/>
          <a:stretch xmlns:a="http://schemas.openxmlformats.org/drawingml/2006/main"/>
        </p:blipFill>
        <p:spPr>
          <a:xfrm xmlns:a="http://schemas.openxmlformats.org/drawingml/2006/main">
            <a:off x="5067300" y="1412875"/>
            <a:ext cx="6705600" cy="4470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0F31A91-F2FF-474D-B11C-480BA2A286D1}"/>
              </a:ext>
            </a:extLst>
          </p:cNvPr>
          <p:cNvSpPr>
            <a:spLocks xmlns:a="http://schemas.openxmlformats.org/drawingml/2006/main" noGrp="1"/>
          </p:cNvSpPr>
          <p:nvPr/>
        </p:nvSpPr>
        <p:spPr>
          <a:xfrm xmlns:a="http://schemas.openxmlformats.org/drawingml/2006/main">
            <a:off x="1638300" y="295275"/>
            <a:ext cx="1019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000" b="1">
                <a:solidFill>
                  <a:srgbClr val="4B4BE3"/>
                </a:solidFill>
                <a:latin typeface="Calibri"/>
                <a:ea typeface="Calibri"/>
                <a:cs typeface="Calibri"/>
              </a:defRPr>
            </a:pPr>
            <a:r>
              <a:rPr sz="3000" b="1">
                <a:solidFill>
                  <a:srgbClr val="4B4BE3"/>
                </a:solidFill>
                <a:latin typeface="Calibri"/>
                <a:ea typeface="Calibri"/>
                <a:cs typeface="Calibri"/>
              </a:rPr>
              <a:t>Modelos de datos y patrones de acceso</a:t>
            </a:r>
          </a:p>
        </p:txBody>
      </p:sp>
      <p:sp>
        <p:nvSpPr>
          <p:cNvPr id="9" name="">
            <a:extLst xmlns:a="http://schemas.openxmlformats.org/drawingml/2006/main">
              <a:ext uri="{FF2B5EF4-FFF2-40B4-BE49-F238E27FC236}">
                <a16:creationId xmlns:a16="http://schemas.microsoft.com/office/drawing/2014/main" id="{3B6F81C0-08EF-431A-9ECE-28A6AF6FB732}"/>
              </a:ext>
            </a:extLst>
          </p:cNvPr>
          <p:cNvSpPr>
            <a:spLocks xmlns:a="http://schemas.openxmlformats.org/drawingml/2006/main" noGrp="1"/>
          </p:cNvSpPr>
          <p:nvPr/>
        </p:nvSpPr>
        <p:spPr>
          <a:xfrm xmlns:a="http://schemas.openxmlformats.org/drawingml/2006/main">
            <a:off x="609600" y="158115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Relacional</a:t>
            </a:r>
          </a:p>
        </p:txBody>
      </p:sp>
      <p:sp>
        <p:nvSpPr>
          <p:cNvPr id="10" name="">
            <a:extLst xmlns:a="http://schemas.openxmlformats.org/drawingml/2006/main">
              <a:ext uri="{FF2B5EF4-FFF2-40B4-BE49-F238E27FC236}">
                <a16:creationId xmlns:a16="http://schemas.microsoft.com/office/drawing/2014/main" id="{32314EC8-BEEE-40F0-B413-4404BF332435}"/>
              </a:ext>
            </a:extLst>
          </p:cNvPr>
          <p:cNvSpPr>
            <a:spLocks xmlns:a="http://schemas.openxmlformats.org/drawingml/2006/main" noGrp="1"/>
          </p:cNvSpPr>
          <p:nvPr/>
        </p:nvSpPr>
        <p:spPr>
          <a:xfrm xmlns:a="http://schemas.openxmlformats.org/drawingml/2006/main">
            <a:off x="609600" y="1990725"/>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Relaciones y reglas explícitas.</a:t>
            </a:r>
          </a:p>
        </p:txBody>
      </p:sp>
      <p:sp>
        <p:nvSpPr>
          <p:cNvPr id="11" name="">
            <a:extLst xmlns:a="http://schemas.openxmlformats.org/drawingml/2006/main">
              <a:ext uri="{FF2B5EF4-FFF2-40B4-BE49-F238E27FC236}">
                <a16:creationId xmlns:a16="http://schemas.microsoft.com/office/drawing/2014/main" id="{5A2873B7-D470-4F2D-AF33-24691DACFCCC}"/>
              </a:ext>
            </a:extLst>
          </p:cNvPr>
          <p:cNvSpPr>
            <a:spLocks xmlns:a="http://schemas.openxmlformats.org/drawingml/2006/main" noGrp="1"/>
          </p:cNvSpPr>
          <p:nvPr/>
        </p:nvSpPr>
        <p:spPr>
          <a:xfrm xmlns:a="http://schemas.openxmlformats.org/drawingml/2006/main">
            <a:off x="609600" y="263842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C948B"/>
                </a:solidFill>
                <a:latin typeface="Calibri"/>
                <a:ea typeface="Calibri"/>
                <a:cs typeface="Calibri"/>
              </a:defRPr>
            </a:pPr>
            <a:r>
              <a:rPr sz="2025" b="1">
                <a:solidFill>
                  <a:srgbClr val="0C948B"/>
                </a:solidFill>
                <a:latin typeface="Calibri"/>
                <a:ea typeface="Calibri"/>
                <a:cs typeface="Calibri"/>
              </a:rPr>
              <a:t>Clave–valor y documentos</a:t>
            </a:r>
          </a:p>
        </p:txBody>
      </p:sp>
      <p:sp>
        <p:nvSpPr>
          <p:cNvPr id="12" name="">
            <a:extLst xmlns:a="http://schemas.openxmlformats.org/drawingml/2006/main">
              <a:ext uri="{FF2B5EF4-FFF2-40B4-BE49-F238E27FC236}">
                <a16:creationId xmlns:a16="http://schemas.microsoft.com/office/drawing/2014/main" id="{8EA92197-B2AD-4EAE-871E-0D92BE577784}"/>
              </a:ext>
            </a:extLst>
          </p:cNvPr>
          <p:cNvSpPr>
            <a:spLocks xmlns:a="http://schemas.openxmlformats.org/drawingml/2006/main" noGrp="1"/>
          </p:cNvSpPr>
          <p:nvPr/>
        </p:nvSpPr>
        <p:spPr>
          <a:xfrm xmlns:a="http://schemas.openxmlformats.org/drawingml/2006/main">
            <a:off x="609600" y="3048000"/>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Búsqueda por clave o entidades con estructura flexible.</a:t>
            </a:r>
          </a:p>
        </p:txBody>
      </p:sp>
      <p:sp>
        <p:nvSpPr>
          <p:cNvPr id="13" name="">
            <a:extLst xmlns:a="http://schemas.openxmlformats.org/drawingml/2006/main">
              <a:ext uri="{FF2B5EF4-FFF2-40B4-BE49-F238E27FC236}">
                <a16:creationId xmlns:a16="http://schemas.microsoft.com/office/drawing/2014/main" id="{596E9DF7-ACA5-40AE-B0A6-38E97F3FDF4A}"/>
              </a:ext>
            </a:extLst>
          </p:cNvPr>
          <p:cNvSpPr>
            <a:spLocks xmlns:a="http://schemas.openxmlformats.org/drawingml/2006/main" noGrp="1"/>
          </p:cNvSpPr>
          <p:nvPr/>
        </p:nvSpPr>
        <p:spPr>
          <a:xfrm xmlns:a="http://schemas.openxmlformats.org/drawingml/2006/main">
            <a:off x="609600" y="3695700"/>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F4E48"/>
                </a:solidFill>
                <a:latin typeface="Calibri"/>
                <a:ea typeface="Calibri"/>
                <a:cs typeface="Calibri"/>
              </a:defRPr>
            </a:pPr>
            <a:r>
              <a:rPr sz="2025" b="1">
                <a:solidFill>
                  <a:srgbClr val="CF4E48"/>
                </a:solidFill>
                <a:latin typeface="Calibri"/>
                <a:ea typeface="Calibri"/>
                <a:cs typeface="Calibri"/>
              </a:rPr>
              <a:t>Familias de columnas</a:t>
            </a:r>
          </a:p>
        </p:txBody>
      </p:sp>
      <p:sp>
        <p:nvSpPr>
          <p:cNvPr id="14" name="">
            <a:extLst xmlns:a="http://schemas.openxmlformats.org/drawingml/2006/main">
              <a:ext uri="{FF2B5EF4-FFF2-40B4-BE49-F238E27FC236}">
                <a16:creationId xmlns:a16="http://schemas.microsoft.com/office/drawing/2014/main" id="{5E04FEFB-E813-4F0F-BA46-D9CE0BCDCDC0}"/>
              </a:ext>
            </a:extLst>
          </p:cNvPr>
          <p:cNvSpPr>
            <a:spLocks xmlns:a="http://schemas.openxmlformats.org/drawingml/2006/main" noGrp="1"/>
          </p:cNvSpPr>
          <p:nvPr/>
        </p:nvSpPr>
        <p:spPr>
          <a:xfrm xmlns:a="http://schemas.openxmlformats.org/drawingml/2006/main">
            <a:off x="609600" y="4105275"/>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Acceso por claves y rangos definidos.</a:t>
            </a:r>
          </a:p>
        </p:txBody>
      </p:sp>
      <p:sp>
        <p:nvSpPr>
          <p:cNvPr id="15" name="">
            <a:extLst xmlns:a="http://schemas.openxmlformats.org/drawingml/2006/main">
              <a:ext uri="{FF2B5EF4-FFF2-40B4-BE49-F238E27FC236}">
                <a16:creationId xmlns:a16="http://schemas.microsoft.com/office/drawing/2014/main" id="{7B6EA291-79DB-498E-A5EA-262690313248}"/>
              </a:ext>
            </a:extLst>
          </p:cNvPr>
          <p:cNvSpPr>
            <a:spLocks xmlns:a="http://schemas.openxmlformats.org/drawingml/2006/main" noGrp="1"/>
          </p:cNvSpPr>
          <p:nvPr/>
        </p:nvSpPr>
        <p:spPr>
          <a:xfrm xmlns:a="http://schemas.openxmlformats.org/drawingml/2006/main">
            <a:off x="609600" y="4752975"/>
            <a:ext cx="4019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A56B08"/>
                </a:solidFill>
                <a:latin typeface="Calibri"/>
                <a:ea typeface="Calibri"/>
                <a:cs typeface="Calibri"/>
              </a:defRPr>
            </a:pPr>
            <a:r>
              <a:rPr sz="2025" b="1">
                <a:solidFill>
                  <a:srgbClr val="A56B08"/>
                </a:solidFill>
                <a:latin typeface="Calibri"/>
                <a:ea typeface="Calibri"/>
                <a:cs typeface="Calibri"/>
              </a:rPr>
              <a:t>Grafos</a:t>
            </a:r>
          </a:p>
        </p:txBody>
      </p:sp>
      <p:sp>
        <p:nvSpPr>
          <p:cNvPr id="16" name="">
            <a:extLst xmlns:a="http://schemas.openxmlformats.org/drawingml/2006/main">
              <a:ext uri="{FF2B5EF4-FFF2-40B4-BE49-F238E27FC236}">
                <a16:creationId xmlns:a16="http://schemas.microsoft.com/office/drawing/2014/main" id="{5EF4BB19-6AE0-4424-A689-415C329683BD}"/>
              </a:ext>
            </a:extLst>
          </p:cNvPr>
          <p:cNvSpPr>
            <a:spLocks xmlns:a="http://schemas.openxmlformats.org/drawingml/2006/main" noGrp="1"/>
          </p:cNvSpPr>
          <p:nvPr/>
        </p:nvSpPr>
        <p:spPr>
          <a:xfrm xmlns:a="http://schemas.openxmlformats.org/drawingml/2006/main">
            <a:off x="609600" y="5162550"/>
            <a:ext cx="40195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3B68"/>
                </a:solidFill>
                <a:latin typeface="Calibri"/>
                <a:ea typeface="Calibri"/>
                <a:cs typeface="Calibri"/>
              </a:defRPr>
            </a:pPr>
            <a:r>
              <a:rPr sz="1800" b="0">
                <a:solidFill>
                  <a:srgbClr val="203B68"/>
                </a:solidFill>
                <a:latin typeface="Calibri"/>
                <a:ea typeface="Calibri"/>
                <a:cs typeface="Calibri"/>
              </a:rPr>
              <a:t>Recorridos entre entidades relacionadas.</a:t>
            </a:r>
          </a:p>
        </p:txBody>
      </p:sp>
      <p:sp>
        <p:nvSpPr>
          <p:cNvPr id="17" name="">
            <a:extLst xmlns:a="http://schemas.openxmlformats.org/drawingml/2006/main">
              <a:ext uri="{FF2B5EF4-FFF2-40B4-BE49-F238E27FC236}">
                <a16:creationId xmlns:a16="http://schemas.microsoft.com/office/drawing/2014/main" id="{613C9D66-AE51-4E8E-B4A0-F5382F937F05}"/>
              </a:ext>
            </a:extLst>
          </p:cNvPr>
          <p:cNvSpPr>
            <a:spLocks xmlns:a="http://schemas.openxmlformats.org/drawingml/2006/main" noGrp="1"/>
          </p:cNvSpPr>
          <p:nvPr/>
        </p:nvSpPr>
        <p:spPr>
          <a:xfrm xmlns:a="http://schemas.openxmlformats.org/drawingml/2006/main">
            <a:off x="609600" y="59721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203B68"/>
                </a:solidFill>
                <a:latin typeface="Calibri"/>
                <a:ea typeface="Calibri"/>
                <a:cs typeface="Calibri"/>
              </a:defRPr>
            </a:pPr>
            <a:r>
              <a:rPr sz="1575" b="0">
                <a:solidFill>
                  <a:srgbClr val="203B68"/>
                </a:solidFill>
                <a:latin typeface="Calibri"/>
                <a:ea typeface="Calibri"/>
                <a:cs typeface="Calibri"/>
              </a:rPr>
              <a:t>El patrón de acceso orienta la elección del modelo</a:t>
            </a:r>
          </a:p>
        </p:txBody>
      </p:sp>
      <p:sp>
        <p:nvSpPr>
          <p:cNvPr id="32" name="">
            <a:extLst xmlns:a="http://schemas.openxmlformats.org/drawingml/2006/main">
              <a:ext uri="{FF2B5EF4-FFF2-40B4-BE49-F238E27FC236}">
                <a16:creationId xmlns:a16="http://schemas.microsoft.com/office/drawing/2014/main" id="{77F239F2-B289-494A-A3FA-B28D0A8B1AE5}"/>
              </a:ext>
            </a:extLst>
          </p:cNvPr>
          <p:cNvSpPr>
            <a:spLocks xmlns:a="http://schemas.openxmlformats.org/drawingml/2006/main" noGrp="1"/>
          </p:cNvSpPr>
          <p:nvPr/>
        </p:nvSpPr>
        <p:spPr>
          <a:xfrm xmlns:a="http://schemas.openxmlformats.org/drawingml/2006/main">
            <a:off x="609600" y="11430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5546ED"/>
                </a:solidFill>
                <a:latin typeface="Calibri"/>
                <a:ea typeface="Calibri"/>
                <a:cs typeface="Calibri"/>
              </a:defRPr>
            </a:pPr>
            <a:r>
              <a:rPr sz="1425" b="1">
                <a:solidFill>
                  <a:srgbClr val="5546ED"/>
                </a:solidFill>
                <a:latin typeface="Calibri"/>
                <a:ea typeface="Calibri"/>
                <a:cs typeface="Calibri"/>
              </a:rPr>
              <a:t>Referencia conceptual opcional</a:t>
            </a:r>
          </a:p>
        </p:txBody>
      </p:sp>
      <p:sp>
        <p:nvSpPr>
          <p:cNvPr id="37" name="">
            <a:extLst xmlns:a="http://schemas.openxmlformats.org/drawingml/2006/main">
              <a:ext uri="{FF2B5EF4-FFF2-40B4-BE49-F238E27FC236}">
                <a16:creationId xmlns:a16="http://schemas.microsoft.com/office/drawing/2014/main" id="{92E2346B-3FB7-4E74-B915-3EC27157D588}"/>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38" name="">
            <a:extLst xmlns:a="http://schemas.openxmlformats.org/drawingml/2006/main">
              <a:ext uri="{FF2B5EF4-FFF2-40B4-BE49-F238E27FC236}">
                <a16:creationId xmlns:a16="http://schemas.microsoft.com/office/drawing/2014/main" id="{14F8E3DA-18FD-4936-8CE0-4D8E19999DEC}"/>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9" name="">
            <a:extLst xmlns:a="http://schemas.openxmlformats.org/drawingml/2006/main">
              <a:ext uri="{FF2B5EF4-FFF2-40B4-BE49-F238E27FC236}">
                <a16:creationId xmlns:a16="http://schemas.microsoft.com/office/drawing/2014/main" id="{4EF22D5B-69A6-4590-BDF4-620C9630661D}"/>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40" name="">
            <a:extLst xmlns:a="http://schemas.openxmlformats.org/drawingml/2006/main">
              <a:ext uri="{FF2B5EF4-FFF2-40B4-BE49-F238E27FC236}">
                <a16:creationId xmlns:a16="http://schemas.microsoft.com/office/drawing/2014/main" id="{CF969163-A090-4552-A2FF-FE382582D23F}"/>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32</a:t>
            </a:r>
          </a:p>
        </p:txBody>
      </p:sp>
    </p:spTree>
    <p:extLst>
      <p:ext uri="{BB962C8B-B14F-4D97-AF65-F5344CB8AC3E}">
        <p14:creationId xmlns:p14="http://schemas.microsoft.com/office/powerpoint/2010/main" val="105112876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nodeType="clickEffect">
                                  <p:stCondLst>
                                    <p:cond delay="0"/>
                                  </p:stCondLst>
                                  <p:childTnLst>
                                    <p:set>
                                      <p:cBhvr>
                                        <p:cTn id="9" dur="1" fill="hold"/>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11"/>
                                        </p:tgtEl>
                                        <p:attrNameLst>
                                          <p:attrName>style.visibility</p:attrName>
                                        </p:attrNameLst>
                                      </p:cBhvr>
                                      <p:to>
                                        <p:strVal val="visible"/>
                                      </p:to>
                                    </p:set>
                                    <p:animEffect transition="in" filter="fade">
                                      <p:cBhvr>
                                        <p:cTn id="15" dur="300"/>
                                        <p:tgtEl>
                                          <p:spTgt spid="11"/>
                                        </p:tgtEl>
                                      </p:cBhvr>
                                    </p:animEffect>
                                  </p:childTnLst>
                                </p:cTn>
                              </p:par>
                              <p:par>
                                <p:cTn id="16" presetID="10" presetClass="entr" presetSubtype="0" fill="hold" nodeType="clickEffect">
                                  <p:stCondLst>
                                    <p:cond delay="0"/>
                                  </p:stCondLst>
                                  <p:childTnLst>
                                    <p:set>
                                      <p:cBhvr>
                                        <p:cTn id="17" dur="1" fill="hold"/>
                                        <p:tgtEl>
                                          <p:spTgt spid="12"/>
                                        </p:tgtEl>
                                        <p:attrNameLst>
                                          <p:attrName>style.visibility</p:attrName>
                                        </p:attrNameLst>
                                      </p:cBhvr>
                                      <p:to>
                                        <p:strVal val="visible"/>
                                      </p:to>
                                    </p:set>
                                    <p:animEffect transition="in" filter="fade">
                                      <p:cBhvr>
                                        <p:cTn id="18" dur="3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13"/>
                                        </p:tgtEl>
                                        <p:attrNameLst>
                                          <p:attrName>style.visibility</p:attrName>
                                        </p:attrNameLst>
                                      </p:cBhvr>
                                      <p:to>
                                        <p:strVal val="visible"/>
                                      </p:to>
                                    </p:set>
                                    <p:animEffect transition="in" filter="fade">
                                      <p:cBhvr>
                                        <p:cTn id="23" dur="300"/>
                                        <p:tgtEl>
                                          <p:spTgt spid="13"/>
                                        </p:tgtEl>
                                      </p:cBhvr>
                                    </p:animEffect>
                                  </p:childTnLst>
                                </p:cTn>
                              </p:par>
                              <p:par>
                                <p:cTn id="24" presetID="10" presetClass="entr" presetSubtype="0" fill="hold" nodeType="clickEffect">
                                  <p:stCondLst>
                                    <p:cond delay="0"/>
                                  </p:stCondLst>
                                  <p:childTnLst>
                                    <p:set>
                                      <p:cBhvr>
                                        <p:cTn id="25" dur="1" fill="hold"/>
                                        <p:tgtEl>
                                          <p:spTgt spid="14"/>
                                        </p:tgtEl>
                                        <p:attrNameLst>
                                          <p:attrName>style.visibility</p:attrName>
                                        </p:attrNameLst>
                                      </p:cBhvr>
                                      <p:to>
                                        <p:strVal val="visible"/>
                                      </p:to>
                                    </p:set>
                                    <p:animEffect transition="in" filter="fade">
                                      <p:cBhvr>
                                        <p:cTn id="26" dur="3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tgtEl>
                                          <p:spTgt spid="15"/>
                                        </p:tgtEl>
                                        <p:attrNameLst>
                                          <p:attrName>style.visibility</p:attrName>
                                        </p:attrNameLst>
                                      </p:cBhvr>
                                      <p:to>
                                        <p:strVal val="visible"/>
                                      </p:to>
                                    </p:set>
                                    <p:animEffect transition="in" filter="fade">
                                      <p:cBhvr>
                                        <p:cTn id="31" dur="300"/>
                                        <p:tgtEl>
                                          <p:spTgt spid="15"/>
                                        </p:tgtEl>
                                      </p:cBhvr>
                                    </p:animEffect>
                                  </p:childTnLst>
                                </p:cTn>
                              </p:par>
                              <p:par>
                                <p:cTn id="32" presetID="10" presetClass="entr" presetSubtype="0" fill="hold" nodeType="clickEffect">
                                  <p:stCondLst>
                                    <p:cond delay="0"/>
                                  </p:stCondLst>
                                  <p:childTnLst>
                                    <p:set>
                                      <p:cBhvr>
                                        <p:cTn id="33" dur="1" fill="hold"/>
                                        <p:tgtEl>
                                          <p:spTgt spid="16"/>
                                        </p:tgtEl>
                                        <p:attrNameLst>
                                          <p:attrName>style.visibility</p:attrName>
                                        </p:attrNameLst>
                                      </p:cBhvr>
                                      <p:to>
                                        <p:strVal val="visible"/>
                                      </p:to>
                                    </p:set>
                                    <p:animEffect transition="in" filter="fade">
                                      <p:cBhvr>
                                        <p:cTn id="34"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0a419c4ad9441a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3370da6bef649a1"/>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FED6CE-2706-48AE-9CCD-D3242696D65B}"/>
              </a:ext>
            </a:extLst>
          </p:cNvPr>
          <p:cNvSpPr>
            <a:spLocks xmlns:a="http://schemas.openxmlformats.org/drawingml/2006/main" noGrp="1"/>
          </p:cNvSpPr>
          <p:nvPr/>
        </p:nvSpPr>
        <p:spPr>
          <a:xfrm xmlns:a="http://schemas.openxmlformats.org/drawingml/2006/main">
            <a:off x="1638300" y="295275"/>
            <a:ext cx="1009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5546ED"/>
                </a:solidFill>
                <a:latin typeface="Calibri"/>
                <a:ea typeface="Calibri"/>
                <a:cs typeface="Calibri"/>
              </a:defRPr>
            </a:pPr>
            <a:r>
              <a:rPr sz="3000" b="1">
                <a:solidFill>
                  <a:srgbClr val="5546ED"/>
                </a:solidFill>
                <a:latin typeface="Calibri"/>
                <a:ea typeface="Calibri"/>
                <a:cs typeface="Calibri"/>
              </a:rPr>
              <a:t>Zarr para arreglos multidimensionales</a:t>
            </a:r>
          </a:p>
        </p:txBody>
      </p:sp>
      <p:sp>
        <p:nvSpPr>
          <p:cNvPr id="4" name="">
            <a:extLst xmlns:a="http://schemas.openxmlformats.org/drawingml/2006/main">
              <a:ext uri="{FF2B5EF4-FFF2-40B4-BE49-F238E27FC236}">
                <a16:creationId xmlns:a16="http://schemas.microsoft.com/office/drawing/2014/main" id="{3276471E-5EC4-48AA-8235-184B039D9CB5}"/>
              </a:ext>
            </a:extLst>
          </p:cNvPr>
          <p:cNvSpPr>
            <a:spLocks xmlns:a="http://schemas.openxmlformats.org/drawingml/2006/main" noGrp="1"/>
          </p:cNvSpPr>
          <p:nvPr/>
        </p:nvSpPr>
        <p:spPr>
          <a:xfrm xmlns:a="http://schemas.openxmlformats.org/drawingml/2006/main">
            <a:off x="7620000" y="157162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Arreglos y grupos</a:t>
            </a:r>
          </a:p>
        </p:txBody>
      </p:sp>
      <p:sp>
        <p:nvSpPr>
          <p:cNvPr id="5" name="">
            <a:extLst xmlns:a="http://schemas.openxmlformats.org/drawingml/2006/main">
              <a:ext uri="{FF2B5EF4-FFF2-40B4-BE49-F238E27FC236}">
                <a16:creationId xmlns:a16="http://schemas.microsoft.com/office/drawing/2014/main" id="{C130DF00-FD6F-4D5B-97EF-DE02B6FDBA8E}"/>
              </a:ext>
            </a:extLst>
          </p:cNvPr>
          <p:cNvSpPr>
            <a:spLocks xmlns:a="http://schemas.openxmlformats.org/drawingml/2006/main" noGrp="1"/>
          </p:cNvSpPr>
          <p:nvPr/>
        </p:nvSpPr>
        <p:spPr>
          <a:xfrm xmlns:a="http://schemas.openxmlformats.org/drawingml/2006/main">
            <a:off x="7620000" y="20097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Dimensiones, tipos y jerarquías describen datos como tiempo × latitud × longitud.</a:t>
            </a:r>
          </a:p>
        </p:txBody>
      </p:sp>
      <p:sp>
        <p:nvSpPr>
          <p:cNvPr id="6" name="">
            <a:extLst xmlns:a="http://schemas.openxmlformats.org/drawingml/2006/main">
              <a:ext uri="{FF2B5EF4-FFF2-40B4-BE49-F238E27FC236}">
                <a16:creationId xmlns:a16="http://schemas.microsoft.com/office/drawing/2014/main" id="{022FA346-EBB0-4936-A6B4-34180DB8EC42}"/>
              </a:ext>
            </a:extLst>
          </p:cNvPr>
          <p:cNvSpPr>
            <a:spLocks xmlns:a="http://schemas.openxmlformats.org/drawingml/2006/main" noGrp="1"/>
          </p:cNvSpPr>
          <p:nvPr/>
        </p:nvSpPr>
        <p:spPr>
          <a:xfrm xmlns:a="http://schemas.openxmlformats.org/drawingml/2006/main">
            <a:off x="7620000" y="296227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Chunks</a:t>
            </a:r>
          </a:p>
        </p:txBody>
      </p:sp>
      <p:sp>
        <p:nvSpPr>
          <p:cNvPr id="7" name="">
            <a:extLst xmlns:a="http://schemas.openxmlformats.org/drawingml/2006/main">
              <a:ext uri="{FF2B5EF4-FFF2-40B4-BE49-F238E27FC236}">
                <a16:creationId xmlns:a16="http://schemas.microsoft.com/office/drawing/2014/main" id="{24261EE0-2A07-42BA-BBAD-6F246713D465}"/>
              </a:ext>
            </a:extLst>
          </p:cNvPr>
          <p:cNvSpPr>
            <a:spLocks xmlns:a="http://schemas.openxmlformats.org/drawingml/2006/main" noGrp="1"/>
          </p:cNvSpPr>
          <p:nvPr/>
        </p:nvSpPr>
        <p:spPr>
          <a:xfrm xmlns:a="http://schemas.openxmlformats.org/drawingml/2006/main">
            <a:off x="7620000" y="340042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Bloques comprimibles que permiten leer una región del arreglo.</a:t>
            </a:r>
          </a:p>
        </p:txBody>
      </p:sp>
      <p:sp>
        <p:nvSpPr>
          <p:cNvPr id="8" name="">
            <a:extLst xmlns:a="http://schemas.openxmlformats.org/drawingml/2006/main">
              <a:ext uri="{FF2B5EF4-FFF2-40B4-BE49-F238E27FC236}">
                <a16:creationId xmlns:a16="http://schemas.microsoft.com/office/drawing/2014/main" id="{C35D0390-C439-419D-A310-5D37D287BDA5}"/>
              </a:ext>
            </a:extLst>
          </p:cNvPr>
          <p:cNvSpPr>
            <a:spLocks xmlns:a="http://schemas.openxmlformats.org/drawingml/2006/main" noGrp="1"/>
          </p:cNvSpPr>
          <p:nvPr/>
        </p:nvSpPr>
        <p:spPr>
          <a:xfrm xmlns:a="http://schemas.openxmlformats.org/drawingml/2006/main">
            <a:off x="7620000" y="435292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Metadatos</a:t>
            </a:r>
          </a:p>
        </p:txBody>
      </p:sp>
      <p:sp>
        <p:nvSpPr>
          <p:cNvPr id="9" name="">
            <a:extLst xmlns:a="http://schemas.openxmlformats.org/drawingml/2006/main">
              <a:ext uri="{FF2B5EF4-FFF2-40B4-BE49-F238E27FC236}">
                <a16:creationId xmlns:a16="http://schemas.microsoft.com/office/drawing/2014/main" id="{F357C4C0-AA43-46DF-9F99-9B18EDE1F9D1}"/>
              </a:ext>
            </a:extLst>
          </p:cNvPr>
          <p:cNvSpPr>
            <a:spLocks xmlns:a="http://schemas.openxmlformats.org/drawingml/2006/main" noGrp="1"/>
          </p:cNvSpPr>
          <p:nvPr/>
        </p:nvSpPr>
        <p:spPr>
          <a:xfrm xmlns:a="http://schemas.openxmlformats.org/drawingml/2006/main">
            <a:off x="7620000" y="47910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Registrar forma, unidades y convenciones de coordenadas.</a:t>
            </a:r>
          </a:p>
        </p:txBody>
      </p:sp>
      <p:sp>
        <p:nvSpPr>
          <p:cNvPr id="10" name="">
            <a:extLst xmlns:a="http://schemas.openxmlformats.org/drawingml/2006/main">
              <a:ext uri="{FF2B5EF4-FFF2-40B4-BE49-F238E27FC236}">
                <a16:creationId xmlns:a16="http://schemas.microsoft.com/office/drawing/2014/main" id="{247DCD6B-FEB3-4127-8B5B-877D636C5454}"/>
              </a:ext>
            </a:extLst>
          </p:cNvPr>
          <p:cNvSpPr>
            <a:spLocks xmlns:a="http://schemas.openxmlformats.org/drawingml/2006/main" noGrp="1"/>
          </p:cNvSpPr>
          <p:nvPr/>
        </p:nvSpPr>
        <p:spPr>
          <a:xfrm xmlns:a="http://schemas.openxmlformats.org/drawingml/2006/main">
            <a:off x="609600" y="6019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Parquet organiza tablas; Zarr organiza arreglos. Pueden coexistir</a:t>
            </a:r>
          </a:p>
        </p:txBody>
      </p:sp>
      <p:sp>
        <p:nvSpPr>
          <p:cNvPr id="15" name="">
            <a:extLst xmlns:a="http://schemas.openxmlformats.org/drawingml/2006/main">
              <a:ext uri="{FF2B5EF4-FFF2-40B4-BE49-F238E27FC236}">
                <a16:creationId xmlns:a16="http://schemas.microsoft.com/office/drawing/2014/main" id="{3CA93AFA-93C6-496B-B1DF-DF397ABAC361}"/>
              </a:ext>
            </a:extLst>
          </p:cNvPr>
          <p:cNvSpPr>
            <a:spLocks xmlns:a="http://schemas.openxmlformats.org/drawingml/2006/main" noGrp="1"/>
          </p:cNvSpPr>
          <p:nvPr/>
        </p:nvSpPr>
        <p:spPr>
          <a:xfrm xmlns:a="http://schemas.openxmlformats.org/drawingml/2006/main">
            <a:off x="609600" y="11620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098F89"/>
                </a:solidFill>
                <a:latin typeface="Calibri"/>
                <a:ea typeface="Calibri"/>
                <a:cs typeface="Calibri"/>
              </a:defRPr>
            </a:pPr>
            <a:r>
              <a:rPr sz="1500" b="1">
                <a:solidFill>
                  <a:srgbClr val="098F89"/>
                </a:solidFill>
                <a:latin typeface="Calibri"/>
                <a:ea typeface="Calibri"/>
                <a:cs typeface="Calibri"/>
              </a:rPr>
              <a:t>Ampliación opcional</a:t>
            </a:r>
          </a:p>
        </p:txBody>
      </p:sp>
      <p:sp>
        <p:nvSpPr>
          <p:cNvPr id="28" name="">
            <a:extLst xmlns:a="http://schemas.openxmlformats.org/drawingml/2006/main">
              <a:ext uri="{FF2B5EF4-FFF2-40B4-BE49-F238E27FC236}">
                <a16:creationId xmlns:a16="http://schemas.microsoft.com/office/drawing/2014/main" id="{72C8FC65-66F6-48DE-9B03-F06E4314A3AA}"/>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29" name="">
            <a:extLst xmlns:a="http://schemas.openxmlformats.org/drawingml/2006/main">
              <a:ext uri="{FF2B5EF4-FFF2-40B4-BE49-F238E27FC236}">
                <a16:creationId xmlns:a16="http://schemas.microsoft.com/office/drawing/2014/main" id="{32581BCE-503B-40D4-8693-36FEDC0815B0}"/>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30" name="">
            <a:extLst xmlns:a="http://schemas.openxmlformats.org/drawingml/2006/main">
              <a:ext uri="{FF2B5EF4-FFF2-40B4-BE49-F238E27FC236}">
                <a16:creationId xmlns:a16="http://schemas.microsoft.com/office/drawing/2014/main" id="{5BD68A99-D90C-45B5-8E2F-8D298F4AAB99}"/>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31" name="">
            <a:extLst xmlns:a="http://schemas.openxmlformats.org/drawingml/2006/main">
              <a:ext uri="{FF2B5EF4-FFF2-40B4-BE49-F238E27FC236}">
                <a16:creationId xmlns:a16="http://schemas.microsoft.com/office/drawing/2014/main" id="{FD8D0DA9-05D2-470F-8488-4C92EE1092A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33</a:t>
            </a:r>
          </a:p>
        </p:txBody>
      </p:sp>
    </p:spTree>
    <p:extLst>
      <p:ext uri="{BB962C8B-B14F-4D97-AF65-F5344CB8AC3E}">
        <p14:creationId xmlns:p14="http://schemas.microsoft.com/office/powerpoint/2010/main" val="138048963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6fb70b7aaa34c1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208E383-02D5-47D2-8AEF-2ED5A885E2EE}"/>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Cierre de la demostración</a:t>
            </a:r>
          </a:p>
        </p:txBody>
      </p:sp>
      <p:sp>
        <p:nvSpPr>
          <p:cNvPr id="3" name="">
            <a:extLst xmlns:a="http://schemas.openxmlformats.org/drawingml/2006/main">
              <a:ext uri="{FF2B5EF4-FFF2-40B4-BE49-F238E27FC236}">
                <a16:creationId xmlns:a16="http://schemas.microsoft.com/office/drawing/2014/main" id="{A9DC23F4-7DE6-4B9D-8A57-1EF4D9D2C2AE}"/>
              </a:ext>
            </a:extLst>
          </p:cNvPr>
          <p:cNvSpPr>
            <a:spLocks xmlns:a="http://schemas.openxmlformats.org/drawingml/2006/main" noGrp="1"/>
          </p:cNvSpPr>
          <p:nvPr/>
        </p:nvSpPr>
        <p:spPr>
          <a:xfrm xmlns:a="http://schemas.openxmlformats.org/drawingml/2006/main">
            <a:off x="685800" y="1504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Referencia que comparte el profesor</a:t>
            </a:r>
          </a:p>
        </p:txBody>
      </p:sp>
      <p:sp>
        <p:nvSpPr>
          <p:cNvPr id="4" name="">
            <a:extLst xmlns:a="http://schemas.openxmlformats.org/drawingml/2006/main">
              <a:ext uri="{FF2B5EF4-FFF2-40B4-BE49-F238E27FC236}">
                <a16:creationId xmlns:a16="http://schemas.microsoft.com/office/drawing/2014/main" id="{B088BE6A-8450-4947-8B96-C695694E35E6}"/>
              </a:ext>
            </a:extLst>
          </p:cNvPr>
          <p:cNvSpPr>
            <a:spLocks xmlns:a="http://schemas.openxmlformats.org/drawingml/2006/main" noGrp="1"/>
          </p:cNvSpPr>
          <p:nvPr/>
        </p:nvSpPr>
        <p:spPr>
          <a:xfrm xmlns:a="http://schemas.openxmlformats.org/drawingml/2006/main">
            <a:off x="685800" y="19526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Código, configuración y ejemplo de controles para reproducir el procedimiento.</a:t>
            </a:r>
          </a:p>
        </p:txBody>
      </p:sp>
      <p:sp>
        <p:nvSpPr>
          <p:cNvPr id="5" name="">
            <a:extLst xmlns:a="http://schemas.openxmlformats.org/drawingml/2006/main">
              <a:ext uri="{FF2B5EF4-FFF2-40B4-BE49-F238E27FC236}">
                <a16:creationId xmlns:a16="http://schemas.microsoft.com/office/drawing/2014/main" id="{2D4ACA81-FF7A-40D5-BBE3-F9989FF318EE}"/>
              </a:ext>
            </a:extLst>
          </p:cNvPr>
          <p:cNvSpPr>
            <a:spLocks xmlns:a="http://schemas.openxmlformats.org/drawingml/2006/main" noGrp="1"/>
          </p:cNvSpPr>
          <p:nvPr/>
        </p:nvSpPr>
        <p:spPr>
          <a:xfrm xmlns:a="http://schemas.openxmlformats.org/drawingml/2006/main">
            <a:off x="685800" y="28860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Trabajo del sábado</a:t>
            </a:r>
          </a:p>
        </p:txBody>
      </p:sp>
      <p:sp>
        <p:nvSpPr>
          <p:cNvPr id="6" name="">
            <a:extLst xmlns:a="http://schemas.openxmlformats.org/drawingml/2006/main">
              <a:ext uri="{FF2B5EF4-FFF2-40B4-BE49-F238E27FC236}">
                <a16:creationId xmlns:a16="http://schemas.microsoft.com/office/drawing/2014/main" id="{447CD99C-D391-4CD2-9403-1D485FA5E691}"/>
              </a:ext>
            </a:extLst>
          </p:cNvPr>
          <p:cNvSpPr>
            <a:spLocks xmlns:a="http://schemas.openxmlformats.org/drawingml/2006/main" noGrp="1"/>
          </p:cNvSpPr>
          <p:nvPr/>
        </p:nvSpPr>
        <p:spPr>
          <a:xfrm xmlns:a="http://schemas.openxmlformats.org/drawingml/2006/main">
            <a:off x="685800" y="3333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Contrato propio, Parquet, prueba de reejecución, controles de calidad, consultas equivalentes y cobertura.</a:t>
            </a:r>
          </a:p>
        </p:txBody>
      </p:sp>
      <p:sp>
        <p:nvSpPr>
          <p:cNvPr id="7" name="">
            <a:extLst xmlns:a="http://schemas.openxmlformats.org/drawingml/2006/main">
              <a:ext uri="{FF2B5EF4-FFF2-40B4-BE49-F238E27FC236}">
                <a16:creationId xmlns:a16="http://schemas.microsoft.com/office/drawing/2014/main" id="{6961148D-55D4-42F1-800F-17817F5A7C1E}"/>
              </a:ext>
            </a:extLst>
          </p:cNvPr>
          <p:cNvSpPr>
            <a:spLocks xmlns:a="http://schemas.openxmlformats.org/drawingml/2006/main" noGrp="1"/>
          </p:cNvSpPr>
          <p:nvPr/>
        </p:nvSpPr>
        <p:spPr>
          <a:xfrm xmlns:a="http://schemas.openxmlformats.org/drawingml/2006/main">
            <a:off x="68580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Entrega durante la clase</a:t>
            </a:r>
          </a:p>
        </p:txBody>
      </p:sp>
      <p:sp>
        <p:nvSpPr>
          <p:cNvPr id="8" name="">
            <a:extLst xmlns:a="http://schemas.openxmlformats.org/drawingml/2006/main">
              <a:ext uri="{FF2B5EF4-FFF2-40B4-BE49-F238E27FC236}">
                <a16:creationId xmlns:a16="http://schemas.microsoft.com/office/drawing/2014/main" id="{2F9E7F2E-7A2C-47C9-ACAF-A5C77E7CA108}"/>
              </a:ext>
            </a:extLst>
          </p:cNvPr>
          <p:cNvSpPr>
            <a:spLocks xmlns:a="http://schemas.openxmlformats.org/drawingml/2006/main" noGrp="1"/>
          </p:cNvSpPr>
          <p:nvPr/>
        </p:nvSpPr>
        <p:spPr>
          <a:xfrm xmlns:a="http://schemas.openxmlformats.org/drawingml/2006/main">
            <a:off x="685800" y="47148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203B68"/>
                </a:solidFill>
                <a:latin typeface="Calibri"/>
                <a:ea typeface="Calibri"/>
                <a:cs typeface="Calibri"/>
              </a:defRPr>
            </a:pPr>
            <a:r>
              <a:rPr sz="2025" b="0">
                <a:solidFill>
                  <a:srgbClr val="203B68"/>
                </a:solidFill>
                <a:latin typeface="Calibri"/>
                <a:ea typeface="Calibri"/>
                <a:cs typeface="Calibri"/>
              </a:rPr>
              <a:t>2026-10-10 · 16:30–16:45. Los estudiantes ejecutan, verifican y documentan sus propios resultados.</a:t>
            </a:r>
          </a:p>
        </p:txBody>
      </p:sp>
      <p:sp>
        <p:nvSpPr>
          <p:cNvPr id="9" name="">
            <a:extLst xmlns:a="http://schemas.openxmlformats.org/drawingml/2006/main">
              <a:ext uri="{FF2B5EF4-FFF2-40B4-BE49-F238E27FC236}">
                <a16:creationId xmlns:a16="http://schemas.microsoft.com/office/drawing/2014/main" id="{4960DD27-7E5D-4392-9F4D-6545D871EFAB}"/>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No se solicita entrega el viernes ni trabajo autónomo obligatorio.</a:t>
            </a:r>
          </a:p>
        </p:txBody>
      </p:sp>
      <p:sp>
        <p:nvSpPr>
          <p:cNvPr id="10" name="">
            <a:extLst xmlns:a="http://schemas.openxmlformats.org/drawingml/2006/main">
              <a:ext uri="{FF2B5EF4-FFF2-40B4-BE49-F238E27FC236}">
                <a16:creationId xmlns:a16="http://schemas.microsoft.com/office/drawing/2014/main" id="{54798E05-B1AB-454A-B51F-E2085AEF6209}"/>
              </a:ext>
            </a:extLst>
          </p:cNvPr>
          <p:cNvSpPr>
            <a:spLocks xmlns:a="http://schemas.openxmlformats.org/drawingml/2006/main" noGrp="1"/>
          </p:cNvSpPr>
          <p:nvPr/>
        </p:nvSpPr>
        <p:spPr>
          <a:xfrm xmlns:a="http://schemas.openxmlformats.org/drawingml/2006/main">
            <a:off x="0" y="6410325"/>
            <a:ext cx="12192000" cy="4476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lIns="0" tIns="0" rIns="0" bIns="0"/>
          <a:lstStyle xmlns:a="http://schemas.openxmlformats.org/drawingml/2006/main"/>
          <a:p xmlns:a="http://schemas.openxmlformats.org/drawingml/2006/main"/>
        </p:txBody>
      </p:sp>
      <p:sp>
        <p:nvSpPr>
          <p:cNvPr id="11" name="">
            <a:extLst xmlns:a="http://schemas.openxmlformats.org/drawingml/2006/main">
              <a:ext uri="{FF2B5EF4-FFF2-40B4-BE49-F238E27FC236}">
                <a16:creationId xmlns:a16="http://schemas.microsoft.com/office/drawing/2014/main" id="{7BA5257F-F5AA-4AA9-84EC-C8162582874E}"/>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12" name="">
            <a:extLst xmlns:a="http://schemas.openxmlformats.org/drawingml/2006/main">
              <a:ext uri="{FF2B5EF4-FFF2-40B4-BE49-F238E27FC236}">
                <a16:creationId xmlns:a16="http://schemas.microsoft.com/office/drawing/2014/main" id="{26F9C782-1276-4920-9D8E-85D2DBAF9FB3}"/>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13" name="">
            <a:extLst xmlns:a="http://schemas.openxmlformats.org/drawingml/2006/main">
              <a:ext uri="{FF2B5EF4-FFF2-40B4-BE49-F238E27FC236}">
                <a16:creationId xmlns:a16="http://schemas.microsoft.com/office/drawing/2014/main" id="{274DC6A3-FD55-4E68-8311-A0E6DA0B04FD}"/>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34</a:t>
            </a:r>
          </a:p>
        </p:txBody>
      </p:sp>
    </p:spTree>
    <p:extLst>
      <p:ext uri="{BB962C8B-B14F-4D97-AF65-F5344CB8AC3E}">
        <p14:creationId xmlns:p14="http://schemas.microsoft.com/office/powerpoint/2010/main" val="156051337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fec31e736f4454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graphicFrame>
        <p:nvGraphicFramePr>
          <p:cNvPr id="11" name=""/>
          <p:cNvGraphicFramePr/>
          <p:nvPr/>
        </p:nvGraphicFramePr>
        <p:xfrm>
          <a:off xmlns:a="http://schemas.openxmlformats.org/drawingml/2006/main" x="609600" y="1619250"/>
          <a:ext xmlns:a="http://schemas.openxmlformats.org/drawingml/2006/main" cx="10972800" cy="3476625"/>
        </p:xfrm>
        <a:graphic xmlns:a="http://schemas.openxmlformats.org/drawingml/2006/main">
          <a:graphicData uri="http://schemas.openxmlformats.org/drawingml/2006/table">
            <a:tbl>
              <a:tblPr/>
              <a:tblGrid>
                <a:gridCol w="7143750"/>
                <a:gridCol w="3829050"/>
              </a:tblGrid>
              <a:tr h="695325">
                <a:tc>
                  <a:txBody>
                    <a:bodyPr/>
                    <a:lstStyle/>
                    <a:p>
                      <a:r>
                        <a:rPr sz="1800" b="1">
                          <a:solidFill>
                            <a:srgbClr val="FFFFFF"/>
                          </a:solidFill>
                          <a:latin typeface="Calibri"/>
                          <a:ea typeface="Calibri"/>
                          <a:cs typeface="Calibri"/>
                        </a:rPr>
                        <a:t>Supuesto didáctico</a:t>
                      </a:r>
                    </a:p>
                  </a:txBody>
                  <a:tcPr marL="91440" marR="91440" marT="45720" marB="45720">
                    <a:solidFill>
                      <a:srgbClr val="4237BF"/>
                    </a:solidFill>
                  </a:tcPr>
                </a:tc>
                <a:tc>
                  <a:txBody>
                    <a:bodyPr/>
                    <a:lstStyle/>
                    <a:p>
                      <a:r>
                        <a:rPr sz="1800" b="1">
                          <a:solidFill>
                            <a:srgbClr val="FFFFFF"/>
                          </a:solidFill>
                          <a:latin typeface="Calibri"/>
                          <a:ea typeface="Calibri"/>
                          <a:cs typeface="Calibri"/>
                        </a:rPr>
                        <a:t>Cálculo sin compresión</a:t>
                      </a:r>
                    </a:p>
                  </a:txBody>
                  <a:tcPr marL="91440" marR="91440" marT="45720" marB="45720">
                    <a:solidFill>
                      <a:srgbClr val="4237BF"/>
                    </a:solidFill>
                  </a:tcPr>
                </a:tc>
              </a:tr>
              <a:tr h="695325">
                <a:tc>
                  <a:txBody>
                    <a:bodyPr/>
                    <a:lstStyle/>
                    <a:p>
                      <a:r>
                        <a:rPr sz="1800" b="0">
                          <a:solidFill>
                            <a:srgbClr val="203B68"/>
                          </a:solidFill>
                          <a:latin typeface="Calibri"/>
                          <a:ea typeface="Calibri"/>
                          <a:cs typeface="Calibri"/>
                        </a:rPr>
                        <a:t>Arreglo float32 de 120 × 1.000 × 1.000</a:t>
                      </a:r>
                    </a:p>
                  </a:txBody>
                  <a:tcPr marL="91440" marR="91440" marT="45720" marB="45720">
                    <a:solidFill>
                      <a:srgbClr val="F4F8F8"/>
                    </a:solidFill>
                  </a:tcPr>
                </a:tc>
                <a:tc>
                  <a:txBody>
                    <a:bodyPr/>
                    <a:lstStyle/>
                    <a:p>
                      <a:r>
                        <a:rPr sz="1800" b="0">
                          <a:solidFill>
                            <a:srgbClr val="203B68"/>
                          </a:solidFill>
                          <a:latin typeface="Calibri"/>
                          <a:ea typeface="Calibri"/>
                          <a:cs typeface="Calibri"/>
                        </a:rPr>
                        <a:t>480 MB</a:t>
                      </a:r>
                    </a:p>
                  </a:txBody>
                  <a:tcPr marL="91440" marR="91440" marT="45720" marB="45720">
                    <a:solidFill>
                      <a:srgbClr val="F4F8F8"/>
                    </a:solidFill>
                  </a:tcPr>
                </a:tc>
              </a:tr>
              <a:tr h="695325">
                <a:tc>
                  <a:txBody>
                    <a:bodyPr/>
                    <a:lstStyle/>
                    <a:p>
                      <a:r>
                        <a:rPr sz="1800" b="0">
                          <a:solidFill>
                            <a:srgbClr val="203B68"/>
                          </a:solidFill>
                          <a:latin typeface="Calibri"/>
                          <a:ea typeface="Calibri"/>
                          <a:cs typeface="Calibri"/>
                        </a:rPr>
                        <a:t>Chunks de 10 × 100 × 100</a:t>
                      </a:r>
                    </a:p>
                  </a:txBody>
                  <a:tcPr marL="91440" marR="91440" marT="45720" marB="45720">
                    <a:solidFill>
                      <a:srgbClr val="E9F0F1"/>
                    </a:solidFill>
                  </a:tcPr>
                </a:tc>
                <a:tc>
                  <a:txBody>
                    <a:bodyPr/>
                    <a:lstStyle/>
                    <a:p>
                      <a:r>
                        <a:rPr sz="1800" b="0">
                          <a:solidFill>
                            <a:srgbClr val="203B68"/>
                          </a:solidFill>
                          <a:latin typeface="Calibri"/>
                          <a:ea typeface="Calibri"/>
                          <a:cs typeface="Calibri"/>
                        </a:rPr>
                        <a:t>0,4 MB por chunk</a:t>
                      </a:r>
                    </a:p>
                  </a:txBody>
                  <a:tcPr marL="91440" marR="91440" marT="45720" marB="45720">
                    <a:solidFill>
                      <a:srgbClr val="E9F0F1"/>
                    </a:solidFill>
                  </a:tcPr>
                </a:tc>
              </a:tr>
              <a:tr h="695325">
                <a:tc>
                  <a:txBody>
                    <a:bodyPr/>
                    <a:lstStyle/>
                    <a:p>
                      <a:r>
                        <a:rPr sz="1800" b="0">
                          <a:solidFill>
                            <a:srgbClr val="203B68"/>
                          </a:solidFill>
                          <a:latin typeface="Calibri"/>
                          <a:ea typeface="Calibri"/>
                          <a:cs typeface="Calibri"/>
                        </a:rPr>
                        <a:t>Un píxel durante los 120 tiempos</a:t>
                      </a:r>
                    </a:p>
                  </a:txBody>
                  <a:tcPr marL="91440" marR="91440" marT="45720" marB="45720">
                    <a:solidFill>
                      <a:srgbClr val="F4F8F8"/>
                    </a:solidFill>
                  </a:tcPr>
                </a:tc>
                <a:tc>
                  <a:txBody>
                    <a:bodyPr/>
                    <a:lstStyle/>
                    <a:p>
                      <a:r>
                        <a:rPr sz="1800" b="0">
                          <a:solidFill>
                            <a:srgbClr val="203B68"/>
                          </a:solidFill>
                          <a:latin typeface="Calibri"/>
                          <a:ea typeface="Calibri"/>
                          <a:cs typeface="Calibri"/>
                        </a:rPr>
                        <a:t>12 chunks = 4,8 MB leídos</a:t>
                      </a:r>
                    </a:p>
                  </a:txBody>
                  <a:tcPr marL="91440" marR="91440" marT="45720" marB="45720">
                    <a:solidFill>
                      <a:srgbClr val="F4F8F8"/>
                    </a:solidFill>
                  </a:tcPr>
                </a:tc>
              </a:tr>
              <a:tr h="695325">
                <a:tc>
                  <a:txBody>
                    <a:bodyPr/>
                    <a:lstStyle/>
                    <a:p>
                      <a:r>
                        <a:rPr sz="1800" b="0">
                          <a:solidFill>
                            <a:srgbClr val="203B68"/>
                          </a:solidFill>
                          <a:latin typeface="Calibri"/>
                          <a:ea typeface="Calibri"/>
                          <a:cs typeface="Calibri"/>
                        </a:rPr>
                        <a:t>Valores pedidos por esa consulta</a:t>
                      </a:r>
                    </a:p>
                  </a:txBody>
                  <a:tcPr marL="91440" marR="91440" marT="45720" marB="45720">
                    <a:solidFill>
                      <a:srgbClr val="E9F0F1"/>
                    </a:solidFill>
                  </a:tcPr>
                </a:tc>
                <a:tc>
                  <a:txBody>
                    <a:bodyPr/>
                    <a:lstStyle/>
                    <a:p>
                      <a:r>
                        <a:rPr sz="1800" b="0">
                          <a:solidFill>
                            <a:srgbClr val="203B68"/>
                          </a:solidFill>
                          <a:latin typeface="Calibri"/>
                          <a:ea typeface="Calibri"/>
                          <a:cs typeface="Calibri"/>
                        </a:rPr>
                        <a:t>120 × 4 = 480 bytes</a:t>
                      </a:r>
                    </a:p>
                  </a:txBody>
                  <a:tcPr marL="91440" marR="91440" marT="45720" marB="45720">
                    <a:solidFill>
                      <a:srgbClr val="E9F0F1"/>
                    </a:solidFill>
                  </a:tcPr>
                </a:tc>
              </a:tr>
            </a:tbl>
          </a:graphicData>
        </a:graphic>
      </p:graphicFrame>
      <p:sp>
        <p:nvSpPr>
          <p:cNvPr id="2" name="">
            <a:extLst xmlns:a="http://schemas.openxmlformats.org/drawingml/2006/main">
              <a:ext uri="{FF2B5EF4-FFF2-40B4-BE49-F238E27FC236}">
                <a16:creationId xmlns:a16="http://schemas.microsoft.com/office/drawing/2014/main" id="{EFA81AF4-17DC-47A4-91DE-265474129948}"/>
              </a:ext>
            </a:extLst>
          </p:cNvPr>
          <p:cNvSpPr>
            <a:spLocks xmlns:a="http://schemas.openxmlformats.org/drawingml/2006/main" noGrp="1"/>
          </p:cNvSpPr>
          <p:nvPr/>
        </p:nvSpPr>
        <p:spPr>
          <a:xfrm xmlns:a="http://schemas.openxmlformats.org/drawingml/2006/main">
            <a:off x="1638300" y="295275"/>
            <a:ext cx="1009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4239C8"/>
                </a:solidFill>
                <a:latin typeface="Calibri"/>
                <a:ea typeface="Calibri"/>
                <a:cs typeface="Calibri"/>
              </a:defRPr>
            </a:pPr>
            <a:r>
              <a:rPr sz="2850" b="1">
                <a:solidFill>
                  <a:srgbClr val="4239C8"/>
                </a:solidFill>
                <a:latin typeface="Calibri"/>
                <a:ea typeface="Calibri"/>
                <a:cs typeface="Calibri"/>
              </a:rPr>
              <a:t>El tamaño del chunk cambia la lectura</a:t>
            </a:r>
          </a:p>
        </p:txBody>
      </p:sp>
      <p:sp>
        <p:nvSpPr>
          <p:cNvPr id="4" name="">
            <a:extLst xmlns:a="http://schemas.openxmlformats.org/drawingml/2006/main">
              <a:ext uri="{FF2B5EF4-FFF2-40B4-BE49-F238E27FC236}">
                <a16:creationId xmlns:a16="http://schemas.microsoft.com/office/drawing/2014/main" id="{1A7F51F2-18DA-4C49-95AA-98F108797BBF}"/>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239C8"/>
                </a:solidFill>
                <a:latin typeface="Calibri"/>
                <a:ea typeface="Calibri"/>
                <a:cs typeface="Calibri"/>
              </a:defRPr>
            </a:pPr>
            <a:r>
              <a:rPr sz="1500" b="0">
                <a:solidFill>
                  <a:srgbClr val="4239C8"/>
                </a:solidFill>
                <a:latin typeface="Calibri"/>
                <a:ea typeface="Calibri"/>
                <a:cs typeface="Calibri"/>
              </a:rPr>
              <a:t>Ampliación opcional. Lectura de chunks completos; sin caché ni metadatos.</a:t>
            </a:r>
          </a:p>
        </p:txBody>
      </p:sp>
      <p:sp>
        <p:nvSpPr>
          <p:cNvPr id="5" name="">
            <a:extLst xmlns:a="http://schemas.openxmlformats.org/drawingml/2006/main">
              <a:ext uri="{FF2B5EF4-FFF2-40B4-BE49-F238E27FC236}">
                <a16:creationId xmlns:a16="http://schemas.microsoft.com/office/drawing/2014/main" id="{8EC875B6-45FE-426A-8C09-D04A5B559B05}"/>
              </a:ext>
            </a:extLst>
          </p:cNvPr>
          <p:cNvSpPr>
            <a:spLocks xmlns:a="http://schemas.openxmlformats.org/drawingml/2006/main" noGrp="1"/>
          </p:cNvSpPr>
          <p:nvPr/>
        </p:nvSpPr>
        <p:spPr>
          <a:xfrm xmlns:a="http://schemas.openxmlformats.org/drawingml/2006/main">
            <a:off x="609600" y="64198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1">
                <a:solidFill>
                  <a:srgbClr val="4239C8"/>
                </a:solidFill>
                <a:latin typeface="Calibri"/>
                <a:ea typeface="Calibri"/>
                <a:cs typeface="Calibri"/>
              </a:defRPr>
            </a:pPr>
            <a:r>
              <a:rPr sz="1125" b="1">
                <a:solidFill>
                  <a:srgbClr val="4239C8"/>
                </a:solidFill>
                <a:latin typeface="Calibri"/>
                <a:ea typeface="Calibri"/>
                <a:cs typeface="Calibri"/>
              </a:rPr>
              <a:t>Curso de Postgrado: BigData · Especialización en Bases de datos</a:t>
            </a:r>
          </a:p>
        </p:txBody>
      </p:sp>
      <p:sp>
        <p:nvSpPr>
          <p:cNvPr id="6" name="">
            <a:extLst xmlns:a="http://schemas.openxmlformats.org/drawingml/2006/main">
              <a:ext uri="{FF2B5EF4-FFF2-40B4-BE49-F238E27FC236}">
                <a16:creationId xmlns:a16="http://schemas.microsoft.com/office/drawing/2014/main" id="{6A3994FD-BD06-46AE-968F-6838D7741161}"/>
              </a:ext>
            </a:extLst>
          </p:cNvPr>
          <p:cNvSpPr>
            <a:spLocks xmlns:a="http://schemas.openxmlformats.org/drawingml/2006/main" noGrp="1"/>
          </p:cNvSpPr>
          <p:nvPr/>
        </p:nvSpPr>
        <p:spPr>
          <a:xfrm xmlns:a="http://schemas.openxmlformats.org/drawingml/2006/main">
            <a:off x="609600" y="6734175"/>
            <a:ext cx="10287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Viernes: demostración docente; sin entrega | E: ejercicio | P: práctica PQRS (peticiones, quejas, reclamos y sugerencias) | CyberColombia</a:t>
            </a:r>
          </a:p>
        </p:txBody>
      </p:sp>
      <p:sp>
        <p:nvSpPr>
          <p:cNvPr id="7" name="">
            <a:extLst xmlns:a="http://schemas.openxmlformats.org/drawingml/2006/main">
              <a:ext uri="{FF2B5EF4-FFF2-40B4-BE49-F238E27FC236}">
                <a16:creationId xmlns:a16="http://schemas.microsoft.com/office/drawing/2014/main" id="{DF704AD9-8F86-4DC3-A452-7D759F31B1E8}"/>
              </a:ext>
            </a:extLst>
          </p:cNvPr>
          <p:cNvSpPr>
            <a:spLocks xmlns:a="http://schemas.openxmlformats.org/drawingml/2006/main" noGrp="1"/>
          </p:cNvSpPr>
          <p:nvPr/>
        </p:nvSpPr>
        <p:spPr>
          <a:xfrm xmlns:a="http://schemas.openxmlformats.org/drawingml/2006/main">
            <a:off x="11001375" y="6734175"/>
            <a:ext cx="6191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825" b="0">
                <a:solidFill>
                  <a:srgbClr val="4239C8"/>
                </a:solidFill>
                <a:latin typeface="Calibri"/>
                <a:ea typeface="Calibri"/>
                <a:cs typeface="Calibri"/>
              </a:defRPr>
            </a:pPr>
            <a:r>
              <a:rPr sz="825" b="0">
                <a:solidFill>
                  <a:srgbClr val="4239C8"/>
                </a:solidFill>
                <a:latin typeface="Calibri"/>
                <a:ea typeface="Calibri"/>
                <a:cs typeface="Calibri"/>
              </a:rPr>
              <a:t>35</a:t>
            </a:r>
          </a:p>
        </p:txBody>
      </p:sp>
    </p:spTree>
    <p:extLst>
      <p:ext uri="{BB962C8B-B14F-4D97-AF65-F5344CB8AC3E}">
        <p14:creationId xmlns:p14="http://schemas.microsoft.com/office/powerpoint/2010/main" val="197571780"/>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2026-10-07T19:41:30.4350000Z</dcterms:created>
  <dcterms:modified xsi:type="dcterms:W3CDTF">2026-10-07T19:41:30.4350000Z</dcterms:modified>
</coreProperties>
</file>