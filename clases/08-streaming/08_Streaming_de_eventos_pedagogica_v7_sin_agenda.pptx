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a4403c54464cfe" /><Relationship Type="http://schemas.openxmlformats.org/officeDocument/2006/relationships/extended-properties" Target="/docProps/app.xml" Id="R55b4d0c52ba14f38" /><Relationship Type="http://schemas.openxmlformats.org/officeDocument/2006/relationships/officeDocument" Target="/ppt/presentation.xml" Id="R42055c32dc084b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436f1eefcf4677"/>
  </p:sldMasterIdLst>
  <p:notesMasterIdLst>
    <p:notesMasterId xmlns:r="http://schemas.openxmlformats.org/officeDocument/2006/relationships" r:id="R45db6dd983624c79"/>
  </p:notesMasterIdLst>
  <p:sldIdLst>
    <p:sldId xmlns:r="http://schemas.openxmlformats.org/officeDocument/2006/relationships" id="256" r:id="Rf1a351b871be4b04"/>
    <p:sldId xmlns:r="http://schemas.openxmlformats.org/officeDocument/2006/relationships" id="257" r:id="Re03875987c514207"/>
    <p:sldId xmlns:r="http://schemas.openxmlformats.org/officeDocument/2006/relationships" id="258" r:id="Rccb448c9f0b04015"/>
    <p:sldId xmlns:r="http://schemas.openxmlformats.org/officeDocument/2006/relationships" id="259" r:id="R85afafe052904404"/>
    <p:sldId xmlns:r="http://schemas.openxmlformats.org/officeDocument/2006/relationships" id="260" r:id="R2567c4add42b49d9"/>
    <p:sldId xmlns:r="http://schemas.openxmlformats.org/officeDocument/2006/relationships" id="261" r:id="Re87a74713e924ddf"/>
    <p:sldId xmlns:r="http://schemas.openxmlformats.org/officeDocument/2006/relationships" id="262" r:id="R61527da4831e4c39"/>
    <p:sldId xmlns:r="http://schemas.openxmlformats.org/officeDocument/2006/relationships" id="263" r:id="R3abbf8fa132649d6"/>
    <p:sldId xmlns:r="http://schemas.openxmlformats.org/officeDocument/2006/relationships" id="264" r:id="Re8c1fc24504a4bd0"/>
    <p:sldId xmlns:r="http://schemas.openxmlformats.org/officeDocument/2006/relationships" id="265" r:id="R2a1cbac0d25247bc"/>
    <p:sldId xmlns:r="http://schemas.openxmlformats.org/officeDocument/2006/relationships" id="266" r:id="Re7f43b4c013d4ac4"/>
    <p:sldId xmlns:r="http://schemas.openxmlformats.org/officeDocument/2006/relationships" id="267" r:id="Rf4c436a27cbe442d"/>
    <p:sldId xmlns:r="http://schemas.openxmlformats.org/officeDocument/2006/relationships" id="268" r:id="R654e6ba122fd4271"/>
    <p:sldId xmlns:r="http://schemas.openxmlformats.org/officeDocument/2006/relationships" id="269" r:id="R39bc43375d7d4ae3"/>
    <p:sldId xmlns:r="http://schemas.openxmlformats.org/officeDocument/2006/relationships" id="270" r:id="R859e856d683e4e1c"/>
    <p:sldId xmlns:r="http://schemas.openxmlformats.org/officeDocument/2006/relationships" id="271" r:id="R5a6e77a9331d4be7"/>
    <p:sldId xmlns:r="http://schemas.openxmlformats.org/officeDocument/2006/relationships" id="272" r:id="R5a42557930c443f4"/>
    <p:sldId xmlns:r="http://schemas.openxmlformats.org/officeDocument/2006/relationships" id="273" r:id="R6934d39b969147b1"/>
    <p:sldId xmlns:r="http://schemas.openxmlformats.org/officeDocument/2006/relationships" id="274" r:id="R6687a9d300d446dc"/>
    <p:sldId xmlns:r="http://schemas.openxmlformats.org/officeDocument/2006/relationships" id="275" r:id="R4fe613538abd490c"/>
    <p:sldId xmlns:r="http://schemas.openxmlformats.org/officeDocument/2006/relationships" id="276" r:id="Rfb74267b9374469d"/>
    <p:sldId xmlns:r="http://schemas.openxmlformats.org/officeDocument/2006/relationships" id="277" r:id="R2a639227df564864"/>
    <p:sldId xmlns:r="http://schemas.openxmlformats.org/officeDocument/2006/relationships" id="278" r:id="R830f9636640048c2"/>
    <p:sldId xmlns:r="http://schemas.openxmlformats.org/officeDocument/2006/relationships" id="279" r:id="R84b31a0e9d44449f"/>
    <p:sldId xmlns:r="http://schemas.openxmlformats.org/officeDocument/2006/relationships" id="280" r:id="Rcfdbfba937c44eba"/>
    <p:sldId xmlns:r="http://schemas.openxmlformats.org/officeDocument/2006/relationships" id="281" r:id="R1715781d316240da"/>
    <p:sldId xmlns:r="http://schemas.openxmlformats.org/officeDocument/2006/relationships" id="282" r:id="R557bd00fe70c47a4"/>
    <p:sldId xmlns:r="http://schemas.openxmlformats.org/officeDocument/2006/relationships" id="283" r:id="Ra7abb583a9f64d14"/>
    <p:sldId xmlns:r="http://schemas.openxmlformats.org/officeDocument/2006/relationships" id="284" r:id="R4e16d97fc83243df"/>
    <p:sldId xmlns:r="http://schemas.openxmlformats.org/officeDocument/2006/relationships" id="285" r:id="R09003db9353f4580"/>
    <p:sldId xmlns:r="http://schemas.openxmlformats.org/officeDocument/2006/relationships" id="286" r:id="Rdcfd0654c28245a1"/>
    <p:sldId xmlns:r="http://schemas.openxmlformats.org/officeDocument/2006/relationships" id="287" r:id="Re5629693369240f2"/>
    <p:sldId xmlns:r="http://schemas.openxmlformats.org/officeDocument/2006/relationships" id="288" r:id="Rcd1e3959ebba4b09"/>
    <p:sldId xmlns:r="http://schemas.openxmlformats.org/officeDocument/2006/relationships" id="289" r:id="R60e5da92b1244fd6"/>
    <p:sldId xmlns:r="http://schemas.openxmlformats.org/officeDocument/2006/relationships" id="290" r:id="R123d902a37b14e43"/>
    <p:sldId xmlns:r="http://schemas.openxmlformats.org/officeDocument/2006/relationships" id="291" r:id="Rd221c066ac0946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937abee7ff49ae" /><Relationship Type="http://schemas.openxmlformats.org/officeDocument/2006/relationships/slideMaster" Target="/ppt/slideMasters/slideMaster1.xml" Id="R60436f1eefcf4677" /><Relationship Type="http://schemas.openxmlformats.org/officeDocument/2006/relationships/notesMaster" Target="/ppt/notesMasters/notesMaster1.xml" Id="R45db6dd983624c79" /><Relationship Type="http://schemas.openxmlformats.org/officeDocument/2006/relationships/presProps" Target="/ppt/presProps.xml" Id="Rc66b1dcd92b441a7" /><Relationship Type="http://schemas.openxmlformats.org/officeDocument/2006/relationships/tableStyles" Target="/ppt/tableStyles.xml" Id="Rf3febfc442794318" /><Relationship Type="http://schemas.openxmlformats.org/officeDocument/2006/relationships/slide" Target="/ppt/slides/slide1.xml" Id="Rf1a351b871be4b04" /><Relationship Type="http://schemas.openxmlformats.org/officeDocument/2006/relationships/slide" Target="/ppt/slides/slide2.xml" Id="Re03875987c514207" /><Relationship Type="http://schemas.openxmlformats.org/officeDocument/2006/relationships/slide" Target="/ppt/slides/slide3.xml" Id="Rccb448c9f0b04015" /><Relationship Type="http://schemas.openxmlformats.org/officeDocument/2006/relationships/slide" Target="/ppt/slides/slide4.xml" Id="R85afafe052904404" /><Relationship Type="http://schemas.openxmlformats.org/officeDocument/2006/relationships/slide" Target="/ppt/slides/slide5.xml" Id="R2567c4add42b49d9" /><Relationship Type="http://schemas.openxmlformats.org/officeDocument/2006/relationships/slide" Target="/ppt/slides/slide6.xml" Id="Re87a74713e924ddf" /><Relationship Type="http://schemas.openxmlformats.org/officeDocument/2006/relationships/slide" Target="/ppt/slides/slide7.xml" Id="R61527da4831e4c39" /><Relationship Type="http://schemas.openxmlformats.org/officeDocument/2006/relationships/slide" Target="/ppt/slides/slide8.xml" Id="R3abbf8fa132649d6" /><Relationship Type="http://schemas.openxmlformats.org/officeDocument/2006/relationships/slide" Target="/ppt/slides/slide9.xml" Id="Re8c1fc24504a4bd0" /><Relationship Type="http://schemas.openxmlformats.org/officeDocument/2006/relationships/slide" Target="/ppt/slides/slide10.xml" Id="R2a1cbac0d25247bc" /><Relationship Type="http://schemas.openxmlformats.org/officeDocument/2006/relationships/slide" Target="/ppt/slides/slide11.xml" Id="Re7f43b4c013d4ac4" /><Relationship Type="http://schemas.openxmlformats.org/officeDocument/2006/relationships/slide" Target="/ppt/slides/slide12.xml" Id="Rf4c436a27cbe442d" /><Relationship Type="http://schemas.openxmlformats.org/officeDocument/2006/relationships/slide" Target="/ppt/slides/slide13.xml" Id="R654e6ba122fd4271" /><Relationship Type="http://schemas.openxmlformats.org/officeDocument/2006/relationships/slide" Target="/ppt/slides/slide14.xml" Id="R39bc43375d7d4ae3" /><Relationship Type="http://schemas.openxmlformats.org/officeDocument/2006/relationships/slide" Target="/ppt/slides/slide15.xml" Id="R859e856d683e4e1c" /><Relationship Type="http://schemas.openxmlformats.org/officeDocument/2006/relationships/slide" Target="/ppt/slides/slide16.xml" Id="R5a6e77a9331d4be7" /><Relationship Type="http://schemas.openxmlformats.org/officeDocument/2006/relationships/slide" Target="/ppt/slides/slide17.xml" Id="R5a42557930c443f4" /><Relationship Type="http://schemas.openxmlformats.org/officeDocument/2006/relationships/slide" Target="/ppt/slides/slide18.xml" Id="R6934d39b969147b1" /><Relationship Type="http://schemas.openxmlformats.org/officeDocument/2006/relationships/slide" Target="/ppt/slides/slide19.xml" Id="R6687a9d300d446dc" /><Relationship Type="http://schemas.openxmlformats.org/officeDocument/2006/relationships/slide" Target="/ppt/slides/slide20.xml" Id="R4fe613538abd490c" /><Relationship Type="http://schemas.openxmlformats.org/officeDocument/2006/relationships/slide" Target="/ppt/slides/slide21.xml" Id="Rfb74267b9374469d" /><Relationship Type="http://schemas.openxmlformats.org/officeDocument/2006/relationships/slide" Target="/ppt/slides/slide22.xml" Id="R2a639227df564864" /><Relationship Type="http://schemas.openxmlformats.org/officeDocument/2006/relationships/slide" Target="/ppt/slides/slide23.xml" Id="R830f9636640048c2" /><Relationship Type="http://schemas.openxmlformats.org/officeDocument/2006/relationships/slide" Target="/ppt/slides/slide24.xml" Id="R84b31a0e9d44449f" /><Relationship Type="http://schemas.openxmlformats.org/officeDocument/2006/relationships/slide" Target="/ppt/slides/slide25.xml" Id="Rcfdbfba937c44eba" /><Relationship Type="http://schemas.openxmlformats.org/officeDocument/2006/relationships/slide" Target="/ppt/slides/slide26.xml" Id="R1715781d316240da" /><Relationship Type="http://schemas.openxmlformats.org/officeDocument/2006/relationships/slide" Target="/ppt/slides/slide27.xml" Id="R557bd00fe70c47a4" /><Relationship Type="http://schemas.openxmlformats.org/officeDocument/2006/relationships/slide" Target="/ppt/slides/slide28.xml" Id="Ra7abb583a9f64d14" /><Relationship Type="http://schemas.openxmlformats.org/officeDocument/2006/relationships/slide" Target="/ppt/slides/slide29.xml" Id="R4e16d97fc83243df" /><Relationship Type="http://schemas.openxmlformats.org/officeDocument/2006/relationships/slide" Target="/ppt/slides/slide30.xml" Id="R09003db9353f4580" /><Relationship Type="http://schemas.openxmlformats.org/officeDocument/2006/relationships/slide" Target="/ppt/slides/slide31.xml" Id="Rdcfd0654c28245a1" /><Relationship Type="http://schemas.openxmlformats.org/officeDocument/2006/relationships/slide" Target="/ppt/slides/slide32.xml" Id="Re5629693369240f2" /><Relationship Type="http://schemas.openxmlformats.org/officeDocument/2006/relationships/slide" Target="/ppt/slides/slide33.xml" Id="Rcd1e3959ebba4b09" /><Relationship Type="http://schemas.openxmlformats.org/officeDocument/2006/relationships/slide" Target="/ppt/slides/slide34.xml" Id="R60e5da92b1244fd6" /><Relationship Type="http://schemas.openxmlformats.org/officeDocument/2006/relationships/slide" Target="/ppt/slides/slide35.xml" Id="R123d902a37b14e43" /><Relationship Type="http://schemas.openxmlformats.org/officeDocument/2006/relationships/slide" Target="/ppt/slides/slide36.xml" Id="Rd221c066ac0946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7dc577ba8a42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e81ee19f0040e8" /><Relationship Type="http://schemas.openxmlformats.org/officeDocument/2006/relationships/notesMaster" Target="/ppt/notesMasters/notesMaster1.xml" Id="R359c3dc599184a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e137cf62c34650" /><Relationship Type="http://schemas.openxmlformats.org/officeDocument/2006/relationships/notesMaster" Target="/ppt/notesMasters/notesMaster1.xml" Id="R80ec045d3e014e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7c56f1dbf241fe" /><Relationship Type="http://schemas.openxmlformats.org/officeDocument/2006/relationships/notesMaster" Target="/ppt/notesMasters/notesMaster1.xml" Id="R6db23b26e09d4d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fcf91d8ef34d16" /><Relationship Type="http://schemas.openxmlformats.org/officeDocument/2006/relationships/notesMaster" Target="/ppt/notesMasters/notesMaster1.xml" Id="Raf9799a5a77f45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2ca00ee91e4d79" /><Relationship Type="http://schemas.openxmlformats.org/officeDocument/2006/relationships/notesMaster" Target="/ppt/notesMasters/notesMaster1.xml" Id="R8bd532a803ab4c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2f6789ee8741c2" /><Relationship Type="http://schemas.openxmlformats.org/officeDocument/2006/relationships/notesMaster" Target="/ppt/notesMasters/notesMaster1.xml" Id="R57d02456c12c4e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254c01e5c540d0" /><Relationship Type="http://schemas.openxmlformats.org/officeDocument/2006/relationships/notesMaster" Target="/ppt/notesMasters/notesMaster1.xml" Id="Rda5405875f2548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ed869d57884ea8" /><Relationship Type="http://schemas.openxmlformats.org/officeDocument/2006/relationships/notesMaster" Target="/ppt/notesMasters/notesMaster1.xml" Id="R1cb3e5825b604c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f3cd08db0143d7" /><Relationship Type="http://schemas.openxmlformats.org/officeDocument/2006/relationships/notesMaster" Target="/ppt/notesMasters/notesMaster1.xml" Id="R752085c37a2f47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f709d78c924018" /><Relationship Type="http://schemas.openxmlformats.org/officeDocument/2006/relationships/notesMaster" Target="/ppt/notesMasters/notesMaster1.xml" Id="R937dccad9cd248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fa117e50644344" /><Relationship Type="http://schemas.openxmlformats.org/officeDocument/2006/relationships/notesMaster" Target="/ppt/notesMasters/notesMaster1.xml" Id="Rc1cce9d6069a46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a90bdb2cf84310" /><Relationship Type="http://schemas.openxmlformats.org/officeDocument/2006/relationships/notesMaster" Target="/ppt/notesMasters/notesMaster1.xml" Id="R9874447a227343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2412c853114ef5" /><Relationship Type="http://schemas.openxmlformats.org/officeDocument/2006/relationships/notesMaster" Target="/ppt/notesMasters/notesMaster1.xml" Id="R65509407ec6c40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e14b6d82594ad6" /><Relationship Type="http://schemas.openxmlformats.org/officeDocument/2006/relationships/notesMaster" Target="/ppt/notesMasters/notesMaster1.xml" Id="R6987f3894f7a4d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06b06c2d514854" /><Relationship Type="http://schemas.openxmlformats.org/officeDocument/2006/relationships/notesMaster" Target="/ppt/notesMasters/notesMaster1.xml" Id="Rbbc4c1147fbc4d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8d34f09e5874c25" /><Relationship Type="http://schemas.openxmlformats.org/officeDocument/2006/relationships/notesMaster" Target="/ppt/notesMasters/notesMaster1.xml" Id="R93a2c39f60f541f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f23e23e672b49de" /><Relationship Type="http://schemas.openxmlformats.org/officeDocument/2006/relationships/notesMaster" Target="/ppt/notesMasters/notesMaster1.xml" Id="R59f6ceaae0d54e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fe1bbf3ba1044c6" /><Relationship Type="http://schemas.openxmlformats.org/officeDocument/2006/relationships/notesMaster" Target="/ppt/notesMasters/notesMaster1.xml" Id="R326f9e156fa447a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ff1155f8d7e4183" /><Relationship Type="http://schemas.openxmlformats.org/officeDocument/2006/relationships/notesMaster" Target="/ppt/notesMasters/notesMaster1.xml" Id="R8bca636b986e402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10ecfba2b24932" /><Relationship Type="http://schemas.openxmlformats.org/officeDocument/2006/relationships/notesMaster" Target="/ppt/notesMasters/notesMaster1.xml" Id="R30dd64af902343c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8a64702209a491b" /><Relationship Type="http://schemas.openxmlformats.org/officeDocument/2006/relationships/notesMaster" Target="/ppt/notesMasters/notesMaster1.xml" Id="Rd87321aaa29a422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63599f5099f4659" /><Relationship Type="http://schemas.openxmlformats.org/officeDocument/2006/relationships/notesMaster" Target="/ppt/notesMasters/notesMaster1.xml" Id="R8b7a7adc1b3643c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e15d4dc4e0941f6" /><Relationship Type="http://schemas.openxmlformats.org/officeDocument/2006/relationships/notesMaster" Target="/ppt/notesMasters/notesMaster1.xml" Id="R0566e1ee68114c7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b6bce49a2184bb6" /><Relationship Type="http://schemas.openxmlformats.org/officeDocument/2006/relationships/notesMaster" Target="/ppt/notesMasters/notesMaster1.xml" Id="R17b8ed448a0548e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170557d51bb4ee2" /><Relationship Type="http://schemas.openxmlformats.org/officeDocument/2006/relationships/notesMaster" Target="/ppt/notesMasters/notesMaster1.xml" Id="Ra40c17d0d12546e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d63a99a1f654440" /><Relationship Type="http://schemas.openxmlformats.org/officeDocument/2006/relationships/notesMaster" Target="/ppt/notesMasters/notesMaster1.xml" Id="R6a882fb745dd474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2d596804b9e4c0e" /><Relationship Type="http://schemas.openxmlformats.org/officeDocument/2006/relationships/notesMaster" Target="/ppt/notesMasters/notesMaster1.xml" Id="R8413b890ab4c432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bfe75276c184462" /><Relationship Type="http://schemas.openxmlformats.org/officeDocument/2006/relationships/notesMaster" Target="/ppt/notesMasters/notesMaster1.xml" Id="Rb7b53f1ca0ed41d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6e6c0a8aea64c40" /><Relationship Type="http://schemas.openxmlformats.org/officeDocument/2006/relationships/notesMaster" Target="/ppt/notesMasters/notesMaster1.xml" Id="Rc1cda8a35eca478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9db9ddb23c14cb2" /><Relationship Type="http://schemas.openxmlformats.org/officeDocument/2006/relationships/notesMaster" Target="/ppt/notesMasters/notesMaster1.xml" Id="R1e162a35d2124d8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c2146b1d56f4e7d" /><Relationship Type="http://schemas.openxmlformats.org/officeDocument/2006/relationships/notesMaster" Target="/ppt/notesMasters/notesMaster1.xml" Id="R934fa9e349cf44c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17a1f3a760244bc" /><Relationship Type="http://schemas.openxmlformats.org/officeDocument/2006/relationships/notesMaster" Target="/ppt/notesMasters/notesMaster1.xml" Id="Rd6b183c29bd1461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0c992c2418b4b0c" /><Relationship Type="http://schemas.openxmlformats.org/officeDocument/2006/relationships/notesMaster" Target="/ppt/notesMasters/notesMaster1.xml" Id="R18031a722ed148e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ecf81ede1b644b1" /><Relationship Type="http://schemas.openxmlformats.org/officeDocument/2006/relationships/notesMaster" Target="/ppt/notesMasters/notesMaster1.xml" Id="R8126acf75c7944a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7ebd3e07b0b4996" /><Relationship Type="http://schemas.openxmlformats.org/officeDocument/2006/relationships/notesMaster" Target="/ppt/notesMasters/notesMaster1.xml" Id="Rf94a433552d94ed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446c5410a624746" /><Relationship Type="http://schemas.openxmlformats.org/officeDocument/2006/relationships/notesMaster" Target="/ppt/notesMasters/notesMaster1.xml" Id="R1a2ab3b3cdda49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la idea central: un sistema de eventos debe decidir con información incompleta y conservar evidencia para corregir, recuperar y auditar.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los cuatro resultados y pedir un ejemplo cotidiano de evento tardío. El objetivo no es memorizar opciones de Spark, sino razonar sobre decisiones temporales.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responder todavía. Conservar las tres alternativas como hilo conductor. E11 retiene el día 5 y lo entrega después del día 31.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big-data-postgraduate/talleres/E11.md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streaming con decisiones operativas. Aclarar que “tiempo real” no significa instantáneo ni ausencia de errores.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la ruta como mapa de la clase. Regresar a ella al cerrar cada bloque.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Evitar describir PQRS como flujo en vivo. La práctica NASA es finita y reproducible, aunque Spark la procesa como fuente incremental.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big-data-postgraduate/talleres/I01.md</a:t>
            </a:r>
          </a:p>
          <a:p xmlns:a="http://schemas.openxmlformats.org/drawingml/2006/main">
            <a:r>
              <a:t>https://spark.apache.org/docs/4.0.1/streaming/apis-on-dataframes-and-datasets.html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Dibujar verbalmente la cadena: hecho, mensaje, cómputo, resultado. La deduplicación usa identidad del evento, no sólo igualdad de valores.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la fuente no publica una hora real. La práctica transforma la fecha diaria en timestamp sólo para estudiar la semántica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big-data-postgraduate/talleres/E11.md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al grupo que calcule el retraso de cada evento. La ventana usa el tiempo de evento; el diagnóstico de operación observa el tiempo de llegada.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igualdad de clave, igualdad de contenido y corrección del proveedor. La política debe definir qué conserva y qué publica.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números pertenecen al corte docente de I01. La actividad no reproduce toda la semántica de Spark; prepara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big-data-postgraduate/talleres/I01.md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Ejecutar primero en papel. Después abrir traza_eventos_nasa.csv y relacionar watermark_antes, event_id y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big-data-postgraduate/talleres/I01.md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el bloque con una frase por equipo: qué diferencia existe entre evento y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Structured Streaming usa DataFrames y Datasets para datos acotados y no acotados. La API es familiar, pero las operaciones con estado requieren decisiones adicionales.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https://spark.apache.org/docs/4.0.1/streaming/apis-on-dataframes-and-datasets.html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modelo es conceptual. En E11 la fuente es un directorio de archivos; el script crea una carpeta y un checkpoint nuevos por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https://spark.apache.org/docs/4.0.1/streaming/apis-on-dataframes-and-datasets.html</a:t>
            </a:r>
          </a:p>
          <a:p xmlns:a="http://schemas.openxmlformats.org/drawingml/2006/main">
            <a:r>
              <a:t>big-data-postgraduate/talleres/E11.md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la imagen de arriba hacia abajo: fija, deslizante y sesión. E11 se concentra en ventanas por tiempo de evento.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https://spark.apache.org/docs/4.0.1/streaming/apis-on-dataframes-and-datasets.html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tres ejemplos adicionales. El intervalo semiabierto evita que un evento en el límite pertenezca a dos ventanas fijas contiguas.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la necesidad de estado con watermark. Sin un límite temporal, las agregaciones antiguas podrían permanecer indefinidamente.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Definir watermark como referencia de progreso temporal usada por el motor para administrar estado y salidas. Evitar describirlo como una pared que descarta siempre todo lo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https://spark.apache.org/docs/4.0.1/streaming/apis-on-dataframes-and-datasets.html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simplificar a “10:07 siempre se descarta”. Revisar la agregación concreta y la política de salida. La práctica inspecciona numRowsDroppedByWatermark.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big-data-postgraduate/talleres/E11.md</a:t>
            </a:r>
          </a:p>
          <a:p xmlns:a="http://schemas.openxmlformats.org/drawingml/2006/main">
            <a:r>
              <a:t>https://spark.apache.org/docs/4.0.1/streaming/apis-on-dataframes-and-datasets.html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matiz evita una explicación falsa frecuente. Mantener la formulación acotada a agregaciones con watermark y a la documentación de Spark 4.0.1.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https://spark.apache.org/docs/4.0.1/streaming/apis-on-dataframes-and-datasets.html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fabricar observaciones futuras para cerrar ventanas. Explicar que Complete no elimina estado antiguo mediante watermark porque conserva toda la tabla de resultados.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https://spark.apache.org/docs/4.0.1/streaming/apis-on-dataframes-and-datasets.html</a:t>
            </a:r>
          </a:p>
          <a:p xmlns:a="http://schemas.openxmlformats.org/drawingml/2006/main">
            <a:r>
              <a:t>big-data-postgraduate/docs/controles-docente.md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Ejecutar desde kit/ con el entorno del curso. La evidencia evaluable debe provenir de la ejecución del equipo.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big-data-postgraduate/talleres/E11.md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Confirmar que cada equipo tiene entrada, resultado y checkpoint identificados.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suma NASA del corte completo es 67,69 mm. No esperar que coincida con CHIRPS porque representan soportes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big-data-postgraduate/talleres/E11.md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hechos de la ejecución y propuestas de diseño. El día 5 se retiene deliberadamente; no es una falla del archivo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big-data-postgraduate/talleres/E11.md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Checkpoint no es una copia completa de todos los datos. Spark guarda progreso y estado necesario para continuar una consulta compatible.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https://spark.apache.org/docs/4.0.1/streaming/apis-on-dataframes-and-datasets.html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advertencia debe permanecer visible. Una prueba de recuperación real exige conservar el mismo checkpoint, provocar una interrupción y verificar el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big-data-postgraduate/talleres/E11.md</a:t>
            </a:r>
          </a:p>
          <a:p xmlns:a="http://schemas.openxmlformats.org/drawingml/2006/main">
            <a:r>
              <a:t>https://spark.apache.org/docs/4.0.1/streaming/apis-on-dataframes-and-datasets.html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ampliación propone esta prueba. No afirmar que el taller básico ya la ejecutó.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Evitar prometer exactly-once de extremo a extremo sin revisar la fuente, el motor, el destino y las operaciones externas.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https://spark.apache.org/docs/4.0.1/streaming/apis-on-dataframes-and-datasets.html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capacidad con semántica: el retraso operativo no sólo afecta latencia; también interactúa con políticas temporales y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E11 exige revisar control_eventos.json. Las métricas disponibles dependen de la consulta y de la versión; usar las producidas por el kit.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big-data-postgraduate/talleres/E11.md</a:t>
            </a:r>
          </a:p>
          <a:p xmlns:a="http://schemas.openxmlformats.org/drawingml/2006/main">
            <a:r>
              <a:t>https://spark.apache.org/docs/4.0.1/streaming/apis-on-dataframes-and-datasets.html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Pedir a cada equipo comprobar que puede localizar su control_eventos.json y su traza.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secuencia permite ejecutar el laboratorio, revisar controles y explicar la recuperación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big-data-postgraduate/talleres/E11.md</a:t>
            </a:r>
          </a:p>
          <a:p xmlns:a="http://schemas.openxmlformats.org/drawingml/2006/main">
            <a:r>
              <a:t>big-data-postgraduate/talleres/I01.md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evidencia evaluable corresponde a la ejecución del equipo durante la clase.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big-data-postgraduate/talleres/E11.md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una explicación de un minuto por equipo: evento observado, regla aplicada, evidencia encontrada y límite del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Diseño docente del curso;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07007e06d49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f7653935ab44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0ec5680fc846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e3544a80f044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9078d334d4c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772da1d1f342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1E769E-8FEC-4134-AC51-833636670A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B6C0FC-DE64-4A42-B1CD-9FFAB101C2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26942B-24FA-415F-A472-07F22D21D1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D4FF6E-E5E7-4B70-998C-C9F0E5A328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487604-891A-4989-8A0B-E24DD9E435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80D512-D897-4171-9B50-DB9629CCCC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DA0CE9-CECF-460E-8B1D-942AB9C192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B613EF-F070-4F2A-90D3-D24F32BF06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BA1737-DED7-4574-8728-75123CB813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F5E703-731E-4A0B-BC13-6E056AF92F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3b0d80bf5f4e3e" /><Relationship Type="http://schemas.openxmlformats.org/officeDocument/2006/relationships/slideLayout" Target="/ppt/slideLayouts/slideLayout1.xml" Id="R9cc07642a8e642af" /><Relationship Type="http://schemas.openxmlformats.org/officeDocument/2006/relationships/slideLayout" Target="/ppt/slideLayouts/slideLayout2.xml" Id="R3cb2bca3bcc74e7f" /><Relationship Type="http://schemas.openxmlformats.org/officeDocument/2006/relationships/slideLayout" Target="/ppt/slideLayouts/slideLayout3.xml" Id="R7ed53829b7024128" /><Relationship Type="http://schemas.openxmlformats.org/officeDocument/2006/relationships/slideLayout" Target="/ppt/slideLayouts/slideLayout4.xml" Id="R4d6f8d0242124ace" /><Relationship Type="http://schemas.openxmlformats.org/officeDocument/2006/relationships/slideLayout" Target="/ppt/slideLayouts/slideLayout5.xml" Id="R08d9a7c37b4f4199" /><Relationship Type="http://schemas.openxmlformats.org/officeDocument/2006/relationships/slideLayout" Target="/ppt/slideLayouts/slideLayout6.xml" Id="R9e4cfea40b9d49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c07642a8e642af"/>
    <p:sldLayoutId xmlns:r="http://schemas.openxmlformats.org/officeDocument/2006/relationships" id="2147483650" r:id="R3cb2bca3bcc74e7f"/>
    <p:sldLayoutId xmlns:r="http://schemas.openxmlformats.org/officeDocument/2006/relationships" id="2147483651" r:id="R7ed53829b7024128"/>
    <p:sldLayoutId xmlns:r="http://schemas.openxmlformats.org/officeDocument/2006/relationships" id="2147483652" r:id="R4d6f8d0242124ace"/>
    <p:sldLayoutId xmlns:r="http://schemas.openxmlformats.org/officeDocument/2006/relationships" id="2147483653" r:id="R08d9a7c37b4f4199"/>
    <p:sldLayoutId xmlns:r="http://schemas.openxmlformats.org/officeDocument/2006/relationships" id="2147483654" r:id="R9e4cfea40b9d49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9448a1280f4f5a" /><Relationship Type="http://schemas.openxmlformats.org/officeDocument/2006/relationships/image" Target="/ppt/media/image.png" Id="R0a6a41318dd8470d" /><Relationship Type="http://schemas.openxmlformats.org/officeDocument/2006/relationships/image" Target="/ppt/media/image2.png" Id="R4e696eb5f05f49cd" /><Relationship Type="http://schemas.openxmlformats.org/officeDocument/2006/relationships/notesSlide" Target="/ppt/notesSlides/notesSlide1.xml" Id="R93dd8d2a2dac43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c483be79b84d98" /><Relationship Type="http://schemas.openxmlformats.org/officeDocument/2006/relationships/image" Target="/ppt/media/image3.png" Id="R5526b60de6424800" /><Relationship Type="http://schemas.openxmlformats.org/officeDocument/2006/relationships/notesSlide" Target="/ppt/notesSlides/notesSlide2.xml" Id="R91b15da6f29846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b3730d263940b4" /><Relationship Type="http://schemas.openxmlformats.org/officeDocument/2006/relationships/image" Target="/ppt/media/image4.png" Id="R0c1405e9b5164224" /><Relationship Type="http://schemas.openxmlformats.org/officeDocument/2006/relationships/notesSlide" Target="/ppt/notesSlides/notesSlide3.xml" Id="Ra720b0d9fd9948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175da96f224a5d" /><Relationship Type="http://schemas.openxmlformats.org/officeDocument/2006/relationships/image" Target="/ppt/media/image5.png" Id="R998a19ccc7a64f40" /><Relationship Type="http://schemas.openxmlformats.org/officeDocument/2006/relationships/image" Target="/ppt/media/image6.png" Id="R11a2e57d182a4381" /><Relationship Type="http://schemas.openxmlformats.org/officeDocument/2006/relationships/notesSlide" Target="/ppt/notesSlides/notesSlide4.xml" Id="R30864e03a70e44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261c6c04c5453a" /><Relationship Type="http://schemas.openxmlformats.org/officeDocument/2006/relationships/image" Target="/ppt/media/image7.png" Id="Rc907c7f26d9441da" /><Relationship Type="http://schemas.openxmlformats.org/officeDocument/2006/relationships/notesSlide" Target="/ppt/notesSlides/notesSlide5.xml" Id="Re70670e2e50442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a5669dbed648a3" /><Relationship Type="http://schemas.openxmlformats.org/officeDocument/2006/relationships/image" Target="/ppt/media/image8.png" Id="Rc52b6031b4214f5a" /><Relationship Type="http://schemas.openxmlformats.org/officeDocument/2006/relationships/notesSlide" Target="/ppt/notesSlides/notesSlide6.xml" Id="R7abe2714acd041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5e6f8394154afe" /><Relationship Type="http://schemas.openxmlformats.org/officeDocument/2006/relationships/image" Target="/ppt/media/image9.png" Id="Rb33f1077366a4a37" /><Relationship Type="http://schemas.openxmlformats.org/officeDocument/2006/relationships/notesSlide" Target="/ppt/notesSlides/notesSlide7.xml" Id="R11f2f777a27547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917f6b41c348eb" /><Relationship Type="http://schemas.openxmlformats.org/officeDocument/2006/relationships/image" Target="/ppt/media/image10.png" Id="R335aa02ae2ee4c1a" /><Relationship Type="http://schemas.openxmlformats.org/officeDocument/2006/relationships/notesSlide" Target="/ppt/notesSlides/notesSlide8.xml" Id="R94b9d62be8f04a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97a332769c4f68" /><Relationship Type="http://schemas.openxmlformats.org/officeDocument/2006/relationships/image" Target="/ppt/media/image11.png" Id="R7e831cf4242345cd" /><Relationship Type="http://schemas.openxmlformats.org/officeDocument/2006/relationships/notesSlide" Target="/ppt/notesSlides/notesSlide9.xml" Id="R0d894c96302745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e19c9d6b2a4d06" /><Relationship Type="http://schemas.openxmlformats.org/officeDocument/2006/relationships/image" Target="/ppt/media/image12.png" Id="R7023c052e9b64d3d" /><Relationship Type="http://schemas.openxmlformats.org/officeDocument/2006/relationships/notesSlide" Target="/ppt/notesSlides/notesSlide10.xml" Id="Rc0abb7393a4348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7e391548454583" /><Relationship Type="http://schemas.openxmlformats.org/officeDocument/2006/relationships/image" Target="/ppt/media/image13.png" Id="R1360c3b774064654" /><Relationship Type="http://schemas.openxmlformats.org/officeDocument/2006/relationships/notesSlide" Target="/ppt/notesSlides/notesSlide11.xml" Id="Rd15e52d5ac2d4b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425abc8b30411f" /><Relationship Type="http://schemas.openxmlformats.org/officeDocument/2006/relationships/image" Target="/ppt/media/image14.png" Id="R1d493648e26b4a1c" /><Relationship Type="http://schemas.openxmlformats.org/officeDocument/2006/relationships/notesSlide" Target="/ppt/notesSlides/notesSlide12.xml" Id="Rc0fe181e1adb48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00b572a5eb48cc" /><Relationship Type="http://schemas.openxmlformats.org/officeDocument/2006/relationships/image" Target="/ppt/media/image15.png" Id="R0f466b95630a49d9" /><Relationship Type="http://schemas.openxmlformats.org/officeDocument/2006/relationships/notesSlide" Target="/ppt/notesSlides/notesSlide13.xml" Id="R24e1e800cb1e4e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859906b93f430a" /><Relationship Type="http://schemas.openxmlformats.org/officeDocument/2006/relationships/image" Target="/ppt/media/image16.png" Id="R9bf1197d1d374728" /><Relationship Type="http://schemas.openxmlformats.org/officeDocument/2006/relationships/image" Target="/ppt/media/image17.png" Id="R9a864de1ecc34839" /><Relationship Type="http://schemas.openxmlformats.org/officeDocument/2006/relationships/notesSlide" Target="/ppt/notesSlides/notesSlide14.xml" Id="R40940e32b7a247c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18d260fe9c40b0" /><Relationship Type="http://schemas.openxmlformats.org/officeDocument/2006/relationships/image" Target="/ppt/media/image18.png" Id="R4c51ccc3766045d0" /><Relationship Type="http://schemas.openxmlformats.org/officeDocument/2006/relationships/notesSlide" Target="/ppt/notesSlides/notesSlide15.xml" Id="Reb4808c47656415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05b4a2b0b34a5c" /><Relationship Type="http://schemas.openxmlformats.org/officeDocument/2006/relationships/image" Target="/ppt/media/image19.png" Id="R312be0650d4e4ac1" /><Relationship Type="http://schemas.openxmlformats.org/officeDocument/2006/relationships/image" Target="/ppt/media/image20.png" Id="R927d0d5cc6744390" /><Relationship Type="http://schemas.openxmlformats.org/officeDocument/2006/relationships/notesSlide" Target="/ppt/notesSlides/notesSlide16.xml" Id="Rd31d8b4078f24b6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423495e0114693" /><Relationship Type="http://schemas.openxmlformats.org/officeDocument/2006/relationships/image" Target="/ppt/media/image21.png" Id="Rbd667a772a4f48cf" /><Relationship Type="http://schemas.openxmlformats.org/officeDocument/2006/relationships/notesSlide" Target="/ppt/notesSlides/notesSlide17.xml" Id="R8a17e0c2036c4b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9d853ba06f4c6a" /><Relationship Type="http://schemas.openxmlformats.org/officeDocument/2006/relationships/image" Target="/ppt/media/image22.png" Id="Rdaaf2a8471bd42fc" /><Relationship Type="http://schemas.openxmlformats.org/officeDocument/2006/relationships/notesSlide" Target="/ppt/notesSlides/notesSlide18.xml" Id="Rd1dccf6a1248461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219f0669a24f01" /><Relationship Type="http://schemas.openxmlformats.org/officeDocument/2006/relationships/image" Target="/ppt/media/image23.png" Id="R0c795b5a1574481f" /><Relationship Type="http://schemas.openxmlformats.org/officeDocument/2006/relationships/notesSlide" Target="/ppt/notesSlides/notesSlide19.xml" Id="R949110740725428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78346c71654428" /><Relationship Type="http://schemas.openxmlformats.org/officeDocument/2006/relationships/image" Target="/ppt/media/image24.png" Id="R61aa5707401f4d39" /><Relationship Type="http://schemas.openxmlformats.org/officeDocument/2006/relationships/notesSlide" Target="/ppt/notesSlides/notesSlide20.xml" Id="R19361c2a0e03454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bb4f539abe473f" /><Relationship Type="http://schemas.openxmlformats.org/officeDocument/2006/relationships/image" Target="/ppt/media/image25.png" Id="Rca81853052a748d3" /><Relationship Type="http://schemas.openxmlformats.org/officeDocument/2006/relationships/notesSlide" Target="/ppt/notesSlides/notesSlide21.xml" Id="R74be1c1cb390405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551e7980cd4519" /><Relationship Type="http://schemas.openxmlformats.org/officeDocument/2006/relationships/image" Target="/ppt/media/image26.png" Id="Rfa1be9c158054e7a" /><Relationship Type="http://schemas.openxmlformats.org/officeDocument/2006/relationships/notesSlide" Target="/ppt/notesSlides/notesSlide22.xml" Id="Rfdec33be091a4b9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8cf04dfcf9442a" /><Relationship Type="http://schemas.openxmlformats.org/officeDocument/2006/relationships/image" Target="/ppt/media/image27.png" Id="Rff9e65c1b5a54bcf" /><Relationship Type="http://schemas.openxmlformats.org/officeDocument/2006/relationships/notesSlide" Target="/ppt/notesSlides/notesSlide23.xml" Id="R9e98d7a5ae40416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f79c0da11b4805" /><Relationship Type="http://schemas.openxmlformats.org/officeDocument/2006/relationships/image" Target="/ppt/media/image28.png" Id="R89b40d6e4c78475e" /><Relationship Type="http://schemas.openxmlformats.org/officeDocument/2006/relationships/notesSlide" Target="/ppt/notesSlides/notesSlide24.xml" Id="R8cc2cab04071402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cac1bb9a834424" /><Relationship Type="http://schemas.openxmlformats.org/officeDocument/2006/relationships/image" Target="/ppt/media/image29.png" Id="R49a8e1e71d7446d4" /><Relationship Type="http://schemas.openxmlformats.org/officeDocument/2006/relationships/notesSlide" Target="/ppt/notesSlides/notesSlide25.xml" Id="R6b51b64e6101413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e1c0066f814448" /><Relationship Type="http://schemas.openxmlformats.org/officeDocument/2006/relationships/image" Target="/ppt/media/image30.png" Id="R82d3a4e867754759" /><Relationship Type="http://schemas.openxmlformats.org/officeDocument/2006/relationships/notesSlide" Target="/ppt/notesSlides/notesSlide26.xml" Id="R57b9999862304d7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bc451358904348" /><Relationship Type="http://schemas.openxmlformats.org/officeDocument/2006/relationships/image" Target="/ppt/media/image31.png" Id="R180ca18249674a53" /><Relationship Type="http://schemas.openxmlformats.org/officeDocument/2006/relationships/image" Target="/ppt/media/image32.png" Id="R4e7d7e83198b4f9d" /><Relationship Type="http://schemas.openxmlformats.org/officeDocument/2006/relationships/notesSlide" Target="/ppt/notesSlides/notesSlide27.xml" Id="Rf595551b2e68484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56801430514e30" /><Relationship Type="http://schemas.openxmlformats.org/officeDocument/2006/relationships/image" Target="/ppt/media/image33.png" Id="Rc591f85002c0471a" /><Relationship Type="http://schemas.openxmlformats.org/officeDocument/2006/relationships/notesSlide" Target="/ppt/notesSlides/notesSlide28.xml" Id="R9bb3a2a7fe6f4b1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b0695e9aa44609" /><Relationship Type="http://schemas.openxmlformats.org/officeDocument/2006/relationships/image" Target="/ppt/media/image34.png" Id="R21b2a2f25a2e4349" /><Relationship Type="http://schemas.openxmlformats.org/officeDocument/2006/relationships/image" Target="/ppt/media/image35.png" Id="Rabf6f2d589f04111" /><Relationship Type="http://schemas.openxmlformats.org/officeDocument/2006/relationships/notesSlide" Target="/ppt/notesSlides/notesSlide29.xml" Id="R33b086ae937f4ef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5268365d6f4092" /><Relationship Type="http://schemas.openxmlformats.org/officeDocument/2006/relationships/image" Target="/ppt/media/image36.png" Id="R5a2c87297d4f44c1" /><Relationship Type="http://schemas.openxmlformats.org/officeDocument/2006/relationships/image" Target="/ppt/media/image37.png" Id="R0b288f8976644e98" /><Relationship Type="http://schemas.openxmlformats.org/officeDocument/2006/relationships/notesSlide" Target="/ppt/notesSlides/notesSlide30.xml" Id="R25e3ac6a8ba1456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a3f76e14a041b4" /><Relationship Type="http://schemas.openxmlformats.org/officeDocument/2006/relationships/image" Target="/ppt/media/image38.png" Id="R2fb6270dcb634fd4" /><Relationship Type="http://schemas.openxmlformats.org/officeDocument/2006/relationships/image" Target="/ppt/media/image39.png" Id="R5bb28374a72f4379" /><Relationship Type="http://schemas.openxmlformats.org/officeDocument/2006/relationships/notesSlide" Target="/ppt/notesSlides/notesSlide31.xml" Id="Re0d717ba48364d7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46f55c3f824196" /><Relationship Type="http://schemas.openxmlformats.org/officeDocument/2006/relationships/image" Target="/ppt/media/image40.png" Id="Rc35a584f69964bd6" /><Relationship Type="http://schemas.openxmlformats.org/officeDocument/2006/relationships/notesSlide" Target="/ppt/notesSlides/notesSlide32.xml" Id="R5d42e97fe0984ee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7af965039a4663" /><Relationship Type="http://schemas.openxmlformats.org/officeDocument/2006/relationships/image" Target="/ppt/media/image41.png" Id="R76aa710aed30441f" /><Relationship Type="http://schemas.openxmlformats.org/officeDocument/2006/relationships/notesSlide" Target="/ppt/notesSlides/notesSlide33.xml" Id="Ra7f0dfa43d36422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5510b464784544" /><Relationship Type="http://schemas.openxmlformats.org/officeDocument/2006/relationships/image" Target="/ppt/media/image42.png" Id="Rd46126acdd634f50" /><Relationship Type="http://schemas.openxmlformats.org/officeDocument/2006/relationships/notesSlide" Target="/ppt/notesSlides/notesSlide34.xml" Id="R47fe359966144ac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ceba0561ee4592" /><Relationship Type="http://schemas.openxmlformats.org/officeDocument/2006/relationships/image" Target="/ppt/media/image43.png" Id="Rfab6b12aaa4143b1" /><Relationship Type="http://schemas.openxmlformats.org/officeDocument/2006/relationships/notesSlide" Target="/ppt/notesSlides/notesSlide35.xml" Id="Rda088952844548b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ded805fb23436e" /><Relationship Type="http://schemas.openxmlformats.org/officeDocument/2006/relationships/image" Target="/ppt/media/image44.png" Id="R6052d48296054330" /><Relationship Type="http://schemas.openxmlformats.org/officeDocument/2006/relationships/notesSlide" Target="/ppt/notesSlides/notesSlide36.xml" Id="R32f9a3deb5f042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90AA9-AC80-46A3-9CA9-85845CB067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a41318dd8470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FFE7E-66FB-4FE5-A7E5-C510F772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Curso de Postgrado:</a:t>
            </a:r>
          </a:p>
          <a:p xmlns:a="http://schemas.openxmlformats.org/drawingml/2006/main">
            <a: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BigData</a:t>
            </a:r>
          </a:p>
          <a:p xmlns:a="http://schemas.openxmlformats.org/drawingml/2006/main">
            <a: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Especialización en</a:t>
            </a:r>
          </a:p>
          <a:p xmlns:a="http://schemas.openxmlformats.org/drawingml/2006/main">
            <a:pPr algn="l">
              <a:defRPr sz="29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Bases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7BB4A-C1A9-4B24-88F1-4FC75488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561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Streaming</a:t>
            </a:r>
          </a:p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de eventos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0212D-97F3-481A-B7C6-1447BE7744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96eb5f05f49cd"/>
          <a:stretch xmlns:a="http://schemas.openxmlformats.org/drawingml/2006/main"/>
        </p:blipFill>
        <p:spPr>
          <a:xfrm xmlns:a="http://schemas.openxmlformats.org/drawingml/2006/main">
            <a:off x="6572250" y="1476375"/>
            <a:ext cx="5143500" cy="3857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882DF-99F1-4121-863A-C0C6D1F9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Sesión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B6127-B746-4F8C-A65D-8817048F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Esteban Hernández, PhD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82FF8-5FA9-4C37-A433-ACEDA869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E708A-4408-4AA2-BD06-1661772E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09846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73FDB-809F-476D-B563-FAB111ED13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6b60de642480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C08B9-9061-4493-BF00-7E242044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Propósito de aprendizaje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614BD-19EA-413B-A4D4-6346C1DA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Inicio: qué debe poder explicar el estudiante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BC43F-EECC-4789-9ECB-4DBAF98A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Al finalizar la sesión, el estudiante podrá: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9C5F3-472C-4B96-AF37-9DA5FB3C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93179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DISTINGUIR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FD8F9-5ADF-4C1B-BB08-E8DEE010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2143125"/>
            <a:ext cx="770953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Evento, entrega, reintento, atraso y tiempo de procesamiento.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AB232-BA24-4504-8F50-D4432B36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293179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EXPLICAR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F71CD-4B16-42C1-8AD3-102CF1EB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3028950"/>
            <a:ext cx="770953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Cómo ventanas, watermark y estado permiten calcular resultados incrementales.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498C2-72C2-4E3A-8B5F-4337AD86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293179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ANALIZAR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D52A2-0884-4539-AA9B-62B5C82B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3914775"/>
            <a:ext cx="770953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Qué ocurre con eventos tardíos, duplicados y ventanas todavía abiertas.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36A58-5081-45F0-B7AD-B00CB474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293179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DISEÑAR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488B3-D9FA-4C93-84B4-2FD2394C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4800600"/>
            <a:ext cx="770953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Una recuperación basada en checkpoint, salida verificable y evidencia de auditoría.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3AAA3-FD6D-4AEE-9D3E-D14B52F9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D55787-BD2F-48B5-8A8A-F64FFCD2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791392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E6460A-986B-477D-934F-6ED5996BD9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405e9b516422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DBB87-2D0F-4B23-8635-B9932BB0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Problema orientador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B776E-1926-449D-B90F-9EB9DB49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Inicio: el día 5 llega después del día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4D231-71A8-4F8C-A8D7-978FC2C5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192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400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400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400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400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400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400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400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400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400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42A4B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42A4B"/>
                </a:solidFill>
                <a:latin typeface="Calibri"/>
                <a:ea typeface="Calibri"/>
                <a:cs typeface="Calibri"/>
              </a:rPr>
              <a:t>La observación ocurrió el 5 de enero, pero el sistema la recibió al final del 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53B1D-B358-418A-AAE0-CC815281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68"/>
          </a:solidFill>
          <a:ln xmlns:a="http://schemas.openxmlformats.org/drawingml/2006/main" w="11430">
            <a:solidFill>
              <a:srgbClr val="203B6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ECB4B-79E7-4A73-AEE8-49655DEF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228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46ED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2B0A0-C9F0-4700-8C6C-3CBC6C73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Día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CAB77-EEBA-4339-B5B5-1A2FD2A2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ocurre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DF987-1A57-403B-952D-C8ADA6F9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575" y="3228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8F89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B94FE-E3C4-4622-B9F8-F1F3C724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25717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Día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55E8E-4FC2-4E4F-93AA-8253D7FA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875" y="3476625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el sistema avanza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D4E4F-1D63-4A76-8452-7CB5C603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075" y="3228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E4E47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78FD3-7D43-44A5-9F07-45D41B1C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25717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Día 31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B44B3-7F85-4396-AE38-EED48B84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375" y="3476625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cierra el corte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CA819-CCB5-4385-9316-5AD72507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228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46ED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CB6F1-38A0-41B1-BF0A-6395DCBA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Después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289473-3502-41EA-8C62-C24486E0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476625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llega el día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18DFC-FF73-4CD4-BEFC-F4AEAA81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95875"/>
            <a:ext cx="9810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7D5CB0-ACF0-4632-95C3-45A3F37D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62550"/>
            <a:ext cx="946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¿Se corrige el resultado, se descarta la observación o se conserva para una revisión posterior?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86D08-B6A1-48DB-A387-4AAF5C23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66D3DB-6AD7-40FC-B552-526A2F86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310716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321C5-0982-47BA-94D9-F8F6556B2B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a19ccc7a64f4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5C2BF-FD9F-40C3-8CB9-03E86798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Importancia del streaming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454FA-1F3D-4D22-BA62-F1C6A586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Inicio: decidir antes de tener todos los datos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20B77-5642-4DEC-8AEC-84A92352F5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2e57d182a4381"/>
          <a:stretch xmlns:a="http://schemas.openxmlformats.org/drawingml/2006/main"/>
        </p:blipFill>
        <p:spPr>
          <a:xfrm xmlns:a="http://schemas.openxmlformats.org/drawingml/2006/main">
            <a:off x="571500" y="1730375"/>
            <a:ext cx="4953000" cy="330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375DF-737C-4CC0-90AD-08D504D8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1465898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DECISIÓN TEMPRANA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894E2-B158-4BB4-979C-F04C4F45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983" y="1666875"/>
            <a:ext cx="3854768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 sistema produce resultados mientras siguen llegando observaciones.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AD793-6168-4370-946D-2541B111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1465898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ORDEN INCIERTO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78F5F-7887-41F1-B962-1E3B4DC7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983" y="2571750"/>
            <a:ext cx="3854768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Red, dispositivos y reintentos alteran el orden de llegada.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41678-C1D9-457A-A528-614620F8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76625"/>
            <a:ext cx="1465898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ESTADO VIVO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74690-3DF2-404A-9658-5FB94015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983" y="3476625"/>
            <a:ext cx="3854768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 resultado parcial cambia hasta que la política temporal lo considera cerrado.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4B07C-C939-4D51-902C-8569D024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81500"/>
            <a:ext cx="1465898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RESPONSABILIDAD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3E4BD-27CA-423D-845A-6269D22E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983" y="4381500"/>
            <a:ext cx="3854768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 operación debe explicar pérdidas, duplicados, correcciones y recuperación.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8EC7B-F1A8-4A92-966C-8DCE77BF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66E76-BA82-4539-BFC5-4E0F560D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39605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683B47-6C87-469A-AA4F-D368C24592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7c7f26d9441d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ACCA7-5B45-49E4-8062-33E73CBD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Ruta conceptual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B2F3A-CB3A-4AE4-B427-95239A43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Inicio: una explicación conectada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76039-024A-4CB1-A847-19150449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1763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11430">
            <a:solidFill>
              <a:srgbClr val="C8D8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9DB67-5027-4B6C-A4D5-05C1C743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98882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B0388-4BD1-4DA3-A726-E88CF6BD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0060B-CB85-40FD-B4CE-64854019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7221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Observar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 traza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D800B-29A9-47BA-AD1B-7E55E65D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095500"/>
            <a:ext cx="198882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2F8D5-FF70-4FE4-830F-B2728161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21717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9AA58-3062-4EBB-A1C9-3AB52701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438400"/>
            <a:ext cx="17221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Elegir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 reloj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CD1D2-1855-49BF-84C6-85DC0C1E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2095500"/>
            <a:ext cx="198882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DB5B6-AE0B-4DA9-8BDD-3457B3EE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1717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76E14-FCB3-4E2B-BFE6-080AD7F6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438400"/>
            <a:ext cx="17221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Agrupar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en ventanas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121F3-55EF-419B-832D-454FE7B7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2095500"/>
            <a:ext cx="198882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58B65-380A-4DAC-8C71-D19FD262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1717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B8E4AF-6E5B-41B5-B31F-6176111F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438400"/>
            <a:ext cx="17221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Retener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 estado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2F0A2-D5EC-490A-9D2C-ADA42163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095500"/>
            <a:ext cx="198882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C0B54-E037-4085-923D-939CDD57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1717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8E8C7-53C5-4421-B393-20C17DB6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2438400"/>
            <a:ext cx="17221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Cerrar y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recuperar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D112F-D3BB-4C67-8570-A4DE2280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100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0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0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0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0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0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0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0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0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0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Cada decisión responde una pregunta distinta: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FBB00-34DA-4010-B04B-F2461E07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0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0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0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0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0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0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0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0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0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qué llegó, cuándo ocurrió, con qué se agrupa, cuánto se espera y cómo se continúa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3ED257-FC52-433F-8B69-0D031476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76875"/>
            <a:ext cx="866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B82210-45ED-43C4-8755-3222E350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543550"/>
            <a:ext cx="832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La práctica termina con una traza explicada, no con una captura de pantalla.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D7A70-B344-4890-887F-BBF48C22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EEF480-FE43-47EE-BE5E-0E9CA503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175829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CF0B5-F7AA-4040-BC28-E987CCA700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b6031b4214f5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27307-3985-4EA9-A3A0-65A4B15E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Batch y streaming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6EA52-AFDF-478F-A8F0-934F0942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dos formas de organizar el cálculo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B45D0-3AD8-4F4D-A906-86406F2C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191125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8D8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40794-E835-448A-B0E7-DAB4111E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5191125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8D8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CC2AC-2794-4472-9133-4E94F12C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461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Procesamiento batch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ED4E9-1BE1-4BF1-99CA-7FA551FF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6196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Entrada finita y delimitada.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 cálculo puede revisar el conjunto completo antes de publicar.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Un nuevo corte inicia otra ejecución.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E5ED7-6038-4940-B323-63A44991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57375"/>
            <a:ext cx="461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Procesamiento streaming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CF16E-AA9D-48FF-906D-5CF9E650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76500"/>
            <a:ext cx="46196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Entrada potencialmente continua.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 motor actualiza resultados a medida que avanza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 sistema conserva progreso y estado.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01D93-0001-4827-BE40-68770042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933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CFE2C-AA02-4C7C-8E3E-B37AA9EC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38800"/>
            <a:ext cx="899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Los CSV semestrales de PQRS son batch. La reproducción NASA simula llegadas sucesivas.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AB20D-F4B6-4BEE-AF34-D2250CEE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0E85D-7151-4994-AE53-73B291D5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234683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6C146-6B33-425A-8EDA-71EC15C5BC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f1077366a4a3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31550-E0CF-4447-91D2-9656FA85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Evento, entrega y procesamiento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71BA3-E3A7-4E8E-877E-34279213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separar el hecho de su transporte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A0770-494D-4133-839A-9FC1FBDE59E3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381500"/>
                <a:gridCol w="4476750"/>
              </a:tblGrid>
              <a:tr h="666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Concepto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Significado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Ejemplo NASA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Evento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hecho observado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precipitación del 5 de enero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Entrega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mensaje que llega al sistema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archivo que contiene el día 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Reintento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entrega repetida del mismo evento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el día 6 aparece otra vez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Procesamiento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trabajo realizado al recibirlo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asignar ventana y actualizar suma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Resultado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estado publicado por la consulta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precipitación acumulada por ventana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0F808-D83D-4257-A9DE-DCA214E9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10250"/>
            <a:ext cx="8572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A3041-AD7B-4229-AC66-9CF9B88E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76925"/>
            <a:ext cx="822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Un evento puede tener varias entregas. La identidad permite reconocerlas.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6E868-5E80-438A-9E9B-A1148704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F3757-30C2-40C0-A82A-E4C28E41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718916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0FCE6-8826-40A6-BF31-E98CAE4163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aa02ae2ee4c1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C82E5-95C5-42B9-AA39-4942E7C5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Dos relojes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E2601-68DB-48AA-A63C-D90C0275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ocurrencia y llegada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D4057-19D4-430A-A02F-7227D357DCA5}"/>
              </a:ext>
            </a:extLst>
          </p:cNvPr>
          <p:cNvGraphicFramePr/>
          <p:nvPr/>
        </p:nvGraphicFramePr>
        <p:xfrm>
          <a:off xmlns:a="http://schemas.openxmlformats.org/drawingml/2006/main" x="1428750" y="1952625"/>
          <a:ext xmlns:a="http://schemas.openxmlformats.org/drawingml/2006/main" cx="93345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714750"/>
                <a:gridCol w="3048000"/>
              </a:tblGrid>
              <a:tr h="678656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Reloj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Pregunta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Tiempo de evento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¿cuándo ocurrió la observación?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ventanas y lógica del dominio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Tiempo de procesamiento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¿cuándo la recibió el motor?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operación, retraso y capacidad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Retraso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procesamiento menos evento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diagnóstico de llegada tardía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1C97F-A63E-4B4F-A51F-834CABD8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91125"/>
            <a:ext cx="9620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38A54-77F3-4537-B8DA-5E14EDB3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257800"/>
            <a:ext cx="927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La fecha NASA se usa como tiempo de evento a medianoche por convención didáctica.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AEF4A-F687-4B74-B583-884BF3FA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E5C0F-EA3B-43F0-B87C-5C25AD5C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086709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B3E050-118F-4203-A4AE-3315B6D888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31cf4242345c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37577-1328-4ACF-9E31-1CB8311E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Orden de ocurrencia y orden de llegada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6C1E7-4F67-42DA-9AC4-3DB80C4D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una secuencia puede cambiar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1F9A8-EE44-4EC4-99F0-4AC3B01E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Orden de evento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59366-CF67-49D6-B7A4-79EA5851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68"/>
          </a:solidFill>
          <a:ln xmlns:a="http://schemas.openxmlformats.org/drawingml/2006/main" w="11430">
            <a:solidFill>
              <a:srgbClr val="203B6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E37E9-62A2-44B7-8740-DFFA2C58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133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46ED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7B370-2C8A-49A4-BE01-20E10EC8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763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38B53-CD7F-408B-8C92-EB337CEC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3812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10:00:10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18DDE-AEE0-4172-8F1E-5A04D117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33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8F89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823DE-23D6-43F5-B40B-183BB86E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763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62477-3A8B-4EEB-BB68-5EC396C0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812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10:00:20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1E545-3F8E-4E2C-8FEE-73E7E5B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133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E4E47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48BFC-9139-4CE4-AA3B-B0B82888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763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6A3EF-3FB6-42FE-ACCE-99039D68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812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10:01:00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17F5D-3A74-4149-83E9-ACF1D932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Orden de llegada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9045A-2175-4859-856A-1918BD0C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68"/>
          </a:solidFill>
          <a:ln xmlns:a="http://schemas.openxmlformats.org/drawingml/2006/main" w="11430">
            <a:solidFill>
              <a:srgbClr val="203B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8D16A-54CF-4067-B9A4-4F20C7B8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324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46ED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93610-9071-4D74-9891-879733DE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671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BC472-71F4-406C-A2EC-29F31321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720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10:00:12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BA77C8-21E3-4D50-A47E-A25C0E33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324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8F89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51E88-3EE0-4283-A88D-4C053937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671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49B319-0CE0-4DCF-B858-82C473E5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5720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10:01:02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D8C0D1-25FF-42E8-B683-762F4775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324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E4E47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BB6FBF-682A-41EB-BE41-E138EC22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671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95C351-9F2E-4676-AFF3-B769ED41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5720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10:02:05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3C2067-DA81-4FC5-9272-D23C5752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619750"/>
            <a:ext cx="923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0AA51D-01C6-46AA-B200-0BF53C34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686425"/>
            <a:ext cx="889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B llega después de C, pero pertenece al intervalo definido por su tiempo de evento.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D2C2DC-7185-444B-8884-A627FE2B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8299C4-F1B5-47EB-B908-3CE3CCE1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191843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4DE6A-4D24-44FA-9908-D148714B8C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3c052e9b64d3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E745A-8C5A-4071-A193-5F8A18F1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Identidad y reintentos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F8F67-F25F-46BD-8018-81D22FD2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evitar doble conteo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9BE28-DFDC-475D-8F07-C591463F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93179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CLAVE ESTABLE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C221A-0A94-49C4-ADB6-B3E06814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1666875"/>
            <a:ext cx="770953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event_id representa el mismo hecho a través de entregas repetidas.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C074A-9CF2-40A7-9027-15741F7A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293179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REINTENTO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91AAE-4AF0-4D09-94E3-BF1EAA9C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2619375"/>
            <a:ext cx="770953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Una falla de red puede provocar otra entrega del mismo evento.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00172-CB00-4439-8767-648ACC7F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93179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DEDUPLICACIÓN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78A47-ABA9-4F3E-A0E9-F5266671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3571875"/>
            <a:ext cx="770953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 sistema conserva una identidad aceptada durante un horizonte definido.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2196E-3B1A-4220-A31E-A98C9AD0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293179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945A6-3CCB-4C1F-A469-922B1A85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4524375"/>
            <a:ext cx="770953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 misma clave con contenido distinto requiere una política de versión.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1E8D9-8DB6-4F50-AE90-7CEBEB02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28175-CFB4-44C8-B876-EC280D26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86425"/>
            <a:ext cx="708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“Repetido” y “corregido” no significan lo mismo.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874FE-4903-453D-B483-AC6DEACF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3885A-37F3-4C0E-9799-2005F496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115303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7E26D-5A35-4A48-8380-2294465E41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0c3b77406465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28493-6387-4C2C-8923-F641FCE1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I01: traza finita con NASA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2A46D-73E1-4D05-8AA6-711FDD6F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Aplicación: comprender antes de automatizar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F5EF8-5C2F-4F65-9D82-22F5330C35AF}"/>
              </a:ext>
            </a:extLst>
          </p:cNvPr>
          <p:cNvGraphicFramePr/>
          <p:nvPr/>
        </p:nvGraphicFramePr>
        <p:xfrm>
          <a:off xmlns:a="http://schemas.openxmlformats.org/drawingml/2006/main" x="1762125" y="1571625"/>
          <a:ext xmlns:a="http://schemas.openxmlformats.org/drawingml/2006/main" cx="8667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4953000"/>
              </a:tblGrid>
              <a:tr h="59871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Elemento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Control del ejercicio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Fuente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NASA POWER, enero de 2025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Entregas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Eventos reales distintos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Aceptados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Descartados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 reintento y 1 llegada tardía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Suma aceptada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41,44 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A9408-4650-4D5B-8E05-A15A9928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80B03-7179-4E64-8BF4-A6110A93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560549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E91B2-367C-41DC-B476-D718A54C5F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93648e26b4a1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447F0-5AE3-4812-B839-B34DD329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I01: clasificación manual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97C50-D5FF-4F66-BEA7-ACA07405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Práctica guiada: justificar cada decisión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74327-85A9-4623-BE25-5F73EA5659B9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429000"/>
                <a:gridCol w="5429250"/>
              </a:tblGrid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Entrega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Condición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Pregunta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Día 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llega en orden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¿qué estado actualiza?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Día 6, primera vez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identidad nueva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¿se acepta?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Día 6, segunda vez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misma identidad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¿reintento o corrección?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Día 5 al final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fuera del horizonte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¿se descarta, corrige o audita?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2A46F-3C32-4ECC-A061-7AEE1FA9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C9E0D-AA70-497A-8BBF-E86AB7FE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48300"/>
            <a:ext cx="918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La respuesta debe nombrar la regla, el estado consultado y el efecto sobre la suma.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DC3D5-6AB7-466D-9587-4E7D5BAF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3E935-7D68-4E79-BE3A-21236866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102788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329AC-D599-420A-A7C6-CF479D5BAD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66b95630a49d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79D1B-96CA-4F73-A396-8F818AFC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Receso de la mañana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121BA-F139-41F6-97AE-7AD8ED2A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Pausa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21688-C4DC-4962-B749-E39DD750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09:30–09:45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9E0B4-B372-4AB4-BB0E-0C7044D2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38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Al volver: Structured Streaming, ventanas y watermark.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BD500-5E3C-404D-9E58-C382CB99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8191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15BC4-9328-4DC2-A286-3D6EC829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29175"/>
            <a:ext cx="7848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Conserve la traza I01: será el puente hacia la ejecución con Spark.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F29D6-9FAF-430D-AEAD-F020DE1E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2C639-0360-4FB7-8ED5-3E51D7C9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639660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92953-3C81-46C4-8D3B-A20A55E0A3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1197d1d37472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D9031-2534-4AA2-B2A6-3D089B8E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Modelo de Structured Streaming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C4564-2373-486A-86D3-4C2CCD35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una tabla que recibe filas nuevas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346FB-8413-4C5E-82F0-BB8A080882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64de1ecc34839"/>
          <a:stretch xmlns:a="http://schemas.openxmlformats.org/drawingml/2006/main"/>
        </p:blipFill>
        <p:spPr>
          <a:xfrm xmlns:a="http://schemas.openxmlformats.org/drawingml/2006/main">
            <a:off x="619125" y="1841623"/>
            <a:ext cx="5810250" cy="327000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FA28C-2E98-4534-859F-2B49A3B0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66875"/>
            <a:ext cx="123444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45776-BF3F-465B-96DE-174B56F1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005" y="1666875"/>
            <a:ext cx="324612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readStream representa una fuente que incorpora nuevos datos.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92357-D04A-4379-B5AD-61FC580A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43175"/>
            <a:ext cx="123444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664B3-8C04-443C-881D-621F1381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005" y="2543175"/>
            <a:ext cx="324612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Las operaciones DataFrame describen el cálculo incremental.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4F709-904D-4A4A-8097-3DA8B83C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19475"/>
            <a:ext cx="123444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ESTADO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350F1-88B3-4CCD-ACAA-BF283FBF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005" y="3419475"/>
            <a:ext cx="324612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Las agregaciones conservan información entre microlotes.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AE93D-7D0C-4F54-AFD2-7BEE2F15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95775"/>
            <a:ext cx="123444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SALIDA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67330-64EA-4B76-A1A1-E669AAC0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005" y="4295775"/>
            <a:ext cx="324612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writeStream publica según el modo y el destino elegidos.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4D383-8818-437C-8D26-52511D84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F9A13-F121-4237-A2C1-A1B00926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688769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B22881-7F6E-4FBC-A0D4-49C86658C8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1ccc3766045d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7AB3F-5891-4D05-AE59-FE299537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Ciclo de un microlote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655F6-B193-47EB-BECF-D9043E56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trabajo incremental y progreso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38356-7653-440F-A542-6255B9EF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11430">
            <a:solidFill>
              <a:srgbClr val="C8D8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5621C-E708-435C-B852-BB1D4A34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98882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39288-2F70-4BA6-A5EC-84D0C9BC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706C7-3574-48C0-B91E-BDDFC3CE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72212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Detectar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nuevas entradas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E3F4F-37CD-4AD7-B637-AD477BD4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095500"/>
            <a:ext cx="198882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A9778-E600-4DAF-87DB-BA747CE2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21717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A6B67-1D62-41C6-BF18-6E45DEE9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438400"/>
            <a:ext cx="172212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Leer el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rango pendiente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3DAF4-7523-41A9-BB41-1BEF734F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2095500"/>
            <a:ext cx="198882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95065-0232-4CB8-9A78-486CD4EF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1717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9EF93-FEFB-4DB9-AFDE-94210BEF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438400"/>
            <a:ext cx="172212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Actualizar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 estado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F09AE-57EF-456D-A6BA-E94B6D6C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2095500"/>
            <a:ext cx="198882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35C3D-C461-4BED-93B7-C66B04B0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1717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110E85-B89A-4C60-B593-38615FFE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438400"/>
            <a:ext cx="172212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Escribir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 salida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34CD8-21AD-4C68-A191-997ED026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095500"/>
            <a:ext cx="198882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A4987-D9F4-49D2-8EFB-1BA50B5B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1717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4C3F6-D3BB-4523-9937-8F1B081E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2438400"/>
            <a:ext cx="172212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Guardar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 progreso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002F99-5714-456E-8DA2-20E25E80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252031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PROGRESO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850EB4-A349-4C9C-BF6C-FF186704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755" y="3905250"/>
            <a:ext cx="662749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Offsets o archivos ya procesados evitan comenzar desde cero.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207FD2-D597-483B-8BA8-E5612080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252031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ESTADO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43F3AA-A25E-4396-9A27-384D3923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755" y="4667250"/>
            <a:ext cx="662749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Ventanas, conteos o identidades sobreviven entre activaciones.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0D228E-3C11-4841-B36C-955EA78E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3A0CA0-7A35-420C-9AF8-B45A0487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38800"/>
            <a:ext cx="956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Una recuperación correcta necesita entrada reproducible, checkpoint compatible y salida controlada.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83277D-12C3-4314-944E-E451A6DF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683880-618E-47AF-B149-A19C381F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93480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56761-DAD8-4114-ADF5-8D6C6F3065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be0650d4e4ac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ACB31-7454-4534-9A34-7CF5D2EB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Tipos de ventanas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E5CA7-9D57-452C-B92E-8620BEB4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agrupar por tiempo de evento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E5C0F-CC91-44B0-BE08-D743AD30C2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d0d5cc6744390"/>
          <a:stretch xmlns:a="http://schemas.openxmlformats.org/drawingml/2006/main"/>
        </p:blipFill>
        <p:spPr>
          <a:xfrm xmlns:a="http://schemas.openxmlformats.org/drawingml/2006/main">
            <a:off x="762000" y="1793875"/>
            <a:ext cx="5334000" cy="35560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25202-8D3E-48EE-8120-03C73EAF9E2B}"/>
              </a:ext>
            </a:extLst>
          </p:cNvPr>
          <p:cNvGraphicFramePr/>
          <p:nvPr/>
        </p:nvGraphicFramePr>
        <p:xfrm>
          <a:off xmlns:a="http://schemas.openxmlformats.org/drawingml/2006/main" x="6429375" y="1905000"/>
          <a:ext xmlns:a="http://schemas.openxmlformats.org/drawingml/2006/main" cx="4905375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476625"/>
              </a:tblGrid>
              <a:tr h="714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Tipo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Comportamiento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Fija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intervalos contiguos sin solapamiento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Deslizante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intervalos de duración fija que pueden solaparse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Sesión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intervalo que crece mientras la actividad continúa dentro del gap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91868-AE14-4E83-8036-2BCD0CB9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95875"/>
            <a:ext cx="4762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AE79D-18DA-439D-8A3A-D5001D5A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162550"/>
            <a:ext cx="441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La misma observación puede pertenecer a varias ventanas deslizantes.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4334C-5CBC-40C5-AFCE-63204785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E6EA2-FAD0-4F3D-AB52-8F8EAE8F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627044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CA098-0B51-46E6-A3FB-D1EE21C343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67a772a4f48c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0BDE3-1EC2-4F3F-9081-BD33623C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Asignación manual a ventanas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39E71-B4B6-4AEC-AE3F-DF2D2F32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Aplicación: comprobar los límites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91E1D-9F69-417F-B948-E52524729E14}"/>
              </a:ext>
            </a:extLst>
          </p:cNvPr>
          <p:cNvGraphicFramePr/>
          <p:nvPr/>
        </p:nvGraphicFramePr>
        <p:xfrm>
          <a:off xmlns:a="http://schemas.openxmlformats.org/drawingml/2006/main" x="2095500" y="1905000"/>
          <a:ext xmlns:a="http://schemas.openxmlformats.org/drawingml/2006/main" cx="8001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667250"/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Evento hipotético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Ventana fija de un minuto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10:00:05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[10:00:00, 10:01:00)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10:00:59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[10:00:00, 10:01:00)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10:01:00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[10:01:00, 10:02:00)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A7838-2892-4D2B-926B-0A6A8358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191125"/>
            <a:ext cx="714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DF9C4-7350-4F38-9B32-1F1B4611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257800"/>
            <a:ext cx="680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El límite derecho queda fuera de la ventana anterior.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29021-F02F-45A2-9C65-43A228A1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9E6E9-A8F2-4AE5-A75B-2769F30A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738334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EC33B-F597-4D98-ADB4-0DB8B29A28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f2a8471bd42f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13A3A-0520-4901-A59E-06FA5A13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Estado de una consulta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84D6F-C756-4FFF-9475-BB331777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resultados que todavía pueden cambiar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0BFA8-3856-434C-893D-0F85885C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191125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8D8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572CA-B65A-4069-B2AF-4D42D2D1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5191125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8D8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98FE1-1B65-4D24-8606-508AAFFC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461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Sin estado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9B42B-EBCC-49FC-B8C1-E17EE2E7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6196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Cada entrega se transforma de manera independiente.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Ejemplos: seleccionar columnas o validar un campo.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31758-AC3A-4781-B7CC-92CD6DAB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57375"/>
            <a:ext cx="461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Con estado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946A8-4F2F-486F-87FD-B81B01FA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76500"/>
            <a:ext cx="46196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 salida depende de entregas anteriores.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Ejemplos: suma por ventana, deduplicación o join entre flujos.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A69CA-E825-4618-ACA5-280678D9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933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B2043-7180-4067-9085-6FCE0BAF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38800"/>
            <a:ext cx="899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El estado consume memoria y necesita una política que permita retirarlo.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50A33-EA21-4D99-90E9-BD54AD40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FC530-FB51-4BE2-8E93-412FE7B7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512540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4D6E4E-DC6A-4C1F-A6AB-3F4AFF79A9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95b5a1574481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79045-DF9D-4E35-9F7C-9969B90E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Watermark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EAB2F-01D0-4EAB-871B-DE2AB612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referencia para administrar el estado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6A71A-78B4-44C3-8C03-276AF189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668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4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4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4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4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4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4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4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4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4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watermark = máximo tiempo de evento observado − demora configurada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60877-5A6C-4F65-A03E-A3064E18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86125"/>
            <a:ext cx="781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68"/>
          </a:solidFill>
          <a:ln xmlns:a="http://schemas.openxmlformats.org/drawingml/2006/main" w="11430">
            <a:solidFill>
              <a:srgbClr val="203B6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49337-57D6-449E-A61A-BF39E868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228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46ED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4CBC5-5BEE-42E3-A2CC-1F0E20E7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10:02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6B0EA-F636-4D6F-894F-9752EE0E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evento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7DB36-2DEA-4503-8DC6-10F3A294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228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8F89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5595D-49D9-4AFE-84FD-6D7A5EA9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10:06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E67A8-6ED3-4513-A848-69E9E160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76625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evento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D0BE4-E3FA-49F5-A0D2-348709F8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228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E4E47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F44C4-4637-4712-B57F-CD6FA18B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10:10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1F957-FBFA-40EB-92B5-F602C34E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76625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F6F8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F82"/>
                </a:solidFill>
                <a:latin typeface="Calibri"/>
                <a:ea typeface="Calibri"/>
                <a:cs typeface="Calibri"/>
              </a:rPr>
              <a:t>máximo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7B433-CA3D-4B56-8B94-EBD438CB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Demora: 2 minutos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B32AE-B996-40A8-9B81-8255EDFF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8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8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8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8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8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8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8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8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8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Watermark de referencia: 10:08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D251E7-9844-415E-9AEA-51EE3522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76875"/>
            <a:ext cx="9239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5E3A4-CA35-4283-AFE5-8B0D0558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543550"/>
            <a:ext cx="889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El watermark avanza con el tiempo de evento observado, no con el reloj de pared.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EBE7C-124A-4E82-8A44-25C0E928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03D38-C2F0-4B04-9ADC-284627FD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888430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D12C7-FCEB-43AA-8159-783731EF42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a5707401f4d3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4238B-33A3-4320-A508-118989C4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Evento tardío: ejemplo razonado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5D83A-58CE-4F7B-8BD0-6DCB2F04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Aplicación: decidir con el watermark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4567E-7AC0-4F00-A97C-483456D2C887}"/>
              </a:ext>
            </a:extLst>
          </p:cNvPr>
          <p:cNvGraphicFramePr/>
          <p:nvPr/>
        </p:nvGraphicFramePr>
        <p:xfrm>
          <a:off xmlns:a="http://schemas.openxmlformats.org/drawingml/2006/main" x="2095500" y="1619250"/>
          <a:ext xmlns:a="http://schemas.openxmlformats.org/drawingml/2006/main" cx="8001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95750"/>
              </a:tblGrid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Máximo tiempo de evento observado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10:10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Demora configurada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2 minutos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Watermark de referencia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10:08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Evento que llega ahora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10:07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Pregunta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¿el estado de su ventana todavía existe?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456C3-1FAE-492F-A0B1-7E6350C9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62625"/>
            <a:ext cx="8001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F0129-28E9-4851-816F-048950B4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8293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La decisión depende de la operación, la ventana y el estado retenido.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E32B6-5981-4AEA-882D-F5D2E582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EBD8F-C21B-44B1-ADBC-39D7C1AC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931876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4DB77-F55E-49F9-B1A7-110B59F4F5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1853052a748d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553A5-C6F1-4A7D-AF56-03B2DE76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Garantía del watermark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7320E-2868-41AA-B95F-E05C4FE2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un compromiso en una sola dirección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D33EE-B637-4067-8945-19B5A369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191125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8D8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60C95-A8EC-4351-8D48-6B8DF2FF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5191125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8D8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08FCB-4DD9-43F8-BFB7-58439155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461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Dentro de la demora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C4BF6-6989-44F2-B5A7-BC745E12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6196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Spark garantiza que el motor no descartará por tardanza un dato cuyo retraso sea menor que el umbral configurado.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D69AF-ABC8-45BE-B8C9-06E0E243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57375"/>
            <a:ext cx="461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Más allá de la demora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74C9E-7D52-4745-9CC2-86B83205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76500"/>
            <a:ext cx="46196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 dato puede procesarse o descartarse. La configuración no garantiza su eliminación inmediata.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03618-7237-4966-B17D-A0E146C9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933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2C17C-2C9A-4EBA-947B-D3D64DAC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38800"/>
            <a:ext cx="899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El informe debe describir lo observado en la consulta, no convertir el umbral en una regla universal.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8C550-C364-4B3B-A4A2-521821FA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9CF02-5E22-460F-B2B1-51CA6A72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814620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1764A-AE64-413B-9EFD-0FCE6C97CB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be9c158054e7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AF728-9577-4736-A011-8C9494B2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Modos de salida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BCF24-C8BE-49CA-96AD-97B382EC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qué publica cada activación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9EA7A-EC7F-419F-B94C-73481B8940DB}"/>
              </a:ext>
            </a:extLst>
          </p:cNvPr>
          <p:cNvGraphicFramePr/>
          <p:nvPr/>
        </p:nvGraphicFramePr>
        <p:xfrm>
          <a:off xmlns:a="http://schemas.openxmlformats.org/drawingml/2006/main" x="1238250" y="1857375"/>
          <a:ext xmlns:a="http://schemas.openxmlformats.org/drawingml/2006/main" cx="9715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095750"/>
                <a:gridCol w="3905250"/>
              </a:tblGrid>
              <a:tr h="7143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Qué escribe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Implicación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Append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filas finalizadas que no cambiarán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una ventana puede tardar en aparecer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Update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filas modificadas desde el último trigger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el destino debe admitir actualizaciones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Complete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tabla de resultados completa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conserva todo el estado agregado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AA0EE-BDD7-4E9C-9C52-729DDADF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38750"/>
            <a:ext cx="962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717A5-7B66-41AF-B195-1E8F2844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05425"/>
            <a:ext cx="927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En E11, append puede dejar ventanas pendientes si el tiempo de evento deja de avanzar.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70BBE-C4C7-40B2-94DA-469DB11C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A0F90-284B-4DB1-A63F-ACAA319C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686045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0AEA0-BEFF-4287-ACD8-E3BAD81E21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e65c1b5a54bc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DDB79-BF42-4B56-95AC-AF8659F6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E11: ejecución con Spark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D0232-5E2A-4169-816B-8E621000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Práctica guiada: observar la semántica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FA06B-90BC-4672-8B94-26936D10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42A4B"/>
          </a:solidFill>
          <a:ln xmlns:a="http://schemas.openxmlformats.org/drawingml/2006/main" w="11430">
            <a:solidFill>
              <a:srgbClr val="142A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36403-73B0-4D77-B970-489CAB90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10191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 talleres.py clima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 spark_taller.py eventos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# revisar control_eventos.json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# inspeccionar entrada, resultado y checkpoint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DE7DD-7A79-468A-80EF-5C90C1ED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293179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OBSERVAR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865AA-1D83-4130-84AD-38D61231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4191000"/>
            <a:ext cx="770953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eventTime, watermark, numRowsDroppedByWatermark y ventanas pendientes.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F6390-8C91-4771-BAD8-EA1650C7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293179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EXPLICAR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03EE0-9CDD-4AD8-91E6-24782988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4972050"/>
            <a:ext cx="770953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Qué cambió cuando el día 5 llegó después del día 31.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A03DE-3269-4920-8F76-B786A7D5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3324E-1620-42FB-A5EA-4620C640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024228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37E0C-9EAB-4EDA-A027-E60527199B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40d6e4c78475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F3A7B-C60D-4690-90A1-7BC3CBE3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Almuerzo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43771-55B9-4B4B-B813-55FA8F6A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Pausa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2ED72-A481-42D8-A16A-9EF37ADE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12:00–13:00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1CE6F-9B5B-428E-80E5-2F5401FB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385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Al volver: estado, checkpoint, recuperación y confiabilidad.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653C5-C7FE-48FF-A0AC-C1633220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572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98A7D-65B5-48EE-9D08-F369AB32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29175"/>
            <a:ext cx="822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Antes de salir, conserve control_eventos.json y la estructura de carpetas.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95986-1266-4409-8095-011ED17E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8EEC9-1185-4EB6-8679-09311639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6317957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F1B43-C61A-494B-ACBC-E13F487744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8e1e71d7446d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BCA4C-AD7A-4C28-B183-7E81F96B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NASA y CHIRPS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E0C32-449B-4BF0-AA2E-87A991A2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Aplicación: soportes que no deben confundirse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546D5-AEE3-4D39-A0B5-CB26479E0726}"/>
              </a:ext>
            </a:extLst>
          </p:cNvPr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108585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857500"/>
                <a:gridCol w="2857500"/>
                <a:gridCol w="3143250"/>
              </a:tblGrid>
              <a:tr h="7381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Fuente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Soporte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Medida usada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Alcance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NASA POWER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punto diario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T2M y precipitación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31 días de enero de 2025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CHIRPS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ráster mensual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promedio espacial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caja demostrativa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Comparación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temporal frente a espacial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unidades compatibles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no exige igualdad numérica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EA966-8363-437D-8F00-0CA6E743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91125"/>
            <a:ext cx="9048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A24FC-EFE7-4D37-AD38-BDF1CF91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257800"/>
            <a:ext cx="870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La reproducción de eventos usa NASA. CHIRPS aporta el contraste espacial mensual.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5955D-9771-427B-95E4-44BAC7EC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7CD7B-052D-4496-BDFA-2E5E3A5E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6295312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387190-CD2D-4C28-B2A9-004E991BEE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3a4e86775475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FC3E7-383D-463D-AA0A-81F75022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Trayectoria del día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A9096-997E-4E34-947E-6099EA2D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Aplicación: del evento a la evidencia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C2C77-4A87-434D-828D-57B24741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1763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11430">
            <a:solidFill>
              <a:srgbClr val="C8D8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D674D-073D-4DDE-A269-2D403DE4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98882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7B145-1D3F-4063-9D86-51AB288C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611CC-6087-4375-A93A-35CF55C6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90775"/>
            <a:ext cx="172212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Ocurre el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5 de enero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DBFB7-A8D9-457C-8205-65E05A87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047875"/>
            <a:ext cx="198882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373D2-2490-4E96-96BA-430B1136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21240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ED4D8-300A-4737-829B-011BF912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390775"/>
            <a:ext cx="172212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Se retiene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en la reproducción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26893-4591-4859-8462-713D8D7B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2047875"/>
            <a:ext cx="198882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E9726-3430-4577-B90C-181BD296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1240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746F6-CC08-4126-89C5-F7693158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390775"/>
            <a:ext cx="172212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Llegan los días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hasta el 31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D394C-E1E2-4C07-B32D-0DDFC8DF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2047875"/>
            <a:ext cx="198882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41A64E-C502-4172-979A-A1F03A9D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1240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D11DE-4541-4895-814C-F7A8A6A9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390775"/>
            <a:ext cx="172212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Se entrega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al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951AC2-00E9-4344-A3FB-0B3AFA82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047875"/>
            <a:ext cx="198882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3CCEC-5BB0-493B-8F52-5EB82AB3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21240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593A7-8D54-47C9-8F7A-CA6645DE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2390775"/>
            <a:ext cx="172212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Spark registra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el tratamiento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B6D83-735A-476C-B1B6-AC03C831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00500"/>
            <a:ext cx="259746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TRAZA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9518D0-587E-4D5D-A8FA-1CFC32C9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748" y="4000500"/>
            <a:ext cx="6830377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Conservar event_id, eventTime, lote de llegada y estado.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D6CE29-6ECB-4EB9-AB3D-B2DB2C2F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81550"/>
            <a:ext cx="259746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42CC0F-D7AF-4C19-9D5A-2F543C98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748" y="4781550"/>
            <a:ext cx="6830377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Contrastar salida, filas descartadas y ventanas pendientes.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DC5A1F-2A7A-4C74-9EEC-BC96FAA1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906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C4CFB-988D-4E26-88F2-C81D9890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86425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La conclusión debe señalar qué observó el equipo y qué sólo propone como política.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A66CB8-0B88-4649-ABCE-AD86EB45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D76FD8-0658-4DEB-A000-D6AEF951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974501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5A656-2240-4CC0-9614-23F552D5BC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ca18249674a5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C15CE-10E2-4922-9832-EA9B6704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2DC75-3523-4C09-9887-337682B7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progreso y estado para continuar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8E132-3987-401E-BE5D-27B190526A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d7e83198b4f9d"/>
          <a:stretch xmlns:a="http://schemas.openxmlformats.org/drawingml/2006/main"/>
        </p:blipFill>
        <p:spPr>
          <a:xfrm xmlns:a="http://schemas.openxmlformats.org/drawingml/2006/main">
            <a:off x="857250" y="1619250"/>
            <a:ext cx="4953000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26172-818E-400F-B73F-C3B515EB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66875"/>
            <a:ext cx="138874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PROGRESO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F088D-48D0-4B84-98A2-AB0F0891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115" y="1666875"/>
            <a:ext cx="365188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Rangos de entrada procesados en cada activación.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D9CF9-85CC-4515-8220-719E9647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43175"/>
            <a:ext cx="138874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ESTADO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32D87-E69B-4029-A096-BD9A1AC8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115" y="2543175"/>
            <a:ext cx="365188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Agregados, ventanas o identidades todavía vigentes.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4D43C-4B24-4F52-A875-6C43F4E1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19475"/>
            <a:ext cx="138874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COMPATIBILIDAD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D3A3D-69E7-4A53-AFBD-FD23B243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115" y="3419475"/>
            <a:ext cx="365188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 consulta reiniciada debe entender el checkpoint existente.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EDD00-3A5A-46EA-BDEC-94778EF3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95775"/>
            <a:ext cx="138874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DESTINO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23B71-4292-43C8-A381-DFA0F949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115" y="4295775"/>
            <a:ext cx="365188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 salida también necesita una semántica de reintento controlada.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A88F0-223E-4535-BE9C-97074ADA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9C238-260A-4C3F-8B41-2FF5782A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75482153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96AC9-8C02-4F69-871D-A99FDFFF00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1f85002c0471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D809E-318F-43D6-B9B4-6D0A06FC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Mismo checkpoint y checkpoint nuevo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097D5-8ACE-49AD-8773-CCAC6CF8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Aplicación: dos reinicios distintos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08987-25B5-41C8-8B8C-701B9173300A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381500"/>
                <a:gridCol w="3905250"/>
              </a:tblGrid>
              <a:tr h="742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Decisión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Consecuencia esperada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Prueba necesaria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Reusar checkpoint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continuar progreso y estado compatibles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comparar salida antes y después del fallo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Crear checkpoint nuevo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iniciar una consulta nueva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definir qué entradas se vuelven a leer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Cambiar la lógica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puede romper compatibilidad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documentar cambio y validar resultado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Cambiar el destino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puede duplicar o perder efectos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probar idempotencia o deduplicación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86346-4E82-457C-A760-EEB9A28A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67375"/>
            <a:ext cx="10191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15D4A-DCE3-42FB-A266-CC8AB56B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734050"/>
            <a:ext cx="984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E11 crea un checkpoint nuevo por ejecución. Explicar recuperación no prueba un reinicio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AEAF4-13D2-4A1B-A3DB-B1CE3750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99C5C-E7CC-4DFC-88E6-22B244CF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9795708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8955C-B8C4-4D6E-A8EE-F19CA92C0B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2a2f25a2e434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D896E-0095-46A2-9C4F-F4A2410F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Prueba de recuperación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C0709-7828-416C-944C-8DF24444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Aplicación: evidencia antes y después del fallo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E6609-5AE2-4C8E-8A49-02FAC49CBD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6f2d589f04111"/>
          <a:stretch xmlns:a="http://schemas.openxmlformats.org/drawingml/2006/main"/>
        </p:blipFill>
        <p:spPr>
          <a:xfrm xmlns:a="http://schemas.openxmlformats.org/drawingml/2006/main">
            <a:off x="666750" y="1825625"/>
            <a:ext cx="4953000" cy="33020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30284-5864-4AF0-90EF-6D6F6A9CFD0D}"/>
              </a:ext>
            </a:extLst>
          </p:cNvPr>
          <p:cNvGraphicFramePr/>
          <p:nvPr/>
        </p:nvGraphicFramePr>
        <p:xfrm>
          <a:off xmlns:a="http://schemas.openxmlformats.org/drawingml/2006/main" x="6000750" y="1762125"/>
          <a:ext xmlns:a="http://schemas.openxmlformats.org/drawingml/2006/main" cx="5381625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4476750"/>
              </a:tblGrid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Paso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Acción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Ejecutar y guardar el 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Interrumpir la consulta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Reiniciar con el mismo checkpoint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Comparar salida y duplicados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4725F-37A5-4FB4-B691-B59E0878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10125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Evidencia mínima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9414C-8751-4003-9CE1-6601225C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checkpoint conservado y entrada reproducible</a:t>
            </a:r>
          </a:p>
          <a:p xmlns:a="http://schemas.openxmlformats.org/drawingml/2006/main">
            <a:pPr algn="ctr">
              <a:defRPr sz="15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conteos y claves conciliados, con registro del reinicio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CBFCC-61E5-480D-B5FD-DECFE66F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9AD8B-7CD3-4BDC-9F77-721E447C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0441300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87D69-559E-4F7B-A87E-2B074F589A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c87297d4f44c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80BDD-266C-45C4-8061-8760B9CB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Confiabilidad de la salida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370D2-B0E5-4315-90A7-A9EE6039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la garantía depende del destino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F0183-FCC5-4AA3-90F3-8BAA90DBCD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88f8976644e98"/>
          <a:stretch xmlns:a="http://schemas.openxmlformats.org/drawingml/2006/main"/>
        </p:blipFill>
        <p:spPr>
          <a:xfrm xmlns:a="http://schemas.openxmlformats.org/drawingml/2006/main">
            <a:off x="666750" y="1889125"/>
            <a:ext cx="4762500" cy="31750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321A6-AA5B-458E-824A-7466EEB95758}"/>
              </a:ext>
            </a:extLst>
          </p:cNvPr>
          <p:cNvGraphicFramePr/>
          <p:nvPr/>
        </p:nvGraphicFramePr>
        <p:xfrm>
          <a:off xmlns:a="http://schemas.openxmlformats.org/drawingml/2006/main" x="5810250" y="1762125"/>
          <a:ext xmlns:a="http://schemas.openxmlformats.org/drawingml/2006/main" cx="5572125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762375"/>
              </a:tblGrid>
              <a:tr h="6286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Destino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Garantía documentada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Archivos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exactly-once con sink tolerante a fallos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Kafka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at-least-once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foreach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at-least-once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foreachBatch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depende de la implementación; batchId ayuda a deduplicar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0DAB6-8A75-4286-8D49-2108C4B7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38750"/>
            <a:ext cx="5572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95A1B-6A9E-4C84-A709-1FC6396E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05425"/>
            <a:ext cx="5229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Checkpoint del motor y efectos del destino forman una sola historia de recuperación.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97ACF-98B1-4733-91CA-B80A6AAE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25C1E-5AB5-4A45-8334-DA24E51E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40659473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2ACF4D-35D9-417E-940E-0809CEC859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6270dcb634fd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7434D-3D28-480D-9311-791F6F23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Backpressure y cola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71C9D-97D0-4881-88DC-048CACEC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Teoría: cuando la entrada supera la capacidad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256E5-4B7D-46E7-A66B-194343020C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28374a72f4379"/>
          <a:stretch xmlns:a="http://schemas.openxmlformats.org/drawingml/2006/main"/>
        </p:blipFill>
        <p:spPr>
          <a:xfrm xmlns:a="http://schemas.openxmlformats.org/drawingml/2006/main">
            <a:off x="523875" y="1635125"/>
            <a:ext cx="5810250" cy="3873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443EC-58CF-4D49-84A0-0D30BECB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123444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SÍNTOMA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0F017-1383-4CC8-AEB1-FDAA390C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380" y="1666875"/>
            <a:ext cx="324612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La cola crece y el retraso de procesamiento aumenta.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869BA-D876-4B20-BA64-7F970046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62225"/>
            <a:ext cx="123444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MEDICIÓN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0F522-54F0-4B0A-937A-68918ACC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380" y="2562225"/>
            <a:ext cx="324612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Comparar tasa de entrada, filas procesadas y duración del trigger.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51394-942B-43DD-8680-3268D37F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57575"/>
            <a:ext cx="123444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C7880-7DCC-4383-A310-7271DDB4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380" y="3457575"/>
            <a:ext cx="324612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Limitar entrada por activación o aumentar capacidad con evidencia.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13FF5-9A73-456B-BA33-7F443EF9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52925"/>
            <a:ext cx="123444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RIESGO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EC7F6-3E4A-4E88-AEFA-0855F880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380" y="4352925"/>
            <a:ext cx="324612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Más atraso puede convertir eventos válidos en tardíos para la política.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EE68D-41E7-4994-8D09-29892D52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63E3C-D98D-4895-8144-2F44C7B9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24001233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64936-F44B-41E7-9C55-D7F606DD90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a584f69964bd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3B7DD-09E0-471E-BC19-B7992815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Métricas para auditar la consulta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31CA4-34FB-4166-A4DB-52D48527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Aplicación: explicar lo que ocurrió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E1058-2C5A-42C2-9A42-1AB06E509736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239000"/>
              </a:tblGrid>
              <a:tr h="6429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Evidencia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Pregunta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eventTime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¿qué máximo y qué watermark observó el motor?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numInputRows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¿cuántas filas entraron en la activación?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processedRowsPerSecond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¿qué capacidad sostuvo la consulta?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numRowsDroppedByWatermark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¿cuántas filas descartó la operación por tardanza?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stateOperators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¿cuánto estado conservó y retiró?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E4119-FF0B-460A-B30B-D4D43C44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10250"/>
            <a:ext cx="838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21DE0-AD01-47F2-BBCC-0E3C45A1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876925"/>
            <a:ext cx="803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Una traza temporal debe conectar entrada, decisión, estado y salida.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823AD-86EE-4EEA-B9EB-61261EAD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F5075-312C-4D46-BFB8-19C0C167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61746021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ED045-697A-4F40-81C7-B7ED9A5CC7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a710aed30441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EFF42-5CC0-4806-887D-CCFB5977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Receso de la tarde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924DE-9148-4E47-835D-E0EE9E8C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Pausa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736BA-3795-4F65-9D21-435AECAF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15:00–15:15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EB95C-1CE2-457D-9B9C-4E5FF78A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Al volver: auditoría, informe y entrega integrada.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3FAB5-BC84-4582-BFA8-4F598073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62500"/>
            <a:ext cx="8286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6EDBB-99A5-4C14-AA89-BF15E8A9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829175"/>
            <a:ext cx="7943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Conserve mediciones crudas, carpetas y controles antes de redactar.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416E7-2A31-4C55-910C-2021CE7A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9D539-F437-42F9-B80D-08FACC2F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04460062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B936DD-EA0D-4563-94B8-D49B164DB5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126acdd634f5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E8BA1-FF04-4E7E-AB5D-D96741A2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Protocolo del laboratorio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9D4CA-4227-443F-ABE3-E02B8263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Aplicación: ejecución verificable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54AA4-2C85-4F49-A6CA-B861E751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1263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E"/>
          </a:solidFill>
          <a:ln xmlns:a="http://schemas.openxmlformats.org/drawingml/2006/main" w="11430">
            <a:solidFill>
              <a:srgbClr val="C8D8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57B64-3E8F-4F92-8B2C-D2F9460A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98882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A9592-1EC4-46C5-8F7B-3B1BCF70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C2786-5C9B-409D-B1F7-FA3D7510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7221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Preparar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NASA y CHIRPS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636C1-0BA8-4B30-AA32-4277D82D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1905000"/>
            <a:ext cx="198882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13790-393F-4D0E-AD0D-A42A7F1F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19812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922C6-A360-4E26-B62D-5A0C1ACB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247900"/>
            <a:ext cx="17221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Ejecutar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I01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629E2-1A28-4E29-A087-F9DEBA14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1905000"/>
            <a:ext cx="198882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77837-93B8-4845-9ED4-669E276F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19812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C104D-B46D-41AE-B7BB-61DDEFD3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247900"/>
            <a:ext cx="17221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Ejecutar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D0C8A1-1E12-485B-AD16-0FACB8F3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010" y="1905000"/>
            <a:ext cx="198882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11430">
            <a:solidFill>
              <a:srgbClr val="5546E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0046B-8673-4B2F-B1C7-C403D61D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19812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3D795-9AE2-4D07-AA96-25F20932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247900"/>
            <a:ext cx="17221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Revisar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controles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FA133-4E3F-4165-9B99-DE610F78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1905000"/>
            <a:ext cx="198882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09C241-3B8D-4261-B268-98F35591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19812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27F0F3-C102-4F47-BE54-1B922549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2247900"/>
            <a:ext cx="17221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Explicar</a:t>
            </a:r>
          </a:p>
          <a:p xmlns:a="http://schemas.openxmlformats.org/drawingml/2006/main">
            <a:pPr algn="ctr">
              <a:defRPr sz="1425" b="1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recuperación</a:t>
            </a:r>
          </a:p>
        </p:txBody>
      </p:sp>
      <p:graphicFrame>
        <p:nvGraphicFrame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24066-C5B4-4E14-8737-F389494CD78E}"/>
              </a:ext>
            </a:extLst>
          </p:cNvPr>
          <p:cNvGraphicFramePr/>
          <p:nvPr/>
        </p:nvGraphicFramePr>
        <p:xfrm>
          <a:off xmlns:a="http://schemas.openxmlformats.org/drawingml/2006/main" x="1524000" y="3571875"/>
          <a:ext xmlns:a="http://schemas.openxmlformats.org/drawingml/2006/main" cx="91440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6667500"/>
              </a:tblGrid>
              <a:tr h="438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Criterio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Datos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31 valores NASA por variable; negativos CHIRPS enmascarados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Eventos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día 5 tardío y día 6 reintentado identificados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Streaming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watermark, descartes y ventanas pendientes explicados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Recuperación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diferenciar evidencia ejecutada y propuesta de reinicio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</a:tbl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091E5-E4D3-4C81-B831-06651467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6DBCF0-D96D-43FB-BA37-B96C7E33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28337334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7D0B1-574D-49DE-BE1C-A5C9089000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6b12aaa4143b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58D8A-C186-4C0D-A1B5-F182E93D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Entrega integrada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9852C-5E78-4375-8C3B-8C581E5A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Cierre: evidencia y criterios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DF247-C058-452B-A68C-47D531852567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001000"/>
              </a:tblGrid>
              <a:tr h="6429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Componente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Contenido mínimo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T w="9525">
                      <a:solidFill>
                        <a:srgbClr val="C8D8DE"/>
                      </a:solidFill>
                    </a:lnT>
                    <a:lnB w="9525">
                      <a:solidFill>
                        <a:srgbClr val="C8D8DE"/>
                      </a:solidFill>
                    </a:lnB>
                    <a:solidFill>
                      <a:srgbClr val="4237B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Benchmark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repeticiones, equivalencia y conclusión acotada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Traza de eventos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orden de llegada, identidades y decisiones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E11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watermark, ventanas, estado y descartes observados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Recuperación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checkpoint usado, límites y prueba propuesta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E9F0F1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Auditoría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8DE"/>
                      </a:solidFill>
                    </a:lnL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B68"/>
                          </a:solidFill>
                          <a:latin typeface="Calibri"/>
                          <a:ea typeface="Calibri"/>
                          <a:cs typeface="Calibri"/>
                        </a:rPr>
                        <a:t>archivos, controles y diferencias explicadas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8DE"/>
                      </a:solidFill>
                    </a:lnR>
                    <a:lnB w="9525">
                      <a:solidFill>
                        <a:srgbClr val="C8D8DE"/>
                      </a:solidFill>
                    </a:lnB>
                    <a:solidFill>
                      <a:srgbClr val="F4F8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8827D-9E57-4685-A496-16F3E93B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10250"/>
            <a:ext cx="723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CE4E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02C5B-1FDA-4E01-B800-19EF4034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876925"/>
            <a:ext cx="689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Entrega integrada E10–E11/P04/I01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AB3BE-7458-4EE2-9827-97B0D715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B4FF4-A1BF-4189-B96D-D0015D0C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56688930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F40CA-5C7A-4C27-9A2B-B2221867F3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2d4829605433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000B8-4FF6-4601-96A5-616C72E2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Síntesis de la sesión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22008-9FB9-4475-99E0-51A7D5DE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Cierre: cinco preguntas para explicar el sistema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B2D82-01AF-4C54-ADAB-4D48EF74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93179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1. HECHO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7B27A-1D50-46EC-9142-15A248DD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1571625"/>
            <a:ext cx="770953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¿Cuándo ocurrió el evento y cómo se identifica?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884BA-5527-4E7A-922A-8F228C34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293179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2. LLEGADA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9F1A9-318E-46FA-A4B1-C5EC635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2352675"/>
            <a:ext cx="770953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¿Cuándo lo recibió el motor y llegó repetido o tarde?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7F8C3-CA21-44FE-83B4-4E8471DC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293179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E4E47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CE4E47"/>
                </a:solidFill>
                <a:latin typeface="Calibri"/>
                <a:ea typeface="Calibri"/>
                <a:cs typeface="Calibri"/>
              </a:rPr>
              <a:t>3. ESTADO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2CD31-B4CA-48FF-AB99-95F7B388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3133725"/>
            <a:ext cx="770953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¿Qué ventana o identidad debía permanecer abierta?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EB2C2-E943-49FD-B15E-B8808292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293179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5546ED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546ED"/>
                </a:solidFill>
                <a:latin typeface="Calibri"/>
                <a:ea typeface="Calibri"/>
                <a:cs typeface="Calibri"/>
              </a:rPr>
              <a:t>4. SALIDA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D6837-2DAF-486F-967D-4900F47F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3914775"/>
            <a:ext cx="770953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¿Qué publicó la consulta y qué quedó pendiente?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513D9-FE7E-4313-B5C6-A0F53251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293179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5. RECUPERACIÓN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2484E-19A7-4CBC-877E-B3EED321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4695825"/>
            <a:ext cx="770953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B6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3B68"/>
                </a:solidFill>
                <a:latin typeface="Calibri"/>
                <a:ea typeface="Calibri"/>
                <a:cs typeface="Calibri"/>
              </a:rPr>
              <a:t>¿Cómo continúa sin perder ni duplicar efectos?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96E89-549C-42AC-85D5-111AF1D9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19750"/>
            <a:ext cx="981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11430">
            <a:solidFill>
              <a:srgbClr val="098F8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903D1-8BFC-4B03-980F-0E4113F8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686425"/>
            <a:ext cx="946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98F8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98F89"/>
                </a:solidFill>
                <a:latin typeface="Calibri"/>
                <a:ea typeface="Calibri"/>
                <a:cs typeface="Calibri"/>
              </a:rPr>
              <a:t>Una solución de streaming debe explicar sus decisiones temporales y su evidencia de recuperación.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53433-0A90-43AA-91F9-F16D403C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Curso de Postgrado: BigData · Especialización en Bases de datos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FB63E-2BE1-46C2-8A8B-E1B3742A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defPPr>
            <a:lvl1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4237B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237B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685249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2026-10-24T01:30:22.4810000Z</dcterms:created>
  <dcterms:modified xsi:type="dcterms:W3CDTF">2026-10-24T01:30:22.4820000Z</dcterms:modified>
</coreProperties>
</file>