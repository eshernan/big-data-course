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2.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cdaa62b66c482b" /><Relationship Type="http://schemas.openxmlformats.org/officeDocument/2006/relationships/extended-properties" Target="/docProps/app.xml" Id="Rdaeef65d157e4d42" /><Relationship Type="http://schemas.openxmlformats.org/officeDocument/2006/relationships/officeDocument" Target="/ppt/presentation.xml" Id="R0ca49dfb142a4c20" /></Relationships>
</file>

<file path=ppt/presentation.xml><?xml version="1.0" encoding="utf-8"?>
<p:presentation xmlns:p="http://schemas.openxmlformats.org/presentationml/2006/main">
  <p:sldMasterIdLst>
    <p:sldMasterId xmlns:r="http://schemas.openxmlformats.org/officeDocument/2006/relationships" id="2147483648" r:id="Rf9e90eff39e143e3"/>
  </p:sldMasterIdLst>
  <p:notesMasterIdLst>
    <p:notesMasterId xmlns:r="http://schemas.openxmlformats.org/officeDocument/2006/relationships" r:id="R1ac94d2e923d4fe8"/>
  </p:notesMasterIdLst>
  <p:sldIdLst>
    <p:sldId xmlns:r="http://schemas.openxmlformats.org/officeDocument/2006/relationships" id="256" r:id="Rafb56ca533fc4f68"/>
    <p:sldId xmlns:r="http://schemas.openxmlformats.org/officeDocument/2006/relationships" id="257" r:id="Ra62b9a6f236d4f32"/>
    <p:sldId xmlns:r="http://schemas.openxmlformats.org/officeDocument/2006/relationships" id="258" r:id="Rec67951e76c7491d"/>
    <p:sldId xmlns:r="http://schemas.openxmlformats.org/officeDocument/2006/relationships" id="259" r:id="Rcf6797d857ec47d3"/>
    <p:sldId xmlns:r="http://schemas.openxmlformats.org/officeDocument/2006/relationships" id="260" r:id="R3a74e2675b6343f0"/>
    <p:sldId xmlns:r="http://schemas.openxmlformats.org/officeDocument/2006/relationships" id="261" r:id="R6932560fb400411c"/>
    <p:sldId xmlns:r="http://schemas.openxmlformats.org/officeDocument/2006/relationships" id="262" r:id="Rf359c019e0b4475d"/>
    <p:sldId xmlns:r="http://schemas.openxmlformats.org/officeDocument/2006/relationships" id="263" r:id="R65c752c9ae024bb7"/>
    <p:sldId xmlns:r="http://schemas.openxmlformats.org/officeDocument/2006/relationships" id="264" r:id="R745882128a2e4c7b"/>
    <p:sldId xmlns:r="http://schemas.openxmlformats.org/officeDocument/2006/relationships" id="265" r:id="R2c2606505ec148e1"/>
    <p:sldId xmlns:r="http://schemas.openxmlformats.org/officeDocument/2006/relationships" id="266" r:id="R5ec28da005df4dd3"/>
    <p:sldId xmlns:r="http://schemas.openxmlformats.org/officeDocument/2006/relationships" id="267" r:id="R21068499dd7b42ef"/>
    <p:sldId xmlns:r="http://schemas.openxmlformats.org/officeDocument/2006/relationships" id="268" r:id="R360b3487c5c446ef"/>
    <p:sldId xmlns:r="http://schemas.openxmlformats.org/officeDocument/2006/relationships" id="269" r:id="R0087234e64544be9"/>
    <p:sldId xmlns:r="http://schemas.openxmlformats.org/officeDocument/2006/relationships" id="270" r:id="R806f5de3ce024b1c"/>
    <p:sldId xmlns:r="http://schemas.openxmlformats.org/officeDocument/2006/relationships" id="271" r:id="R4baad2860f674280"/>
    <p:sldId xmlns:r="http://schemas.openxmlformats.org/officeDocument/2006/relationships" id="272" r:id="R9f8d7d8506b345ac"/>
    <p:sldId xmlns:r="http://schemas.openxmlformats.org/officeDocument/2006/relationships" id="273" r:id="R3c4cb62978d24554"/>
    <p:sldId xmlns:r="http://schemas.openxmlformats.org/officeDocument/2006/relationships" id="274" r:id="R52ad6e92e95547b3"/>
    <p:sldId xmlns:r="http://schemas.openxmlformats.org/officeDocument/2006/relationships" id="275" r:id="Rdee1ace2e36d4fe8"/>
    <p:sldId xmlns:r="http://schemas.openxmlformats.org/officeDocument/2006/relationships" id="276" r:id="R7b7a0bc5a74f472c"/>
    <p:sldId xmlns:r="http://schemas.openxmlformats.org/officeDocument/2006/relationships" id="277" r:id="Rc37f9e617a774094"/>
    <p:sldId xmlns:r="http://schemas.openxmlformats.org/officeDocument/2006/relationships" id="278" r:id="R22cc82df60944b78"/>
    <p:sldId xmlns:r="http://schemas.openxmlformats.org/officeDocument/2006/relationships" id="279" r:id="R942e267359fc4c4f"/>
    <p:sldId xmlns:r="http://schemas.openxmlformats.org/officeDocument/2006/relationships" id="280" r:id="Rbfaf318b35ad4cb7"/>
    <p:sldId xmlns:r="http://schemas.openxmlformats.org/officeDocument/2006/relationships" id="281" r:id="Rb1e3670973e44f85"/>
    <p:sldId xmlns:r="http://schemas.openxmlformats.org/officeDocument/2006/relationships" id="282" r:id="Ra85cfc482a0749b2"/>
    <p:sldId xmlns:r="http://schemas.openxmlformats.org/officeDocument/2006/relationships" id="283" r:id="R764540780d5c4d13"/>
    <p:sldId xmlns:r="http://schemas.openxmlformats.org/officeDocument/2006/relationships" id="284" r:id="Reed5fce8fce64f26"/>
    <p:sldId xmlns:r="http://schemas.openxmlformats.org/officeDocument/2006/relationships" id="285" r:id="R560f72ae0b854490"/>
    <p:sldId xmlns:r="http://schemas.openxmlformats.org/officeDocument/2006/relationships" id="286" r:id="R4b71fc24b01f4e59"/>
    <p:sldId xmlns:r="http://schemas.openxmlformats.org/officeDocument/2006/relationships" id="287" r:id="R2555e3937eb24c97"/>
    <p:sldId xmlns:r="http://schemas.openxmlformats.org/officeDocument/2006/relationships" id="288" r:id="Ra29270514a2d4147"/>
    <p:sldId xmlns:r="http://schemas.openxmlformats.org/officeDocument/2006/relationships" id="289" r:id="R22a73aff433a45f8"/>
    <p:sldId xmlns:r="http://schemas.openxmlformats.org/officeDocument/2006/relationships" id="290" r:id="R11ff0ab6d8104e4f"/>
    <p:sldId xmlns:r="http://schemas.openxmlformats.org/officeDocument/2006/relationships" id="291" r:id="R93971b3f49d049a4"/>
    <p:sldId xmlns:r="http://schemas.openxmlformats.org/officeDocument/2006/relationships" id="292" r:id="Rcedcd8262be64dbb"/>
    <p:sldId xmlns:r="http://schemas.openxmlformats.org/officeDocument/2006/relationships" id="293" r:id="R1e14a42fa96a491b"/>
    <p:sldId xmlns:r="http://schemas.openxmlformats.org/officeDocument/2006/relationships" id="294" r:id="Rb82a7d3efadf4537"/>
    <p:sldId xmlns:r="http://schemas.openxmlformats.org/officeDocument/2006/relationships" id="295" r:id="R29fbe2a6c9e8487c"/>
    <p:sldId xmlns:r="http://schemas.openxmlformats.org/officeDocument/2006/relationships" id="296" r:id="R71ce1f314a3e43f1"/>
    <p:sldId xmlns:r="http://schemas.openxmlformats.org/officeDocument/2006/relationships" id="297" r:id="R200a519ab7084c51"/>
    <p:sldId xmlns:r="http://schemas.openxmlformats.org/officeDocument/2006/relationships" id="298" r:id="R2d1a2f8a5c684fdf"/>
    <p:sldId xmlns:r="http://schemas.openxmlformats.org/officeDocument/2006/relationships" id="299" r:id="R1a5b8b69fc8d42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53c49066884a89" /><Relationship Type="http://schemas.openxmlformats.org/officeDocument/2006/relationships/slideMaster" Target="/ppt/slideMasters/slideMaster1.xml" Id="Rf9e90eff39e143e3" /><Relationship Type="http://schemas.openxmlformats.org/officeDocument/2006/relationships/notesMaster" Target="/ppt/notesMasters/notesMaster1.xml" Id="R1ac94d2e923d4fe8" /><Relationship Type="http://schemas.openxmlformats.org/officeDocument/2006/relationships/presProps" Target="/ppt/presProps.xml" Id="R1edf67422df44739" /><Relationship Type="http://schemas.openxmlformats.org/officeDocument/2006/relationships/tableStyles" Target="/ppt/tableStyles.xml" Id="R93107bc26a5e4c1a" /><Relationship Type="http://schemas.openxmlformats.org/officeDocument/2006/relationships/slide" Target="/ppt/slides/slide1.xml" Id="Rafb56ca533fc4f68" /><Relationship Type="http://schemas.openxmlformats.org/officeDocument/2006/relationships/slide" Target="/ppt/slides/slide2.xml" Id="Ra62b9a6f236d4f32" /><Relationship Type="http://schemas.openxmlformats.org/officeDocument/2006/relationships/slide" Target="/ppt/slides/slide3.xml" Id="Rec67951e76c7491d" /><Relationship Type="http://schemas.openxmlformats.org/officeDocument/2006/relationships/slide" Target="/ppt/slides/slide4.xml" Id="Rcf6797d857ec47d3" /><Relationship Type="http://schemas.openxmlformats.org/officeDocument/2006/relationships/slide" Target="/ppt/slides/slide5.xml" Id="R3a74e2675b6343f0" /><Relationship Type="http://schemas.openxmlformats.org/officeDocument/2006/relationships/slide" Target="/ppt/slides/slide6.xml" Id="R6932560fb400411c" /><Relationship Type="http://schemas.openxmlformats.org/officeDocument/2006/relationships/slide" Target="/ppt/slides/slide7.xml" Id="Rf359c019e0b4475d" /><Relationship Type="http://schemas.openxmlformats.org/officeDocument/2006/relationships/slide" Target="/ppt/slides/slide8.xml" Id="R65c752c9ae024bb7" /><Relationship Type="http://schemas.openxmlformats.org/officeDocument/2006/relationships/slide" Target="/ppt/slides/slide9.xml" Id="R745882128a2e4c7b" /><Relationship Type="http://schemas.openxmlformats.org/officeDocument/2006/relationships/slide" Target="/ppt/slides/slide10.xml" Id="R2c2606505ec148e1" /><Relationship Type="http://schemas.openxmlformats.org/officeDocument/2006/relationships/slide" Target="/ppt/slides/slide11.xml" Id="R5ec28da005df4dd3" /><Relationship Type="http://schemas.openxmlformats.org/officeDocument/2006/relationships/slide" Target="/ppt/slides/slide12.xml" Id="R21068499dd7b42ef" /><Relationship Type="http://schemas.openxmlformats.org/officeDocument/2006/relationships/slide" Target="/ppt/slides/slide13.xml" Id="R360b3487c5c446ef" /><Relationship Type="http://schemas.openxmlformats.org/officeDocument/2006/relationships/slide" Target="/ppt/slides/slide14.xml" Id="R0087234e64544be9" /><Relationship Type="http://schemas.openxmlformats.org/officeDocument/2006/relationships/slide" Target="/ppt/slides/slide15.xml" Id="R806f5de3ce024b1c" /><Relationship Type="http://schemas.openxmlformats.org/officeDocument/2006/relationships/slide" Target="/ppt/slides/slide16.xml" Id="R4baad2860f674280" /><Relationship Type="http://schemas.openxmlformats.org/officeDocument/2006/relationships/slide" Target="/ppt/slides/slide17.xml" Id="R9f8d7d8506b345ac" /><Relationship Type="http://schemas.openxmlformats.org/officeDocument/2006/relationships/slide" Target="/ppt/slides/slide18.xml" Id="R3c4cb62978d24554" /><Relationship Type="http://schemas.openxmlformats.org/officeDocument/2006/relationships/slide" Target="/ppt/slides/slide19.xml" Id="R52ad6e92e95547b3" /><Relationship Type="http://schemas.openxmlformats.org/officeDocument/2006/relationships/slide" Target="/ppt/slides/slide20.xml" Id="Rdee1ace2e36d4fe8" /><Relationship Type="http://schemas.openxmlformats.org/officeDocument/2006/relationships/slide" Target="/ppt/slides/slide21.xml" Id="R7b7a0bc5a74f472c" /><Relationship Type="http://schemas.openxmlformats.org/officeDocument/2006/relationships/slide" Target="/ppt/slides/slide22.xml" Id="Rc37f9e617a774094" /><Relationship Type="http://schemas.openxmlformats.org/officeDocument/2006/relationships/slide" Target="/ppt/slides/slide23.xml" Id="R22cc82df60944b78" /><Relationship Type="http://schemas.openxmlformats.org/officeDocument/2006/relationships/slide" Target="/ppt/slides/slide24.xml" Id="R942e267359fc4c4f" /><Relationship Type="http://schemas.openxmlformats.org/officeDocument/2006/relationships/slide" Target="/ppt/slides/slide25.xml" Id="Rbfaf318b35ad4cb7" /><Relationship Type="http://schemas.openxmlformats.org/officeDocument/2006/relationships/slide" Target="/ppt/slides/slide26.xml" Id="Rb1e3670973e44f85" /><Relationship Type="http://schemas.openxmlformats.org/officeDocument/2006/relationships/slide" Target="/ppt/slides/slide27.xml" Id="Ra85cfc482a0749b2" /><Relationship Type="http://schemas.openxmlformats.org/officeDocument/2006/relationships/slide" Target="/ppt/slides/slide28.xml" Id="R764540780d5c4d13" /><Relationship Type="http://schemas.openxmlformats.org/officeDocument/2006/relationships/slide" Target="/ppt/slides/slide29.xml" Id="Reed5fce8fce64f26" /><Relationship Type="http://schemas.openxmlformats.org/officeDocument/2006/relationships/slide" Target="/ppt/slides/slide30.xml" Id="R560f72ae0b854490" /><Relationship Type="http://schemas.openxmlformats.org/officeDocument/2006/relationships/slide" Target="/ppt/slides/slide31.xml" Id="R4b71fc24b01f4e59" /><Relationship Type="http://schemas.openxmlformats.org/officeDocument/2006/relationships/slide" Target="/ppt/slides/slide32.xml" Id="R2555e3937eb24c97" /><Relationship Type="http://schemas.openxmlformats.org/officeDocument/2006/relationships/slide" Target="/ppt/slides/slide33.xml" Id="Ra29270514a2d4147" /><Relationship Type="http://schemas.openxmlformats.org/officeDocument/2006/relationships/slide" Target="/ppt/slides/slide34.xml" Id="R22a73aff433a45f8" /><Relationship Type="http://schemas.openxmlformats.org/officeDocument/2006/relationships/slide" Target="/ppt/slides/slide35.xml" Id="R11ff0ab6d8104e4f" /><Relationship Type="http://schemas.openxmlformats.org/officeDocument/2006/relationships/slide" Target="/ppt/slides/slide36.xml" Id="R93971b3f49d049a4" /><Relationship Type="http://schemas.openxmlformats.org/officeDocument/2006/relationships/slide" Target="/ppt/slides/slide37.xml" Id="Rcedcd8262be64dbb" /><Relationship Type="http://schemas.openxmlformats.org/officeDocument/2006/relationships/slide" Target="/ppt/slides/slide38.xml" Id="R1e14a42fa96a491b" /><Relationship Type="http://schemas.openxmlformats.org/officeDocument/2006/relationships/slide" Target="/ppt/slides/slide39.xml" Id="Rb82a7d3efadf4537" /><Relationship Type="http://schemas.openxmlformats.org/officeDocument/2006/relationships/slide" Target="/ppt/slides/slide40.xml" Id="R29fbe2a6c9e8487c" /><Relationship Type="http://schemas.openxmlformats.org/officeDocument/2006/relationships/slide" Target="/ppt/slides/slide41.xml" Id="R71ce1f314a3e43f1" /><Relationship Type="http://schemas.openxmlformats.org/officeDocument/2006/relationships/slide" Target="/ppt/slides/slide42.xml" Id="R200a519ab7084c51" /><Relationship Type="http://schemas.openxmlformats.org/officeDocument/2006/relationships/slide" Target="/ppt/slides/slide43.xml" Id="R2d1a2f8a5c684fdf" /><Relationship Type="http://schemas.openxmlformats.org/officeDocument/2006/relationships/slide" Target="/ppt/slides/slide44.xml" Id="R1a5b8b69fc8d42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f3eb2bcc2045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fa40c6495a4009" /><Relationship Type="http://schemas.openxmlformats.org/officeDocument/2006/relationships/notesMaster" Target="/ppt/notesMasters/notesMaster1.xml" Id="Re6067397602c4f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302ea05aff4557" /><Relationship Type="http://schemas.openxmlformats.org/officeDocument/2006/relationships/notesMaster" Target="/ppt/notesMasters/notesMaster1.xml" Id="R8e9e71a286e74e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2df55f2a42403a" /><Relationship Type="http://schemas.openxmlformats.org/officeDocument/2006/relationships/notesMaster" Target="/ppt/notesMasters/notesMaster1.xml" Id="Re18de05051dd45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0e998c8405462f" /><Relationship Type="http://schemas.openxmlformats.org/officeDocument/2006/relationships/notesMaster" Target="/ppt/notesMasters/notesMaster1.xml" Id="R726669814cc247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784e057af64317" /><Relationship Type="http://schemas.openxmlformats.org/officeDocument/2006/relationships/notesMaster" Target="/ppt/notesMasters/notesMaster1.xml" Id="R4c7eff75a8114b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0e2d34cde24a7d" /><Relationship Type="http://schemas.openxmlformats.org/officeDocument/2006/relationships/notesMaster" Target="/ppt/notesMasters/notesMaster1.xml" Id="R5abe363e3b0542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19d43554ea49c4" /><Relationship Type="http://schemas.openxmlformats.org/officeDocument/2006/relationships/notesMaster" Target="/ppt/notesMasters/notesMaster1.xml" Id="R7cd60e1cfe3446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28216d71724db6" /><Relationship Type="http://schemas.openxmlformats.org/officeDocument/2006/relationships/notesMaster" Target="/ppt/notesMasters/notesMaster1.xml" Id="Ra764514b9eea4e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d712a5ae714a10" /><Relationship Type="http://schemas.openxmlformats.org/officeDocument/2006/relationships/notesMaster" Target="/ppt/notesMasters/notesMaster1.xml" Id="Re8e5d6fd3f2e47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f4c6fc30b7486c" /><Relationship Type="http://schemas.openxmlformats.org/officeDocument/2006/relationships/notesMaster" Target="/ppt/notesMasters/notesMaster1.xml" Id="R979bb3da3a5642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5b36ee1f6b4d61" /><Relationship Type="http://schemas.openxmlformats.org/officeDocument/2006/relationships/notesMaster" Target="/ppt/notesMasters/notesMaster1.xml" Id="Ra30d4601bdd547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21a99821d94843" /><Relationship Type="http://schemas.openxmlformats.org/officeDocument/2006/relationships/notesMaster" Target="/ppt/notesMasters/notesMaster1.xml" Id="Ra5bfee7fe4c941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7bb40ba99d4f20" /><Relationship Type="http://schemas.openxmlformats.org/officeDocument/2006/relationships/notesMaster" Target="/ppt/notesMasters/notesMaster1.xml" Id="R28cc99ef8c574d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0e99f0ac864796" /><Relationship Type="http://schemas.openxmlformats.org/officeDocument/2006/relationships/notesMaster" Target="/ppt/notesMasters/notesMaster1.xml" Id="R36455d3683a7420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767356fc7c4b96" /><Relationship Type="http://schemas.openxmlformats.org/officeDocument/2006/relationships/notesMaster" Target="/ppt/notesMasters/notesMaster1.xml" Id="Rfb4ac993b7f240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3cad37a87404508" /><Relationship Type="http://schemas.openxmlformats.org/officeDocument/2006/relationships/notesMaster" Target="/ppt/notesMasters/notesMaster1.xml" Id="Red83ca89130e4d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aa41e2c8b70423d" /><Relationship Type="http://schemas.openxmlformats.org/officeDocument/2006/relationships/notesMaster" Target="/ppt/notesMasters/notesMaster1.xml" Id="Rf818435ee29c4f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7df4d8a341426f" /><Relationship Type="http://schemas.openxmlformats.org/officeDocument/2006/relationships/notesMaster" Target="/ppt/notesMasters/notesMaster1.xml" Id="Re5b5da13c8344f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c07485ab11406c" /><Relationship Type="http://schemas.openxmlformats.org/officeDocument/2006/relationships/notesMaster" Target="/ppt/notesMasters/notesMaster1.xml" Id="R3507ff51586940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37353c2e6f4ebc" /><Relationship Type="http://schemas.openxmlformats.org/officeDocument/2006/relationships/notesMaster" Target="/ppt/notesMasters/notesMaster1.xml" Id="Rbf4124e55f16405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56a72d7620490d" /><Relationship Type="http://schemas.openxmlformats.org/officeDocument/2006/relationships/notesMaster" Target="/ppt/notesMasters/notesMaster1.xml" Id="Rfc593ec416d345d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7ec9a441d64680" /><Relationship Type="http://schemas.openxmlformats.org/officeDocument/2006/relationships/notesMaster" Target="/ppt/notesMasters/notesMaster1.xml" Id="Rb025dcc588034d7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b8d55c6c3334d62" /><Relationship Type="http://schemas.openxmlformats.org/officeDocument/2006/relationships/notesMaster" Target="/ppt/notesMasters/notesMaster1.xml" Id="R83965d0debb944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cbbf9a52bc4d6d" /><Relationship Type="http://schemas.openxmlformats.org/officeDocument/2006/relationships/notesMaster" Target="/ppt/notesMasters/notesMaster1.xml" Id="Ra6b1ba7079fa42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992d5e5a3a247e0" /><Relationship Type="http://schemas.openxmlformats.org/officeDocument/2006/relationships/notesMaster" Target="/ppt/notesMasters/notesMaster1.xml" Id="R475320c870b9451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e8640e760c64cf3" /><Relationship Type="http://schemas.openxmlformats.org/officeDocument/2006/relationships/notesMaster" Target="/ppt/notesMasters/notesMaster1.xml" Id="Rdebad2d77bad48a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c5469b637bb4483" /><Relationship Type="http://schemas.openxmlformats.org/officeDocument/2006/relationships/notesMaster" Target="/ppt/notesMasters/notesMaster1.xml" Id="Ra4b308a755ae4ed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bb5ebf981394f3d" /><Relationship Type="http://schemas.openxmlformats.org/officeDocument/2006/relationships/notesMaster" Target="/ppt/notesMasters/notesMaster1.xml" Id="R55e573abb5a14e0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4fac3af34a24e19" /><Relationship Type="http://schemas.openxmlformats.org/officeDocument/2006/relationships/notesMaster" Target="/ppt/notesMasters/notesMaster1.xml" Id="Redb01c72d811468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2580f884e7a4ac1" /><Relationship Type="http://schemas.openxmlformats.org/officeDocument/2006/relationships/notesMaster" Target="/ppt/notesMasters/notesMaster1.xml" Id="Rdc13dafca8224e8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aec7f83275549a9" /><Relationship Type="http://schemas.openxmlformats.org/officeDocument/2006/relationships/notesMaster" Target="/ppt/notesMasters/notesMaster1.xml" Id="Raad02198943d4be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180e4f674424156" /><Relationship Type="http://schemas.openxmlformats.org/officeDocument/2006/relationships/notesMaster" Target="/ppt/notesMasters/notesMaster1.xml" Id="R9b522ca1ab5847b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4f0f05c797a4ee8" /><Relationship Type="http://schemas.openxmlformats.org/officeDocument/2006/relationships/notesMaster" Target="/ppt/notesMasters/notesMaster1.xml" Id="R58d8d03225d048e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8ea1f47b0334610" /><Relationship Type="http://schemas.openxmlformats.org/officeDocument/2006/relationships/notesMaster" Target="/ppt/notesMasters/notesMaster1.xml" Id="R700ec3cea12c4a7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f7545fc037f4e4b" /><Relationship Type="http://schemas.openxmlformats.org/officeDocument/2006/relationships/notesMaster" Target="/ppt/notesMasters/notesMaster1.xml" Id="Ra5d44a3ffbb44cd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5c72c76a15b49e3" /><Relationship Type="http://schemas.openxmlformats.org/officeDocument/2006/relationships/notesMaster" Target="/ppt/notesMasters/notesMaster1.xml" Id="Rd89ea2af822e434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2ffe873cb9e4977" /><Relationship Type="http://schemas.openxmlformats.org/officeDocument/2006/relationships/notesMaster" Target="/ppt/notesMasters/notesMaster1.xml" Id="Rbe496704832c4c3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1134c1cfecf4fb8" /><Relationship Type="http://schemas.openxmlformats.org/officeDocument/2006/relationships/notesMaster" Target="/ppt/notesMasters/notesMaster1.xml" Id="R39a1dc5bd56440d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05ddb97ae6c4d40" /><Relationship Type="http://schemas.openxmlformats.org/officeDocument/2006/relationships/notesMaster" Target="/ppt/notesMasters/notesMaster1.xml" Id="Rb9f6a0287349438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2ca4003694a4dbd" /><Relationship Type="http://schemas.openxmlformats.org/officeDocument/2006/relationships/notesMaster" Target="/ppt/notesMasters/notesMaster1.xml" Id="R03d3d1f77881420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2f658959c0d4ef9" /><Relationship Type="http://schemas.openxmlformats.org/officeDocument/2006/relationships/notesMaster" Target="/ppt/notesMasters/notesMaster1.xml" Id="R36e359c6a8bb42c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41c2cbd92ae4cba" /><Relationship Type="http://schemas.openxmlformats.org/officeDocument/2006/relationships/notesMaster" Target="/ppt/notesMasters/notesMaster1.xml" Id="R618c96713d8d4ed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9b19325d75746c2" /><Relationship Type="http://schemas.openxmlformats.org/officeDocument/2006/relationships/notesMaster" Target="/ppt/notesMasters/notesMaster1.xml" Id="Rf4640038fe9b441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8008f58ac0e44d2" /><Relationship Type="http://schemas.openxmlformats.org/officeDocument/2006/relationships/notesMaster" Target="/ppt/notesMasters/notesMaster1.xml" Id="R5aa82d2b6b574d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docs/calendario.md y docs/instalacion-wsl.md. 64 horas efectivas en 12 encuentros. Ampliación autónoma opcional. Un solo entorno en la raíz: uv venv --python 3.12 --seed .venv. Ejecutar en Ubuntu-26.04 sobre WSL.</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docs/calendario_contractual.json. Recesos y almuerzo excluidos.</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Resultados de la sesión</a:t>
            </a:r>
          </a:p>
          <a:p xmlns:a="http://schemas.openxmlformats.org/drawingml/2006/main">
            <a:r>
              <a:t>Comprensión</a:t>
            </a:r>
          </a:p>
          <a:p xmlns:a="http://schemas.openxmlformats.org/drawingml/2006/main">
            <a:r>
              <a:t>Explicar las cinco V y estimar cómo el tamaño cambia memoria, tiempos y estrategia.</a:t>
            </a:r>
          </a:p>
          <a:p xmlns:a="http://schemas.openxmlformats.org/drawingml/2006/main">
            <a:r>
              <a:t>Evidencia</a:t>
            </a:r>
          </a:p>
          <a:p xmlns:a="http://schemas.openxmlformats.org/drawingml/2006/main">
            <a:r>
              <a:t>Matriz de capacidad para GB y TB, más una ficha de problema verificable.</a:t>
            </a:r>
          </a:p>
          <a:p xmlns:a="http://schemas.openxmlformats.org/drawingml/2006/main">
            <a:r>
              <a:t>Big Data · caso agroambiental · Sesión 1</a:t>
            </a:r>
          </a:p>
          <a:p xmlns:a="http://schemas.openxmlformats.org/drawingml/2006/main">
            <a:r>
              <a:t>05</a:t>
            </a:r>
          </a:p>
          <a:p xmlns:a="http://schemas.openxmlformats.org/drawingml/2006/main">
            <a:r>
              <a:t>Ilustración conceptual generada con ImageGen. No representa una medición ni una fotografía documental.</a:t>
            </a:r>
          </a:p>
          <a:p xmlns:a="http://schemas.openxmlformats.org/drawingml/2006/main">
            <a:r>
              <a:t>Prompt: Educational hand-drawn SKETCH illustration for a postgraduate BigData course in a Database specialization. Pure white background, horizontal 3:2. Navy #203B68 irregular ink outlines and pencil hatching, violet #5546ED, turquoise #16B8AD, amber #FFBF47 and coral #F26A61 accents. Show a learner's desktop with two clear deliverables: one large comparison matrix showing three differently sized data stacks above its three columns and tiny memory/clock/disk symbols beside the rows; next to it a concise problem-definition sheet with a question mark, source bookmark and a target check. A laptop and a database cylinder connect the two artifacts. This represents learning to diagnose scale and specify a data problem. No letters, numbers, words, logo or watermark. No photorealism or 3D.</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Marco introductorio: https://www.ibm.com/think/topics/big-data. Síntesis docente: no existe un umbral único en GB que determine una arquitectura. Una base relacional también puede procesar grandes volúmenes según su diseño y recursos.</a:t>
            </a:r>
          </a:p>
          <a:p xmlns:a="http://schemas.openxmlformats.org/drawingml/2006/main">
            <a:r>
              <a:t>Contenido de referencia:</a:t>
            </a:r>
          </a:p>
          <a:p xmlns:a="http://schemas.openxmlformats.org/drawingml/2006/main">
            <a:r>
              <a:t>BigData como problema de ingeniería</a:t>
            </a:r>
          </a:p>
          <a:p xmlns:a="http://schemas.openxmlformats.org/drawingml/2006/main">
            <a:r>
              <a:t>BigData · Introducción y escalamiento · Sesión 1</a:t>
            </a:r>
          </a:p>
          <a:p xmlns:a="http://schemas.openxmlformats.org/drawingml/2006/main">
            <a:r>
              <a:t>07</a:t>
            </a:r>
          </a:p>
          <a:p xmlns:a="http://schemas.openxmlformats.org/drawingml/2006/main">
            <a:r>
              <a:t>Datos, recursos y plazo</a:t>
            </a:r>
          </a:p>
          <a:p xmlns:a="http://schemas.openxmlformats.org/drawingml/2006/main">
            <a:r>
              <a:t>El enfoque cambia cuando capturar, integrar o analizar los datos supera los recursos disponibles o el tiempo de respuesta requerido.</a:t>
            </a:r>
          </a:p>
          <a:p xmlns:a="http://schemas.openxmlformats.org/drawingml/2006/main">
            <a:r>
              <a:t>La unidad de análisis es la carga de trabajo</a:t>
            </a:r>
          </a:p>
          <a:p xmlns:a="http://schemas.openxmlformats.org/drawingml/2006/main">
            <a:r>
              <a:t>Importan el tamaño, la consulta, la frecuencia de actualización, los usuarios simultáneos y la calidad exigida.</a:t>
            </a:r>
          </a:p>
          <a:p xmlns:a="http://schemas.openxmlformats.org/drawingml/2006/main">
            <a:r>
              <a:t>Una decisión de diseño</a:t>
            </a:r>
          </a:p>
          <a:p xmlns:a="http://schemas.openxmlformats.org/drawingml/2006/main">
            <a:r>
              <a:t>Primero medimos la restricción. Después elegimos formato, algoritmo, almacenamiento y capacidad de cómputo.</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A three-way balance between a large database cylinder, a laptop with memory chip, and a deadline clock. A person engineer studies the three with a magnifying glass. Each of the three components distinct and connected by a simple triangle of thin lines, no arrow semantics. Explains data size, resources and response deadline.</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Definiciones de las cinco V: https://www.ibm.com/think/topics/big-data. Las consecuencias técnicas son una aplicación docente. Veracidad designa confiabilidad, no una cantidad que crezca automáticamente.</a:t>
            </a:r>
          </a:p>
          <a:p xmlns:a="http://schemas.openxmlformats.org/drawingml/2006/main">
            <a:r>
              <a:t>Contenido ampliado de referencia:</a:t>
            </a:r>
          </a:p>
          <a:p xmlns:a="http://schemas.openxmlformats.org/drawingml/2006/main">
            <a:r>
              <a:t>Las cinco V y el problema que plantean</a:t>
            </a:r>
          </a:p>
          <a:p xmlns:a="http://schemas.openxmlformats.org/drawingml/2006/main">
            <a:r>
              <a:t>BigData · Introducción y escalamiento · Sesión 1</a:t>
            </a:r>
          </a:p>
          <a:p xmlns:a="http://schemas.openxmlformats.org/drawingml/2006/main">
            <a:r>
              <a:t>08</a:t>
            </a:r>
          </a:p>
          <a:p xmlns:a="http://schemas.openxmlformats.org/drawingml/2006/main">
            <a:r>
              <a:t>Dimensión</a:t>
            </a:r>
          </a:p>
          <a:p xmlns:a="http://schemas.openxmlformats.org/drawingml/2006/main">
            <a:r>
              <a:t>Pregunta de diagnóstico</a:t>
            </a:r>
          </a:p>
          <a:p xmlns:a="http://schemas.openxmlformats.org/drawingml/2006/main">
            <a:r>
              <a:t>Consecuencia técnica</a:t>
            </a:r>
          </a:p>
          <a:p xmlns:a="http://schemas.openxmlformats.org/drawingml/2006/main">
            <a:r>
              <a:t>Volumen</a:t>
            </a:r>
          </a:p>
          <a:p xmlns:a="http://schemas.openxmlformats.org/drawingml/2006/main">
            <a:r>
              <a:t>¿Cuántos bytes y cuánto crecen?</a:t>
            </a:r>
          </a:p>
          <a:p xmlns:a="http://schemas.openxmlformats.org/drawingml/2006/main">
            <a:r>
              <a:t>Disco, memoria y tiempo de lectura</a:t>
            </a:r>
          </a:p>
          <a:p xmlns:a="http://schemas.openxmlformats.org/drawingml/2006/main">
            <a:r>
              <a:t>Velocidad</a:t>
            </a:r>
          </a:p>
          <a:p xmlns:a="http://schemas.openxmlformats.org/drawingml/2006/main">
            <a:r>
              <a:t>¿Cuánto llega y cuándo debe salir?</a:t>
            </a:r>
          </a:p>
          <a:p xmlns:a="http://schemas.openxmlformats.org/drawingml/2006/main">
            <a:r>
              <a:t>Colas, actualización y latencia</a:t>
            </a:r>
          </a:p>
          <a:p xmlns:a="http://schemas.openxmlformats.org/drawingml/2006/main">
            <a:r>
              <a:t>Variedad</a:t>
            </a:r>
          </a:p>
          <a:p xmlns:a="http://schemas.openxmlformats.org/drawingml/2006/main">
            <a:r>
              <a:t>¿Qué formatos y significados conviven?</a:t>
            </a:r>
          </a:p>
          <a:p xmlns:a="http://schemas.openxmlformats.org/drawingml/2006/main">
            <a:r>
              <a:t>Esquemas, unidades y claves</a:t>
            </a:r>
          </a:p>
          <a:p xmlns:a="http://schemas.openxmlformats.org/drawingml/2006/main">
            <a:r>
              <a:t>Veracidad</a:t>
            </a:r>
          </a:p>
          <a:p xmlns:a="http://schemas.openxmlformats.org/drawingml/2006/main">
            <a:r>
              <a:t>¿Qué tan confiable es el dato?</a:t>
            </a:r>
          </a:p>
          <a:p xmlns:a="http://schemas.openxmlformats.org/drawingml/2006/main">
            <a:r>
              <a:t>Validación, procedencia y sesgo</a:t>
            </a:r>
          </a:p>
          <a:p xmlns:a="http://schemas.openxmlformats.org/drawingml/2006/main">
            <a:r>
              <a:t>Valor</a:t>
            </a:r>
          </a:p>
          <a:p xmlns:a="http://schemas.openxmlformats.org/drawingml/2006/main">
            <a:r>
              <a:t>¿Qué decisión justifica el costo?</a:t>
            </a:r>
          </a:p>
          <a:p xmlns:a="http://schemas.openxmlformats.org/drawingml/2006/main">
            <a:r>
              <a:t>Métrica útil y prioridad del análisis</a:t>
            </a:r>
          </a:p>
          <a:p xmlns:a="http://schemas.openxmlformats.org/drawingml/2006/main">
            <a:r>
              <a:t>Las cinco V sirven para diagnosticar restricciones concretas.</a:t>
            </a:r>
          </a:p>
          <a:p xmlns:a="http://schemas.openxmlformats.org/drawingml/2006/main">
            <a:r>
              <a:t>Prompt visual: Ilustración educativa sketch con tinta azul y acentos violeta, turquesa, ámbar y coral. Concepto: five-v</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CERN Perspective on Tape Technology Evolution, presentación de 2025, https://indico.cern.ch/event/1483636/contributions/6379741/attachments/3035040/5369074/CERN%20Perspective%20on%20Tape%20Technology%20Evolution.pdf. Datos brutos recogidos por los experimentos: aproximadamente 40 PB (2022), 100 PB (2023), 220 PB (2024). 220/40=5,5. Son volúmenes anuales de adquisición, no capacidad instalada ni acumulado. No extrapolar como tasa universal.</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https://home.cern/cern-hits-one-exabyte-stored-experimental-data-lhc/. El hito se refiere a datos experimentales acumulados del LHC. No comparar directamente con capacidad de discos o volumen anual.</a:t>
            </a:r>
          </a:p>
          <a:p xmlns:a="http://schemas.openxmlformats.org/drawingml/2006/main">
            <a:r>
              <a:t>Contenido de referencia:</a:t>
            </a:r>
          </a:p>
          <a:p xmlns:a="http://schemas.openxmlformats.org/drawingml/2006/main">
            <a:r>
              <a:t>Un hito de almacenamiento en 2025</a:t>
            </a:r>
          </a:p>
          <a:p xmlns:a="http://schemas.openxmlformats.org/drawingml/2006/main">
            <a:r>
              <a:t>BigData · Introducción y escalamiento · Sesión 1</a:t>
            </a:r>
          </a:p>
          <a:p xmlns:a="http://schemas.openxmlformats.org/drawingml/2006/main">
            <a:r>
              <a:t>10</a:t>
            </a:r>
          </a:p>
          <a:p xmlns:a="http://schemas.openxmlformats.org/drawingml/2006/main">
            <a:r>
              <a:t>1 exabyte de datos experimentales del LHC</a:t>
            </a:r>
          </a:p>
          <a:p xmlns:a="http://schemas.openxmlformats.org/drawingml/2006/main">
            <a:r>
              <a:t>CERN anunció el hito el 17 de diciembre de 2025. Equivale a un millón de terabytes, en unidades decimales.</a:t>
            </a:r>
          </a:p>
          <a:p xmlns:a="http://schemas.openxmlformats.org/drawingml/2006/main">
            <a:r>
              <a:t>La adquisición ya incluye selección</a:t>
            </a:r>
          </a:p>
          <a:p xmlns:a="http://schemas.openxmlformats.org/drawingml/2006/main">
            <a:r>
              <a:t>Los detectores producen información que un sistema de filtrado reduce antes de enviarla al almacenamiento.</a:t>
            </a:r>
          </a:p>
          <a:p xmlns:a="http://schemas.openxmlformats.org/drawingml/2006/main">
            <a:r>
              <a:t>Conservar también cuesta</a:t>
            </a:r>
          </a:p>
          <a:p xmlns:a="http://schemas.openxmlformats.org/drawingml/2006/main">
            <a:r>
              <a:t>El análisis puede ocurrir años después. Hay que planear archivo, catálogo, acceso y preservación.</a:t>
            </a:r>
          </a:p>
          <a:p xmlns:a="http://schemas.openxmlformats.org/drawingml/2006/main">
            <a:r>
              <a:t>Fuente: CERN, 17 de diciembre de 2025</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A small scientific particle detector-like ring sends selected data records through a funnel into a very large tape archive library with shelves of cartridges. A small catalog book and padlock beside the archive show preservation. Conceptual engineering drawing, not a documentary image of CERN.</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NSF, 25 febrero 2026, https://www.nsf.gov/news/nsf-doe-vera-c-rubin-observatory-launches-real-time. Distinguir la primera noche observada del objetivo previsto. La fuente expresa alertas dentro de dos minutos de la captura.</a:t>
            </a:r>
          </a:p>
          <a:p xmlns:a="http://schemas.openxmlformats.org/drawingml/2006/main">
            <a:r>
              <a:t>Contenido ampliado de referencia:</a:t>
            </a:r>
          </a:p>
          <a:p xmlns:a="http://schemas.openxmlformats.org/drawingml/2006/main">
            <a:r>
              <a:t>Velocidad: alertas astronómicas de Rubin</a:t>
            </a:r>
          </a:p>
          <a:p xmlns:a="http://schemas.openxmlformats.org/drawingml/2006/main">
            <a:r>
              <a:t>BigData · Introducción y escalamiento · Sesión 1</a:t>
            </a:r>
          </a:p>
          <a:p xmlns:a="http://schemas.openxmlformats.org/drawingml/2006/main">
            <a:r>
              <a:t>11</a:t>
            </a:r>
          </a:p>
          <a:p xmlns:a="http://schemas.openxmlformats.org/drawingml/2006/main">
            <a:r>
              <a:t>800.000 alertas en una noche</a:t>
            </a:r>
          </a:p>
          <a:p xmlns:a="http://schemas.openxmlformats.org/drawingml/2006/main">
            <a:r>
              <a:t>Resultado comunicado por NSF para la noche del 24 de febrero de 2026.</a:t>
            </a:r>
          </a:p>
          <a:p xmlns:a="http://schemas.openxmlformats.org/drawingml/2006/main">
            <a:r>
              <a:t>Hasta 7 millones por noche</a:t>
            </a:r>
          </a:p>
          <a:p xmlns:a="http://schemas.openxmlformats.org/drawingml/2006/main">
            <a:r>
              <a:t>Escala futura esperada en ese anuncio. Es una proyección, no el resultado observado de esa noche.</a:t>
            </a:r>
          </a:p>
          <a:p xmlns:a="http://schemas.openxmlformats.org/drawingml/2006/main">
            <a:r>
              <a:t>Respuesta en menos de dos minutos</a:t>
            </a:r>
          </a:p>
          <a:p xmlns:a="http://schemas.openxmlformats.org/drawingml/2006/main">
            <a:r>
              <a:t>Las nuevas imágenes se comparan con referencias. Los cambios desencadenan alertas que deben llegar a tiempo para observar el evento.</a:t>
            </a:r>
          </a:p>
          <a:p xmlns:a="http://schemas.openxmlformats.org/drawingml/2006/main">
            <a:r>
              <a:t>Fuente: NSF, 25 de febrero de 2026. Observación y proyección separadas</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Conceptual alert pipeline: a simple large observatory telescope photographs stars; two overlapping sky image frames show a changed bright point circled coral; an amber stopwatch with lightning symbol; small alert messages are sent to a second observer telescope. Horizontal left to right, clean visual process. Do not depict a specific observatory building or claim documentary accuracy. No text numbers or brand.</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Ejemplos del catálogo local big-data-postgraduate/docs/datasets.md y talleres E01–E06. Más fuentes introducen diferentes entidades y escalas aunque cada archivo sea pequeño.</a:t>
            </a:r>
          </a:p>
          <a:p xmlns:a="http://schemas.openxmlformats.org/drawingml/2006/main">
            <a:r>
              <a:t>Contenido de referencia:</a:t>
            </a:r>
          </a:p>
          <a:p xmlns:a="http://schemas.openxmlformats.org/drawingml/2006/main">
            <a:r>
              <a:t>Variedad: integrar más que archivos</a:t>
            </a:r>
          </a:p>
          <a:p xmlns:a="http://schemas.openxmlformats.org/drawingml/2006/main">
            <a:r>
              <a:t>BigData · Introducción y escalamiento · Sesión 1</a:t>
            </a:r>
          </a:p>
          <a:p xmlns:a="http://schemas.openxmlformats.org/drawingml/2006/main">
            <a:r>
              <a:t>12</a:t>
            </a:r>
          </a:p>
          <a:p xmlns:a="http://schemas.openxmlformats.org/drawingml/2006/main">
            <a:r>
              <a:t>Fuente del caso</a:t>
            </a:r>
          </a:p>
          <a:p xmlns:a="http://schemas.openxmlformats.org/drawingml/2006/main">
            <a:r>
              <a:t>Estructura</a:t>
            </a:r>
          </a:p>
          <a:p xmlns:a="http://schemas.openxmlformats.org/drawingml/2006/main">
            <a:r>
              <a:t>Problema de integración</a:t>
            </a:r>
          </a:p>
          <a:p xmlns:a="http://schemas.openxmlformats.org/drawingml/2006/main">
            <a:r>
              <a:t>Laboratorio de suelo</a:t>
            </a:r>
          </a:p>
          <a:p xmlns:a="http://schemas.openxmlformats.org/drawingml/2006/main">
            <a:r>
              <a:t>CSV y variables analíticas</a:t>
            </a:r>
          </a:p>
          <a:p xmlns:a="http://schemas.openxmlformats.org/drawingml/2006/main">
            <a:r>
              <a:t>Método, fecha y profundidad</a:t>
            </a:r>
          </a:p>
          <a:p xmlns:a="http://schemas.openxmlformats.org/drawingml/2006/main">
            <a:r>
              <a:t>Producción agrícola</a:t>
            </a:r>
          </a:p>
          <a:p xmlns:a="http://schemas.openxmlformats.org/drawingml/2006/main">
            <a:r>
              <a:t>Tabla por cultivo y territorio</a:t>
            </a:r>
          </a:p>
          <a:p xmlns:a="http://schemas.openxmlformats.org/drawingml/2006/main">
            <a:r>
              <a:t>Unidades y estado físico</a:t>
            </a:r>
          </a:p>
          <a:p xmlns:a="http://schemas.openxmlformats.org/drawingml/2006/main">
            <a:r>
              <a:t>Clima por API</a:t>
            </a:r>
          </a:p>
          <a:p xmlns:a="http://schemas.openxmlformats.org/drawingml/2006/main">
            <a:r>
              <a:t>JSON con series anidadas</a:t>
            </a:r>
          </a:p>
          <a:p xmlns:a="http://schemas.openxmlformats.org/drawingml/2006/main">
            <a:r>
              <a:t>Fechas, ubicación y ausencias</a:t>
            </a:r>
          </a:p>
          <a:p xmlns:a="http://schemas.openxmlformats.org/drawingml/2006/main">
            <a:r>
              <a:t>Territorio</a:t>
            </a:r>
          </a:p>
          <a:p xmlns:a="http://schemas.openxmlformats.org/drawingml/2006/main">
            <a:r>
              <a:t>Geometrías y códigos</a:t>
            </a:r>
          </a:p>
          <a:p xmlns:a="http://schemas.openxmlformats.org/drawingml/2006/main">
            <a:r>
              <a:t>Sistema de referencia y vigencia</a:t>
            </a:r>
          </a:p>
          <a:p xmlns:a="http://schemas.openxmlformats.org/drawingml/2006/main">
            <a:r>
              <a:t>Sumar fuentes aumenta el trabajo de interpretación y correspondencia.</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Four distinct data sources arranged around one integration workbench: laboratory vial with a tabular sheet, agricultural plant with a table, weather sensor with nested structured document, and geographic map tile. Lines connect each to a central shared-key puzzle. No labels or text.</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numérico hipotético: N × 0,001. No representa una tasa medida en CERN, Rubin o caso agroambiental. La veracidad es una dimensión de calidad. El ejemplo ilustra el aumento de trabajo de control, no una ley de deterioro.</a:t>
            </a:r>
          </a:p>
          <a:p xmlns:a="http://schemas.openxmlformats.org/drawingml/2006/main">
            <a:r>
              <a:t>Contenido ampliado de referencia:</a:t>
            </a:r>
          </a:p>
          <a:p xmlns:a="http://schemas.openxmlformats.org/drawingml/2006/main">
            <a:r>
              <a:t>Veracidad: errores pequeños a gran escala</a:t>
            </a:r>
          </a:p>
          <a:p xmlns:a="http://schemas.openxmlformats.org/drawingml/2006/main">
            <a:r>
              <a:t>BigData · Introducción y escalamiento · Sesión 1</a:t>
            </a:r>
          </a:p>
          <a:p xmlns:a="http://schemas.openxmlformats.org/drawingml/2006/main">
            <a:r>
              <a:t>13</a:t>
            </a:r>
          </a:p>
          <a:p xmlns:a="http://schemas.openxmlformats.org/drawingml/2006/main">
            <a:r>
              <a:t>Hipótesis: 0,1 % de registros requiere revisión</a:t>
            </a:r>
          </a:p>
          <a:p xmlns:a="http://schemas.openxmlformats.org/drawingml/2006/main">
            <a:r>
              <a:t>En 1 millón de registros son 1.000 casos. En 1.000 millones son 1 millón de casos. La tasa es la misma.</a:t>
            </a:r>
          </a:p>
          <a:p xmlns:a="http://schemas.openxmlformats.org/drawingml/2006/main">
            <a:r>
              <a:t>Más datos no garantizan mayor confiabilidad</a:t>
            </a:r>
          </a:p>
          <a:p xmlns:a="http://schemas.openxmlformats.org/drawingml/2006/main">
            <a:r>
              <a:t>Sesgo de cobertura, sensores descalibrados y códigos desactualizados pueden persistir aunque crezca la muestra.</a:t>
            </a:r>
          </a:p>
          <a:p xmlns:a="http://schemas.openxmlformats.org/drawingml/2006/main">
            <a:r>
              <a:t>La respuesta es un proceso auditable</a:t>
            </a:r>
          </a:p>
          <a:p xmlns:a="http://schemas.openxmlformats.org/drawingml/2006/main">
            <a:r>
              <a:t>Reglas automáticas, cuarentena, indicadores de calidad y revisión de excepciones con procedencia.</a:t>
            </a:r>
          </a:p>
          <a:p xmlns:a="http://schemas.openxmlformats.org/drawingml/2006/main">
            <a:r>
              <a:t>Ejemplo docente hipotético. La veracidad no aumenta automáticamente con el volumen</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Two magnifying glasses comparing a small stack of records and a much larger archive stack. In each inspection window show a few coral anomalous marks amid turquoise normal marks. The larger archive has a much larger amber tray of flagged records requiring review. Suggest constant error fraction but many more absolute errors at scale. NO TEXT NO NUMBERS. Do not use literal plotted data or percentage.</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Concepto de valor: https://www.ibm.com/think/topics/big-data. Los ejemplos son elaboración docente. El curso utiliza caso agroambiental para discutir decisiones y límites de la evidencia.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S1:19; S3:14. Actual S1:15.</a:t>
            </a:r>
          </a:p>
          <a:p xmlns:a="http://schemas.openxmlformats.org/drawingml/2006/main">
            <a:r>
              <a:t>Fuente: Superintendencia Nacional de Salud, catálogo ArcGIS público, consulta y descarga 2026-10-02. Se Material de referencia del profesor; entrega estudiantil el sábado. 2444766 filas en total; 1.816.243.049 bytes. Manifiesto, hashes SHA-256, columnas y vacíos por archivo en Datos_PQRS/manifiesto.json. Separador coma en 2024-I; punto y coma en 2023-II y 2024-II. UTF-8; lector utf-8-sig admite BOM. Campos reales: periodo (año), mes, afec_cod_depto, ent_nombre y afec_edad. Conservar códigos como texto. Supersalud advierte inconsistencias de captura en género, rango de edad y educación. Las clasificaciones de motivos y riesgo cambiaron en julio de 2023 y no son homologables con las anteriores. Los tres cortes seleccionados son posteriores al cambio. No equivalen a prevalencia de enfermedad. Cada archivo tiene su URL de descarga en el manifiesto. Licencia CC BY 4.0. Las muestras de 1000 filas son las primeras filas para probar lectura, no muestras estadísticas representativas.</a:t>
            </a:r>
          </a:p>
          <a:p xmlns:a="http://schemas.openxmlformats.org/drawingml/2006/main">
            <a:r>
              <a:t>Fuentes técnicas: </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Capacidad y calidad</a:t>
            </a:r>
          </a:p>
          <a:p xmlns:a="http://schemas.openxmlformats.org/drawingml/2006/main">
            <a:r>
              <a:t>Capacidad</a:t>
            </a:r>
          </a:p>
          <a:p xmlns:a="http://schemas.openxmlformats.org/drawingml/2006/main">
            <a:r>
              <a:t>La consulta correcta supera el tiempo o la memoria disponibles.</a:t>
            </a:r>
          </a:p>
          <a:p xmlns:a="http://schemas.openxmlformats.org/drawingml/2006/main">
            <a:r>
              <a:t>Calidad</a:t>
            </a:r>
          </a:p>
          <a:p xmlns:a="http://schemas.openxmlformats.org/drawingml/2006/main">
            <a:r>
              <a:t>El resultado llega rápido, pero contiene duplicados o reglas ambiguas.</a:t>
            </a:r>
          </a:p>
          <a:p xmlns:a="http://schemas.openxmlformats.org/drawingml/2006/main">
            <a:r>
              <a:t>Big Data · caso agroambiental · Sesión 1</a:t>
            </a:r>
          </a:p>
          <a:p xmlns:a="http://schemas.openxmlformats.org/drawingml/2006/main">
            <a:r>
              <a:t>16</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Two contrasting scenes side by side: left a correct data grid with a green check but a laptop surrounded by too many records and an hourglass; right a fast laptop with lightning but an output grid showing duplicated rows and red warning marks. Clearly communicate slow-correct versus fast-incorrect, no text.</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transferencia de lectura local y procesamiento. Varias etapas pueden solaparse. No sumar automáticamente cotas de tiempo cuando existe un pipeline concurrente. Para ejecución secuencial sí se suman duraciones medidas.</a:t>
            </a:r>
          </a:p>
          <a:p xmlns:a="http://schemas.openxmlformats.org/drawingml/2006/main">
            <a:r>
              <a:t>Contenido de referencia:</a:t>
            </a:r>
          </a:p>
          <a:p xmlns:a="http://schemas.openxmlformats.org/drawingml/2006/main">
            <a:r>
              <a:t>Cargar un dataset implica varias operaciones</a:t>
            </a:r>
          </a:p>
          <a:p xmlns:a="http://schemas.openxmlformats.org/drawingml/2006/main">
            <a:r>
              <a:t>BigData · Introducción y escalamiento · Sesión 1</a:t>
            </a:r>
          </a:p>
          <a:p xmlns:a="http://schemas.openxmlformats.org/drawingml/2006/main">
            <a:r>
              <a:t>17</a:t>
            </a:r>
          </a:p>
          <a:p xmlns:a="http://schemas.openxmlformats.org/drawingml/2006/main">
            <a:r>
              <a:t>Etapa</a:t>
            </a:r>
          </a:p>
          <a:p xmlns:a="http://schemas.openxmlformats.org/drawingml/2006/main">
            <a:r>
              <a:t>Recurso dominante</a:t>
            </a:r>
          </a:p>
          <a:p xmlns:a="http://schemas.openxmlformats.org/drawingml/2006/main">
            <a:r>
              <a:t>Pregunta</a:t>
            </a:r>
          </a:p>
          <a:p xmlns:a="http://schemas.openxmlformats.org/drawingml/2006/main">
            <a:r>
              <a:t>Descargar</a:t>
            </a:r>
          </a:p>
          <a:p xmlns:a="http://schemas.openxmlformats.org/drawingml/2006/main">
            <a:r>
              <a:t>Red y disco de destino</a:t>
            </a:r>
          </a:p>
          <a:p xmlns:a="http://schemas.openxmlformats.org/drawingml/2006/main">
            <a:r>
              <a:t>¿Cuánto tarda en llegar?</a:t>
            </a:r>
          </a:p>
          <a:p xmlns:a="http://schemas.openxmlformats.org/drawingml/2006/main">
            <a:r>
              <a:t>Leer y decodificar</a:t>
            </a:r>
          </a:p>
          <a:p xmlns:a="http://schemas.openxmlformats.org/drawingml/2006/main">
            <a:r>
              <a:t>Disco, CPU y memoria</a:t>
            </a:r>
          </a:p>
          <a:p xmlns:a="http://schemas.openxmlformats.org/drawingml/2006/main">
            <a:r>
              <a:t>¿CSV, compresión y tipos?</a:t>
            </a:r>
          </a:p>
          <a:p xmlns:a="http://schemas.openxmlformats.org/drawingml/2006/main">
            <a:r>
              <a:t>Transformar</a:t>
            </a:r>
          </a:p>
          <a:p xmlns:a="http://schemas.openxmlformats.org/drawingml/2006/main">
            <a:r>
              <a:t>Memoria y temporales</a:t>
            </a:r>
          </a:p>
          <a:p xmlns:a="http://schemas.openxmlformats.org/drawingml/2006/main">
            <a:r>
              <a:t>¿Filtros, ordenamientos o joins?</a:t>
            </a:r>
          </a:p>
          <a:p xmlns:a="http://schemas.openxmlformats.org/drawingml/2006/main">
            <a:r>
              <a:t>Guardar y validar</a:t>
            </a:r>
          </a:p>
          <a:p xmlns:a="http://schemas.openxmlformats.org/drawingml/2006/main">
            <a:r>
              <a:t>Disco, CPU y control</a:t>
            </a:r>
          </a:p>
          <a:p xmlns:a="http://schemas.openxmlformats.org/drawingml/2006/main">
            <a:r>
              <a:t>¿Qué salida y qué evidencia quedan?</a:t>
            </a:r>
          </a:p>
          <a:p xmlns:a="http://schemas.openxmlformats.org/drawingml/2006/main">
            <a:r>
              <a:t>Un archivo en disco y una tabla materializada en RAM tienen tamaños distintos.</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Four-stage horizontal process: network cloud sending a file, disk being read, a CPU gear transforming a data grid, and a final stored file with a checkmark. Exactly four icons linked by left-to-right arrows. Large bold hand-drawn strokes, no text.</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Ejercicio teórico de telemetría. Datos ficticios: no son ampliaciones observadas de los archivos caso agroambiental. El promedio se calcula como suma/conteo sobre registros válidos. Limitar los grupos permite discutir agregación por bloques sin retener todas las filas.</a:t>
            </a:r>
          </a:p>
          <a:p xmlns:a="http://schemas.openxmlformats.org/drawingml/2006/main">
            <a:r>
              <a:t>Contenido ampliado de referencia:</a:t>
            </a:r>
          </a:p>
          <a:p xmlns:a="http://schemas.openxmlformats.org/drawingml/2006/main">
            <a:r>
              <a:t>El mismo problema en tres tamaños</a:t>
            </a:r>
          </a:p>
          <a:p xmlns:a="http://schemas.openxmlformats.org/drawingml/2006/main">
            <a:r>
              <a:t>BigData · Introducción y escalamiento · Sesión 1</a:t>
            </a:r>
          </a:p>
          <a:p xmlns:a="http://schemas.openxmlformats.org/drawingml/2006/main">
            <a:r>
              <a:t>18</a:t>
            </a:r>
          </a:p>
          <a:p xmlns:a="http://schemas.openxmlformats.org/drawingml/2006/main">
            <a:r>
              <a:t>Consulta fija</a:t>
            </a:r>
          </a:p>
          <a:p xmlns:a="http://schemas.openxmlformats.org/drawingml/2006/main">
            <a:r>
              <a:t>Calcular temperatura media y número de lecturas válidas por municipio y día, conservando el conteo de errores.</a:t>
            </a:r>
          </a:p>
          <a:p xmlns:a="http://schemas.openxmlformats.org/drawingml/2006/main">
            <a:r>
              <a:t>2 GB, 20 GB y 2 TB</a:t>
            </a:r>
          </a:p>
          <a:p xmlns:a="http://schemas.openxmlformats.org/drawingml/2006/main">
            <a:r>
              <a:t>CSV hipotéticos sin comprimir, con el mismo esquema, las mismas reglas y un máximo de 100.000 grupos.</a:t>
            </a:r>
          </a:p>
          <a:p xmlns:a="http://schemas.openxmlformats.org/drawingml/2006/main">
            <a:r>
              <a:t>Resultado equivalente</a:t>
            </a:r>
          </a:p>
          <a:p xmlns:a="http://schemas.openxmlformats.org/drawingml/2006/main">
            <a:r>
              <a:t>Cada estrategia debe dar los mismos conteos y promedios, salvo redondeos numéricos documentados.</a:t>
            </a:r>
          </a:p>
          <a:p xmlns:a="http://schemas.openxmlformats.org/drawingml/2006/main">
            <a:r>
              <a:t>Todos los tamaños y parámetros del ejercicio son supuestos</a:t>
            </a:r>
          </a:p>
          <a:p xmlns:a="http://schemas.openxmlformats.org/drawingml/2006/main">
            <a:r>
              <a:t>Prompt visual: Ilustración educativa sketch con tinta azul y acentos violeta, turquesa, ámbar y coral. Concepto: scale</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Todos los parámetros son hipótesis pedagógicas, no benchmarks ni especificaciones garantizadas. GB y TB decimales: 1 GB=1000 MB, 1 TB=1000 GB. RAM y disco se expresan en las mismas unidades para el ejercicio. Memoria=3D es una aproximación supuesta para materializar toda la tabla, no para un lector por bloques. Disco=3D es un presupuesto conjunto para originales, derivados y temporales, no una ley.</a:t>
            </a:r>
          </a:p>
          <a:p xmlns:a="http://schemas.openxmlformats.org/drawingml/2006/main">
            <a:r>
              <a:t>Contenido de referencia:</a:t>
            </a:r>
          </a:p>
          <a:p xmlns:a="http://schemas.openxmlformats.org/drawingml/2006/main">
            <a:r>
              <a:t>Supuestos del portátil</a:t>
            </a:r>
          </a:p>
          <a:p xmlns:a="http://schemas.openxmlformats.org/drawingml/2006/main">
            <a:r>
              <a:t>BigData · Introducción y escalamiento · Sesión 1</a:t>
            </a:r>
          </a:p>
          <a:p xmlns:a="http://schemas.openxmlformats.org/drawingml/2006/main">
            <a:r>
              <a:t>19</a:t>
            </a:r>
          </a:p>
          <a:p xmlns:a="http://schemas.openxmlformats.org/drawingml/2006/main">
            <a:r>
              <a:t>Recurso o regla</a:t>
            </a:r>
          </a:p>
          <a:p xmlns:a="http://schemas.openxmlformats.org/drawingml/2006/main">
            <a:r>
              <a:t>Supuesto para calcular</a:t>
            </a:r>
          </a:p>
          <a:p xmlns:a="http://schemas.openxmlformats.org/drawingml/2006/main">
            <a:r>
              <a:t>RAM disponible para el proceso</a:t>
            </a:r>
          </a:p>
          <a:p xmlns:a="http://schemas.openxmlformats.org/drawingml/2006/main">
            <a:r>
              <a:t>10 GB de un equipo con 16 GB</a:t>
            </a:r>
          </a:p>
          <a:p xmlns:a="http://schemas.openxmlformats.org/drawingml/2006/main">
            <a:r>
              <a:t>Espacio libre en SSD</a:t>
            </a:r>
          </a:p>
          <a:p xmlns:a="http://schemas.openxmlformats.org/drawingml/2006/main">
            <a:r>
              <a:t>300 GB</a:t>
            </a:r>
          </a:p>
          <a:p xmlns:a="http://schemas.openxmlformats.org/drawingml/2006/main">
            <a:r>
              <a:t>Red efectiva / lectura de SSD</a:t>
            </a:r>
          </a:p>
          <a:p xmlns:a="http://schemas.openxmlformats.org/drawingml/2006/main">
            <a:r>
              <a:t>100 Mbit/s = 12,5 MB/s / 500 MB/s</a:t>
            </a:r>
          </a:p>
          <a:p xmlns:a="http://schemas.openxmlformats.org/drawingml/2006/main">
            <a:r>
              <a:t>Procesamiento sostenido del CSV</a:t>
            </a:r>
          </a:p>
          <a:p xmlns:a="http://schemas.openxmlformats.org/drawingml/2006/main">
            <a:r>
              <a:t>100 MB/s, medidos sobre bytes de entrada</a:t>
            </a:r>
          </a:p>
          <a:p xmlns:a="http://schemas.openxmlformats.org/drawingml/2006/main">
            <a:r>
              <a:t>Memoria / presupuesto de disco</a:t>
            </a:r>
          </a:p>
          <a:p xmlns:a="http://schemas.openxmlformats.org/drawingml/2006/main">
            <a:r>
              <a:t>Materialización: 3 × D / disco de trabajo: 3 × D</a:t>
            </a:r>
          </a:p>
          <a:p xmlns:a="http://schemas.openxmlformats.org/drawingml/2006/main">
            <a:r>
              <a:t>D es el tamaño del CSV. GB, MB y TB decimales. Las tasas son efectivas supuestas.</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An open laptop in the center, a separate RAM chip at left, SSD drive below, network connector at right, CPU chip above. Simple short connecting lines show four different resources. No performance gauges or numbers. Clear hardware conceptual cutaway.</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total 35 minutos. Antes de revelar las siguientes diapositivas, pedir una matriz con tres escenarios y seis cálculos por escenario. Fórmulas: RAM=3D; disco=3D; T_red=D/12,5 MB/s; T_lectura=D/500 MB/s; T_proceso=D/100 MB/s. Evaluación: unidades correctas, restricción detectada, estrategia viable y límites. No se requiere descargar archivos ni instalar herramientas.</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Cálculos de referencia, supuestos del ejercicio: memoria=3D y disco=3D. Comparar con 10GB RAM y 300GB libres. En 2TB el original ya supera el disco libre, aun antes de derivados. El caso 2GB es viable según el modelo, pero se mide el pico real. Para20GB se puede procesar por bloques si el algoritmo y los temporales caben.</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Cálculos decimales exactos: D_MB=[2000,20000,2000000]. Descarga segundos=[160,1600,160000]; lectura=[4,40,4000]; proceso=[20,200,20000]. Son tiempos ideales para tasas sostenidas supuestas, no mediciones. La columna 2TB presupone almacenamiento adecuado o lectura remota: el portátil no dispone de espacio para el original. No sumar lectura y proceso si se solapan. Faltan arranque, escritura, controles y posibles relecturas.</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Capacidad calculada bajo los supuestos del ejercicio. Referencia técnica de procesamiento mayor que RAM: https://duckdb.org/docs/lts/guides/performance/how_to_tune_workloads. DuckDB admite spilling, pero algunas combinaciones de operaciones pueden agotar memoria. No garantiza viabilidad de cualquier consulta. La consulta remota puede ejecutarse en un servidor o servicio cercano a los datos.</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docente de algoritmos externos y distribuidos. El ejemplo conserva a lo sumo100000grupos por hipótesis. Sumas en coma flotante pueden diferir según el orden. La mediana exacta no se obtiene tomando la mediana de medianas de bloques. Referencia de operaciones externas: https://duckdb.org/docs/lts/guides/performance/how_to_tune_workloads</a:t>
            </a:r>
          </a:p>
          <a:p xmlns:a="http://schemas.openxmlformats.org/drawingml/2006/main">
            <a:r>
              <a:t>Contenido ampliado de referencia:</a:t>
            </a:r>
          </a:p>
          <a:p xmlns:a="http://schemas.openxmlformats.org/drawingml/2006/main">
            <a:r>
              <a:t>Por qué cambia el algoritmo</a:t>
            </a:r>
          </a:p>
          <a:p xmlns:a="http://schemas.openxmlformats.org/drawingml/2006/main">
            <a:r>
              <a:t>BigData · Introducción y escalamiento · Sesión 1</a:t>
            </a:r>
          </a:p>
          <a:p xmlns:a="http://schemas.openxmlformats.org/drawingml/2006/main">
            <a:r>
              <a:t>24</a:t>
            </a:r>
          </a:p>
          <a:p xmlns:a="http://schemas.openxmlformats.org/drawingml/2006/main">
            <a:r>
              <a:t>La media puede combinarse por bloques</a:t>
            </a:r>
          </a:p>
          <a:p xmlns:a="http://schemas.openxmlformats.org/drawingml/2006/main">
            <a:r>
              <a:t>Cada bloque aporta suma y conteo por grupo. La media final es suma total / conteo total, no la media simple de las medias.</a:t>
            </a:r>
          </a:p>
          <a:p xmlns:a="http://schemas.openxmlformats.org/drawingml/2006/main">
            <a:r>
              <a:t>El estado intermedio también importa</a:t>
            </a:r>
          </a:p>
          <a:p xmlns:a="http://schemas.openxmlformats.org/drawingml/2006/main">
            <a:r>
              <a:t>Con muchos grupos, un join grande o un ordenamiento global, los intermediarios pueden superar la RAM y escribir temporales.</a:t>
            </a:r>
          </a:p>
          <a:p xmlns:a="http://schemas.openxmlformats.org/drawingml/2006/main">
            <a:r>
              <a:t>El costo cambia de lugar</a:t>
            </a:r>
          </a:p>
          <a:p xmlns:a="http://schemas.openxmlformats.org/drawingml/2006/main">
            <a:r>
              <a:t>Aparecen más pasadas por disco, transferencia de datos, coordinación y recuperación de tareas fallidas.</a:t>
            </a:r>
          </a:p>
          <a:p xmlns:a="http://schemas.openxmlformats.org/drawingml/2006/main">
            <a:r>
              <a:t>Prompt visual: Ilustración educativa sketch con tinta azul y acentos violeta, turquesa, ámbar y coral. Concepto: blocks</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hipotético independiente. T_red=2000000/125=16000s. T_read=2000000/1000=2000s. T_proc=2000000/400=5000s. El servidor puede trabajar por bloques u out-of-core si la consulta y temporales caben. Un informe nocturno podría ser viable, sujeto a medir el pipeline completo. El barrido completo no cumple30min ni siquiera con datos ya locales: procesamiento83,3min.</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Cálculos hipotéticos: 1%×2000GB=20GB. 2000000MB/1800s=1111,11MB/s. Cuatro trabajadores independientes a400MB/s:2000000/1600=1250s. El modelo ideal asume reparto equilibrado, lectura paralela sin cuello compartido y ausencia de sobrecostos. Con datos remotos a100Mbit/s o1Gbit/s, la transferencia es un límite anterior. No confundir un filtro lógico con omitir físicamente archivos o grupos de filas.</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Hipótesis pedagógica. dB/dt=lambda-mu=20MB/s;3600×20=72000MB=72GB/h;300000/20=15000s=4h10min. Este cálculo solo modela el espacio de una cola temporal sin otras escrituras. No es una tasa observada de Rubin. Si lambda es menor que mu, la cola puede drenar. Debe existir margen para ráfagas y fallos.</a:t>
            </a:r>
          </a:p>
          <a:p xmlns:a="http://schemas.openxmlformats.org/drawingml/2006/main">
            <a:r>
              <a:t>Contenido ampliado de referencia:</a:t>
            </a:r>
          </a:p>
          <a:p xmlns:a="http://schemas.openxmlformats.org/drawingml/2006/main">
            <a:r>
              <a:t>Velocidad: cuando la entrada supera la salida</a:t>
            </a:r>
          </a:p>
          <a:p xmlns:a="http://schemas.openxmlformats.org/drawingml/2006/main">
            <a:r>
              <a:t>BigData · Introducción y escalamiento · Sesión 1</a:t>
            </a:r>
          </a:p>
          <a:p xmlns:a="http://schemas.openxmlformats.org/drawingml/2006/main">
            <a:r>
              <a:t>27</a:t>
            </a:r>
          </a:p>
          <a:p xmlns:a="http://schemas.openxmlformats.org/drawingml/2006/main">
            <a:r>
              <a:t>Entrada de 120 MB/s y proceso de 100 MB/s</a:t>
            </a:r>
          </a:p>
          <a:p xmlns:a="http://schemas.openxmlformats.org/drawingml/2006/main">
            <a:r>
              <a:t>Ejemplo hipotético con tasas sostenidas. El atraso aumenta 20 MB por segundo.</a:t>
            </a:r>
          </a:p>
          <a:p xmlns:a="http://schemas.openxmlformats.org/drawingml/2006/main">
            <a:r>
              <a:t>72 GB de atraso por hora</a:t>
            </a:r>
          </a:p>
          <a:p xmlns:a="http://schemas.openxmlformats.org/drawingml/2006/main">
            <a:r>
              <a:t>Un espacio libre de 300 GB se agotaría en unas 4 h 10 min si solo almacena esa cola y no hay otras ocupaciones.</a:t>
            </a:r>
          </a:p>
          <a:p xmlns:a="http://schemas.openxmlformats.org/drawingml/2006/main">
            <a:r>
              <a:t>La dinámica ahora es continua</a:t>
            </a:r>
          </a:p>
          <a:p xmlns:a="http://schemas.openxmlformats.org/drawingml/2006/main">
            <a:r>
              <a:t>Se requiere controlar la entrada, aumentar capacidad, reducir trabajo o revisar el plazo. Repetir un lote tarde no elimina el atraso.</a:t>
            </a:r>
          </a:p>
          <a:p xmlns:a="http://schemas.openxmlformats.org/drawingml/2006/main">
            <a:r>
              <a:t>Volumen acumulado y velocidad de llegada son restricciones distintas</a:t>
            </a:r>
          </a:p>
          <a:p xmlns:a="http://schemas.openxmlformats.org/drawingml/2006/main">
            <a:r>
              <a:t>Prompt visual: Ilustración educativa sketch con tinta azul y acentos violeta, turquesa, ámbar y coral. Concepto: queue</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Conclusión del ejercicio. Se espera que el estudiante distinga caber en disco de caber en RAM, tamaño lógico de bytes leídos y rendimiento ideal de observado. Un clúster no resuelve un enlace de red insuficiente, una clave incorrecta ni un sesgo de cobertura.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Escalamiento vertical y horizontal</a:t>
            </a:r>
          </a:p>
          <a:p xmlns:a="http://schemas.openxmlformats.org/drawingml/2006/main">
            <a:r>
              <a:t>Vertical</a:t>
            </a:r>
          </a:p>
          <a:p xmlns:a="http://schemas.openxmlformats.org/drawingml/2006/main">
            <a:r>
              <a:t>Más recursos en una máquina.</a:t>
            </a:r>
          </a:p>
          <a:p xmlns:a="http://schemas.openxmlformats.org/drawingml/2006/main">
            <a:r>
              <a:t>Operación sencilla, con límites físicos y de costo.</a:t>
            </a:r>
          </a:p>
          <a:p xmlns:a="http://schemas.openxmlformats.org/drawingml/2006/main">
            <a:r>
              <a:t>Horizontal</a:t>
            </a:r>
          </a:p>
          <a:p xmlns:a="http://schemas.openxmlformats.org/drawingml/2006/main">
            <a:r>
              <a:t>Trabajo repartido entre máquinas.</a:t>
            </a:r>
          </a:p>
          <a:p xmlns:a="http://schemas.openxmlformats.org/drawingml/2006/main">
            <a:r>
              <a:t>Exige partición, comunicación y coordinación.</a:t>
            </a:r>
          </a:p>
          <a:p xmlns:a="http://schemas.openxmlformats.org/drawingml/2006/main">
            <a:r>
              <a:t>Big Data · caso agroambiental · Sesión 1</a:t>
            </a:r>
          </a:p>
          <a:p xmlns:a="http://schemas.openxmlformats.org/drawingml/2006/main">
            <a:r>
              <a:t>30</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Compare scaling on two sides: left one single computer tower growing taller with more RAM chips and a large upward arrow; right three equal compact servers linked horizontally sharing a row of colored data blocks. Vertical growth versus horizontal distribution, no text no numbers. Clear spacious contrast.</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Latencia y throughput</a:t>
            </a:r>
          </a:p>
          <a:p xmlns:a="http://schemas.openxmlformats.org/drawingml/2006/main">
            <a:r>
              <a:t>Latencia</a:t>
            </a:r>
          </a:p>
          <a:p xmlns:a="http://schemas.openxmlformats.org/drawingml/2006/main">
            <a:r>
              <a:t>Tiempo entre una solicitud y su respuesta.</a:t>
            </a:r>
          </a:p>
          <a:p xmlns:a="http://schemas.openxmlformats.org/drawingml/2006/main">
            <a:r>
              <a:t>Ejemplo: segundos por consulta.</a:t>
            </a:r>
          </a:p>
          <a:p xmlns:a="http://schemas.openxmlformats.org/drawingml/2006/main">
            <a:r>
              <a:t>Throughput</a:t>
            </a:r>
          </a:p>
          <a:p xmlns:a="http://schemas.openxmlformats.org/drawingml/2006/main">
            <a:r>
              <a:t>Trabajo terminado por unidad de tiempo.</a:t>
            </a:r>
          </a:p>
          <a:p xmlns:a="http://schemas.openxmlformats.org/drawingml/2006/main">
            <a:r>
              <a:t>Ejemplo: eventos por segundo.</a:t>
            </a:r>
          </a:p>
          <a:p xmlns:a="http://schemas.openxmlformats.org/drawingml/2006/main">
            <a:r>
              <a:t>Big Data · caso agroambiental · Sesión 1</a:t>
            </a:r>
          </a:p>
          <a:p xmlns:a="http://schemas.openxmlformats.org/drawingml/2006/main">
            <a:r>
              <a:t>33</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Two horizontal conveyor scenes: upper follows one highlighted coral parcel from a request hand to a receiving hand with a stopwatch tracking its trip; lower shows many turquoise parcels leaving a broad processing belt during one wall-clock interval. Illustrate one-item response time versus total throughput. No text.</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Componentes de una solución de datos</a:t>
            </a:r>
          </a:p>
          <a:p xmlns:a="http://schemas.openxmlformats.org/drawingml/2006/main">
            <a:r>
              <a:t>La calidad y la trazabilidad acompañan todo el recorrido.</a:t>
            </a:r>
          </a:p>
          <a:p xmlns:a="http://schemas.openxmlformats.org/drawingml/2006/main">
            <a:r>
              <a:t>Big Data · caso agroambiental · Sesión 1</a:t>
            </a:r>
          </a:p>
          <a:p xmlns:a="http://schemas.openxmlformats.org/drawingml/2006/main">
            <a:r>
              <a:t>35</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A left-to-right data pipeline in five clear stages: diverse source files and sensor, download folder, quality inspection magnifying glass, processing gears with data table, final decision report. Simple arrows between five distinct objects. One thin dotted provenance trail runs under all stages. No text.</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S1:3; S2:3; S3:3–5. Actual S1:35–37.</a:t>
            </a:r>
          </a:p>
          <a:p xmlns:a="http://schemas.openxmlformats.org/drawingml/2006/main">
            <a:r>
              <a:t>Fuentes técnicas: </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Reintentos e idempotencia</a:t>
            </a:r>
          </a:p>
          <a:p xmlns:a="http://schemas.openxmlformats.org/drawingml/2006/main">
            <a:r>
              <a:t>Descarga repetida</a:t>
            </a:r>
          </a:p>
          <a:p xmlns:a="http://schemas.openxmlformats.org/drawingml/2006/main">
            <a:r>
              <a:t>Conservar el original si ya está presente y verificar su hash.</a:t>
            </a:r>
          </a:p>
          <a:p xmlns:a="http://schemas.openxmlformats.org/drawingml/2006/main">
            <a:r>
              <a:t>Salida reproducible</a:t>
            </a:r>
          </a:p>
          <a:p xmlns:a="http://schemas.openxmlformats.org/drawingml/2006/main">
            <a:r>
              <a:t>Mismos datos y reglas deben producir el mismo resultado.</a:t>
            </a:r>
          </a:p>
          <a:p xmlns:a="http://schemas.openxmlformats.org/drawingml/2006/main">
            <a:r>
              <a:t>Big Data · caso agroambiental · Sesión 1</a:t>
            </a:r>
          </a:p>
          <a:p xmlns:a="http://schemas.openxmlformats.org/drawingml/2006/main">
            <a:r>
              <a:t>37</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A download cloud at left sends the same single purple document twice along two looping arrows into a folder, but folder visibly contains just ONE matching purple document with a checkmark. Another small check compares fingerprints on original and stored document. Avoid creating two output documents. No labels.</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Taller: big-data-postgraduate/talleres/E01.md.</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 E01 Pregunta y procedencia</a:t>
            </a:r>
          </a:p>
          <a:p xmlns:a="http://schemas.openxmlformats.org/drawingml/2006/main">
            <a:r>
              <a:t>Sesión 1. Trabajo activo orientativo: 75 minutos, integrado con demostración y discusión según la agenda.</a:t>
            </a:r>
          </a:p>
          <a:p xmlns:a="http://schemas.openxmlformats.org/drawingml/2006/main">
            <a:r>
              <a:t>## Propósito</a:t>
            </a:r>
          </a:p>
          <a:p xmlns:a="http://schemas.openxmlformats.org/drawingml/2006/main">
            <a:r>
              <a:t>Convertir caso agroambiental en una pregunta de datos y distinguir observación, estimación y predicción. La decisión propuesta es priorizar territorios para revisión técnica, sin prescribir fertilización.</a:t>
            </a:r>
          </a:p>
          <a:p xmlns:a="http://schemas.openxmlformats.org/drawingml/2006/main">
            <a:r>
              <a:t>## Datos y descarga</a:t>
            </a:r>
          </a:p>
          <a:p xmlns:a="http://schemas.openxmlformats.org/drawingml/2006/main">
            <a:r>
              <a:t>D01 AGROSAVIA: agrosavia.csv, 20.380 MB, completo.</a:t>
            </a:r>
          </a:p>
          <a:p xmlns:a="http://schemas.openxmlformats.org/drawingml/2006/main">
            <a:r>
              <a:t>D05 EVA UPRA 2019 a 2025: eva.csv, 27.490 MB, completo.</a:t>
            </a:r>
          </a:p>
          <a:p xmlns:a="http://schemas.openxmlformats.org/drawingml/2006/main">
            <a:r>
              <a:t>D06 Correlación de suelos IGAC: igac_correlacion.json, 0.012 MB, muestra.</a:t>
            </a:r>
          </a:p>
          <a:p xmlns:a="http://schemas.openxmlformats.org/drawingml/2006/main">
            <a:r>
              <a:t>Con el kit completo ejecutar --verificar. Para obtener una nueva copia utilizar la ruta B del capítulo de descarga y los IDs indicados abajo. Los shapes DANE se descargan por navegador. Todas las URLs están en el catálogo y en fuentes.json.</a:t>
            </a:r>
          </a:p>
          <a:p xmlns:a="http://schemas.openxmlformats.org/drawingml/2006/main">
            <a:r>
              <a:t>```</a:t>
            </a:r>
          </a:p>
          <a:p xmlns:a="http://schemas.openxmlformats.org/drawingml/2006/main">
            <a:r>
              <a:t>python 00_datos.py --descargar agrosavia eva igac_correlacion</a:t>
            </a:r>
          </a:p>
          <a:p xmlns:a="http://schemas.openxmlformats.org/drawingml/2006/main">
            <a:r>
              <a:t>```</a:t>
            </a:r>
          </a:p>
          <a:p xmlns:a="http://schemas.openxmlformats.org/drawingml/2006/main">
            <a:r>
              <a:t>## Instrucciones</a:t>
            </a:r>
          </a:p>
          <a:p xmlns:a="http://schemas.openxmlformats.org/drawingml/2006/main">
            <a:r>
              <a:t>1. Leer la descripción y el alcance de D01, D05 y D06; consultar sus fuentes desde el catálogo.</a:t>
            </a:r>
          </a:p>
          <a:p xmlns:a="http://schemas.openxmlformats.org/drawingml/2006/main">
            <a:r>
              <a:t>2. Completar una ficha por fuente con entidad, unidad de observación, fecha, escala, licencia y pregunta posible.</a:t>
            </a:r>
          </a:p>
          <a:p xmlns:a="http://schemas.openxmlformats.org/drawingml/2006/main">
            <a:r>
              <a:t>3. Comparar una muestra de laboratorio, un registro cultivo–municipio–período y una unidad cartográfica. Escribir por qué no son filas intercambiables.</a:t>
            </a:r>
          </a:p>
          <a:p xmlns:a="http://schemas.openxmlformats.org/drawingml/2006/main">
            <a:r>
              <a:t>4. Formular una pregunta descriptiva, por ejemplo distribución del pH de muestras por municipio, y una de evaluación, por ejemplo estabilidad del rendimiento de un cultivo entre años.</a:t>
            </a:r>
          </a:p>
          <a:p xmlns:a="http://schemas.openxmlformats.org/drawingml/2006/main">
            <a:r>
              <a:t>5. Estimar almacenamiento y memoria usando el tamaño observado, sin duplicar filas para aparentar Big Data. Justificar una arquitectura inicial local.</a:t>
            </a:r>
          </a:p>
          <a:p xmlns:a="http://schemas.openxmlformats.org/drawingml/2006/main">
            <a:r>
              <a:t>## Ejecución</a:t>
            </a:r>
          </a:p>
          <a:p xmlns:a="http://schemas.openxmlformats.org/drawingml/2006/main">
            <a:r>
              <a:t>```</a:t>
            </a:r>
          </a:p>
          <a:p xmlns:a="http://schemas.openxmlformats.org/drawingml/2006/main">
            <a:r>
              <a:t>python 00_datos.py --listar</a:t>
            </a:r>
          </a:p>
          <a:p xmlns:a="http://schemas.openxmlformats.org/drawingml/2006/main">
            <a:r>
              <a:t>```</a:t>
            </a:r>
          </a:p>
          <a:p xmlns:a="http://schemas.openxmlformats.org/drawingml/2006/main">
            <a:r>
              <a:t>## Entrega y criterios</a:t>
            </a:r>
          </a:p>
          <a:p xmlns:a="http://schemas.openxmlformats.org/drawingml/2006/main">
            <a:r>
              <a:t>Material de referencia del profesor; entrega estudiantil el sábado. Debe distinguir datos propios del proyecto de fuentes abiertas externas.</a:t>
            </a:r>
          </a:p>
          <a:p xmlns:a="http://schemas.openxmlformats.org/drawingml/2006/main">
            <a:r>
              <a:t>## Advertencia de interpretación</a:t>
            </a:r>
          </a:p>
          <a:p xmlns:a="http://schemas.openxmlformats.org/drawingml/2006/main">
            <a:r>
              <a:t>No afirmar que todo municipio está muestreado ni que cada análisis corresponde a una parcela única. Los diez registros de correlación IGAC solo permiten explorar su esquema.</a:t>
            </a:r>
          </a:p>
          <a:p xmlns:a="http://schemas.openxmlformats.org/drawingml/2006/main">
            <a:r>
              <a:t>## Ampliación dentro del bloque</a:t>
            </a:r>
          </a:p>
          <a:p xmlns:a="http://schemas.openxmlformats.org/drawingml/2006/main">
            <a:r>
              <a:t>Explicar qué exigencia de actualización o concurrencia justificaría abandonar la arquitectura local.</a:t>
            </a:r>
          </a:p>
          <a:p xmlns:a="http://schemas.openxmlformats.org/drawingml/2006/main">
            <a:r>
              <a:t>[Índice del curso](../README.md) · [Catálogo de datos](../docs/datasets.md) · [Descarga y entorno](../docs/entorno.md) · [Manifiesto](../kit/fuentes.json).</a:t>
            </a:r>
          </a:p>
          <a:p xmlns:a="http://schemas.openxmlformats.org/drawingml/2006/main">
            <a:r>
              <a:t>Ejecutar comandos de terminal desde `kit/`; los fragmentos que contienen `import`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ibm: https://www.ibm.com/think/topics/big-data</a:t>
            </a:r>
          </a:p>
          <a:p xmlns:a="http://schemas.openxmlformats.org/drawingml/2006/main">
            <a:r>
              <a:t>cern: https://indico.cern.ch/event/1483636/contributions/6379741/attachments/3035040/5369074/CERN%20Perspective%20on%20Tape%20Technology%20Evolution.pdf</a:t>
            </a:r>
          </a:p>
          <a:p xmlns:a="http://schemas.openxmlformats.org/drawingml/2006/main">
            <a:r>
              <a:t>exa: https://home.cern/cern-hits-one-exabyte-stored-experimental-data-lhc/</a:t>
            </a:r>
          </a:p>
          <a:p xmlns:a="http://schemas.openxmlformats.org/drawingml/2006/main">
            <a:r>
              <a:t>rubin: https://www.nsf.gov/news/nsf-doe-vera-c-rubin-observatory-launches-real-time</a:t>
            </a:r>
          </a:p>
          <a:p xmlns:a="http://schemas.openxmlformats.org/drawingml/2006/main">
            <a:r>
              <a:t>duck: https://duckdb.org/docs/lts/guides/performance/how_to_tune_workloads</a:t>
            </a:r>
          </a:p>
          <a:p xmlns:a="http://schemas.openxmlformats.org/drawingml/2006/main">
            <a:r>
              <a:t>Consulta de fuentes: 2 de octubre de 2026. Los supuestos numéricos no son benchmarks.</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[["18:00–18:20","Explicación / demostración docente: Organización, diagnóstico y unidades de los dos dominios"],["18:20–19:35","Explicación / demostración docente: Cinco V y T01: cálculo de 2 GB, 20 GB y 2 TB"],["19:35–20:00","Explicación / demostración docente: Restricciones, escalamiento y Amdahl"],["20:00–20:15","Coffee break"],["20:15–21:30","Explicación / demostración docente: E01: casos, procedencia, ciclo de vida y ficha"],["21:30–22:00","Explicación / demostración docente: Discusión y cierre"]]</a:t>
            </a:r>
          </a:p>
          <a:p xmlns:a="http://schemas.openxmlformats.org/drawingml/2006/main">
            <a:r>
              <a:t>Entrega: 2026-10-03 16:45–17:00.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d0057c28cb46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a8b1d760ef4218" /><Relationship Type="http://schemas.openxmlformats.org/officeDocument/2006/relationships/slideLayout" Target="/ppt/slideLayouts/slideLayout1.xml" Id="R688d32c6af6c49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8d32c6af6c49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1c0686af4845e7" /><Relationship Type="http://schemas.openxmlformats.org/officeDocument/2006/relationships/image" Target="/ppt/media/image.png" Id="R2512242553f54738" /><Relationship Type="http://schemas.openxmlformats.org/officeDocument/2006/relationships/image" Target="/ppt/media/image2.png" Id="Rb4f044ba41cf4728" /><Relationship Type="http://schemas.openxmlformats.org/officeDocument/2006/relationships/notesSlide" Target="/ppt/notesSlides/notesSlide1.xml" Id="R602c5291781245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26b0e5a33d47ef" /><Relationship Type="http://schemas.openxmlformats.org/officeDocument/2006/relationships/image" Target="/ppt/media/image3.png" Id="R41ed1add7e7c479a" /><Relationship Type="http://schemas.openxmlformats.org/officeDocument/2006/relationships/notesSlide" Target="/ppt/notesSlides/notesSlide2.xml" Id="Rc53ef05f8a5143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249abe512145ce" /><Relationship Type="http://schemas.openxmlformats.org/officeDocument/2006/relationships/image" Target="/ppt/media/image4.png" Id="R33aa2cafd0254040" /><Relationship Type="http://schemas.openxmlformats.org/officeDocument/2006/relationships/notesSlide" Target="/ppt/notesSlides/notesSlide3.xml" Id="R2429d97c0a4542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462b8f2aa649f4" /><Relationship Type="http://schemas.openxmlformats.org/officeDocument/2006/relationships/image" Target="/ppt/media/image5.png" Id="Rdb9b0b52869447d3" /><Relationship Type="http://schemas.openxmlformats.org/officeDocument/2006/relationships/notesSlide" Target="/ppt/notesSlides/notesSlide4.xml" Id="Rbc107eab378448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e86933acb24363" /><Relationship Type="http://schemas.openxmlformats.org/officeDocument/2006/relationships/image" Target="/ppt/media/image6.png" Id="R556e2b3c05a1481d" /><Relationship Type="http://schemas.openxmlformats.org/officeDocument/2006/relationships/image" Target="/ppt/media/image7.png" Id="R80f2ff856305487f" /><Relationship Type="http://schemas.openxmlformats.org/officeDocument/2006/relationships/notesSlide" Target="/ppt/notesSlides/notesSlide5.xml" Id="Rf30ceb1483b348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bec97dd44940ad" /><Relationship Type="http://schemas.openxmlformats.org/officeDocument/2006/relationships/image" Target="/ppt/media/image8.png" Id="R4e463cef55274b2f" /><Relationship Type="http://schemas.openxmlformats.org/officeDocument/2006/relationships/notesSlide" Target="/ppt/notesSlides/notesSlide6.xml" Id="Rdf37d6e651b249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53c4992a144e82" /><Relationship Type="http://schemas.openxmlformats.org/officeDocument/2006/relationships/image" Target="/ppt/media/image9.png" Id="Rea2fcca882f04aac" /><Relationship Type="http://schemas.openxmlformats.org/officeDocument/2006/relationships/image" Target="/ppt/media/image10.png" Id="R095590c7ba364a58" /><Relationship Type="http://schemas.openxmlformats.org/officeDocument/2006/relationships/notesSlide" Target="/ppt/notesSlides/notesSlide7.xml" Id="R888258deb38f45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5b1dbe201d4939" /><Relationship Type="http://schemas.openxmlformats.org/officeDocument/2006/relationships/image" Target="/ppt/media/image11.png" Id="R8bb450b2f67048e3" /><Relationship Type="http://schemas.openxmlformats.org/officeDocument/2006/relationships/image" Target="/ppt/media/image12.png" Id="Rf754f9514afa47ae" /><Relationship Type="http://schemas.openxmlformats.org/officeDocument/2006/relationships/notesSlide" Target="/ppt/notesSlides/notesSlide8.xml" Id="Rf1737d0eb97b4f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cdcfd6d48e4027" /><Relationship Type="http://schemas.openxmlformats.org/officeDocument/2006/relationships/image" Target="/ppt/media/image13.png" Id="Rac7458bff4044502" /><Relationship Type="http://schemas.openxmlformats.org/officeDocument/2006/relationships/chart" Target="/ppt/slides/charts/chart1.xml" Id="Rd805d4522b1549be" /><Relationship Type="http://schemas.openxmlformats.org/officeDocument/2006/relationships/notesSlide" Target="/ppt/notesSlides/notesSlide9.xml" Id="R4efee717280640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494d1cf14342b0" /><Relationship Type="http://schemas.openxmlformats.org/officeDocument/2006/relationships/image" Target="/ppt/media/image14.png" Id="R7301e0aef6654f06" /><Relationship Type="http://schemas.openxmlformats.org/officeDocument/2006/relationships/image" Target="/ppt/media/image15.png" Id="Rdefbd8e999424ccc" /><Relationship Type="http://schemas.openxmlformats.org/officeDocument/2006/relationships/notesSlide" Target="/ppt/notesSlides/notesSlide10.xml" Id="R0160f36ef8294d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24ffa6ea3f4de1" /><Relationship Type="http://schemas.openxmlformats.org/officeDocument/2006/relationships/image" Target="/ppt/media/image16.png" Id="Rf43b0d1c168348ee" /><Relationship Type="http://schemas.openxmlformats.org/officeDocument/2006/relationships/image" Target="/ppt/media/image17.png" Id="R6baeb70bbb7b4c3f" /><Relationship Type="http://schemas.openxmlformats.org/officeDocument/2006/relationships/notesSlide" Target="/ppt/notesSlides/notesSlide11.xml" Id="Rfd2dd77990b049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7a112777784ebe" /><Relationship Type="http://schemas.openxmlformats.org/officeDocument/2006/relationships/image" Target="/ppt/media/image18.png" Id="Rf5821fcef2e14389" /><Relationship Type="http://schemas.openxmlformats.org/officeDocument/2006/relationships/image" Target="/ppt/media/image19.png" Id="Rb314ef5b4eaf4865" /><Relationship Type="http://schemas.openxmlformats.org/officeDocument/2006/relationships/notesSlide" Target="/ppt/notesSlides/notesSlide12.xml" Id="Rc3cb7b4e017345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2991c040c2487d" /><Relationship Type="http://schemas.openxmlformats.org/officeDocument/2006/relationships/image" Target="/ppt/media/image20.png" Id="R420ebbebe10d48ac" /><Relationship Type="http://schemas.openxmlformats.org/officeDocument/2006/relationships/image" Target="/ppt/media/image21.png" Id="Rbfb9713704f94b2f" /><Relationship Type="http://schemas.openxmlformats.org/officeDocument/2006/relationships/notesSlide" Target="/ppt/notesSlides/notesSlide13.xml" Id="Rc8ec0f333c0449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cdb0e4aca44461" /><Relationship Type="http://schemas.openxmlformats.org/officeDocument/2006/relationships/image" Target="/ppt/media/image22.png" Id="Rf72af0afc0964ff7" /><Relationship Type="http://schemas.openxmlformats.org/officeDocument/2006/relationships/notesSlide" Target="/ppt/notesSlides/notesSlide14.xml" Id="R98efa8e947a74d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f432d3feaa4516" /><Relationship Type="http://schemas.openxmlformats.org/officeDocument/2006/relationships/image" Target="/ppt/media/image23.png" Id="Rb469cc0879b74625" /><Relationship Type="http://schemas.openxmlformats.org/officeDocument/2006/relationships/notesSlide" Target="/ppt/notesSlides/notesSlide15.xml" Id="R8fa602af25eb49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f8a794cf264943" /><Relationship Type="http://schemas.openxmlformats.org/officeDocument/2006/relationships/image" Target="/ppt/media/image24.png" Id="Rf348ebc7fd064835" /><Relationship Type="http://schemas.openxmlformats.org/officeDocument/2006/relationships/image" Target="/ppt/media/image25.png" Id="Rbf9e20a08b824e3a" /><Relationship Type="http://schemas.openxmlformats.org/officeDocument/2006/relationships/notesSlide" Target="/ppt/notesSlides/notesSlide16.xml" Id="Rdc8c1ca15a0141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9839720922841be" /><Relationship Type="http://schemas.openxmlformats.org/officeDocument/2006/relationships/image" Target="/ppt/media/image26.png" Id="Rc09baf4763804833" /><Relationship Type="http://schemas.openxmlformats.org/officeDocument/2006/relationships/image" Target="/ppt/media/image27.png" Id="R41e113b44ebc4fba" /><Relationship Type="http://schemas.openxmlformats.org/officeDocument/2006/relationships/notesSlide" Target="/ppt/notesSlides/notesSlide17.xml" Id="Ra709935267cb40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a01c1bf82434b94" /><Relationship Type="http://schemas.openxmlformats.org/officeDocument/2006/relationships/image" Target="/ppt/media/image28.png" Id="R7185ccbe095f4aea" /><Relationship Type="http://schemas.openxmlformats.org/officeDocument/2006/relationships/image" Target="/ppt/media/image29.png" Id="R699ce2879e2445a5" /><Relationship Type="http://schemas.openxmlformats.org/officeDocument/2006/relationships/notesSlide" Target="/ppt/notesSlides/notesSlide18.xml" Id="R0be5ff0bd8af46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a0043d1203048cf" /><Relationship Type="http://schemas.openxmlformats.org/officeDocument/2006/relationships/image" Target="/ppt/media/image30.png" Id="R5b61aa6e10a14b57" /><Relationship Type="http://schemas.openxmlformats.org/officeDocument/2006/relationships/image" Target="/ppt/media/image31.png" Id="R6f215c807a0744b0" /><Relationship Type="http://schemas.openxmlformats.org/officeDocument/2006/relationships/notesSlide" Target="/ppt/notesSlides/notesSlide19.xml" Id="R15f855802960456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0ab7f4540d848b9" /><Relationship Type="http://schemas.openxmlformats.org/officeDocument/2006/relationships/image" Target="/ppt/media/image32.png" Id="R6e55385651c84446" /><Relationship Type="http://schemas.openxmlformats.org/officeDocument/2006/relationships/image" Target="/ppt/media/image33.png" Id="Rc50acc54841643d9" /><Relationship Type="http://schemas.openxmlformats.org/officeDocument/2006/relationships/notesSlide" Target="/ppt/notesSlides/notesSlide20.xml" Id="R69c3d67b0b3a478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a2767d26c624515" /><Relationship Type="http://schemas.openxmlformats.org/officeDocument/2006/relationships/image" Target="/ppt/media/image34.png" Id="R58a54f7e7080446e" /><Relationship Type="http://schemas.openxmlformats.org/officeDocument/2006/relationships/notesSlide" Target="/ppt/notesSlides/notesSlide21.xml" Id="Rcc9fb2d88ae54d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a62dd15dced4127" /><Relationship Type="http://schemas.openxmlformats.org/officeDocument/2006/relationships/image" Target="/ppt/media/image35.png" Id="R0769079ab71a4c06" /><Relationship Type="http://schemas.openxmlformats.org/officeDocument/2006/relationships/notesSlide" Target="/ppt/notesSlides/notesSlide22.xml" Id="Re8c8ffe4872b49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7da07dcb1eb47c8" /><Relationship Type="http://schemas.openxmlformats.org/officeDocument/2006/relationships/image" Target="/ppt/media/image36.png" Id="R5faaa0f1fd4d4b24" /><Relationship Type="http://schemas.openxmlformats.org/officeDocument/2006/relationships/notesSlide" Target="/ppt/notesSlides/notesSlide23.xml" Id="R4aab7a0d7e2a4a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33d767de930444a" /><Relationship Type="http://schemas.openxmlformats.org/officeDocument/2006/relationships/image" Target="/ppt/media/image37.png" Id="Rc11ce65c3c984b5b" /><Relationship Type="http://schemas.openxmlformats.org/officeDocument/2006/relationships/notesSlide" Target="/ppt/notesSlides/notesSlide24.xml" Id="R3036343735f64eb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2e1c57311484b52" /><Relationship Type="http://schemas.openxmlformats.org/officeDocument/2006/relationships/image" Target="/ppt/media/image38.png" Id="R3156af8a39ea49ba" /><Relationship Type="http://schemas.openxmlformats.org/officeDocument/2006/relationships/image" Target="/ppt/media/image39.png" Id="R3640868ec9e24b0e" /><Relationship Type="http://schemas.openxmlformats.org/officeDocument/2006/relationships/notesSlide" Target="/ppt/notesSlides/notesSlide25.xml" Id="R9e6dfe4294eb447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068bd0e6f5c4cda" /><Relationship Type="http://schemas.openxmlformats.org/officeDocument/2006/relationships/image" Target="/ppt/media/image40.png" Id="R588a255616004e13" /><Relationship Type="http://schemas.openxmlformats.org/officeDocument/2006/relationships/notesSlide" Target="/ppt/notesSlides/notesSlide26.xml" Id="Rd130523aa51e4ca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58a5ba36c804cb6" /><Relationship Type="http://schemas.openxmlformats.org/officeDocument/2006/relationships/image" Target="/ppt/media/image41.png" Id="R65540a188f1840ab" /><Relationship Type="http://schemas.openxmlformats.org/officeDocument/2006/relationships/notesSlide" Target="/ppt/notesSlides/notesSlide27.xml" Id="Rbbb720bea00b4d9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3a5b9a13a5148f9" /><Relationship Type="http://schemas.openxmlformats.org/officeDocument/2006/relationships/image" Target="/ppt/media/image42.png" Id="Rf3f0621ee03c4339" /><Relationship Type="http://schemas.openxmlformats.org/officeDocument/2006/relationships/image" Target="/ppt/media/image43.png" Id="R2d6e52b9652d4d21" /><Relationship Type="http://schemas.openxmlformats.org/officeDocument/2006/relationships/notesSlide" Target="/ppt/notesSlides/notesSlide28.xml" Id="R5f2fdce04c2c4b4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3ce830236e84305" /><Relationship Type="http://schemas.openxmlformats.org/officeDocument/2006/relationships/image" Target="/ppt/media/image44.png" Id="R06696fa2913442ab" /><Relationship Type="http://schemas.openxmlformats.org/officeDocument/2006/relationships/notesSlide" Target="/ppt/notesSlides/notesSlide29.xml" Id="Rff71c0cbad284fc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13c75eff89e4466" /><Relationship Type="http://schemas.openxmlformats.org/officeDocument/2006/relationships/image" Target="/ppt/media/image45.png" Id="R50c08b5e650c4cd1" /><Relationship Type="http://schemas.openxmlformats.org/officeDocument/2006/relationships/notesSlide" Target="/ppt/notesSlides/notesSlide30.xml" Id="R9505f399d63f429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1aa8bb41cbc4060" /><Relationship Type="http://schemas.openxmlformats.org/officeDocument/2006/relationships/image" Target="/ppt/media/image46.png" Id="Ra37d2a87873e406f" /><Relationship Type="http://schemas.openxmlformats.org/officeDocument/2006/relationships/image" Target="/ppt/media/image47.png" Id="R6ba152a1b1a244bf" /><Relationship Type="http://schemas.openxmlformats.org/officeDocument/2006/relationships/notesSlide" Target="/ppt/notesSlides/notesSlide31.xml" Id="R78f3104b7dad425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bafaa9121fa4669" /><Relationship Type="http://schemas.openxmlformats.org/officeDocument/2006/relationships/image" Target="/ppt/media/image48.png" Id="R98a9960b64a44562" /><Relationship Type="http://schemas.openxmlformats.org/officeDocument/2006/relationships/notesSlide" Target="/ppt/notesSlides/notesSlide32.xml" Id="R492ffd0d5ee748b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bfe6cea18ae4912" /><Relationship Type="http://schemas.openxmlformats.org/officeDocument/2006/relationships/image" Target="/ppt/media/image49.png" Id="Rea21a2b93ef24710" /><Relationship Type="http://schemas.openxmlformats.org/officeDocument/2006/relationships/chart" Target="/ppt/slides/charts/chart2.xml" Id="Rf0747b985ad34437" /><Relationship Type="http://schemas.openxmlformats.org/officeDocument/2006/relationships/notesSlide" Target="/ppt/notesSlides/notesSlide33.xml" Id="Rfec6f59da7774f8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05b33ad7e634721" /><Relationship Type="http://schemas.openxmlformats.org/officeDocument/2006/relationships/image" Target="/ppt/media/image50.png" Id="Ra2ed31063d934031" /><Relationship Type="http://schemas.openxmlformats.org/officeDocument/2006/relationships/image" Target="/ppt/media/image51.png" Id="R0877a7be8ad24df5" /><Relationship Type="http://schemas.openxmlformats.org/officeDocument/2006/relationships/notesSlide" Target="/ppt/notesSlides/notesSlide34.xml" Id="R0d9246311005494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94df97b5cf6463b" /><Relationship Type="http://schemas.openxmlformats.org/officeDocument/2006/relationships/image" Target="/ppt/media/image52.png" Id="Rc219dd7772df4f62" /><Relationship Type="http://schemas.openxmlformats.org/officeDocument/2006/relationships/notesSlide" Target="/ppt/notesSlides/notesSlide35.xml" Id="Re3e96135a53048d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20c27ce548f4636" /><Relationship Type="http://schemas.openxmlformats.org/officeDocument/2006/relationships/image" Target="/ppt/media/image53.png" Id="R8b54cd27d5cf4e3a" /><Relationship Type="http://schemas.openxmlformats.org/officeDocument/2006/relationships/notesSlide" Target="/ppt/notesSlides/notesSlide36.xml" Id="R0543536e758d4fa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e73a3f473894619" /><Relationship Type="http://schemas.openxmlformats.org/officeDocument/2006/relationships/image" Target="/ppt/media/image54.png" Id="R971f3a9314a948b5" /><Relationship Type="http://schemas.openxmlformats.org/officeDocument/2006/relationships/image" Target="/ppt/media/image55.png" Id="R9f2f830a730346bc" /><Relationship Type="http://schemas.openxmlformats.org/officeDocument/2006/relationships/notesSlide" Target="/ppt/notesSlides/notesSlide37.xml" Id="R93a62ac7a2c942e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daffc25dc0447c7" /><Relationship Type="http://schemas.openxmlformats.org/officeDocument/2006/relationships/image" Target="/ppt/media/image56.png" Id="R536c0183418547b1" /><Relationship Type="http://schemas.openxmlformats.org/officeDocument/2006/relationships/notesSlide" Target="/ppt/notesSlides/notesSlide38.xml" Id="R7a127bf7172d472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4255a653b854d95" /><Relationship Type="http://schemas.openxmlformats.org/officeDocument/2006/relationships/image" Target="/ppt/media/image57.png" Id="Rdac34a9c977947b1" /><Relationship Type="http://schemas.openxmlformats.org/officeDocument/2006/relationships/notesSlide" Target="/ppt/notesSlides/notesSlide39.xml" Id="Raf77855178b247c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0c2f34145374bcc" /><Relationship Type="http://schemas.openxmlformats.org/officeDocument/2006/relationships/image" Target="/ppt/media/image58.png" Id="R746e1681118643fe" /><Relationship Type="http://schemas.openxmlformats.org/officeDocument/2006/relationships/image" Target="/ppt/media/image59.png" Id="R04f649f7bea045c8" /><Relationship Type="http://schemas.openxmlformats.org/officeDocument/2006/relationships/notesSlide" Target="/ppt/notesSlides/notesSlide40.xml" Id="R5413939024174d5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fd74464e3744121" /><Relationship Type="http://schemas.openxmlformats.org/officeDocument/2006/relationships/image" Target="/ppt/media/image60.png" Id="R195250a5185549b8" /><Relationship Type="http://schemas.openxmlformats.org/officeDocument/2006/relationships/notesSlide" Target="/ppt/notesSlides/notesSlide41.xml" Id="R8f8c2ec2fae1488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91f481ffdfb45bd" /><Relationship Type="http://schemas.openxmlformats.org/officeDocument/2006/relationships/image" Target="/ppt/media/image61.png" Id="R489e8fcb5bf84e3c" /><Relationship Type="http://schemas.openxmlformats.org/officeDocument/2006/relationships/notesSlide" Target="/ppt/notesSlides/notesSlide42.xml" Id="R1adad2f404b3464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dcfe9e711e74dc4" /><Relationship Type="http://schemas.openxmlformats.org/officeDocument/2006/relationships/image" Target="/ppt/media/image62.png" Id="R970bf8be1b474a2c" /><Relationship Type="http://schemas.openxmlformats.org/officeDocument/2006/relationships/notesSlide" Target="/ppt/notesSlides/notesSlide43.xml" Id="R329eec76956c46d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c2f35fe1b7a4dd8" /><Relationship Type="http://schemas.openxmlformats.org/officeDocument/2006/relationships/image" Target="/ppt/media/image63.png" Id="Rc821c9de0c4b4e93" /><Relationship Type="http://schemas.openxmlformats.org/officeDocument/2006/relationships/notesSlide" Target="/ppt/notesSlides/notesSlide44.xml" Id="R092b0754fb514e4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PB de datos brutos</c:v>
          </c:tx>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idx val="0"/>
            <c:invertIfNegative val="0"/>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dPt>
            <c:idx val="1"/>
            <c:invertIfNegative val="0"/>
            <c:spPr>
              <ns0:pattFill xmlns:ns0="http://schemas.openxmlformats.org/drawingml/2006/main" prst="ltDnDiag">
                <ns0:fgClr>
                  <ns0:srgbClr val="7662EE"/>
                </ns0:fgClr>
                <ns0:bgClr>
                  <ns0:srgbClr val="F5FAFD"/>
                </ns0:bgClr>
              </ns0:pattFill>
              <a:ln xmlns:a="http://schemas.openxmlformats.org/drawingml/2006/main" w="19050">
                <a:solidFill>
                  <a:srgbClr val="203B68"/>
                </a:solidFill>
              </a:ln>
            </c:spPr>
          </c:dPt>
          <c:dPt>
            <c:idx val="2"/>
            <c:invertIfNegative val="0"/>
            <c:spPr>
              <ns0:pattFill xmlns:ns0="http://schemas.openxmlformats.org/drawingml/2006/main" prst="ltDnDiag">
                <ns0:fgClr>
                  <ns0:srgbClr val="FFBF47"/>
                </ns0:fgClr>
                <ns0:bgClr>
                  <ns0:srgbClr val="F5FAFD"/>
                </ns0:bgClr>
              </ns0:pattFill>
              <a:ln xmlns:a="http://schemas.openxmlformats.org/drawingml/2006/main" w="19050">
                <a:solidFill>
                  <a:srgbClr val="203B68"/>
                </a:solidFill>
              </a:ln>
            </c:spPr>
          </c:dPt>
          <c:dLbls>
            <c:dLbl>
              <c:idx val="0"/>
              <c:tx>
                <c:rich>
                  <a:bodyPr xmlns:a="http://schemas.openxmlformats.org/drawingml/2006/main"/>
                  <a:lstStyle xmlns:a="http://schemas.openxmlformats.org/drawingml/2006/main"/>
                  <a:p xmlns:a="http://schemas.openxmlformats.org/drawingml/2006/main">
                    <a:r>
                      <a:rPr/>
                      <a:t>40</a:t>
                    </a:r>
                  </a:p>
                </c:rich>
              </c:tx>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100</a:t>
                    </a:r>
                  </a:p>
                </c:rich>
              </c:tx>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a:t>220</a:t>
                    </a:r>
                  </a:p>
                </c:rich>
              </c:tx>
              <c:dLblPos val="outEnd"/>
              <c:showLegendKey val="0"/>
              <c:showVal val="0"/>
              <c:showCatName val="0"/>
              <c:showSerName val="0"/>
              <c:showPercent val="0"/>
              <c:showBubbleSize val="0"/>
            </c:dLbl>
          </c:dLbls>
          <c:cat>
            <c:numRef>
              <c:f>'Chart Data'!$A$2:$A$4</c:f>
              <c:numCache>
                <c:formatCode>General</c:formatCode>
                <c:ptCount val="3"/>
                <c:pt idx="0">
                  <c:v>2022</c:v>
                </c:pt>
                <c:pt idx="1">
                  <c:v>2023</c:v>
                </c:pt>
                <c:pt idx="2">
                  <c:v>2024</c:v>
                </c:pt>
              </c:numCache>
            </c:numRef>
          </c:cat>
          <c:val>
            <c:numRef>
              <c:f>'Chart Data'!$B$2:$B$4</c:f>
              <c:numCache>
                <c:formatCode>0</c:formatCode>
                <c:ptCount val="3"/>
                <c:pt idx="0">
                  <c:v>40</c:v>
                </c:pt>
                <c:pt idx="1">
                  <c:v>100</c:v>
                </c:pt>
                <c:pt idx="2">
                  <c:v>220</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Año</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PB de datos brutos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Aceleración</c:v>
          </c:tx>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idx val="0"/>
            <c:invertIfNegative val="0"/>
            <c:spPr>
              <ns0:pattFill xmlns:ns0="http://schemas.openxmlformats.org/drawingml/2006/main" prst="ltDnDiag">
                <ns0:fgClr>
                  <ns0:srgbClr val="18B8AC"/>
                </ns0:fgClr>
                <ns0:bgClr>
                  <ns0:srgbClr val="F5FAFD"/>
                </ns0:bgClr>
              </ns0:pattFill>
              <a:ln xmlns:a="http://schemas.openxmlformats.org/drawingml/2006/main" w="19050">
                <a:solidFill>
                  <a:srgbClr val="203B68"/>
                </a:solidFill>
              </a:ln>
            </c:spPr>
          </c:dPt>
          <c:dPt>
            <c:idx val="1"/>
            <c:invertIfNegative val="0"/>
            <c:spPr>
              <ns0:pattFill xmlns:ns0="http://schemas.openxmlformats.org/drawingml/2006/main" prst="ltDnDiag">
                <ns0:fgClr>
                  <ns0:srgbClr val="7662EE"/>
                </ns0:fgClr>
                <ns0:bgClr>
                  <ns0:srgbClr val="F5FAFD"/>
                </ns0:bgClr>
              </ns0:pattFill>
              <a:ln xmlns:a="http://schemas.openxmlformats.org/drawingml/2006/main" w="19050">
                <a:solidFill>
                  <a:srgbClr val="203B68"/>
                </a:solidFill>
              </a:ln>
            </c:spPr>
          </c:dPt>
          <c:dPt>
            <c:idx val="2"/>
            <c:invertIfNegative val="0"/>
            <c:spPr>
              <ns0:pattFill xmlns:ns0="http://schemas.openxmlformats.org/drawingml/2006/main" prst="ltDnDiag">
                <ns0:fgClr>
                  <ns0:srgbClr val="FFBF47"/>
                </ns0:fgClr>
                <ns0:bgClr>
                  <ns0:srgbClr val="F5FAFD"/>
                </ns0:bgClr>
              </ns0:pattFill>
              <a:ln xmlns:a="http://schemas.openxmlformats.org/drawingml/2006/main" w="19050">
                <a:solidFill>
                  <a:srgbClr val="203B68"/>
                </a:solidFill>
              </a:ln>
            </c:spPr>
          </c:dPt>
          <c:dPt>
            <c:idx val="3"/>
            <c:invertIfNegative val="0"/>
            <c:spPr>
              <ns0:pattFill xmlns:ns0="http://schemas.openxmlformats.org/drawingml/2006/main" prst="ltDnDiag">
                <ns0:fgClr>
                  <ns0:srgbClr val="F26A61"/>
                </ns0:fgClr>
                <ns0:bgClr>
                  <ns0:srgbClr val="F5FAFD"/>
                </ns0:bgClr>
              </ns0:pattFill>
              <a:ln xmlns:a="http://schemas.openxmlformats.org/drawingml/2006/main" w="19050">
                <a:solidFill>
                  <a:srgbClr val="203B68"/>
                </a:solidFill>
              </a:ln>
            </c:spPr>
          </c:dPt>
          <c:dPt>
            <c:idx val="4"/>
            <c:invertIfNegative val="0"/>
            <c:spPr>
              <ns0:pattFill xmlns:ns0="http://schemas.openxmlformats.org/drawingml/2006/main" prst="ltDnDiag">
                <ns0:fgClr>
                  <ns0:srgbClr val="76BED9"/>
                </ns0:fgClr>
                <ns0:bgClr>
                  <ns0:srgbClr val="F5FAFD"/>
                </ns0:bgClr>
              </ns0:pattFill>
              <a:ln xmlns:a="http://schemas.openxmlformats.org/drawingml/2006/main" w="19050">
                <a:solidFill>
                  <a:srgbClr val="203B68"/>
                </a:solidFill>
              </a:ln>
            </c:spPr>
          </c:dPt>
          <c:dLbls>
            <c:dLbl>
              <c:idx val="0"/>
              <c:tx>
                <c:rich>
                  <a:bodyPr xmlns:a="http://schemas.openxmlformats.org/drawingml/2006/main"/>
                  <a:lstStyle xmlns:a="http://schemas.openxmlformats.org/drawingml/2006/main"/>
                  <a:p xmlns:a="http://schemas.openxmlformats.org/drawingml/2006/main">
                    <a:r>
                      <a:rPr/>
                      <a:t>1</a:t>
                    </a:r>
                  </a:p>
                </c:rich>
              </c:tx>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1,67</a:t>
                    </a:r>
                  </a:p>
                </c:rich>
              </c:tx>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a:t>2,5</a:t>
                    </a:r>
                  </a:p>
                </c:rich>
              </c:tx>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a:t>3,33</a:t>
                    </a:r>
                  </a:p>
                </c:rich>
              </c:tx>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a:t>4</a:t>
                    </a:r>
                  </a:p>
                </c:rich>
              </c:tx>
              <c:dLblPos val="outEnd"/>
              <c:showLegendKey val="0"/>
              <c:showVal val="0"/>
              <c:showCatName val="0"/>
              <c:showSerName val="0"/>
              <c:showPercent val="0"/>
              <c:showBubbleSize val="0"/>
            </c:dLbl>
          </c:dLbls>
          <c:cat>
            <c:numRef>
              <c:f>'Chart Data'!$A$2:$A$6</c:f>
              <c:numCache>
                <c:formatCode>General</c:formatCode>
                <c:ptCount val="5"/>
                <c:pt idx="0">
                  <c:v>1</c:v>
                </c:pt>
                <c:pt idx="1">
                  <c:v>2</c:v>
                </c:pt>
                <c:pt idx="2">
                  <c:v>4</c:v>
                </c:pt>
                <c:pt idx="3">
                  <c:v>8</c:v>
                </c:pt>
                <c:pt idx="4">
                  <c:v>16</c:v>
                </c:pt>
              </c:numCache>
            </c:numRef>
          </c:cat>
          <c:val>
            <c:numRef>
              <c:f>'Chart Data'!$B$2:$B$6</c:f>
              <c:numCache>
                <c:formatCode>0</c:formatCode>
                <c:ptCount val="5"/>
                <c:pt idx="0">
                  <c:v>1</c:v>
                </c:pt>
                <c:pt idx="1">
                  <c:v>1.67</c:v>
                </c:pt>
                <c:pt idx="2">
                  <c:v>2.5</c:v>
                </c:pt>
                <c:pt idx="3">
                  <c:v>3.33</c:v>
                </c:pt>
                <c:pt idx="4">
                  <c:v>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Procesadores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Calibri"/>
                    <a:ea typeface="Calibri"/>
                    <a:cs typeface="Calibri"/>
                  </a:rPr>
                  <a:t>Aceleración</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03B68"/>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ns1:solidFill xmlns:ns1="http://schemas.openxmlformats.org/drawingml/2006/main">
          <ns1:srgbClr val="FFFFFF"/>
        </ns1:solidFill>
        <ns2:effectLst xmlns:ns2="http://schemas.openxmlformats.org/drawingml/2006/main"/>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512242553f5473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4f044ba41cf4728"/>
          <a:stretch xmlns:a="http://schemas.openxmlformats.org/drawingml/2006/main"/>
        </p:blipFill>
        <p:spPr>
          <a:xfrm xmlns:a="http://schemas.openxmlformats.org/drawingml/2006/main">
            <a:off x="6667500" y="1833563"/>
            <a:ext cx="5143500" cy="3429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EB0BE93-8934-4873-84EC-551507B90BF6}"/>
              </a:ext>
            </a:extLst>
          </p:cNvPr>
          <p:cNvSpPr>
            <a:spLocks xmlns:a="http://schemas.openxmlformats.org/drawingml/2006/main" noGrp="1"/>
          </p:cNvSpPr>
          <p:nvPr/>
        </p:nvSpPr>
        <p:spPr>
          <a:xfrm xmlns:a="http://schemas.openxmlformats.org/drawingml/2006/main">
            <a:off x="609600" y="1476375"/>
            <a:ext cx="590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Curso de Postgrado:</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BigData</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Especialización en</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Bases de datos</a:t>
            </a:r>
          </a:p>
        </p:txBody>
      </p:sp>
      <p:sp>
        <p:nvSpPr>
          <p:cNvPr id="3" name="">
            <a:extLst xmlns:a="http://schemas.openxmlformats.org/drawingml/2006/main">
              <a:ext uri="{FF2B5EF4-FFF2-40B4-BE49-F238E27FC236}">
                <a16:creationId xmlns:a16="http://schemas.microsoft.com/office/drawing/2014/main" id="{4849E171-D473-4778-988D-78656A5E5D2B}"/>
              </a:ext>
            </a:extLst>
          </p:cNvPr>
          <p:cNvSpPr>
            <a:spLocks xmlns:a="http://schemas.openxmlformats.org/drawingml/2006/main" noGrp="1"/>
          </p:cNvSpPr>
          <p:nvPr/>
        </p:nvSpPr>
        <p:spPr>
          <a:xfrm xmlns:a="http://schemas.openxmlformats.org/drawingml/2006/main">
            <a:off x="609600" y="38576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Fundamentos</a:t>
            </a:r>
          </a:p>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y escala</a:t>
            </a:r>
          </a:p>
        </p:txBody>
      </p:sp>
      <p:sp>
        <p:nvSpPr>
          <p:cNvPr id="5" name="">
            <a:extLst xmlns:a="http://schemas.openxmlformats.org/drawingml/2006/main">
              <a:ext uri="{FF2B5EF4-FFF2-40B4-BE49-F238E27FC236}">
                <a16:creationId xmlns:a16="http://schemas.microsoft.com/office/drawing/2014/main" id="{20954A08-AED2-4114-9B48-A51DF0FBFA54}"/>
              </a:ext>
            </a:extLst>
          </p:cNvPr>
          <p:cNvSpPr>
            <a:spLocks xmlns:a="http://schemas.openxmlformats.org/drawingml/2006/main" noGrp="1"/>
          </p:cNvSpPr>
          <p:nvPr/>
        </p:nvSpPr>
        <p:spPr>
          <a:xfrm xmlns:a="http://schemas.openxmlformats.org/drawingml/2006/main">
            <a:off x="6096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Sesión 01 · Viernes 2 de octubre de 2026</a:t>
            </a:r>
          </a:p>
        </p:txBody>
      </p:sp>
      <p:sp>
        <p:nvSpPr>
          <p:cNvPr id="6" name="">
            <a:extLst xmlns:a="http://schemas.openxmlformats.org/drawingml/2006/main">
              <a:ext uri="{FF2B5EF4-FFF2-40B4-BE49-F238E27FC236}">
                <a16:creationId xmlns:a16="http://schemas.microsoft.com/office/drawing/2014/main" id="{B0118BD1-C378-4189-AC47-AE7D77E4115E}"/>
              </a:ext>
            </a:extLst>
          </p:cNvPr>
          <p:cNvSpPr>
            <a:spLocks xmlns:a="http://schemas.openxmlformats.org/drawingml/2006/main" noGrp="1"/>
          </p:cNvSpPr>
          <p:nvPr/>
        </p:nvSpPr>
        <p:spPr>
          <a:xfrm xmlns:a="http://schemas.openxmlformats.org/drawingml/2006/main">
            <a:off x="609600" y="57340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18:00–22:00 · Esteban Hernández, PhD</a:t>
            </a:r>
          </a:p>
        </p:txBody>
      </p:sp>
      <p:sp>
        <p:nvSpPr>
          <p:cNvPr id="9" name="">
            <a:extLst xmlns:a="http://schemas.openxmlformats.org/drawingml/2006/main">
              <a:ext uri="{FF2B5EF4-FFF2-40B4-BE49-F238E27FC236}">
                <a16:creationId xmlns:a16="http://schemas.microsoft.com/office/drawing/2014/main" id="{4AEFABF2-E6F5-4C26-B475-B01E7F186F0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4B582976-563E-41BE-96EF-11CFAE0EB04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1" name="">
            <a:extLst xmlns:a="http://schemas.openxmlformats.org/drawingml/2006/main">
              <a:ext uri="{FF2B5EF4-FFF2-40B4-BE49-F238E27FC236}">
                <a16:creationId xmlns:a16="http://schemas.microsoft.com/office/drawing/2014/main" id="{86D3D9F1-3E0E-412C-A914-D61BCBB38353}"/>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2" name="">
            <a:extLst xmlns:a="http://schemas.openxmlformats.org/drawingml/2006/main">
              <a:ext uri="{FF2B5EF4-FFF2-40B4-BE49-F238E27FC236}">
                <a16:creationId xmlns:a16="http://schemas.microsoft.com/office/drawing/2014/main" id="{FFD91C46-8C94-4282-B2C2-251FDF2CEA8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01</a:t>
            </a:r>
          </a:p>
        </p:txBody>
      </p:sp>
    </p:spTree>
    <p:extLst>
      <p:ext uri="{BB962C8B-B14F-4D97-AF65-F5344CB8AC3E}">
        <p14:creationId xmlns:p14="http://schemas.microsoft.com/office/powerpoint/2010/main" val="59560719"/>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1ed1add7e7c479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2" name=""/>
          <p:cNvGraphicFramePr/>
          <p:nvPr/>
        </p:nvGraphicFramePr>
        <p:xfrm>
          <a:off xmlns:a="http://schemas.openxmlformats.org/drawingml/2006/main" x="609600" y="1428750"/>
          <a:ext xmlns:a="http://schemas.openxmlformats.org/drawingml/2006/main" cx="10972800" cy="4333875"/>
        </p:xfrm>
        <a:graphic xmlns:a="http://schemas.openxmlformats.org/drawingml/2006/main">
          <a:graphicData uri="http://schemas.openxmlformats.org/drawingml/2006/table">
            <a:tbl>
              <a:tblPr/>
              <a:tblGrid>
                <a:gridCol w="2286000"/>
                <a:gridCol w="8686800"/>
              </a:tblGrid>
              <a:tr h="619125">
                <a:tc>
                  <a:txBody>
                    <a:bodyPr/>
                    <a:lstStyle/>
                    <a:p>
                      <a:r>
                        <a:rPr sz="1650" b="1">
                          <a:solidFill>
                            <a:srgbClr val="FFFFFF"/>
                          </a:solidFill>
                          <a:latin typeface="Calibri"/>
                          <a:ea typeface="Calibri"/>
                          <a:cs typeface="Calibri"/>
                        </a:rPr>
                        <a:t>Horario</a:t>
                      </a:r>
                    </a:p>
                  </a:txBody>
                  <a:tcPr marL="91440" marR="91440" marT="45720" marB="45720">
                    <a:solidFill>
                      <a:srgbClr val="4237BF"/>
                    </a:solidFill>
                  </a:tcPr>
                </a:tc>
                <a:tc>
                  <a:txBody>
                    <a:bodyPr/>
                    <a:lstStyle/>
                    <a:p>
                      <a:r>
                        <a:rPr sz="1650" b="1">
                          <a:solidFill>
                            <a:srgbClr val="FFFFFF"/>
                          </a:solidFill>
                          <a:latin typeface="Calibri"/>
                          <a:ea typeface="Calibri"/>
                          <a:cs typeface="Calibri"/>
                        </a:rPr>
                        <a:t>Tema y actividad</a:t>
                      </a:r>
                    </a:p>
                  </a:txBody>
                  <a:tcPr marL="91440" marR="91440" marT="45720" marB="45720">
                    <a:solidFill>
                      <a:srgbClr val="4237BF"/>
                    </a:solidFill>
                  </a:tcPr>
                </a:tc>
              </a:tr>
              <a:tr h="619125">
                <a:tc>
                  <a:txBody>
                    <a:bodyPr/>
                    <a:lstStyle/>
                    <a:p>
                      <a:r>
                        <a:rPr sz="1650" b="0">
                          <a:solidFill>
                            <a:srgbClr val="203B68"/>
                          </a:solidFill>
                          <a:latin typeface="Calibri"/>
                          <a:ea typeface="Calibri"/>
                          <a:cs typeface="Calibri"/>
                        </a:rPr>
                        <a:t>18:00–18:20</a:t>
                      </a:r>
                    </a:p>
                  </a:txBody>
                  <a:tcPr marL="91440" marR="91440" marT="45720" marB="45720">
                    <a:solidFill>
                      <a:srgbClr val="F4F8F8"/>
                    </a:solidFill>
                  </a:tcPr>
                </a:tc>
                <a:tc>
                  <a:txBody>
                    <a:bodyPr/>
                    <a:lstStyle/>
                    <a:p>
                      <a:r>
                        <a:rPr sz="1650" b="0">
                          <a:solidFill>
                            <a:srgbClr val="203B68"/>
                          </a:solidFill>
                          <a:latin typeface="Calibri"/>
                          <a:ea typeface="Calibri"/>
                          <a:cs typeface="Calibri"/>
                        </a:rPr>
                        <a:t>Explicación / demostración docente: Organización, diagnóstico y unidades de los dos dominios</a:t>
                      </a:r>
                    </a:p>
                  </a:txBody>
                  <a:tcPr marL="91440" marR="91440" marT="45720" marB="45720">
                    <a:solidFill>
                      <a:srgbClr val="F4F8F8"/>
                    </a:solidFill>
                  </a:tcPr>
                </a:tc>
              </a:tr>
              <a:tr h="619125">
                <a:tc>
                  <a:txBody>
                    <a:bodyPr/>
                    <a:lstStyle/>
                    <a:p>
                      <a:r>
                        <a:rPr sz="1650" b="0">
                          <a:solidFill>
                            <a:srgbClr val="203B68"/>
                          </a:solidFill>
                          <a:latin typeface="Calibri"/>
                          <a:ea typeface="Calibri"/>
                          <a:cs typeface="Calibri"/>
                        </a:rPr>
                        <a:t>18:20–19:35</a:t>
                      </a:r>
                    </a:p>
                  </a:txBody>
                  <a:tcPr marL="91440" marR="91440" marT="45720" marB="45720">
                    <a:solidFill>
                      <a:srgbClr val="E9F0F1"/>
                    </a:solidFill>
                  </a:tcPr>
                </a:tc>
                <a:tc>
                  <a:txBody>
                    <a:bodyPr/>
                    <a:lstStyle/>
                    <a:p>
                      <a:r>
                        <a:rPr sz="1650" b="0">
                          <a:solidFill>
                            <a:srgbClr val="203B68"/>
                          </a:solidFill>
                          <a:latin typeface="Calibri"/>
                          <a:ea typeface="Calibri"/>
                          <a:cs typeface="Calibri"/>
                        </a:rPr>
                        <a:t>Explicación / demostración docente: Cinco V y T01: cálculo de 2 GB, 20 GB y 2 TB</a:t>
                      </a:r>
                    </a:p>
                  </a:txBody>
                  <a:tcPr marL="91440" marR="91440" marT="45720" marB="45720">
                    <a:solidFill>
                      <a:srgbClr val="E9F0F1"/>
                    </a:solidFill>
                  </a:tcPr>
                </a:tc>
              </a:tr>
              <a:tr h="619125">
                <a:tc>
                  <a:txBody>
                    <a:bodyPr/>
                    <a:lstStyle/>
                    <a:p>
                      <a:r>
                        <a:rPr sz="1650" b="0">
                          <a:solidFill>
                            <a:srgbClr val="203B68"/>
                          </a:solidFill>
                          <a:latin typeface="Calibri"/>
                          <a:ea typeface="Calibri"/>
                          <a:cs typeface="Calibri"/>
                        </a:rPr>
                        <a:t>19:35–20:00</a:t>
                      </a:r>
                    </a:p>
                  </a:txBody>
                  <a:tcPr marL="91440" marR="91440" marT="45720" marB="45720">
                    <a:solidFill>
                      <a:srgbClr val="F4F8F8"/>
                    </a:solidFill>
                  </a:tcPr>
                </a:tc>
                <a:tc>
                  <a:txBody>
                    <a:bodyPr/>
                    <a:lstStyle/>
                    <a:p>
                      <a:r>
                        <a:rPr sz="1650" b="0">
                          <a:solidFill>
                            <a:srgbClr val="203B68"/>
                          </a:solidFill>
                          <a:latin typeface="Calibri"/>
                          <a:ea typeface="Calibri"/>
                          <a:cs typeface="Calibri"/>
                        </a:rPr>
                        <a:t>Explicación / demostración docente: Restricciones, escalamiento y Amdahl</a:t>
                      </a:r>
                    </a:p>
                  </a:txBody>
                  <a:tcPr marL="91440" marR="91440" marT="45720" marB="45720">
                    <a:solidFill>
                      <a:srgbClr val="F4F8F8"/>
                    </a:solidFill>
                  </a:tcPr>
                </a:tc>
              </a:tr>
              <a:tr h="619125">
                <a:tc>
                  <a:txBody>
                    <a:bodyPr/>
                    <a:lstStyle/>
                    <a:p>
                      <a:r>
                        <a:rPr sz="1650" b="0">
                          <a:solidFill>
                            <a:srgbClr val="203B68"/>
                          </a:solidFill>
                          <a:latin typeface="Calibri"/>
                          <a:ea typeface="Calibri"/>
                          <a:cs typeface="Calibri"/>
                        </a:rPr>
                        <a:t>20:00–20:15</a:t>
                      </a:r>
                    </a:p>
                  </a:txBody>
                  <a:tcPr marL="91440" marR="91440" marT="45720" marB="45720">
                    <a:solidFill>
                      <a:srgbClr val="E9F0F1"/>
                    </a:solidFill>
                  </a:tcPr>
                </a:tc>
                <a:tc>
                  <a:txBody>
                    <a:bodyPr/>
                    <a:lstStyle/>
                    <a:p>
                      <a:r>
                        <a:rPr sz="1650" b="0">
                          <a:solidFill>
                            <a:srgbClr val="203B68"/>
                          </a:solidFill>
                          <a:latin typeface="Calibri"/>
                          <a:ea typeface="Calibri"/>
                          <a:cs typeface="Calibri"/>
                        </a:rPr>
                        <a:t>Coffee break</a:t>
                      </a:r>
                    </a:p>
                  </a:txBody>
                  <a:tcPr marL="91440" marR="91440" marT="45720" marB="45720">
                    <a:solidFill>
                      <a:srgbClr val="E9F0F1"/>
                    </a:solidFill>
                  </a:tcPr>
                </a:tc>
              </a:tr>
              <a:tr h="619125">
                <a:tc>
                  <a:txBody>
                    <a:bodyPr/>
                    <a:lstStyle/>
                    <a:p>
                      <a:r>
                        <a:rPr sz="1650" b="0">
                          <a:solidFill>
                            <a:srgbClr val="203B68"/>
                          </a:solidFill>
                          <a:latin typeface="Calibri"/>
                          <a:ea typeface="Calibri"/>
                          <a:cs typeface="Calibri"/>
                        </a:rPr>
                        <a:t>20:15–21:30</a:t>
                      </a:r>
                    </a:p>
                  </a:txBody>
                  <a:tcPr marL="91440" marR="91440" marT="45720" marB="45720">
                    <a:solidFill>
                      <a:srgbClr val="F4F8F8"/>
                    </a:solidFill>
                  </a:tcPr>
                </a:tc>
                <a:tc>
                  <a:txBody>
                    <a:bodyPr/>
                    <a:lstStyle/>
                    <a:p>
                      <a:r>
                        <a:rPr sz="1650" b="0">
                          <a:solidFill>
                            <a:srgbClr val="203B68"/>
                          </a:solidFill>
                          <a:latin typeface="Calibri"/>
                          <a:ea typeface="Calibri"/>
                          <a:cs typeface="Calibri"/>
                        </a:rPr>
                        <a:t>Explicación / demostración docente: E01: casos, procedencia, ciclo de vida y ficha</a:t>
                      </a:r>
                    </a:p>
                  </a:txBody>
                  <a:tcPr marL="91440" marR="91440" marT="45720" marB="45720">
                    <a:solidFill>
                      <a:srgbClr val="F4F8F8"/>
                    </a:solidFill>
                  </a:tcPr>
                </a:tc>
              </a:tr>
              <a:tr h="619125">
                <a:tc>
                  <a:txBody>
                    <a:bodyPr/>
                    <a:lstStyle/>
                    <a:p>
                      <a:r>
                        <a:rPr sz="1650" b="0">
                          <a:solidFill>
                            <a:srgbClr val="203B68"/>
                          </a:solidFill>
                          <a:latin typeface="Calibri"/>
                          <a:ea typeface="Calibri"/>
                          <a:cs typeface="Calibri"/>
                        </a:rPr>
                        <a:t>21:30–22:00</a:t>
                      </a:r>
                    </a:p>
                  </a:txBody>
                  <a:tcPr marL="91440" marR="91440" marT="45720" marB="45720">
                    <a:solidFill>
                      <a:srgbClr val="E9F0F1"/>
                    </a:solidFill>
                  </a:tcPr>
                </a:tc>
                <a:tc>
                  <a:txBody>
                    <a:bodyPr/>
                    <a:lstStyle/>
                    <a:p>
                      <a:r>
                        <a:rPr sz="1650" b="0">
                          <a:solidFill>
                            <a:srgbClr val="203B68"/>
                          </a:solidFill>
                          <a:latin typeface="Calibri"/>
                          <a:ea typeface="Calibri"/>
                          <a:cs typeface="Calibri"/>
                        </a:rPr>
                        <a:t>Explicación / demostración docente: Discusión y cierre</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F3C07D6A-B617-45B4-AE67-31EF91102A6C}"/>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Agenda de la sesión</a:t>
            </a:r>
          </a:p>
        </p:txBody>
      </p:sp>
      <p:sp>
        <p:nvSpPr>
          <p:cNvPr id="3" name="">
            <a:extLst xmlns:a="http://schemas.openxmlformats.org/drawingml/2006/main">
              <a:ext uri="{FF2B5EF4-FFF2-40B4-BE49-F238E27FC236}">
                <a16:creationId xmlns:a16="http://schemas.microsoft.com/office/drawing/2014/main" id="{6C6C5743-0B46-45C6-9CB8-F9A5F8280164}"/>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Viernes 02/10/2026 · 225 min efectivos · Demostración docente; sin entrega</a:t>
            </a:r>
          </a:p>
        </p:txBody>
      </p:sp>
      <p:sp>
        <p:nvSpPr>
          <p:cNvPr id="5" name="">
            <a:extLst xmlns:a="http://schemas.openxmlformats.org/drawingml/2006/main">
              <a:ext uri="{FF2B5EF4-FFF2-40B4-BE49-F238E27FC236}">
                <a16:creationId xmlns:a16="http://schemas.microsoft.com/office/drawing/2014/main" id="{C90D68F0-AA29-45D5-85BB-F2E7AFD18C7B}"/>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3E3D4BB1-FF11-4E73-A203-EC15D2ED3D9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E01 — Ejercicio 01: Pregunta y procedencia  |  T01 — Taller teórico: Capacidad y escala</a:t>
            </a:r>
          </a:p>
        </p:txBody>
      </p:sp>
      <p:sp>
        <p:nvSpPr>
          <p:cNvPr id="7" name="">
            <a:extLst xmlns:a="http://schemas.openxmlformats.org/drawingml/2006/main">
              <a:ext uri="{FF2B5EF4-FFF2-40B4-BE49-F238E27FC236}">
                <a16:creationId xmlns:a16="http://schemas.microsoft.com/office/drawing/2014/main" id="{DB011483-0017-40A9-9E9E-BF9FB5FF0A0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8" name="">
            <a:extLst xmlns:a="http://schemas.openxmlformats.org/drawingml/2006/main">
              <a:ext uri="{FF2B5EF4-FFF2-40B4-BE49-F238E27FC236}">
                <a16:creationId xmlns:a16="http://schemas.microsoft.com/office/drawing/2014/main" id="{95B722FD-AA93-46C4-94DA-FB293946AAA5}"/>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02</a:t>
            </a:r>
          </a:p>
        </p:txBody>
      </p:sp>
    </p:spTree>
    <p:extLst>
      <p:ext uri="{BB962C8B-B14F-4D97-AF65-F5344CB8AC3E}">
        <p14:creationId xmlns:p14="http://schemas.microsoft.com/office/powerpoint/2010/main" val="1861168762"/>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aa2cafd0254040"/>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612FAB-EFD8-460F-9994-D26EA93C95ED}"/>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Cómo trabajaremos este viernes</a:t>
            </a:r>
          </a:p>
        </p:txBody>
      </p:sp>
      <p:sp>
        <p:nvSpPr>
          <p:cNvPr id="3" name="">
            <a:extLst xmlns:a="http://schemas.openxmlformats.org/drawingml/2006/main">
              <a:ext uri="{FF2B5EF4-FFF2-40B4-BE49-F238E27FC236}">
                <a16:creationId xmlns:a16="http://schemas.microsoft.com/office/drawing/2014/main" id="{34D0F384-7137-4BA3-88CE-B0B40178BB87}"/>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El profesor ejecuta y explica</a:t>
            </a:r>
          </a:p>
        </p:txBody>
      </p:sp>
      <p:sp>
        <p:nvSpPr>
          <p:cNvPr id="4" name="">
            <a:extLst xmlns:a="http://schemas.openxmlformats.org/drawingml/2006/main">
              <a:ext uri="{FF2B5EF4-FFF2-40B4-BE49-F238E27FC236}">
                <a16:creationId xmlns:a16="http://schemas.microsoft.com/office/drawing/2014/main" id="{3DA67A5E-19B0-41BA-B548-05A96606431B}"/>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E01 / T01: pregunta, procedencia y capacidad. Se usan los datos y comandos reales del kit.</a:t>
            </a:r>
          </a:p>
        </p:txBody>
      </p:sp>
      <p:sp>
        <p:nvSpPr>
          <p:cNvPr id="5" name="">
            <a:extLst xmlns:a="http://schemas.openxmlformats.org/drawingml/2006/main">
              <a:ext uri="{FF2B5EF4-FFF2-40B4-BE49-F238E27FC236}">
                <a16:creationId xmlns:a16="http://schemas.microsoft.com/office/drawing/2014/main" id="{454A724B-69F5-4435-A24C-C727C397CEDB}"/>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Los estudiantes observan y preguntan</a:t>
            </a:r>
          </a:p>
        </p:txBody>
      </p:sp>
      <p:sp>
        <p:nvSpPr>
          <p:cNvPr id="6" name="">
            <a:extLst xmlns:a="http://schemas.openxmlformats.org/drawingml/2006/main">
              <a:ext uri="{FF2B5EF4-FFF2-40B4-BE49-F238E27FC236}">
                <a16:creationId xmlns:a16="http://schemas.microsoft.com/office/drawing/2014/main" id="{10D586C8-13FA-47AF-8219-71C10C984325}"/>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Pueden seguir el código voluntariamente. Se discuten decisiones, errores y controles.</a:t>
            </a:r>
          </a:p>
        </p:txBody>
      </p:sp>
      <p:sp>
        <p:nvSpPr>
          <p:cNvPr id="7" name="">
            <a:extLst xmlns:a="http://schemas.openxmlformats.org/drawingml/2006/main">
              <a:ext uri="{FF2B5EF4-FFF2-40B4-BE49-F238E27FC236}">
                <a16:creationId xmlns:a16="http://schemas.microsoft.com/office/drawing/2014/main" id="{F219311D-1CF6-4C67-9DB4-B797860F18F5}"/>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Ejecución propia el sábado</a:t>
            </a:r>
          </a:p>
        </p:txBody>
      </p:sp>
      <p:sp>
        <p:nvSpPr>
          <p:cNvPr id="8" name="">
            <a:extLst xmlns:a="http://schemas.openxmlformats.org/drawingml/2006/main">
              <a:ext uri="{FF2B5EF4-FFF2-40B4-BE49-F238E27FC236}">
                <a16:creationId xmlns:a16="http://schemas.microsoft.com/office/drawing/2014/main" id="{305A1523-B2C8-49A3-8972-A14E1A1218D6}"/>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2026-10-03: E01–E03 / P01 / T01. La entrega reúne resultados obtenidos por los estudiantes.</a:t>
            </a:r>
          </a:p>
        </p:txBody>
      </p:sp>
      <p:sp>
        <p:nvSpPr>
          <p:cNvPr id="9" name="">
            <a:extLst xmlns:a="http://schemas.openxmlformats.org/drawingml/2006/main">
              <a:ext uri="{FF2B5EF4-FFF2-40B4-BE49-F238E27FC236}">
                <a16:creationId xmlns:a16="http://schemas.microsoft.com/office/drawing/2014/main" id="{6AB8F93D-990B-45FC-8821-ED3FDA196FDA}"/>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Viernes sin entrega ni calificación. Referencias del profesor disponibles para el sábado.</a:t>
            </a:r>
          </a:p>
        </p:txBody>
      </p:sp>
      <p:sp>
        <p:nvSpPr>
          <p:cNvPr id="10" name="">
            <a:extLst xmlns:a="http://schemas.openxmlformats.org/drawingml/2006/main">
              <a:ext uri="{FF2B5EF4-FFF2-40B4-BE49-F238E27FC236}">
                <a16:creationId xmlns:a16="http://schemas.microsoft.com/office/drawing/2014/main" id="{FB7476F3-D8DF-4000-BB35-E5E6286BF641}"/>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44C8C2AA-1E91-402F-8668-076D08AB390B}"/>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E01 — Ejercicio 01: Pregunta y procedencia  |  E02 — Ejercicio 02: Descarga y perfil inicial  |  E03 — Ejercicio 03: Identidad territorial y vigencias  |  P01 — Práctica PQRS 01: Perfil PQRS y lectura por bloques  |  T01 — Taller teórico: Capacidad y escala</a:t>
            </a:r>
          </a:p>
        </p:txBody>
      </p:sp>
      <p:sp>
        <p:nvSpPr>
          <p:cNvPr id="12" name="">
            <a:extLst xmlns:a="http://schemas.openxmlformats.org/drawingml/2006/main">
              <a:ext uri="{FF2B5EF4-FFF2-40B4-BE49-F238E27FC236}">
                <a16:creationId xmlns:a16="http://schemas.microsoft.com/office/drawing/2014/main" id="{5FF17D96-6F4D-4B50-801C-326334823C78}"/>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3" name="">
            <a:extLst xmlns:a="http://schemas.openxmlformats.org/drawingml/2006/main">
              <a:ext uri="{FF2B5EF4-FFF2-40B4-BE49-F238E27FC236}">
                <a16:creationId xmlns:a16="http://schemas.microsoft.com/office/drawing/2014/main" id="{8161DBE5-A91A-4927-A3EF-775A327DA2B3}"/>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03</a:t>
            </a:r>
          </a:p>
        </p:txBody>
      </p:sp>
    </p:spTree>
    <p:extLst>
      <p:ext uri="{BB962C8B-B14F-4D97-AF65-F5344CB8AC3E}">
        <p14:creationId xmlns:p14="http://schemas.microsoft.com/office/powerpoint/2010/main" val="129873465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6" name=""/>
          <p:cNvGraphicFramePr/>
          <p:nvPr/>
        </p:nvGraphicFramePr>
        <p:xfrm>
          <a:off xmlns:a="http://schemas.openxmlformats.org/drawingml/2006/main" x="609600" y="1809750"/>
          <a:ext xmlns:a="http://schemas.openxmlformats.org/drawingml/2006/main" cx="10972800" cy="3095625"/>
        </p:xfrm>
        <a:graphic xmlns:a="http://schemas.openxmlformats.org/drawingml/2006/main">
          <a:graphicData uri="http://schemas.openxmlformats.org/drawingml/2006/table">
            <a:tbl>
              <a:tblPr/>
              <a:tblGrid>
                <a:gridCol w="8778240"/>
                <a:gridCol w="2194560"/>
              </a:tblGrid>
              <a:tr h="619125">
                <a:tc>
                  <a:txBody>
                    <a:bodyPr/>
                    <a:lstStyle/>
                    <a:p>
                      <a:r>
                        <a:rPr sz="1725" b="1">
                          <a:solidFill>
                            <a:srgbClr val="FFFFFF"/>
                          </a:solidFill>
                          <a:latin typeface="Helvetica Neue"/>
                          <a:ea typeface="Helvetica Neue"/>
                          <a:cs typeface="Helvetica Neue"/>
                        </a:rPr>
                        <a:t>Componente</a:t>
                      </a:r>
                    </a:p>
                  </a:txBody>
                  <a:tcPr marL="152400" marR="152400" marT="95250" marB="95250" anchor="ctr">
                    <a:solidFill>
                      <a:srgbClr val="4239C8"/>
                    </a:solidFill>
                  </a:tcPr>
                </a:tc>
                <a:tc>
                  <a:txBody>
                    <a:bodyPr/>
                    <a:lstStyle/>
                    <a:p>
                      <a:r>
                        <a:rPr sz="1725" b="1">
                          <a:solidFill>
                            <a:srgbClr val="FFFFFF"/>
                          </a:solidFill>
                          <a:latin typeface="Helvetica Neue"/>
                          <a:ea typeface="Helvetica Neue"/>
                          <a:cs typeface="Helvetica Neue"/>
                        </a:rPr>
                        <a:t>Peso</a:t>
                      </a:r>
                    </a:p>
                  </a:txBody>
                  <a:tcPr marL="152400" marR="152400" marT="95250" marB="95250" anchor="ctr">
                    <a:solidFill>
                      <a:srgbClr val="4239C8"/>
                    </a:solidFill>
                  </a:tcPr>
                </a:tc>
              </a:tr>
              <a:tr h="619125">
                <a:tc>
                  <a:txBody>
                    <a:bodyPr/>
                    <a:lstStyle/>
                    <a:p>
                      <a:r>
                        <a:rPr sz="1875" b="0">
                          <a:solidFill>
                            <a:srgbClr val="13262C"/>
                          </a:solidFill>
                          <a:latin typeface="Helvetica Neue"/>
                          <a:ea typeface="Helvetica Neue"/>
                          <a:cs typeface="Helvetica Neue"/>
                        </a:rPr>
                        <a:t>Laboratorios de ingesta, calidad y procesamiento</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30 %</a:t>
                      </a:r>
                    </a:p>
                  </a:txBody>
                  <a:tcPr marL="152400" marR="152400" marT="95250" marB="95250" anchor="ctr">
                    <a:solidFill>
                      <a:srgbClr val="F5F7F6"/>
                    </a:solidFill>
                  </a:tcPr>
                </a:tc>
              </a:tr>
              <a:tr h="619125">
                <a:tc>
                  <a:txBody>
                    <a:bodyPr/>
                    <a:lstStyle/>
                    <a:p>
                      <a:r>
                        <a:rPr sz="1875" b="0">
                          <a:solidFill>
                            <a:srgbClr val="13262C"/>
                          </a:solidFill>
                          <a:latin typeface="Helvetica Neue"/>
                          <a:ea typeface="Helvetica Neue"/>
                          <a:cs typeface="Helvetica Neue"/>
                        </a:rPr>
                        <a:t>Informe experimental de rendimiento y streaming</a:t>
                      </a:r>
                    </a:p>
                  </a:txBody>
                  <a:tcPr marL="152400" marR="152400" marT="95250" marB="95250" anchor="ctr">
                    <a:solidFill>
                      <a:srgbClr val="EBF1EF"/>
                    </a:solidFill>
                  </a:tcPr>
                </a:tc>
                <a:tc>
                  <a:txBody>
                    <a:bodyPr/>
                    <a:lstStyle/>
                    <a:p>
                      <a:r>
                        <a:rPr sz="1875" b="0">
                          <a:solidFill>
                            <a:srgbClr val="13262C"/>
                          </a:solidFill>
                          <a:latin typeface="Helvetica Neue"/>
                          <a:ea typeface="Helvetica Neue"/>
                          <a:cs typeface="Helvetica Neue"/>
                        </a:rPr>
                        <a:t>20 %</a:t>
                      </a:r>
                    </a:p>
                  </a:txBody>
                  <a:tcPr marL="152400" marR="152400" marT="95250" marB="95250" anchor="ctr">
                    <a:solidFill>
                      <a:srgbClr val="EBF1EF"/>
                    </a:solidFill>
                  </a:tcPr>
                </a:tc>
              </a:tr>
              <a:tr h="619125">
                <a:tc>
                  <a:txBody>
                    <a:bodyPr/>
                    <a:lstStyle/>
                    <a:p>
                      <a:r>
                        <a:rPr sz="1875" b="0">
                          <a:solidFill>
                            <a:srgbClr val="13262C"/>
                          </a:solidFill>
                          <a:latin typeface="Helvetica Neue"/>
                          <a:ea typeface="Helvetica Neue"/>
                          <a:cs typeface="Helvetica Neue"/>
                        </a:rPr>
                        <a:t>Proyecto integrador e informe técnico</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35 %</a:t>
                      </a:r>
                    </a:p>
                  </a:txBody>
                  <a:tcPr marL="152400" marR="152400" marT="95250" marB="95250" anchor="ctr">
                    <a:solidFill>
                      <a:srgbClr val="F5F7F6"/>
                    </a:solidFill>
                  </a:tcPr>
                </a:tc>
              </a:tr>
              <a:tr h="619125">
                <a:tc>
                  <a:txBody>
                    <a:bodyPr/>
                    <a:lstStyle/>
                    <a:p>
                      <a:r>
                        <a:rPr sz="1875" b="0">
                          <a:solidFill>
                            <a:srgbClr val="13262C"/>
                          </a:solidFill>
                          <a:latin typeface="Helvetica Neue"/>
                          <a:ea typeface="Helvetica Neue"/>
                          <a:cs typeface="Helvetica Neue"/>
                        </a:rPr>
                        <a:t>Sustentación individual</a:t>
                      </a:r>
                    </a:p>
                  </a:txBody>
                  <a:tcPr marL="152400" marR="152400" marT="95250" marB="95250" anchor="ctr">
                    <a:solidFill>
                      <a:srgbClr val="EBF1EF"/>
                    </a:solidFill>
                  </a:tcPr>
                </a:tc>
                <a:tc>
                  <a:txBody>
                    <a:bodyPr/>
                    <a:lstStyle/>
                    <a:p>
                      <a:r>
                        <a:rPr sz="1875" b="0">
                          <a:solidFill>
                            <a:srgbClr val="13262C"/>
                          </a:solidFill>
                          <a:latin typeface="Helvetica Neue"/>
                          <a:ea typeface="Helvetica Neue"/>
                          <a:cs typeface="Helvetica Neue"/>
                        </a:rPr>
                        <a:t>15 %</a:t>
                      </a:r>
                    </a:p>
                  </a:txBody>
                  <a:tcPr marL="152400" marR="152400" marT="95250" marB="95250" anchor="ctr">
                    <a:solidFill>
                      <a:srgbClr val="EBF1EF"/>
                    </a:solidFill>
                  </a:tcPr>
                </a:tc>
              </a:tr>
            </a:tbl>
          </a:graphicData>
        </a:graphic>
      </p:graphicFrame>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b9b0b52869447d3"/>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D80912F-289F-4AC9-B5D1-635FC0B9CE59}"/>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Evaluación del curso</a:t>
            </a:r>
          </a:p>
        </p:txBody>
      </p:sp>
      <p:sp>
        <p:nvSpPr>
          <p:cNvPr id="20" name="">
            <a:extLst xmlns:a="http://schemas.openxmlformats.org/drawingml/2006/main">
              <a:ext uri="{FF2B5EF4-FFF2-40B4-BE49-F238E27FC236}">
                <a16:creationId xmlns:a16="http://schemas.microsoft.com/office/drawing/2014/main" id="{0DFB3772-6013-41C0-9B29-24904A08218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93712605-F931-44D6-822A-D9D53C7E1EE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B757B1B1-4D84-4885-B85D-E73E3FC068E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3" name="">
            <a:extLst xmlns:a="http://schemas.openxmlformats.org/drawingml/2006/main">
              <a:ext uri="{FF2B5EF4-FFF2-40B4-BE49-F238E27FC236}">
                <a16:creationId xmlns:a16="http://schemas.microsoft.com/office/drawing/2014/main" id="{3FBED5BD-C099-4EB0-A353-56DA9F63CD15}"/>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04</a:t>
            </a:r>
          </a:p>
        </p:txBody>
      </p:sp>
    </p:spTree>
    <p:extLst>
      <p:ext uri="{BB962C8B-B14F-4D97-AF65-F5344CB8AC3E}">
        <p14:creationId xmlns:p14="http://schemas.microsoft.com/office/powerpoint/2010/main" val="142842197"/>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56e2b3c05a1481d"/>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0f2ff856305487f"/>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7838547-527A-4A0B-8762-6947FDE113B1}"/>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Resultados de la sesión</a:t>
            </a:r>
          </a:p>
        </p:txBody>
      </p:sp>
      <p:sp>
        <p:nvSpPr>
          <p:cNvPr id="11" name="">
            <a:extLst xmlns:a="http://schemas.openxmlformats.org/drawingml/2006/main">
              <a:ext uri="{FF2B5EF4-FFF2-40B4-BE49-F238E27FC236}">
                <a16:creationId xmlns:a16="http://schemas.microsoft.com/office/drawing/2014/main" id="{F4F95C04-D7EB-464B-BD20-9FC96DD7EDD4}"/>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Comprender</a:t>
            </a:r>
          </a:p>
        </p:txBody>
      </p:sp>
      <p:sp>
        <p:nvSpPr>
          <p:cNvPr id="12" name="">
            <a:extLst xmlns:a="http://schemas.openxmlformats.org/drawingml/2006/main">
              <a:ext uri="{FF2B5EF4-FFF2-40B4-BE49-F238E27FC236}">
                <a16:creationId xmlns:a16="http://schemas.microsoft.com/office/drawing/2014/main" id="{421B584E-7452-467F-B128-AD530983D098}"/>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Relacionar las cinco V con recursos, tiempos y calidad.</a:t>
            </a:r>
          </a:p>
        </p:txBody>
      </p:sp>
      <p:sp>
        <p:nvSpPr>
          <p:cNvPr id="13" name="">
            <a:extLst xmlns:a="http://schemas.openxmlformats.org/drawingml/2006/main">
              <a:ext uri="{FF2B5EF4-FFF2-40B4-BE49-F238E27FC236}">
                <a16:creationId xmlns:a16="http://schemas.microsoft.com/office/drawing/2014/main" id="{F6B6E5CA-86CC-4D15-9070-18932A4F3CA9}"/>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Comparar</a:t>
            </a:r>
          </a:p>
        </p:txBody>
      </p:sp>
      <p:sp>
        <p:nvSpPr>
          <p:cNvPr id="14" name="">
            <a:extLst xmlns:a="http://schemas.openxmlformats.org/drawingml/2006/main">
              <a:ext uri="{FF2B5EF4-FFF2-40B4-BE49-F238E27FC236}">
                <a16:creationId xmlns:a16="http://schemas.microsoft.com/office/drawing/2014/main" id="{6E7172B9-79AA-4932-803E-058BE36B3B0D}"/>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Estimar qué cambia al pasar de GB a TB.</a:t>
            </a:r>
          </a:p>
        </p:txBody>
      </p:sp>
      <p:sp>
        <p:nvSpPr>
          <p:cNvPr id="15" name="">
            <a:extLst xmlns:a="http://schemas.openxmlformats.org/drawingml/2006/main">
              <a:ext uri="{FF2B5EF4-FFF2-40B4-BE49-F238E27FC236}">
                <a16:creationId xmlns:a16="http://schemas.microsoft.com/office/drawing/2014/main" id="{C90FAD95-41DE-4874-9E21-7556B673AC56}"/>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Producir evidencia</a:t>
            </a:r>
          </a:p>
        </p:txBody>
      </p:sp>
      <p:sp>
        <p:nvSpPr>
          <p:cNvPr id="16" name="">
            <a:extLst xmlns:a="http://schemas.openxmlformats.org/drawingml/2006/main">
              <a:ext uri="{FF2B5EF4-FFF2-40B4-BE49-F238E27FC236}">
                <a16:creationId xmlns:a16="http://schemas.microsoft.com/office/drawing/2014/main" id="{07967E60-CBD2-420D-A82F-5F608FA17241}"/>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Matriz de capacidad y ficha de un problema verificable.</a:t>
            </a:r>
          </a:p>
        </p:txBody>
      </p:sp>
      <p:sp>
        <p:nvSpPr>
          <p:cNvPr id="17" name="">
            <a:extLst xmlns:a="http://schemas.openxmlformats.org/drawingml/2006/main">
              <a:ext uri="{FF2B5EF4-FFF2-40B4-BE49-F238E27FC236}">
                <a16:creationId xmlns:a16="http://schemas.microsoft.com/office/drawing/2014/main" id="{5661799A-5007-4F34-958A-B28C72DF5E22}"/>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BigData en la Especialización en Bases de datos: decisiones de diseño sustentadas</a:t>
            </a:r>
          </a:p>
        </p:txBody>
      </p:sp>
      <p:sp>
        <p:nvSpPr>
          <p:cNvPr id="32" name="">
            <a:extLst xmlns:a="http://schemas.openxmlformats.org/drawingml/2006/main">
              <a:ext uri="{FF2B5EF4-FFF2-40B4-BE49-F238E27FC236}">
                <a16:creationId xmlns:a16="http://schemas.microsoft.com/office/drawing/2014/main" id="{DB0A02D5-4D85-4330-9991-B1583D6DBED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5C6E6F9F-1C89-49ED-AFE7-1298C6C4FE1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2CD2BF32-584B-41F8-A7A6-ACB48968874B}"/>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5" name="">
            <a:extLst xmlns:a="http://schemas.openxmlformats.org/drawingml/2006/main">
              <a:ext uri="{FF2B5EF4-FFF2-40B4-BE49-F238E27FC236}">
                <a16:creationId xmlns:a16="http://schemas.microsoft.com/office/drawing/2014/main" id="{320FE64A-3329-4CF1-B576-BCDB249DFF5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05</a:t>
            </a:r>
          </a:p>
        </p:txBody>
      </p:sp>
    </p:spTree>
    <p:extLst>
      <p:ext uri="{BB962C8B-B14F-4D97-AF65-F5344CB8AC3E}">
        <p14:creationId xmlns:p14="http://schemas.microsoft.com/office/powerpoint/2010/main" val="47575134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e463cef55274b2f"/>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6BCEDB3-4EC3-451F-99FB-47B9F7A6256D}"/>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Diagnóstico inicial</a:t>
            </a:r>
          </a:p>
        </p:txBody>
      </p:sp>
      <p:sp>
        <p:nvSpPr>
          <p:cNvPr id="2" name="">
            <a:extLst xmlns:a="http://schemas.openxmlformats.org/drawingml/2006/main">
              <a:ext uri="{FF2B5EF4-FFF2-40B4-BE49-F238E27FC236}">
                <a16:creationId xmlns:a16="http://schemas.microsoft.com/office/drawing/2014/main" id="{16B3680E-BA38-4723-B899-BFC4EF7DF97A}"/>
              </a:ext>
            </a:extLst>
          </p:cNvPr>
          <p:cNvSpPr>
            <a:spLocks xmlns:a="http://schemas.openxmlformats.org/drawingml/2006/main" noGrp="1"/>
          </p:cNvSpPr>
          <p:nvPr/>
        </p:nvSpPr>
        <p:spPr>
          <a:xfrm xmlns:a="http://schemas.openxmlformats.org/drawingml/2006/main">
            <a:off x="609600" y="2019300"/>
            <a:ext cx="10477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F3864"/>
                </a:solidFill>
                <a:latin typeface="Helvetica Neue"/>
                <a:ea typeface="Helvetica Neue"/>
                <a:cs typeface="Helvetica Neue"/>
              </a:defRPr>
            </a:pPr>
            <a:r>
              <a:rPr sz="3450" b="1">
                <a:solidFill>
                  <a:srgbClr val="1F3864"/>
                </a:solidFill>
                <a:latin typeface="Helvetica Neue"/>
                <a:ea typeface="Helvetica Neue"/>
                <a:cs typeface="Helvetica Neue"/>
              </a:rPr>
              <a:t>¿Un millón de filas exige un clúster?</a:t>
            </a:r>
          </a:p>
        </p:txBody>
      </p:sp>
      <p:sp>
        <p:nvSpPr>
          <p:cNvPr id="3" name="">
            <a:extLst xmlns:a="http://schemas.openxmlformats.org/drawingml/2006/main">
              <a:ext uri="{FF2B5EF4-FFF2-40B4-BE49-F238E27FC236}">
                <a16:creationId xmlns:a16="http://schemas.microsoft.com/office/drawing/2014/main" id="{74D39974-4ED8-4D78-8BA9-3B850D35157E}"/>
              </a:ext>
            </a:extLst>
          </p:cNvPr>
          <p:cNvSpPr>
            <a:spLocks xmlns:a="http://schemas.openxmlformats.org/drawingml/2006/main" noGrp="1"/>
          </p:cNvSpPr>
          <p:nvPr/>
        </p:nvSpPr>
        <p:spPr>
          <a:xfrm xmlns:a="http://schemas.openxmlformats.org/drawingml/2006/main">
            <a:off x="609600" y="54387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Respuesta individual y discusión en grupo</a:t>
            </a:r>
          </a:p>
        </p:txBody>
      </p:sp>
      <p:sp>
        <p:nvSpPr>
          <p:cNvPr id="17" name="">
            <a:extLst xmlns:a="http://schemas.openxmlformats.org/drawingml/2006/main">
              <a:ext uri="{FF2B5EF4-FFF2-40B4-BE49-F238E27FC236}">
                <a16:creationId xmlns:a16="http://schemas.microsoft.com/office/drawing/2014/main" id="{7F7B382E-7982-4CC1-BC54-A5FB3F2FE14E}"/>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78F6A39C-81AA-43AD-95FE-027687525D8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F219D0D2-C2E4-4C92-98EC-362A1AF4B3EE}"/>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0" name="">
            <a:extLst xmlns:a="http://schemas.openxmlformats.org/drawingml/2006/main">
              <a:ext uri="{FF2B5EF4-FFF2-40B4-BE49-F238E27FC236}">
                <a16:creationId xmlns:a16="http://schemas.microsoft.com/office/drawing/2014/main" id="{E29F0333-AC98-4F4F-B9F8-6E391D820C6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06</a:t>
            </a:r>
          </a:p>
        </p:txBody>
      </p:sp>
    </p:spTree>
    <p:extLst>
      <p:ext uri="{BB962C8B-B14F-4D97-AF65-F5344CB8AC3E}">
        <p14:creationId xmlns:p14="http://schemas.microsoft.com/office/powerpoint/2010/main" val="1607958933"/>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ea2fcca882f04aa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95590c7ba364a58"/>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391B11-5477-4F73-B4BE-E1D189DD7227}"/>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BigData como problema de ingeniería</a:t>
            </a:r>
          </a:p>
        </p:txBody>
      </p:sp>
      <p:sp>
        <p:nvSpPr>
          <p:cNvPr id="13" name="">
            <a:extLst xmlns:a="http://schemas.openxmlformats.org/drawingml/2006/main">
              <a:ext uri="{FF2B5EF4-FFF2-40B4-BE49-F238E27FC236}">
                <a16:creationId xmlns:a16="http://schemas.microsoft.com/office/drawing/2014/main" id="{B18700D9-93CE-418A-825B-231DA2B1F38F}"/>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Datos</a:t>
            </a:r>
          </a:p>
        </p:txBody>
      </p:sp>
      <p:sp>
        <p:nvSpPr>
          <p:cNvPr id="14" name="">
            <a:extLst xmlns:a="http://schemas.openxmlformats.org/drawingml/2006/main">
              <a:ext uri="{FF2B5EF4-FFF2-40B4-BE49-F238E27FC236}">
                <a16:creationId xmlns:a16="http://schemas.microsoft.com/office/drawing/2014/main" id="{31FFB4DD-C46D-466D-88AA-E67A9F9B626B}"/>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Tamaño, consulta y frecuencia de actualización.</a:t>
            </a:r>
          </a:p>
        </p:txBody>
      </p:sp>
      <p:sp>
        <p:nvSpPr>
          <p:cNvPr id="15" name="">
            <a:extLst xmlns:a="http://schemas.openxmlformats.org/drawingml/2006/main">
              <a:ext uri="{FF2B5EF4-FFF2-40B4-BE49-F238E27FC236}">
                <a16:creationId xmlns:a16="http://schemas.microsoft.com/office/drawing/2014/main" id="{7925C4CF-DDDB-432D-98E9-0B6FD67F217E}"/>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Recursos</a:t>
            </a:r>
          </a:p>
        </p:txBody>
      </p:sp>
      <p:sp>
        <p:nvSpPr>
          <p:cNvPr id="16" name="">
            <a:extLst xmlns:a="http://schemas.openxmlformats.org/drawingml/2006/main">
              <a:ext uri="{FF2B5EF4-FFF2-40B4-BE49-F238E27FC236}">
                <a16:creationId xmlns:a16="http://schemas.microsoft.com/office/drawing/2014/main" id="{05DDDADD-A032-4CD7-BE78-F46312ACAE86}"/>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Memoria, CPU, red y almacenamiento.</a:t>
            </a:r>
          </a:p>
        </p:txBody>
      </p:sp>
      <p:sp>
        <p:nvSpPr>
          <p:cNvPr id="17" name="">
            <a:extLst xmlns:a="http://schemas.openxmlformats.org/drawingml/2006/main">
              <a:ext uri="{FF2B5EF4-FFF2-40B4-BE49-F238E27FC236}">
                <a16:creationId xmlns:a16="http://schemas.microsoft.com/office/drawing/2014/main" id="{8303AD51-1671-43AA-A7AC-BB983108236C}"/>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Plazo</a:t>
            </a:r>
          </a:p>
        </p:txBody>
      </p:sp>
      <p:sp>
        <p:nvSpPr>
          <p:cNvPr id="18" name="">
            <a:extLst xmlns:a="http://schemas.openxmlformats.org/drawingml/2006/main">
              <a:ext uri="{FF2B5EF4-FFF2-40B4-BE49-F238E27FC236}">
                <a16:creationId xmlns:a16="http://schemas.microsoft.com/office/drawing/2014/main" id="{ACD5340F-C970-4495-A80E-19D4B7122625}"/>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Tiempo de respuesta y usuarios simultáneos.</a:t>
            </a:r>
          </a:p>
        </p:txBody>
      </p:sp>
      <p:sp>
        <p:nvSpPr>
          <p:cNvPr id="19" name="">
            <a:extLst xmlns:a="http://schemas.openxmlformats.org/drawingml/2006/main">
              <a:ext uri="{FF2B5EF4-FFF2-40B4-BE49-F238E27FC236}">
                <a16:creationId xmlns:a16="http://schemas.microsoft.com/office/drawing/2014/main" id="{E610DBB4-B149-476D-A14B-691775157D36}"/>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 carga de trabajo y la restricción medida orientan el diseño</a:t>
            </a:r>
          </a:p>
        </p:txBody>
      </p:sp>
      <p:sp>
        <p:nvSpPr>
          <p:cNvPr id="34" name="">
            <a:extLst xmlns:a="http://schemas.openxmlformats.org/drawingml/2006/main">
              <a:ext uri="{FF2B5EF4-FFF2-40B4-BE49-F238E27FC236}">
                <a16:creationId xmlns:a16="http://schemas.microsoft.com/office/drawing/2014/main" id="{628797B8-4FF4-4158-BA80-4BC5F854702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7EC084B2-446F-424A-B508-A74D97E4464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566236BE-79DB-4651-80CD-A20A8A6F0F3C}"/>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7" name="">
            <a:extLst xmlns:a="http://schemas.openxmlformats.org/drawingml/2006/main">
              <a:ext uri="{FF2B5EF4-FFF2-40B4-BE49-F238E27FC236}">
                <a16:creationId xmlns:a16="http://schemas.microsoft.com/office/drawing/2014/main" id="{6B7C48FA-9A02-41A5-950E-4A30145341A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07</a:t>
            </a:r>
          </a:p>
        </p:txBody>
      </p:sp>
    </p:spTree>
    <p:extLst>
      <p:ext uri="{BB962C8B-B14F-4D97-AF65-F5344CB8AC3E}">
        <p14:creationId xmlns:p14="http://schemas.microsoft.com/office/powerpoint/2010/main" val="9700082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3"/>
                                        </p:tgtEl>
                                        <p:attrNameLst>
                                          <p:attrName>style.visibility</p:attrName>
                                        </p:attrNameLst>
                                      </p:cBhvr>
                                      <p:to>
                                        <p:strVal val="visible"/>
                                      </p:to>
                                    </p:set>
                                    <p:animEffect transition="in" filter="fade">
                                      <p:cBhvr>
                                        <p:cTn id="7" dur="300"/>
                                        <p:tgtEl>
                                          <p:spTgt spid="13"/>
                                        </p:tgtEl>
                                      </p:cBhvr>
                                    </p:animEffect>
                                  </p:childTnLst>
                                </p:cTn>
                              </p:par>
                              <p:par>
                                <p:cTn id="8" presetID="10" presetClass="entr" presetSubtype="0" fill="hold" nodeType="clickEffect">
                                  <p:stCondLst>
                                    <p:cond delay="0"/>
                                  </p:stCondLst>
                                  <p:childTnLst>
                                    <p:set>
                                      <p:cBhvr>
                                        <p:cTn id="9" dur="1" fill="hold"/>
                                        <p:tgtEl>
                                          <p:spTgt spid="14"/>
                                        </p:tgtEl>
                                        <p:attrNameLst>
                                          <p:attrName>style.visibility</p:attrName>
                                        </p:attrNameLst>
                                      </p:cBhvr>
                                      <p:to>
                                        <p:strVal val="visible"/>
                                      </p:to>
                                    </p:set>
                                    <p:animEffect transition="in" filter="fade">
                                      <p:cBhvr>
                                        <p:cTn id="10" dur="3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5"/>
                                        </p:tgtEl>
                                        <p:attrNameLst>
                                          <p:attrName>style.visibility</p:attrName>
                                        </p:attrNameLst>
                                      </p:cBhvr>
                                      <p:to>
                                        <p:strVal val="visible"/>
                                      </p:to>
                                    </p:set>
                                    <p:animEffect transition="in" filter="fade">
                                      <p:cBhvr>
                                        <p:cTn id="15" dur="300"/>
                                        <p:tgtEl>
                                          <p:spTgt spid="15"/>
                                        </p:tgtEl>
                                      </p:cBhvr>
                                    </p:animEffect>
                                  </p:childTnLst>
                                </p:cTn>
                              </p:par>
                              <p:par>
                                <p:cTn id="16" presetID="10" presetClass="entr" presetSubtype="0" fill="hold" nodeType="clickEffect">
                                  <p:stCondLst>
                                    <p:cond delay="0"/>
                                  </p:stCondLst>
                                  <p:childTnLst>
                                    <p:set>
                                      <p:cBhvr>
                                        <p:cTn id="17" dur="1" fill="hold"/>
                                        <p:tgtEl>
                                          <p:spTgt spid="16"/>
                                        </p:tgtEl>
                                        <p:attrNameLst>
                                          <p:attrName>style.visibility</p:attrName>
                                        </p:attrNameLst>
                                      </p:cBhvr>
                                      <p:to>
                                        <p:strVal val="visible"/>
                                      </p:to>
                                    </p:set>
                                    <p:animEffect transition="in" filter="fade">
                                      <p:cBhvr>
                                        <p:cTn id="18" dur="3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7"/>
                                        </p:tgtEl>
                                        <p:attrNameLst>
                                          <p:attrName>style.visibility</p:attrName>
                                        </p:attrNameLst>
                                      </p:cBhvr>
                                      <p:to>
                                        <p:strVal val="visible"/>
                                      </p:to>
                                    </p:set>
                                    <p:animEffect transition="in" filter="fade">
                                      <p:cBhvr>
                                        <p:cTn id="23" dur="300"/>
                                        <p:tgtEl>
                                          <p:spTgt spid="17"/>
                                        </p:tgtEl>
                                      </p:cBhvr>
                                    </p:animEffect>
                                  </p:childTnLst>
                                </p:cTn>
                              </p:par>
                              <p:par>
                                <p:cTn id="24" presetID="10" presetClass="entr" presetSubtype="0" fill="hold" nodeType="clickEffect">
                                  <p:stCondLst>
                                    <p:cond delay="0"/>
                                  </p:stCondLst>
                                  <p:childTnLst>
                                    <p:set>
                                      <p:cBhvr>
                                        <p:cTn id="25" dur="1" fill="hold"/>
                                        <p:tgtEl>
                                          <p:spTgt spid="18"/>
                                        </p:tgtEl>
                                        <p:attrNameLst>
                                          <p:attrName>style.visibility</p:attrName>
                                        </p:attrNameLst>
                                      </p:cBhvr>
                                      <p:to>
                                        <p:strVal val="visible"/>
                                      </p:to>
                                    </p:set>
                                    <p:animEffect transition="in" filter="fade">
                                      <p:cBhvr>
                                        <p:cTn id="26"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bb450b2f67048e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754f9514afa47ae"/>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9F8D33-B3CA-42A2-8FB2-968417D382F5}"/>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Las cinco V y el problema que plantean</a:t>
            </a:r>
          </a:p>
        </p:txBody>
      </p:sp>
      <p:sp>
        <p:nvSpPr>
          <p:cNvPr id="9" name="">
            <a:extLst xmlns:a="http://schemas.openxmlformats.org/drawingml/2006/main">
              <a:ext uri="{FF2B5EF4-FFF2-40B4-BE49-F238E27FC236}">
                <a16:creationId xmlns:a16="http://schemas.microsoft.com/office/drawing/2014/main" id="{4AA13E7B-7E6E-4264-BA01-1C4B6790D647}"/>
              </a:ext>
            </a:extLst>
          </p:cNvPr>
          <p:cNvSpPr>
            <a:spLocks xmlns:a="http://schemas.openxmlformats.org/drawingml/2006/main" noGrp="1"/>
          </p:cNvSpPr>
          <p:nvPr/>
        </p:nvSpPr>
        <p:spPr>
          <a:xfrm xmlns:a="http://schemas.openxmlformats.org/drawingml/2006/main">
            <a:off x="7639050" y="1485900"/>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Volumen</a:t>
            </a:r>
          </a:p>
        </p:txBody>
      </p:sp>
      <p:sp>
        <p:nvSpPr>
          <p:cNvPr id="10" name="">
            <a:extLst xmlns:a="http://schemas.openxmlformats.org/drawingml/2006/main">
              <a:ext uri="{FF2B5EF4-FFF2-40B4-BE49-F238E27FC236}">
                <a16:creationId xmlns:a16="http://schemas.microsoft.com/office/drawing/2014/main" id="{906942EC-C159-4459-81B9-380C0ED913FF}"/>
              </a:ext>
            </a:extLst>
          </p:cNvPr>
          <p:cNvSpPr>
            <a:spLocks xmlns:a="http://schemas.openxmlformats.org/drawingml/2006/main" noGrp="1"/>
          </p:cNvSpPr>
          <p:nvPr/>
        </p:nvSpPr>
        <p:spPr>
          <a:xfrm xmlns:a="http://schemas.openxmlformats.org/drawingml/2006/main">
            <a:off x="7639050" y="1828800"/>
            <a:ext cx="4038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Bytes, crecimiento, disco y RAM</a:t>
            </a:r>
          </a:p>
        </p:txBody>
      </p:sp>
      <p:sp>
        <p:nvSpPr>
          <p:cNvPr id="11" name="">
            <a:extLst xmlns:a="http://schemas.openxmlformats.org/drawingml/2006/main">
              <a:ext uri="{FF2B5EF4-FFF2-40B4-BE49-F238E27FC236}">
                <a16:creationId xmlns:a16="http://schemas.microsoft.com/office/drawing/2014/main" id="{169D384C-158E-4EDA-8FA2-351B41E21FA8}"/>
              </a:ext>
            </a:extLst>
          </p:cNvPr>
          <p:cNvSpPr>
            <a:spLocks xmlns:a="http://schemas.openxmlformats.org/drawingml/2006/main" noGrp="1"/>
          </p:cNvSpPr>
          <p:nvPr/>
        </p:nvSpPr>
        <p:spPr>
          <a:xfrm xmlns:a="http://schemas.openxmlformats.org/drawingml/2006/main">
            <a:off x="7639050" y="235267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Velocidad</a:t>
            </a:r>
          </a:p>
        </p:txBody>
      </p:sp>
      <p:sp>
        <p:nvSpPr>
          <p:cNvPr id="12" name="">
            <a:extLst xmlns:a="http://schemas.openxmlformats.org/drawingml/2006/main">
              <a:ext uri="{FF2B5EF4-FFF2-40B4-BE49-F238E27FC236}">
                <a16:creationId xmlns:a16="http://schemas.microsoft.com/office/drawing/2014/main" id="{09CD3EF0-B383-4652-874D-B146BCBD7747}"/>
              </a:ext>
            </a:extLst>
          </p:cNvPr>
          <p:cNvSpPr>
            <a:spLocks xmlns:a="http://schemas.openxmlformats.org/drawingml/2006/main" noGrp="1"/>
          </p:cNvSpPr>
          <p:nvPr/>
        </p:nvSpPr>
        <p:spPr>
          <a:xfrm xmlns:a="http://schemas.openxmlformats.org/drawingml/2006/main">
            <a:off x="7639050" y="2695575"/>
            <a:ext cx="4038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Llegadas, colas y plazo de respuesta</a:t>
            </a:r>
          </a:p>
        </p:txBody>
      </p:sp>
      <p:sp>
        <p:nvSpPr>
          <p:cNvPr id="13" name="">
            <a:extLst xmlns:a="http://schemas.openxmlformats.org/drawingml/2006/main">
              <a:ext uri="{FF2B5EF4-FFF2-40B4-BE49-F238E27FC236}">
                <a16:creationId xmlns:a16="http://schemas.microsoft.com/office/drawing/2014/main" id="{D493BB57-26E0-48C1-B60A-513B81C37A39}"/>
              </a:ext>
            </a:extLst>
          </p:cNvPr>
          <p:cNvSpPr>
            <a:spLocks xmlns:a="http://schemas.openxmlformats.org/drawingml/2006/main" noGrp="1"/>
          </p:cNvSpPr>
          <p:nvPr/>
        </p:nvSpPr>
        <p:spPr>
          <a:xfrm xmlns:a="http://schemas.openxmlformats.org/drawingml/2006/main">
            <a:off x="7639050" y="3219450"/>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Variedad</a:t>
            </a:r>
          </a:p>
        </p:txBody>
      </p:sp>
      <p:sp>
        <p:nvSpPr>
          <p:cNvPr id="14" name="">
            <a:extLst xmlns:a="http://schemas.openxmlformats.org/drawingml/2006/main">
              <a:ext uri="{FF2B5EF4-FFF2-40B4-BE49-F238E27FC236}">
                <a16:creationId xmlns:a16="http://schemas.microsoft.com/office/drawing/2014/main" id="{5BDDDC25-FFCF-40BD-922B-9979642C838E}"/>
              </a:ext>
            </a:extLst>
          </p:cNvPr>
          <p:cNvSpPr>
            <a:spLocks xmlns:a="http://schemas.openxmlformats.org/drawingml/2006/main" noGrp="1"/>
          </p:cNvSpPr>
          <p:nvPr/>
        </p:nvSpPr>
        <p:spPr>
          <a:xfrm xmlns:a="http://schemas.openxmlformats.org/drawingml/2006/main">
            <a:off x="7639050" y="3562350"/>
            <a:ext cx="4038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Formatos, claves, unidades y esquemas</a:t>
            </a:r>
          </a:p>
        </p:txBody>
      </p:sp>
      <p:sp>
        <p:nvSpPr>
          <p:cNvPr id="15" name="">
            <a:extLst xmlns:a="http://schemas.openxmlformats.org/drawingml/2006/main">
              <a:ext uri="{FF2B5EF4-FFF2-40B4-BE49-F238E27FC236}">
                <a16:creationId xmlns:a16="http://schemas.microsoft.com/office/drawing/2014/main" id="{EB971724-AEBE-489F-90EE-6596C631E29A}"/>
              </a:ext>
            </a:extLst>
          </p:cNvPr>
          <p:cNvSpPr>
            <a:spLocks xmlns:a="http://schemas.openxmlformats.org/drawingml/2006/main" noGrp="1"/>
          </p:cNvSpPr>
          <p:nvPr/>
        </p:nvSpPr>
        <p:spPr>
          <a:xfrm xmlns:a="http://schemas.openxmlformats.org/drawingml/2006/main">
            <a:off x="7639050" y="408622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A56B08"/>
                </a:solidFill>
                <a:latin typeface="Calibri"/>
                <a:ea typeface="Calibri"/>
                <a:cs typeface="Calibri"/>
              </a:defRPr>
            </a:pPr>
            <a:r>
              <a:rPr sz="2025" b="1">
                <a:solidFill>
                  <a:srgbClr val="A56B08"/>
                </a:solidFill>
                <a:latin typeface="Calibri"/>
                <a:ea typeface="Calibri"/>
                <a:cs typeface="Calibri"/>
              </a:rPr>
              <a:t>Veracidad</a:t>
            </a:r>
          </a:p>
        </p:txBody>
      </p:sp>
      <p:sp>
        <p:nvSpPr>
          <p:cNvPr id="16" name="">
            <a:extLst xmlns:a="http://schemas.openxmlformats.org/drawingml/2006/main">
              <a:ext uri="{FF2B5EF4-FFF2-40B4-BE49-F238E27FC236}">
                <a16:creationId xmlns:a16="http://schemas.microsoft.com/office/drawing/2014/main" id="{AB29BC10-1D72-4201-9885-931D6EB6E19E}"/>
              </a:ext>
            </a:extLst>
          </p:cNvPr>
          <p:cNvSpPr>
            <a:spLocks xmlns:a="http://schemas.openxmlformats.org/drawingml/2006/main" noGrp="1"/>
          </p:cNvSpPr>
          <p:nvPr/>
        </p:nvSpPr>
        <p:spPr>
          <a:xfrm xmlns:a="http://schemas.openxmlformats.org/drawingml/2006/main">
            <a:off x="7639050" y="4429125"/>
            <a:ext cx="4038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Calidad, procedencia y sesgo</a:t>
            </a:r>
          </a:p>
        </p:txBody>
      </p:sp>
      <p:sp>
        <p:nvSpPr>
          <p:cNvPr id="17" name="">
            <a:extLst xmlns:a="http://schemas.openxmlformats.org/drawingml/2006/main">
              <a:ext uri="{FF2B5EF4-FFF2-40B4-BE49-F238E27FC236}">
                <a16:creationId xmlns:a16="http://schemas.microsoft.com/office/drawing/2014/main" id="{46F984B3-83DE-4BF0-9C28-6F375D0813CF}"/>
              </a:ext>
            </a:extLst>
          </p:cNvPr>
          <p:cNvSpPr>
            <a:spLocks xmlns:a="http://schemas.openxmlformats.org/drawingml/2006/main" noGrp="1"/>
          </p:cNvSpPr>
          <p:nvPr/>
        </p:nvSpPr>
        <p:spPr>
          <a:xfrm xmlns:a="http://schemas.openxmlformats.org/drawingml/2006/main">
            <a:off x="7639050" y="4953000"/>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203B68"/>
                </a:solidFill>
                <a:latin typeface="Calibri"/>
                <a:ea typeface="Calibri"/>
                <a:cs typeface="Calibri"/>
              </a:defRPr>
            </a:pPr>
            <a:r>
              <a:rPr sz="2025" b="1">
                <a:solidFill>
                  <a:srgbClr val="203B68"/>
                </a:solidFill>
                <a:latin typeface="Calibri"/>
                <a:ea typeface="Calibri"/>
                <a:cs typeface="Calibri"/>
              </a:rPr>
              <a:t>Valor</a:t>
            </a:r>
          </a:p>
        </p:txBody>
      </p:sp>
      <p:sp>
        <p:nvSpPr>
          <p:cNvPr id="18" name="">
            <a:extLst xmlns:a="http://schemas.openxmlformats.org/drawingml/2006/main">
              <a:ext uri="{FF2B5EF4-FFF2-40B4-BE49-F238E27FC236}">
                <a16:creationId xmlns:a16="http://schemas.microsoft.com/office/drawing/2014/main" id="{E21AD7EB-5C88-47BD-AF3B-667D774256B3}"/>
              </a:ext>
            </a:extLst>
          </p:cNvPr>
          <p:cNvSpPr>
            <a:spLocks xmlns:a="http://schemas.openxmlformats.org/drawingml/2006/main" noGrp="1"/>
          </p:cNvSpPr>
          <p:nvPr/>
        </p:nvSpPr>
        <p:spPr>
          <a:xfrm xmlns:a="http://schemas.openxmlformats.org/drawingml/2006/main">
            <a:off x="7639050" y="5295900"/>
            <a:ext cx="4038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Decisión útil frente al costo</a:t>
            </a:r>
          </a:p>
        </p:txBody>
      </p:sp>
      <p:sp>
        <p:nvSpPr>
          <p:cNvPr id="19" name="">
            <a:extLst xmlns:a="http://schemas.openxmlformats.org/drawingml/2006/main">
              <a:ext uri="{FF2B5EF4-FFF2-40B4-BE49-F238E27FC236}">
                <a16:creationId xmlns:a16="http://schemas.microsoft.com/office/drawing/2014/main" id="{8B3A4B9D-1289-41CD-BB14-0DDFE8A117F7}"/>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Cinco dimensiones para diagnosticar el problema</a:t>
            </a:r>
          </a:p>
        </p:txBody>
      </p:sp>
      <p:sp>
        <p:nvSpPr>
          <p:cNvPr id="34" name="">
            <a:extLst xmlns:a="http://schemas.openxmlformats.org/drawingml/2006/main">
              <a:ext uri="{FF2B5EF4-FFF2-40B4-BE49-F238E27FC236}">
                <a16:creationId xmlns:a16="http://schemas.microsoft.com/office/drawing/2014/main" id="{51C908B6-6EB0-480B-B5B6-F9B91AFA077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BA080382-5AD0-42A7-94B3-78C1996CB16F}"/>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462B27AB-89BB-4842-A647-FDFE3C03B5F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7" name="">
            <a:extLst xmlns:a="http://schemas.openxmlformats.org/drawingml/2006/main">
              <a:ext uri="{FF2B5EF4-FFF2-40B4-BE49-F238E27FC236}">
                <a16:creationId xmlns:a16="http://schemas.microsoft.com/office/drawing/2014/main" id="{4ACC2A99-65F7-42BE-B511-3E5F87E5508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08</a:t>
            </a:r>
          </a:p>
        </p:txBody>
      </p:sp>
    </p:spTree>
    <p:extLst>
      <p:ext uri="{BB962C8B-B14F-4D97-AF65-F5344CB8AC3E}">
        <p14:creationId xmlns:p14="http://schemas.microsoft.com/office/powerpoint/2010/main" val="12654887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tgtEl>
                                          <p:spTgt spid="15"/>
                                        </p:tgtEl>
                                        <p:attrNameLst>
                                          <p:attrName>style.visibility</p:attrName>
                                        </p:attrNameLst>
                                      </p:cBhvr>
                                      <p:to>
                                        <p:strVal val="visible"/>
                                      </p:to>
                                    </p:set>
                                    <p:animEffect transition="in" filter="fade">
                                      <p:cBhvr>
                                        <p:cTn id="31" dur="300"/>
                                        <p:tgtEl>
                                          <p:spTgt spid="15"/>
                                        </p:tgtEl>
                                      </p:cBhvr>
                                    </p:animEffect>
                                  </p:childTnLst>
                                </p:cTn>
                              </p:par>
                              <p:par>
                                <p:cTn id="32" presetID="10" presetClass="entr" presetSubtype="0" fill="hold" nodeType="clickEffect">
                                  <p:stCondLst>
                                    <p:cond delay="0"/>
                                  </p:stCondLst>
                                  <p:childTnLst>
                                    <p:set>
                                      <p:cBhvr>
                                        <p:cTn id="33" dur="1" fill="hold"/>
                                        <p:tgtEl>
                                          <p:spTgt spid="16"/>
                                        </p:tgtEl>
                                        <p:attrNameLst>
                                          <p:attrName>style.visibility</p:attrName>
                                        </p:attrNameLst>
                                      </p:cBhvr>
                                      <p:to>
                                        <p:strVal val="visible"/>
                                      </p:to>
                                    </p:set>
                                    <p:animEffect transition="in" filter="fade">
                                      <p:cBhvr>
                                        <p:cTn id="34" dur="3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tgtEl>
                                          <p:spTgt spid="17"/>
                                        </p:tgtEl>
                                        <p:attrNameLst>
                                          <p:attrName>style.visibility</p:attrName>
                                        </p:attrNameLst>
                                      </p:cBhvr>
                                      <p:to>
                                        <p:strVal val="visible"/>
                                      </p:to>
                                    </p:set>
                                    <p:animEffect transition="in" filter="fade">
                                      <p:cBhvr>
                                        <p:cTn id="39" dur="300"/>
                                        <p:tgtEl>
                                          <p:spTgt spid="17"/>
                                        </p:tgtEl>
                                      </p:cBhvr>
                                    </p:animEffect>
                                  </p:childTnLst>
                                </p:cTn>
                              </p:par>
                              <p:par>
                                <p:cTn id="40" presetID="10" presetClass="entr" presetSubtype="0" fill="hold" nodeType="clickEffect">
                                  <p:stCondLst>
                                    <p:cond delay="0"/>
                                  </p:stCondLst>
                                  <p:childTnLst>
                                    <p:set>
                                      <p:cBhvr>
                                        <p:cTn id="41" dur="1" fill="hold"/>
                                        <p:tgtEl>
                                          <p:spTgt spid="18"/>
                                        </p:tgtEl>
                                        <p:attrNameLst>
                                          <p:attrName>style.visibility</p:attrName>
                                        </p:attrNameLst>
                                      </p:cBhvr>
                                      <p:to>
                                        <p:strVal val="visible"/>
                                      </p:to>
                                    </p:set>
                                    <p:animEffect transition="in" filter="fade">
                                      <p:cBhvr>
                                        <p:cTn id="42"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c7458bff404450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29" name="Chart"/>
          <p:cNvGraphicFramePr/>
          <p:nvPr/>
        </p:nvGraphicFramePr>
        <p:xfrm>
          <a:off xmlns:a="http://schemas.openxmlformats.org/drawingml/2006/main" x="809625" y="1666875"/>
          <a:ext xmlns:a="http://schemas.openxmlformats.org/drawingml/2006/main" cx="10477500" cy="3714750"/>
        </p:xfrm>
        <a:graphic xmlns:a="http://schemas.openxmlformats.org/drawingml/2006/main">
          <a:graphicData uri="http://schemas.openxmlformats.org/drawingml/2006/chart">
            <c:chart xmlns:r="http://schemas.openxmlformats.org/officeDocument/2006/relationships" xmlns:c="http://schemas.openxmlformats.org/drawingml/2006/chart" r:id="Rd805d4522b1549be"/>
          </a:graphicData>
        </a:graphic>
      </p:graphicFrame>
      <p:sp>
        <p:nvSpPr>
          <p:cNvPr id="2" name="">
            <a:extLst xmlns:a="http://schemas.openxmlformats.org/drawingml/2006/main">
              <a:ext uri="{FF2B5EF4-FFF2-40B4-BE49-F238E27FC236}">
                <a16:creationId xmlns:a16="http://schemas.microsoft.com/office/drawing/2014/main" id="{E18547A1-4316-483A-991F-BE63702941C4}"/>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Volumen: crecimiento observado en CERN</a:t>
            </a:r>
          </a:p>
        </p:txBody>
      </p:sp>
      <p:sp>
        <p:nvSpPr>
          <p:cNvPr id="6" name="">
            <a:extLst xmlns:a="http://schemas.openxmlformats.org/drawingml/2006/main">
              <a:ext uri="{FF2B5EF4-FFF2-40B4-BE49-F238E27FC236}">
                <a16:creationId xmlns:a16="http://schemas.microsoft.com/office/drawing/2014/main" id="{9C3D5BFD-A315-47CA-9F88-8CF33DEBC655}"/>
              </a:ext>
            </a:extLst>
          </p:cNvPr>
          <p:cNvSpPr>
            <a:spLocks xmlns:a="http://schemas.openxmlformats.org/drawingml/2006/main" noGrp="1"/>
          </p:cNvSpPr>
          <p:nvPr/>
        </p:nvSpPr>
        <p:spPr>
          <a:xfrm xmlns:a="http://schemas.openxmlformats.org/drawingml/2006/main">
            <a:off x="609600" y="54673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F3864"/>
                </a:solidFill>
                <a:latin typeface="Calibri"/>
                <a:ea typeface="Calibri"/>
                <a:cs typeface="Calibri"/>
              </a:defRPr>
            </a:pPr>
            <a:r>
              <a:rPr sz="2325" b="1">
                <a:solidFill>
                  <a:srgbClr val="1F3864"/>
                </a:solidFill>
                <a:latin typeface="Calibri"/>
                <a:ea typeface="Calibri"/>
                <a:cs typeface="Calibri"/>
              </a:rPr>
              <a:t>El volumen de 2024 es 5,5 veces el de 2022</a:t>
            </a:r>
          </a:p>
        </p:txBody>
      </p:sp>
      <p:sp>
        <p:nvSpPr>
          <p:cNvPr id="7" name="">
            <a:extLst xmlns:a="http://schemas.openxmlformats.org/drawingml/2006/main">
              <a:ext uri="{FF2B5EF4-FFF2-40B4-BE49-F238E27FC236}">
                <a16:creationId xmlns:a16="http://schemas.microsoft.com/office/drawing/2014/main" id="{CDF5673E-C6C8-4787-A5BE-7AAB75FA7BAF}"/>
              </a:ext>
            </a:extLst>
          </p:cNvPr>
          <p:cNvSpPr>
            <a:spLocks xmlns:a="http://schemas.openxmlformats.org/drawingml/2006/main" noGrp="1"/>
          </p:cNvSpPr>
          <p:nvPr/>
        </p:nvSpPr>
        <p:spPr>
          <a:xfrm xmlns:a="http://schemas.openxmlformats.org/drawingml/2006/main">
            <a:off x="609600" y="59721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F3864"/>
                </a:solidFill>
                <a:latin typeface="Calibri"/>
                <a:ea typeface="Calibri"/>
                <a:cs typeface="Calibri"/>
              </a:defRPr>
            </a:pPr>
            <a:r>
              <a:rPr sz="1425" b="0">
                <a:solidFill>
                  <a:srgbClr val="1F3864"/>
                </a:solidFill>
                <a:latin typeface="Calibri"/>
                <a:ea typeface="Calibri"/>
                <a:cs typeface="Calibri"/>
              </a:rPr>
              <a:t>CERN, presentación de 2025. Volumen anual aproximado, no almacenamiento acumulado.</a:t>
            </a:r>
          </a:p>
        </p:txBody>
      </p:sp>
      <p:sp>
        <p:nvSpPr>
          <p:cNvPr id="22" name="">
            <a:extLst xmlns:a="http://schemas.openxmlformats.org/drawingml/2006/main">
              <a:ext uri="{FF2B5EF4-FFF2-40B4-BE49-F238E27FC236}">
                <a16:creationId xmlns:a16="http://schemas.microsoft.com/office/drawing/2014/main" id="{8290DE42-3A9E-443B-A095-F09B217219C1}"/>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DA4593C0-991C-44A2-90B7-2FEDC3668E3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4" name="">
            <a:extLst xmlns:a="http://schemas.openxmlformats.org/drawingml/2006/main">
              <a:ext uri="{FF2B5EF4-FFF2-40B4-BE49-F238E27FC236}">
                <a16:creationId xmlns:a16="http://schemas.microsoft.com/office/drawing/2014/main" id="{10F7AF72-789B-4F19-8AD9-49C025CAFEC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5" name="">
            <a:extLst xmlns:a="http://schemas.openxmlformats.org/drawingml/2006/main">
              <a:ext uri="{FF2B5EF4-FFF2-40B4-BE49-F238E27FC236}">
                <a16:creationId xmlns:a16="http://schemas.microsoft.com/office/drawing/2014/main" id="{5A265D7E-3B7B-4A82-8D40-D3C0C52C4459}"/>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09</a:t>
            </a:r>
          </a:p>
        </p:txBody>
      </p:sp>
    </p:spTree>
    <p:extLst>
      <p:ext uri="{BB962C8B-B14F-4D97-AF65-F5344CB8AC3E}">
        <p14:creationId xmlns:p14="http://schemas.microsoft.com/office/powerpoint/2010/main" val="52796538"/>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301e0aef6654f0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efbd8e999424ccc"/>
          <a:stretch xmlns:a="http://schemas.openxmlformats.org/drawingml/2006/main"/>
        </p:blipFill>
        <p:spPr>
          <a:xfrm xmlns:a="http://schemas.openxmlformats.org/drawingml/2006/main">
            <a:off x="5067300" y="1412875"/>
            <a:ext cx="6705600" cy="44704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7AABB7-FE46-4E13-AA25-34824CD79289}"/>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Un hito de almacenamiento en 2025</a:t>
            </a:r>
          </a:p>
        </p:txBody>
      </p:sp>
      <p:sp>
        <p:nvSpPr>
          <p:cNvPr id="14" name="">
            <a:extLst xmlns:a="http://schemas.openxmlformats.org/drawingml/2006/main">
              <a:ext uri="{FF2B5EF4-FFF2-40B4-BE49-F238E27FC236}">
                <a16:creationId xmlns:a16="http://schemas.microsoft.com/office/drawing/2014/main" id="{A7DC792F-150F-4604-9A9C-48D0B6429FF4}"/>
              </a:ext>
            </a:extLst>
          </p:cNvPr>
          <p:cNvSpPr>
            <a:spLocks xmlns:a="http://schemas.openxmlformats.org/drawingml/2006/main" noGrp="1"/>
          </p:cNvSpPr>
          <p:nvPr/>
        </p:nvSpPr>
        <p:spPr>
          <a:xfrm xmlns:a="http://schemas.openxmlformats.org/drawingml/2006/main">
            <a:off x="6096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 exabyte acumulado</a:t>
            </a:r>
          </a:p>
        </p:txBody>
      </p:sp>
      <p:sp>
        <p:nvSpPr>
          <p:cNvPr id="15" name="">
            <a:extLst xmlns:a="http://schemas.openxmlformats.org/drawingml/2006/main">
              <a:ext uri="{FF2B5EF4-FFF2-40B4-BE49-F238E27FC236}">
                <a16:creationId xmlns:a16="http://schemas.microsoft.com/office/drawing/2014/main" id="{4F86476E-D3F7-4B4B-9BBC-1A2E005B85F7}"/>
              </a:ext>
            </a:extLst>
          </p:cNvPr>
          <p:cNvSpPr>
            <a:spLocks xmlns:a="http://schemas.openxmlformats.org/drawingml/2006/main" noGrp="1"/>
          </p:cNvSpPr>
          <p:nvPr/>
        </p:nvSpPr>
        <p:spPr>
          <a:xfrm xmlns:a="http://schemas.openxmlformats.org/drawingml/2006/main">
            <a:off x="6096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Hito de datos experimentales del LHC, anunciado en diciembre de 2025.</a:t>
            </a:r>
          </a:p>
        </p:txBody>
      </p:sp>
      <p:sp>
        <p:nvSpPr>
          <p:cNvPr id="16" name="">
            <a:extLst xmlns:a="http://schemas.openxmlformats.org/drawingml/2006/main">
              <a:ext uri="{FF2B5EF4-FFF2-40B4-BE49-F238E27FC236}">
                <a16:creationId xmlns:a16="http://schemas.microsoft.com/office/drawing/2014/main" id="{C2338B70-F22C-449F-9DE8-67F212EDD9DE}"/>
              </a:ext>
            </a:extLst>
          </p:cNvPr>
          <p:cNvSpPr>
            <a:spLocks xmlns:a="http://schemas.openxmlformats.org/drawingml/2006/main" noGrp="1"/>
          </p:cNvSpPr>
          <p:nvPr/>
        </p:nvSpPr>
        <p:spPr>
          <a:xfrm xmlns:a="http://schemas.openxmlformats.org/drawingml/2006/main">
            <a:off x="6096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Selección previa</a:t>
            </a:r>
          </a:p>
        </p:txBody>
      </p:sp>
      <p:sp>
        <p:nvSpPr>
          <p:cNvPr id="17" name="">
            <a:extLst xmlns:a="http://schemas.openxmlformats.org/drawingml/2006/main">
              <a:ext uri="{FF2B5EF4-FFF2-40B4-BE49-F238E27FC236}">
                <a16:creationId xmlns:a16="http://schemas.microsoft.com/office/drawing/2014/main" id="{4192678D-34AF-462A-ABC2-A20A4D575850}"/>
              </a:ext>
            </a:extLst>
          </p:cNvPr>
          <p:cNvSpPr>
            <a:spLocks xmlns:a="http://schemas.openxmlformats.org/drawingml/2006/main" noGrp="1"/>
          </p:cNvSpPr>
          <p:nvPr/>
        </p:nvSpPr>
        <p:spPr>
          <a:xfrm xmlns:a="http://schemas.openxmlformats.org/drawingml/2006/main">
            <a:off x="6096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El filtrado reduce lo que llega al archivo.</a:t>
            </a:r>
          </a:p>
        </p:txBody>
      </p:sp>
      <p:sp>
        <p:nvSpPr>
          <p:cNvPr id="18" name="">
            <a:extLst xmlns:a="http://schemas.openxmlformats.org/drawingml/2006/main">
              <a:ext uri="{FF2B5EF4-FFF2-40B4-BE49-F238E27FC236}">
                <a16:creationId xmlns:a16="http://schemas.microsoft.com/office/drawing/2014/main" id="{1B9E5CEF-8A24-4A80-BAB5-39A7E03E58FC}"/>
              </a:ext>
            </a:extLst>
          </p:cNvPr>
          <p:cNvSpPr>
            <a:spLocks xmlns:a="http://schemas.openxmlformats.org/drawingml/2006/main" noGrp="1"/>
          </p:cNvSpPr>
          <p:nvPr/>
        </p:nvSpPr>
        <p:spPr>
          <a:xfrm xmlns:a="http://schemas.openxmlformats.org/drawingml/2006/main">
            <a:off x="6096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Conservación</a:t>
            </a:r>
          </a:p>
        </p:txBody>
      </p:sp>
      <p:sp>
        <p:nvSpPr>
          <p:cNvPr id="19" name="">
            <a:extLst xmlns:a="http://schemas.openxmlformats.org/drawingml/2006/main">
              <a:ext uri="{FF2B5EF4-FFF2-40B4-BE49-F238E27FC236}">
                <a16:creationId xmlns:a16="http://schemas.microsoft.com/office/drawing/2014/main" id="{F1C39019-0913-4B99-8A9A-A028D71EA471}"/>
              </a:ext>
            </a:extLst>
          </p:cNvPr>
          <p:cNvSpPr>
            <a:spLocks xmlns:a="http://schemas.openxmlformats.org/drawingml/2006/main" noGrp="1"/>
          </p:cNvSpPr>
          <p:nvPr/>
        </p:nvSpPr>
        <p:spPr>
          <a:xfrm xmlns:a="http://schemas.openxmlformats.org/drawingml/2006/main">
            <a:off x="6096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Catálogo, acceso y preservación para análisis futuros.</a:t>
            </a:r>
          </a:p>
        </p:txBody>
      </p:sp>
      <p:sp>
        <p:nvSpPr>
          <p:cNvPr id="20" name="">
            <a:extLst xmlns:a="http://schemas.openxmlformats.org/drawingml/2006/main">
              <a:ext uri="{FF2B5EF4-FFF2-40B4-BE49-F238E27FC236}">
                <a16:creationId xmlns:a16="http://schemas.microsoft.com/office/drawing/2014/main" id="{F0783BB7-7CEA-44E6-B504-E05B86D534DD}"/>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Fuente: CERN, 17 de diciembre de 2025. Esquema conceptual del archivo</a:t>
            </a:r>
          </a:p>
        </p:txBody>
      </p:sp>
      <p:sp>
        <p:nvSpPr>
          <p:cNvPr id="35" name="">
            <a:extLst xmlns:a="http://schemas.openxmlformats.org/drawingml/2006/main">
              <a:ext uri="{FF2B5EF4-FFF2-40B4-BE49-F238E27FC236}">
                <a16:creationId xmlns:a16="http://schemas.microsoft.com/office/drawing/2014/main" id="{7BA21F86-2A3E-462A-88B0-C321FB552ADF}"/>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23291F74-6164-4957-AE6F-3CDC7DA414E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7" name="">
            <a:extLst xmlns:a="http://schemas.openxmlformats.org/drawingml/2006/main">
              <a:ext uri="{FF2B5EF4-FFF2-40B4-BE49-F238E27FC236}">
                <a16:creationId xmlns:a16="http://schemas.microsoft.com/office/drawing/2014/main" id="{4B9D185E-5C29-4B8D-87EC-3325F12B038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8" name="">
            <a:extLst xmlns:a="http://schemas.openxmlformats.org/drawingml/2006/main">
              <a:ext uri="{FF2B5EF4-FFF2-40B4-BE49-F238E27FC236}">
                <a16:creationId xmlns:a16="http://schemas.microsoft.com/office/drawing/2014/main" id="{5779F0EB-7110-4168-B2F5-FED3DBCA01A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10</a:t>
            </a:r>
          </a:p>
        </p:txBody>
      </p:sp>
    </p:spTree>
    <p:extLst>
      <p:ext uri="{BB962C8B-B14F-4D97-AF65-F5344CB8AC3E}">
        <p14:creationId xmlns:p14="http://schemas.microsoft.com/office/powerpoint/2010/main" val="63216390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4"/>
                                        </p:tgtEl>
                                        <p:attrNameLst>
                                          <p:attrName>style.visibility</p:attrName>
                                        </p:attrNameLst>
                                      </p:cBhvr>
                                      <p:to>
                                        <p:strVal val="visible"/>
                                      </p:to>
                                    </p:set>
                                    <p:animEffect transition="in" filter="fade">
                                      <p:cBhvr>
                                        <p:cTn id="7" dur="300"/>
                                        <p:tgtEl>
                                          <p:spTgt spid="14"/>
                                        </p:tgtEl>
                                      </p:cBhvr>
                                    </p:animEffect>
                                  </p:childTnLst>
                                </p:cTn>
                              </p:par>
                              <p:par>
                                <p:cTn id="8" presetID="10" presetClass="entr" presetSubtype="0" fill="hold" nodeType="clickEffect">
                                  <p:stCondLst>
                                    <p:cond delay="0"/>
                                  </p:stCondLst>
                                  <p:childTnLst>
                                    <p:set>
                                      <p:cBhvr>
                                        <p:cTn id="9" dur="1" fill="hold"/>
                                        <p:tgtEl>
                                          <p:spTgt spid="15"/>
                                        </p:tgtEl>
                                        <p:attrNameLst>
                                          <p:attrName>style.visibility</p:attrName>
                                        </p:attrNameLst>
                                      </p:cBhvr>
                                      <p:to>
                                        <p:strVal val="visible"/>
                                      </p:to>
                                    </p:set>
                                    <p:animEffect transition="in" filter="fade">
                                      <p:cBhvr>
                                        <p:cTn id="10" dur="3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6"/>
                                        </p:tgtEl>
                                        <p:attrNameLst>
                                          <p:attrName>style.visibility</p:attrName>
                                        </p:attrNameLst>
                                      </p:cBhvr>
                                      <p:to>
                                        <p:strVal val="visible"/>
                                      </p:to>
                                    </p:set>
                                    <p:animEffect transition="in" filter="fade">
                                      <p:cBhvr>
                                        <p:cTn id="15" dur="300"/>
                                        <p:tgtEl>
                                          <p:spTgt spid="16"/>
                                        </p:tgtEl>
                                      </p:cBhvr>
                                    </p:animEffect>
                                  </p:childTnLst>
                                </p:cTn>
                              </p:par>
                              <p:par>
                                <p:cTn id="16" presetID="10" presetClass="entr" presetSubtype="0" fill="hold" nodeType="clickEffect">
                                  <p:stCondLst>
                                    <p:cond delay="0"/>
                                  </p:stCondLst>
                                  <p:childTnLst>
                                    <p:set>
                                      <p:cBhvr>
                                        <p:cTn id="17" dur="1" fill="hold"/>
                                        <p:tgtEl>
                                          <p:spTgt spid="17"/>
                                        </p:tgtEl>
                                        <p:attrNameLst>
                                          <p:attrName>style.visibility</p:attrName>
                                        </p:attrNameLst>
                                      </p:cBhvr>
                                      <p:to>
                                        <p:strVal val="visible"/>
                                      </p:to>
                                    </p:set>
                                    <p:animEffect transition="in" filter="fade">
                                      <p:cBhvr>
                                        <p:cTn id="18" dur="3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8"/>
                                        </p:tgtEl>
                                        <p:attrNameLst>
                                          <p:attrName>style.visibility</p:attrName>
                                        </p:attrNameLst>
                                      </p:cBhvr>
                                      <p:to>
                                        <p:strVal val="visible"/>
                                      </p:to>
                                    </p:set>
                                    <p:animEffect transition="in" filter="fade">
                                      <p:cBhvr>
                                        <p:cTn id="23" dur="300"/>
                                        <p:tgtEl>
                                          <p:spTgt spid="18"/>
                                        </p:tgtEl>
                                      </p:cBhvr>
                                    </p:animEffect>
                                  </p:childTnLst>
                                </p:cTn>
                              </p:par>
                              <p:par>
                                <p:cTn id="24" presetID="10" presetClass="entr" presetSubtype="0" fill="hold" nodeType="clickEffect">
                                  <p:stCondLst>
                                    <p:cond delay="0"/>
                                  </p:stCondLst>
                                  <p:childTnLst>
                                    <p:set>
                                      <p:cBhvr>
                                        <p:cTn id="25" dur="1" fill="hold"/>
                                        <p:tgtEl>
                                          <p:spTgt spid="19"/>
                                        </p:tgtEl>
                                        <p:attrNameLst>
                                          <p:attrName>style.visibility</p:attrName>
                                        </p:attrNameLst>
                                      </p:cBhvr>
                                      <p:to>
                                        <p:strVal val="visible"/>
                                      </p:to>
                                    </p:set>
                                    <p:animEffect transition="in" filter="fade">
                                      <p:cBhvr>
                                        <p:cTn id="26"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43b0d1c168348e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baeb70bbb7b4c3f"/>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4C9C137-C2B3-499C-8999-BC5097B26FA7}"/>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Velocidad: alertas astronómicas de Rubin</a:t>
            </a:r>
          </a:p>
        </p:txBody>
      </p:sp>
      <p:sp>
        <p:nvSpPr>
          <p:cNvPr id="14" name="">
            <a:extLst xmlns:a="http://schemas.openxmlformats.org/drawingml/2006/main">
              <a:ext uri="{FF2B5EF4-FFF2-40B4-BE49-F238E27FC236}">
                <a16:creationId xmlns:a16="http://schemas.microsoft.com/office/drawing/2014/main" id="{70409619-139C-4DEC-A5E2-CEC4DBC9F314}"/>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800.000 alertas</a:t>
            </a:r>
          </a:p>
        </p:txBody>
      </p:sp>
      <p:sp>
        <p:nvSpPr>
          <p:cNvPr id="15" name="">
            <a:extLst xmlns:a="http://schemas.openxmlformats.org/drawingml/2006/main">
              <a:ext uri="{FF2B5EF4-FFF2-40B4-BE49-F238E27FC236}">
                <a16:creationId xmlns:a16="http://schemas.microsoft.com/office/drawing/2014/main" id="{EB104DD5-3DEC-4FFA-9AAC-2C631F1D1103}"/>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Observadas en la noche del 24 de febrero de 2026.</a:t>
            </a:r>
          </a:p>
        </p:txBody>
      </p:sp>
      <p:sp>
        <p:nvSpPr>
          <p:cNvPr id="16" name="">
            <a:extLst xmlns:a="http://schemas.openxmlformats.org/drawingml/2006/main">
              <a:ext uri="{FF2B5EF4-FFF2-40B4-BE49-F238E27FC236}">
                <a16:creationId xmlns:a16="http://schemas.microsoft.com/office/drawing/2014/main" id="{3373ECB8-264B-4B56-B816-5FCB38A6EB17}"/>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Hasta 7 millones</a:t>
            </a:r>
          </a:p>
        </p:txBody>
      </p:sp>
      <p:sp>
        <p:nvSpPr>
          <p:cNvPr id="17" name="">
            <a:extLst xmlns:a="http://schemas.openxmlformats.org/drawingml/2006/main">
              <a:ext uri="{FF2B5EF4-FFF2-40B4-BE49-F238E27FC236}">
                <a16:creationId xmlns:a16="http://schemas.microsoft.com/office/drawing/2014/main" id="{29C8671C-7990-4AD5-A464-4B91D3FA84EB}"/>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Proyección por noche del anuncio de NSF.</a:t>
            </a:r>
          </a:p>
        </p:txBody>
      </p:sp>
      <p:sp>
        <p:nvSpPr>
          <p:cNvPr id="18" name="">
            <a:extLst xmlns:a="http://schemas.openxmlformats.org/drawingml/2006/main">
              <a:ext uri="{FF2B5EF4-FFF2-40B4-BE49-F238E27FC236}">
                <a16:creationId xmlns:a16="http://schemas.microsoft.com/office/drawing/2014/main" id="{6E0B51CC-A935-45FD-BEF4-B4F50B7DAD83}"/>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Menos de 2 minutos</a:t>
            </a:r>
          </a:p>
        </p:txBody>
      </p:sp>
      <p:sp>
        <p:nvSpPr>
          <p:cNvPr id="19" name="">
            <a:extLst xmlns:a="http://schemas.openxmlformats.org/drawingml/2006/main">
              <a:ext uri="{FF2B5EF4-FFF2-40B4-BE49-F238E27FC236}">
                <a16:creationId xmlns:a16="http://schemas.microsoft.com/office/drawing/2014/main" id="{D74E9F32-61EF-441A-BDAA-9DD3AAB1C780}"/>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Comparar imágenes, detectar cambios y emitir alertas.</a:t>
            </a:r>
          </a:p>
        </p:txBody>
      </p:sp>
      <p:sp>
        <p:nvSpPr>
          <p:cNvPr id="20" name="">
            <a:extLst xmlns:a="http://schemas.openxmlformats.org/drawingml/2006/main">
              <a:ext uri="{FF2B5EF4-FFF2-40B4-BE49-F238E27FC236}">
                <a16:creationId xmlns:a16="http://schemas.microsoft.com/office/drawing/2014/main" id="{3223E02E-A153-4CA9-AE3D-E72278F1780F}"/>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NSF, 25 de febrero de 2026. Esquema conceptual del proceso</a:t>
            </a:r>
          </a:p>
        </p:txBody>
      </p:sp>
      <p:sp>
        <p:nvSpPr>
          <p:cNvPr id="35" name="">
            <a:extLst xmlns:a="http://schemas.openxmlformats.org/drawingml/2006/main">
              <a:ext uri="{FF2B5EF4-FFF2-40B4-BE49-F238E27FC236}">
                <a16:creationId xmlns:a16="http://schemas.microsoft.com/office/drawing/2014/main" id="{01E48BDA-6D31-4655-897D-F1727C5304E3}"/>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B049377E-9B5E-42B2-8551-B32A81E83E5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7" name="">
            <a:extLst xmlns:a="http://schemas.openxmlformats.org/drawingml/2006/main">
              <a:ext uri="{FF2B5EF4-FFF2-40B4-BE49-F238E27FC236}">
                <a16:creationId xmlns:a16="http://schemas.microsoft.com/office/drawing/2014/main" id="{A2B00C67-2C97-42C6-B6D8-66AA25F5606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8" name="">
            <a:extLst xmlns:a="http://schemas.openxmlformats.org/drawingml/2006/main">
              <a:ext uri="{FF2B5EF4-FFF2-40B4-BE49-F238E27FC236}">
                <a16:creationId xmlns:a16="http://schemas.microsoft.com/office/drawing/2014/main" id="{A795748A-1C2C-4F16-8AA5-B84DD8860E0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11</a:t>
            </a:r>
          </a:p>
        </p:txBody>
      </p:sp>
    </p:spTree>
    <p:extLst>
      <p:ext uri="{BB962C8B-B14F-4D97-AF65-F5344CB8AC3E}">
        <p14:creationId xmlns:p14="http://schemas.microsoft.com/office/powerpoint/2010/main" val="59107943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4"/>
                                        </p:tgtEl>
                                        <p:attrNameLst>
                                          <p:attrName>style.visibility</p:attrName>
                                        </p:attrNameLst>
                                      </p:cBhvr>
                                      <p:to>
                                        <p:strVal val="visible"/>
                                      </p:to>
                                    </p:set>
                                    <p:animEffect transition="in" filter="fade">
                                      <p:cBhvr>
                                        <p:cTn id="7" dur="300"/>
                                        <p:tgtEl>
                                          <p:spTgt spid="14"/>
                                        </p:tgtEl>
                                      </p:cBhvr>
                                    </p:animEffect>
                                  </p:childTnLst>
                                </p:cTn>
                              </p:par>
                              <p:par>
                                <p:cTn id="8" presetID="10" presetClass="entr" presetSubtype="0" fill="hold" nodeType="clickEffect">
                                  <p:stCondLst>
                                    <p:cond delay="0"/>
                                  </p:stCondLst>
                                  <p:childTnLst>
                                    <p:set>
                                      <p:cBhvr>
                                        <p:cTn id="9" dur="1" fill="hold"/>
                                        <p:tgtEl>
                                          <p:spTgt spid="15"/>
                                        </p:tgtEl>
                                        <p:attrNameLst>
                                          <p:attrName>style.visibility</p:attrName>
                                        </p:attrNameLst>
                                      </p:cBhvr>
                                      <p:to>
                                        <p:strVal val="visible"/>
                                      </p:to>
                                    </p:set>
                                    <p:animEffect transition="in" filter="fade">
                                      <p:cBhvr>
                                        <p:cTn id="10" dur="3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6"/>
                                        </p:tgtEl>
                                        <p:attrNameLst>
                                          <p:attrName>style.visibility</p:attrName>
                                        </p:attrNameLst>
                                      </p:cBhvr>
                                      <p:to>
                                        <p:strVal val="visible"/>
                                      </p:to>
                                    </p:set>
                                    <p:animEffect transition="in" filter="fade">
                                      <p:cBhvr>
                                        <p:cTn id="15" dur="300"/>
                                        <p:tgtEl>
                                          <p:spTgt spid="16"/>
                                        </p:tgtEl>
                                      </p:cBhvr>
                                    </p:animEffect>
                                  </p:childTnLst>
                                </p:cTn>
                              </p:par>
                              <p:par>
                                <p:cTn id="16" presetID="10" presetClass="entr" presetSubtype="0" fill="hold" nodeType="clickEffect">
                                  <p:stCondLst>
                                    <p:cond delay="0"/>
                                  </p:stCondLst>
                                  <p:childTnLst>
                                    <p:set>
                                      <p:cBhvr>
                                        <p:cTn id="17" dur="1" fill="hold"/>
                                        <p:tgtEl>
                                          <p:spTgt spid="17"/>
                                        </p:tgtEl>
                                        <p:attrNameLst>
                                          <p:attrName>style.visibility</p:attrName>
                                        </p:attrNameLst>
                                      </p:cBhvr>
                                      <p:to>
                                        <p:strVal val="visible"/>
                                      </p:to>
                                    </p:set>
                                    <p:animEffect transition="in" filter="fade">
                                      <p:cBhvr>
                                        <p:cTn id="18" dur="3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8"/>
                                        </p:tgtEl>
                                        <p:attrNameLst>
                                          <p:attrName>style.visibility</p:attrName>
                                        </p:attrNameLst>
                                      </p:cBhvr>
                                      <p:to>
                                        <p:strVal val="visible"/>
                                      </p:to>
                                    </p:set>
                                    <p:animEffect transition="in" filter="fade">
                                      <p:cBhvr>
                                        <p:cTn id="23" dur="300"/>
                                        <p:tgtEl>
                                          <p:spTgt spid="18"/>
                                        </p:tgtEl>
                                      </p:cBhvr>
                                    </p:animEffect>
                                  </p:childTnLst>
                                </p:cTn>
                              </p:par>
                              <p:par>
                                <p:cTn id="24" presetID="10" presetClass="entr" presetSubtype="0" fill="hold" nodeType="clickEffect">
                                  <p:stCondLst>
                                    <p:cond delay="0"/>
                                  </p:stCondLst>
                                  <p:childTnLst>
                                    <p:set>
                                      <p:cBhvr>
                                        <p:cTn id="25" dur="1" fill="hold"/>
                                        <p:tgtEl>
                                          <p:spTgt spid="19"/>
                                        </p:tgtEl>
                                        <p:attrNameLst>
                                          <p:attrName>style.visibility</p:attrName>
                                        </p:attrNameLst>
                                      </p:cBhvr>
                                      <p:to>
                                        <p:strVal val="visible"/>
                                      </p:to>
                                    </p:set>
                                    <p:animEffect transition="in" filter="fade">
                                      <p:cBhvr>
                                        <p:cTn id="26"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5821fcef2e1438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314ef5b4eaf4865"/>
          <a:stretch xmlns:a="http://schemas.openxmlformats.org/drawingml/2006/main"/>
        </p:blipFill>
        <p:spPr>
          <a:xfrm xmlns:a="http://schemas.openxmlformats.org/drawingml/2006/main">
            <a:off x="5067300" y="1412875"/>
            <a:ext cx="6705600" cy="44704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191024-DEE1-415C-AE9B-F6C29E317933}"/>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Variedad: integrar más que archivos</a:t>
            </a:r>
          </a:p>
        </p:txBody>
      </p:sp>
      <p:sp>
        <p:nvSpPr>
          <p:cNvPr id="9" name="">
            <a:extLst xmlns:a="http://schemas.openxmlformats.org/drawingml/2006/main">
              <a:ext uri="{FF2B5EF4-FFF2-40B4-BE49-F238E27FC236}">
                <a16:creationId xmlns:a16="http://schemas.microsoft.com/office/drawing/2014/main" id="{BDD4C554-F4D3-4357-B23E-423D40A2C14F}"/>
              </a:ext>
            </a:extLst>
          </p:cNvPr>
          <p:cNvSpPr>
            <a:spLocks xmlns:a="http://schemas.openxmlformats.org/drawingml/2006/main" noGrp="1"/>
          </p:cNvSpPr>
          <p:nvPr/>
        </p:nvSpPr>
        <p:spPr>
          <a:xfrm xmlns:a="http://schemas.openxmlformats.org/drawingml/2006/main">
            <a:off x="609600" y="15811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Laboratorio</a:t>
            </a:r>
          </a:p>
        </p:txBody>
      </p:sp>
      <p:sp>
        <p:nvSpPr>
          <p:cNvPr id="10" name="">
            <a:extLst xmlns:a="http://schemas.openxmlformats.org/drawingml/2006/main">
              <a:ext uri="{FF2B5EF4-FFF2-40B4-BE49-F238E27FC236}">
                <a16:creationId xmlns:a16="http://schemas.microsoft.com/office/drawing/2014/main" id="{69573B92-11E7-4F5D-BA57-4B2AFD7087F0}"/>
              </a:ext>
            </a:extLst>
          </p:cNvPr>
          <p:cNvSpPr>
            <a:spLocks xmlns:a="http://schemas.openxmlformats.org/drawingml/2006/main" noGrp="1"/>
          </p:cNvSpPr>
          <p:nvPr/>
        </p:nvSpPr>
        <p:spPr>
          <a:xfrm xmlns:a="http://schemas.openxmlformats.org/drawingml/2006/main">
            <a:off x="609600" y="1990725"/>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CSV, métodos, fechas y profundidad.</a:t>
            </a:r>
          </a:p>
        </p:txBody>
      </p:sp>
      <p:sp>
        <p:nvSpPr>
          <p:cNvPr id="11" name="">
            <a:extLst xmlns:a="http://schemas.openxmlformats.org/drawingml/2006/main">
              <a:ext uri="{FF2B5EF4-FFF2-40B4-BE49-F238E27FC236}">
                <a16:creationId xmlns:a16="http://schemas.microsoft.com/office/drawing/2014/main" id="{D143B8C8-921A-47C3-B9D3-545667917F7E}"/>
              </a:ext>
            </a:extLst>
          </p:cNvPr>
          <p:cNvSpPr>
            <a:spLocks xmlns:a="http://schemas.openxmlformats.org/drawingml/2006/main" noGrp="1"/>
          </p:cNvSpPr>
          <p:nvPr/>
        </p:nvSpPr>
        <p:spPr>
          <a:xfrm xmlns:a="http://schemas.openxmlformats.org/drawingml/2006/main">
            <a:off x="609600" y="263842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Producción agrícola</a:t>
            </a:r>
          </a:p>
        </p:txBody>
      </p:sp>
      <p:sp>
        <p:nvSpPr>
          <p:cNvPr id="12" name="">
            <a:extLst xmlns:a="http://schemas.openxmlformats.org/drawingml/2006/main">
              <a:ext uri="{FF2B5EF4-FFF2-40B4-BE49-F238E27FC236}">
                <a16:creationId xmlns:a16="http://schemas.microsoft.com/office/drawing/2014/main" id="{F5240B97-A8EF-418A-AE6B-F25CFBE36E07}"/>
              </a:ext>
            </a:extLst>
          </p:cNvPr>
          <p:cNvSpPr>
            <a:spLocks xmlns:a="http://schemas.openxmlformats.org/drawingml/2006/main" noGrp="1"/>
          </p:cNvSpPr>
          <p:nvPr/>
        </p:nvSpPr>
        <p:spPr>
          <a:xfrm xmlns:a="http://schemas.openxmlformats.org/drawingml/2006/main">
            <a:off x="609600" y="3048000"/>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Tablas por cultivo y territorio. Unidades y estado físico.</a:t>
            </a:r>
          </a:p>
        </p:txBody>
      </p:sp>
      <p:sp>
        <p:nvSpPr>
          <p:cNvPr id="13" name="">
            <a:extLst xmlns:a="http://schemas.openxmlformats.org/drawingml/2006/main">
              <a:ext uri="{FF2B5EF4-FFF2-40B4-BE49-F238E27FC236}">
                <a16:creationId xmlns:a16="http://schemas.microsoft.com/office/drawing/2014/main" id="{D525DD17-CDBF-4E75-BEC5-FC5FEE1A0CB4}"/>
              </a:ext>
            </a:extLst>
          </p:cNvPr>
          <p:cNvSpPr>
            <a:spLocks xmlns:a="http://schemas.openxmlformats.org/drawingml/2006/main" noGrp="1"/>
          </p:cNvSpPr>
          <p:nvPr/>
        </p:nvSpPr>
        <p:spPr>
          <a:xfrm xmlns:a="http://schemas.openxmlformats.org/drawingml/2006/main">
            <a:off x="609600" y="36957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Clima</a:t>
            </a:r>
          </a:p>
        </p:txBody>
      </p:sp>
      <p:sp>
        <p:nvSpPr>
          <p:cNvPr id="14" name="">
            <a:extLst xmlns:a="http://schemas.openxmlformats.org/drawingml/2006/main">
              <a:ext uri="{FF2B5EF4-FFF2-40B4-BE49-F238E27FC236}">
                <a16:creationId xmlns:a16="http://schemas.microsoft.com/office/drawing/2014/main" id="{0E9076C3-474D-4A99-80DA-A22A3EC970D2}"/>
              </a:ext>
            </a:extLst>
          </p:cNvPr>
          <p:cNvSpPr>
            <a:spLocks xmlns:a="http://schemas.openxmlformats.org/drawingml/2006/main" noGrp="1"/>
          </p:cNvSpPr>
          <p:nvPr/>
        </p:nvSpPr>
        <p:spPr>
          <a:xfrm xmlns:a="http://schemas.openxmlformats.org/drawingml/2006/main">
            <a:off x="609600" y="4105275"/>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JSON anidado, fechas, ubicación y ausencias.</a:t>
            </a:r>
          </a:p>
        </p:txBody>
      </p:sp>
      <p:sp>
        <p:nvSpPr>
          <p:cNvPr id="15" name="">
            <a:extLst xmlns:a="http://schemas.openxmlformats.org/drawingml/2006/main">
              <a:ext uri="{FF2B5EF4-FFF2-40B4-BE49-F238E27FC236}">
                <a16:creationId xmlns:a16="http://schemas.microsoft.com/office/drawing/2014/main" id="{8DCE125C-1974-491D-B4D5-42055B66B794}"/>
              </a:ext>
            </a:extLst>
          </p:cNvPr>
          <p:cNvSpPr>
            <a:spLocks xmlns:a="http://schemas.openxmlformats.org/drawingml/2006/main" noGrp="1"/>
          </p:cNvSpPr>
          <p:nvPr/>
        </p:nvSpPr>
        <p:spPr>
          <a:xfrm xmlns:a="http://schemas.openxmlformats.org/drawingml/2006/main">
            <a:off x="609600" y="47529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A56B08"/>
                </a:solidFill>
                <a:latin typeface="Calibri"/>
                <a:ea typeface="Calibri"/>
                <a:cs typeface="Calibri"/>
              </a:defRPr>
            </a:pPr>
            <a:r>
              <a:rPr sz="2025" b="1">
                <a:solidFill>
                  <a:srgbClr val="A56B08"/>
                </a:solidFill>
                <a:latin typeface="Calibri"/>
                <a:ea typeface="Calibri"/>
                <a:cs typeface="Calibri"/>
              </a:rPr>
              <a:t>Territorio</a:t>
            </a:r>
          </a:p>
        </p:txBody>
      </p:sp>
      <p:sp>
        <p:nvSpPr>
          <p:cNvPr id="16" name="">
            <a:extLst xmlns:a="http://schemas.openxmlformats.org/drawingml/2006/main">
              <a:ext uri="{FF2B5EF4-FFF2-40B4-BE49-F238E27FC236}">
                <a16:creationId xmlns:a16="http://schemas.microsoft.com/office/drawing/2014/main" id="{EFADEB30-20B6-42E8-BBC0-E08CC72FBA6D}"/>
              </a:ext>
            </a:extLst>
          </p:cNvPr>
          <p:cNvSpPr>
            <a:spLocks xmlns:a="http://schemas.openxmlformats.org/drawingml/2006/main" noGrp="1"/>
          </p:cNvSpPr>
          <p:nvPr/>
        </p:nvSpPr>
        <p:spPr>
          <a:xfrm xmlns:a="http://schemas.openxmlformats.org/drawingml/2006/main">
            <a:off x="609600" y="5162550"/>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Geometrías, códigos, referencia espacial y vigencia.</a:t>
            </a:r>
          </a:p>
        </p:txBody>
      </p:sp>
      <p:sp>
        <p:nvSpPr>
          <p:cNvPr id="17" name="">
            <a:extLst xmlns:a="http://schemas.openxmlformats.org/drawingml/2006/main">
              <a:ext uri="{FF2B5EF4-FFF2-40B4-BE49-F238E27FC236}">
                <a16:creationId xmlns:a16="http://schemas.microsoft.com/office/drawing/2014/main" id="{906EDEC6-666E-4EFF-90EB-124F57274B59}"/>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Caso de práctica: integrar fuentes con estructuras y significados diferentes</a:t>
            </a:r>
          </a:p>
        </p:txBody>
      </p:sp>
      <p:sp>
        <p:nvSpPr>
          <p:cNvPr id="32" name="">
            <a:extLst xmlns:a="http://schemas.openxmlformats.org/drawingml/2006/main">
              <a:ext uri="{FF2B5EF4-FFF2-40B4-BE49-F238E27FC236}">
                <a16:creationId xmlns:a16="http://schemas.microsoft.com/office/drawing/2014/main" id="{AF849F0E-1EB1-42AF-8550-1C0C01E91A1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573D3C25-C059-47E7-B2C1-ED93A16067A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1FE8E1D1-BD15-4734-B063-163488BBB4F2}"/>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5" name="">
            <a:extLst xmlns:a="http://schemas.openxmlformats.org/drawingml/2006/main">
              <a:ext uri="{FF2B5EF4-FFF2-40B4-BE49-F238E27FC236}">
                <a16:creationId xmlns:a16="http://schemas.microsoft.com/office/drawing/2014/main" id="{99DC9343-F4AB-4B05-82EC-ECDCFA4C84E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12</a:t>
            </a:r>
          </a:p>
        </p:txBody>
      </p:sp>
    </p:spTree>
    <p:extLst>
      <p:ext uri="{BB962C8B-B14F-4D97-AF65-F5344CB8AC3E}">
        <p14:creationId xmlns:p14="http://schemas.microsoft.com/office/powerpoint/2010/main" val="69913814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tgtEl>
                                          <p:spTgt spid="15"/>
                                        </p:tgtEl>
                                        <p:attrNameLst>
                                          <p:attrName>style.visibility</p:attrName>
                                        </p:attrNameLst>
                                      </p:cBhvr>
                                      <p:to>
                                        <p:strVal val="visible"/>
                                      </p:to>
                                    </p:set>
                                    <p:animEffect transition="in" filter="fade">
                                      <p:cBhvr>
                                        <p:cTn id="31" dur="300"/>
                                        <p:tgtEl>
                                          <p:spTgt spid="15"/>
                                        </p:tgtEl>
                                      </p:cBhvr>
                                    </p:animEffect>
                                  </p:childTnLst>
                                </p:cTn>
                              </p:par>
                              <p:par>
                                <p:cTn id="32" presetID="10" presetClass="entr" presetSubtype="0" fill="hold" nodeType="clickEffect">
                                  <p:stCondLst>
                                    <p:cond delay="0"/>
                                  </p:stCondLst>
                                  <p:childTnLst>
                                    <p:set>
                                      <p:cBhvr>
                                        <p:cTn id="33" dur="1" fill="hold"/>
                                        <p:tgtEl>
                                          <p:spTgt spid="16"/>
                                        </p:tgtEl>
                                        <p:attrNameLst>
                                          <p:attrName>style.visibility</p:attrName>
                                        </p:attrNameLst>
                                      </p:cBhvr>
                                      <p:to>
                                        <p:strVal val="visible"/>
                                      </p:to>
                                    </p:set>
                                    <p:animEffect transition="in" filter="fade">
                                      <p:cBhvr>
                                        <p:cTn id="34"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20ebbebe10d48a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bfb9713704f94b2f"/>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68FCFB-9409-4CFA-A9C5-5F3C10B2AEBC}"/>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Veracidad: errores pequeños a gran escala</a:t>
            </a:r>
          </a:p>
        </p:txBody>
      </p:sp>
      <p:sp>
        <p:nvSpPr>
          <p:cNvPr id="14" name="">
            <a:extLst xmlns:a="http://schemas.openxmlformats.org/drawingml/2006/main">
              <a:ext uri="{FF2B5EF4-FFF2-40B4-BE49-F238E27FC236}">
                <a16:creationId xmlns:a16="http://schemas.microsoft.com/office/drawing/2014/main" id="{441AFE03-571D-42D7-BC55-35645AFAF4DA}"/>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La misma tasa: 0,1 %</a:t>
            </a:r>
          </a:p>
        </p:txBody>
      </p:sp>
      <p:sp>
        <p:nvSpPr>
          <p:cNvPr id="15" name="">
            <a:extLst xmlns:a="http://schemas.openxmlformats.org/drawingml/2006/main">
              <a:ext uri="{FF2B5EF4-FFF2-40B4-BE49-F238E27FC236}">
                <a16:creationId xmlns:a16="http://schemas.microsoft.com/office/drawing/2014/main" id="{CB1BB647-778E-4AEC-B1E9-695A96963D35}"/>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1 millón de filas: 1.000 casos por revisar.</a:t>
            </a:r>
          </a:p>
        </p:txBody>
      </p:sp>
      <p:sp>
        <p:nvSpPr>
          <p:cNvPr id="16" name="">
            <a:extLst xmlns:a="http://schemas.openxmlformats.org/drawingml/2006/main">
              <a:ext uri="{FF2B5EF4-FFF2-40B4-BE49-F238E27FC236}">
                <a16:creationId xmlns:a16="http://schemas.microsoft.com/office/drawing/2014/main" id="{1868F009-B0F8-4E7B-AF06-41813B2C327B}"/>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Más volumen, más casos</a:t>
            </a:r>
          </a:p>
        </p:txBody>
      </p:sp>
      <p:sp>
        <p:nvSpPr>
          <p:cNvPr id="17" name="">
            <a:extLst xmlns:a="http://schemas.openxmlformats.org/drawingml/2006/main">
              <a:ext uri="{FF2B5EF4-FFF2-40B4-BE49-F238E27FC236}">
                <a16:creationId xmlns:a16="http://schemas.microsoft.com/office/drawing/2014/main" id="{F0249656-F9F0-4F20-A980-E16F366B9859}"/>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1.000 millones de filas: 1 millón de casos por revisar.</a:t>
            </a:r>
          </a:p>
        </p:txBody>
      </p:sp>
      <p:sp>
        <p:nvSpPr>
          <p:cNvPr id="18" name="">
            <a:extLst xmlns:a="http://schemas.openxmlformats.org/drawingml/2006/main">
              <a:ext uri="{FF2B5EF4-FFF2-40B4-BE49-F238E27FC236}">
                <a16:creationId xmlns:a16="http://schemas.microsoft.com/office/drawing/2014/main" id="{32234C8A-E5D7-4CEA-BB84-3AEBAC13B186}"/>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Control con evidencia</a:t>
            </a:r>
          </a:p>
        </p:txBody>
      </p:sp>
      <p:sp>
        <p:nvSpPr>
          <p:cNvPr id="19" name="">
            <a:extLst xmlns:a="http://schemas.openxmlformats.org/drawingml/2006/main">
              <a:ext uri="{FF2B5EF4-FFF2-40B4-BE49-F238E27FC236}">
                <a16:creationId xmlns:a16="http://schemas.microsoft.com/office/drawing/2014/main" id="{A39DD5C7-0448-4DA3-988B-EEC22750F962}"/>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Reglas, cuarentena y revisión de excepciones.</a:t>
            </a:r>
          </a:p>
        </p:txBody>
      </p:sp>
      <p:sp>
        <p:nvSpPr>
          <p:cNvPr id="20" name="">
            <a:extLst xmlns:a="http://schemas.openxmlformats.org/drawingml/2006/main">
              <a:ext uri="{FF2B5EF4-FFF2-40B4-BE49-F238E27FC236}">
                <a16:creationId xmlns:a16="http://schemas.microsoft.com/office/drawing/2014/main" id="{631B98E8-B683-4B41-BF35-A5CA71BDB691}"/>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Ejemplo hipotético. Más datos no eliminan el sesgo ni los errores</a:t>
            </a:r>
          </a:p>
        </p:txBody>
      </p:sp>
      <p:sp>
        <p:nvSpPr>
          <p:cNvPr id="35" name="">
            <a:extLst xmlns:a="http://schemas.openxmlformats.org/drawingml/2006/main">
              <a:ext uri="{FF2B5EF4-FFF2-40B4-BE49-F238E27FC236}">
                <a16:creationId xmlns:a16="http://schemas.microsoft.com/office/drawing/2014/main" id="{94243612-4F97-4B37-AD3B-692CA724AC5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E397221F-02AA-41A6-BEE9-B479D6F70657}"/>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7" name="">
            <a:extLst xmlns:a="http://schemas.openxmlformats.org/drawingml/2006/main">
              <a:ext uri="{FF2B5EF4-FFF2-40B4-BE49-F238E27FC236}">
                <a16:creationId xmlns:a16="http://schemas.microsoft.com/office/drawing/2014/main" id="{08D59CA4-1C2F-4D95-9ABA-093F3B3FC863}"/>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8" name="">
            <a:extLst xmlns:a="http://schemas.openxmlformats.org/drawingml/2006/main">
              <a:ext uri="{FF2B5EF4-FFF2-40B4-BE49-F238E27FC236}">
                <a16:creationId xmlns:a16="http://schemas.microsoft.com/office/drawing/2014/main" id="{4E1F41AF-DC11-4CB4-B346-C47F76667F6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13</a:t>
            </a:r>
          </a:p>
        </p:txBody>
      </p:sp>
    </p:spTree>
    <p:extLst>
      <p:ext uri="{BB962C8B-B14F-4D97-AF65-F5344CB8AC3E}">
        <p14:creationId xmlns:p14="http://schemas.microsoft.com/office/powerpoint/2010/main" val="23342388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4"/>
                                        </p:tgtEl>
                                        <p:attrNameLst>
                                          <p:attrName>style.visibility</p:attrName>
                                        </p:attrNameLst>
                                      </p:cBhvr>
                                      <p:to>
                                        <p:strVal val="visible"/>
                                      </p:to>
                                    </p:set>
                                    <p:animEffect transition="in" filter="fade">
                                      <p:cBhvr>
                                        <p:cTn id="7" dur="300"/>
                                        <p:tgtEl>
                                          <p:spTgt spid="14"/>
                                        </p:tgtEl>
                                      </p:cBhvr>
                                    </p:animEffect>
                                  </p:childTnLst>
                                </p:cTn>
                              </p:par>
                              <p:par>
                                <p:cTn id="8" presetID="10" presetClass="entr" presetSubtype="0" fill="hold" nodeType="clickEffect">
                                  <p:stCondLst>
                                    <p:cond delay="0"/>
                                  </p:stCondLst>
                                  <p:childTnLst>
                                    <p:set>
                                      <p:cBhvr>
                                        <p:cTn id="9" dur="1" fill="hold"/>
                                        <p:tgtEl>
                                          <p:spTgt spid="15"/>
                                        </p:tgtEl>
                                        <p:attrNameLst>
                                          <p:attrName>style.visibility</p:attrName>
                                        </p:attrNameLst>
                                      </p:cBhvr>
                                      <p:to>
                                        <p:strVal val="visible"/>
                                      </p:to>
                                    </p:set>
                                    <p:animEffect transition="in" filter="fade">
                                      <p:cBhvr>
                                        <p:cTn id="10" dur="3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6"/>
                                        </p:tgtEl>
                                        <p:attrNameLst>
                                          <p:attrName>style.visibility</p:attrName>
                                        </p:attrNameLst>
                                      </p:cBhvr>
                                      <p:to>
                                        <p:strVal val="visible"/>
                                      </p:to>
                                    </p:set>
                                    <p:animEffect transition="in" filter="fade">
                                      <p:cBhvr>
                                        <p:cTn id="15" dur="300"/>
                                        <p:tgtEl>
                                          <p:spTgt spid="16"/>
                                        </p:tgtEl>
                                      </p:cBhvr>
                                    </p:animEffect>
                                  </p:childTnLst>
                                </p:cTn>
                              </p:par>
                              <p:par>
                                <p:cTn id="16" presetID="10" presetClass="entr" presetSubtype="0" fill="hold" nodeType="clickEffect">
                                  <p:stCondLst>
                                    <p:cond delay="0"/>
                                  </p:stCondLst>
                                  <p:childTnLst>
                                    <p:set>
                                      <p:cBhvr>
                                        <p:cTn id="17" dur="1" fill="hold"/>
                                        <p:tgtEl>
                                          <p:spTgt spid="17"/>
                                        </p:tgtEl>
                                        <p:attrNameLst>
                                          <p:attrName>style.visibility</p:attrName>
                                        </p:attrNameLst>
                                      </p:cBhvr>
                                      <p:to>
                                        <p:strVal val="visible"/>
                                      </p:to>
                                    </p:set>
                                    <p:animEffect transition="in" filter="fade">
                                      <p:cBhvr>
                                        <p:cTn id="18" dur="3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8"/>
                                        </p:tgtEl>
                                        <p:attrNameLst>
                                          <p:attrName>style.visibility</p:attrName>
                                        </p:attrNameLst>
                                      </p:cBhvr>
                                      <p:to>
                                        <p:strVal val="visible"/>
                                      </p:to>
                                    </p:set>
                                    <p:animEffect transition="in" filter="fade">
                                      <p:cBhvr>
                                        <p:cTn id="23" dur="300"/>
                                        <p:tgtEl>
                                          <p:spTgt spid="18"/>
                                        </p:tgtEl>
                                      </p:cBhvr>
                                    </p:animEffect>
                                  </p:childTnLst>
                                </p:cTn>
                              </p:par>
                              <p:par>
                                <p:cTn id="24" presetID="10" presetClass="entr" presetSubtype="0" fill="hold" nodeType="clickEffect">
                                  <p:stCondLst>
                                    <p:cond delay="0"/>
                                  </p:stCondLst>
                                  <p:childTnLst>
                                    <p:set>
                                      <p:cBhvr>
                                        <p:cTn id="25" dur="1" fill="hold"/>
                                        <p:tgtEl>
                                          <p:spTgt spid="19"/>
                                        </p:tgtEl>
                                        <p:attrNameLst>
                                          <p:attrName>style.visibility</p:attrName>
                                        </p:attrNameLst>
                                      </p:cBhvr>
                                      <p:to>
                                        <p:strVal val="visible"/>
                                      </p:to>
                                    </p:set>
                                    <p:animEffect transition="in" filter="fade">
                                      <p:cBhvr>
                                        <p:cTn id="26"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72af0afc0964ff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B19AC4-101B-4640-A989-4E952C81532E}"/>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Valor: el resultado debe servir a una decisión</a:t>
            </a:r>
          </a:p>
        </p:txBody>
      </p:sp>
      <p:sp>
        <p:nvSpPr>
          <p:cNvPr id="5" name="">
            <a:extLst xmlns:a="http://schemas.openxmlformats.org/drawingml/2006/main">
              <a:ext uri="{FF2B5EF4-FFF2-40B4-BE49-F238E27FC236}">
                <a16:creationId xmlns:a16="http://schemas.microsoft.com/office/drawing/2014/main" id="{178B8FB4-B5A2-46D3-8B03-E182B3EC8D99}"/>
              </a:ext>
            </a:extLst>
          </p:cNvPr>
          <p:cNvSpPr>
            <a:spLocks xmlns:a="http://schemas.openxmlformats.org/drawingml/2006/main" noGrp="1"/>
          </p:cNvSpPr>
          <p:nvPr/>
        </p:nvSpPr>
        <p:spPr>
          <a:xfrm xmlns:a="http://schemas.openxmlformats.org/drawingml/2006/main">
            <a:off x="609600" y="1638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Decisión y plazo</a:t>
            </a:r>
          </a:p>
        </p:txBody>
      </p:sp>
      <p:sp>
        <p:nvSpPr>
          <p:cNvPr id="6" name="">
            <a:extLst xmlns:a="http://schemas.openxmlformats.org/drawingml/2006/main">
              <a:ext uri="{FF2B5EF4-FFF2-40B4-BE49-F238E27FC236}">
                <a16:creationId xmlns:a16="http://schemas.microsoft.com/office/drawing/2014/main" id="{987C48D8-5D6A-4D4B-A347-B16575F55354}"/>
              </a:ext>
            </a:extLst>
          </p:cNvPr>
          <p:cNvSpPr>
            <a:spLocks xmlns:a="http://schemas.openxmlformats.org/drawingml/2006/main" noGrp="1"/>
          </p:cNvSpPr>
          <p:nvPr/>
        </p:nvSpPr>
        <p:spPr>
          <a:xfrm xmlns:a="http://schemas.openxmlformats.org/drawingml/2006/main">
            <a:off x="609600" y="20955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Una alerta útil ahora puede perder valor mañana. Un informe exploratorio puede admitir varias horas de procesamiento.</a:t>
            </a:r>
          </a:p>
        </p:txBody>
      </p:sp>
      <p:sp>
        <p:nvSpPr>
          <p:cNvPr id="7" name="">
            <a:extLst xmlns:a="http://schemas.openxmlformats.org/drawingml/2006/main">
              <a:ext uri="{FF2B5EF4-FFF2-40B4-BE49-F238E27FC236}">
                <a16:creationId xmlns:a16="http://schemas.microsoft.com/office/drawing/2014/main" id="{EC23F760-FB13-4C76-B9EF-D508DBA53AC1}"/>
              </a:ext>
            </a:extLst>
          </p:cNvPr>
          <p:cNvSpPr>
            <a:spLocks xmlns:a="http://schemas.openxmlformats.org/drawingml/2006/main" noGrp="1"/>
          </p:cNvSpPr>
          <p:nvPr/>
        </p:nvSpPr>
        <p:spPr>
          <a:xfrm xmlns:a="http://schemas.openxmlformats.org/drawingml/2006/main">
            <a:off x="609600" y="3048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Costo completo</a:t>
            </a:r>
          </a:p>
        </p:txBody>
      </p:sp>
      <p:sp>
        <p:nvSpPr>
          <p:cNvPr id="8" name="">
            <a:extLst xmlns:a="http://schemas.openxmlformats.org/drawingml/2006/main">
              <a:ext uri="{FF2B5EF4-FFF2-40B4-BE49-F238E27FC236}">
                <a16:creationId xmlns:a16="http://schemas.microsoft.com/office/drawing/2014/main" id="{3198939F-0D1C-4945-A2ED-7243A7A27C0B}"/>
              </a:ext>
            </a:extLst>
          </p:cNvPr>
          <p:cNvSpPr>
            <a:spLocks xmlns:a="http://schemas.openxmlformats.org/drawingml/2006/main" noGrp="1"/>
          </p:cNvSpPr>
          <p:nvPr/>
        </p:nvSpPr>
        <p:spPr>
          <a:xfrm xmlns:a="http://schemas.openxmlformats.org/drawingml/2006/main">
            <a:off x="609600" y="3505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Incluye descarga, cómputo, almacenamiento, revisión de calidad y mantenimiento del flujo.</a:t>
            </a:r>
          </a:p>
        </p:txBody>
      </p:sp>
      <p:sp>
        <p:nvSpPr>
          <p:cNvPr id="9" name="">
            <a:extLst xmlns:a="http://schemas.openxmlformats.org/drawingml/2006/main">
              <a:ext uri="{FF2B5EF4-FFF2-40B4-BE49-F238E27FC236}">
                <a16:creationId xmlns:a16="http://schemas.microsoft.com/office/drawing/2014/main" id="{5B946198-B8A9-44EF-B60E-EFC9B5D29977}"/>
              </a:ext>
            </a:extLst>
          </p:cNvPr>
          <p:cNvSpPr>
            <a:spLocks xmlns:a="http://schemas.openxmlformats.org/drawingml/2006/main" noGrp="1"/>
          </p:cNvSpPr>
          <p:nvPr/>
        </p:nvSpPr>
        <p:spPr>
          <a:xfrm xmlns:a="http://schemas.openxmlformats.org/drawingml/2006/main">
            <a:off x="609600" y="44577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Criterio verificable</a:t>
            </a:r>
          </a:p>
        </p:txBody>
      </p:sp>
      <p:sp>
        <p:nvSpPr>
          <p:cNvPr id="10" name="">
            <a:extLst xmlns:a="http://schemas.openxmlformats.org/drawingml/2006/main">
              <a:ext uri="{FF2B5EF4-FFF2-40B4-BE49-F238E27FC236}">
                <a16:creationId xmlns:a16="http://schemas.microsoft.com/office/drawing/2014/main" id="{699FBB6C-8032-4CFB-9BDD-F70CEF47AD8B}"/>
              </a:ext>
            </a:extLst>
          </p:cNvPr>
          <p:cNvSpPr>
            <a:spLocks xmlns:a="http://schemas.openxmlformats.org/drawingml/2006/main" noGrp="1"/>
          </p:cNvSpPr>
          <p:nvPr/>
        </p:nvSpPr>
        <p:spPr>
          <a:xfrm xmlns:a="http://schemas.openxmlformats.org/drawingml/2006/main">
            <a:off x="609600" y="49149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Ejemplo del curso: producir un resumen reproducible con cobertura explícita y justificar sus límites.</a:t>
            </a:r>
          </a:p>
        </p:txBody>
      </p:sp>
      <p:sp>
        <p:nvSpPr>
          <p:cNvPr id="21" name="">
            <a:extLst xmlns:a="http://schemas.openxmlformats.org/drawingml/2006/main">
              <a:ext uri="{FF2B5EF4-FFF2-40B4-BE49-F238E27FC236}">
                <a16:creationId xmlns:a16="http://schemas.microsoft.com/office/drawing/2014/main" id="{4F602BBC-CDB9-45C4-A79D-3591588730D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AC242671-CCB8-4342-A899-4179851EB92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3" name="">
            <a:extLst xmlns:a="http://schemas.openxmlformats.org/drawingml/2006/main">
              <a:ext uri="{FF2B5EF4-FFF2-40B4-BE49-F238E27FC236}">
                <a16:creationId xmlns:a16="http://schemas.microsoft.com/office/drawing/2014/main" id="{BE4CE75B-28AE-411F-990D-EF58FCEB811B}"/>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4" name="">
            <a:extLst xmlns:a="http://schemas.openxmlformats.org/drawingml/2006/main">
              <a:ext uri="{FF2B5EF4-FFF2-40B4-BE49-F238E27FC236}">
                <a16:creationId xmlns:a16="http://schemas.microsoft.com/office/drawing/2014/main" id="{891C2943-3621-4DFB-B767-38C0F9466AD2}"/>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14</a:t>
            </a:r>
          </a:p>
        </p:txBody>
      </p:sp>
    </p:spTree>
    <p:extLst>
      <p:ext uri="{BB962C8B-B14F-4D97-AF65-F5344CB8AC3E}">
        <p14:creationId xmlns:p14="http://schemas.microsoft.com/office/powerpoint/2010/main" val="1481654007"/>
      </p:ext>
    </p:extLst>
  </p:cSld>
  <p:transition spd="med" advClick="1">
    <p:fade/>
  </p:transition>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469cc0879b74625"/>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6B6A7E7-2A93-49B7-B6C7-B97FE65D1F35}"/>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Caso aplicado: datos agroambientales</a:t>
            </a:r>
          </a:p>
        </p:txBody>
      </p:sp>
      <p:sp>
        <p:nvSpPr>
          <p:cNvPr id="2" name="">
            <a:extLst xmlns:a="http://schemas.openxmlformats.org/drawingml/2006/main">
              <a:ext uri="{FF2B5EF4-FFF2-40B4-BE49-F238E27FC236}">
                <a16:creationId xmlns:a16="http://schemas.microsoft.com/office/drawing/2014/main" id="{ABEC3E38-956F-41E8-BE41-E2D9B1E8E03F}"/>
              </a:ext>
            </a:extLst>
          </p:cNvPr>
          <p:cNvSpPr>
            <a:spLocks xmlns:a="http://schemas.openxmlformats.org/drawingml/2006/main" noGrp="1"/>
          </p:cNvSpPr>
          <p:nvPr/>
        </p:nvSpPr>
        <p:spPr>
          <a:xfrm xmlns:a="http://schemas.openxmlformats.org/drawingml/2006/main">
            <a:off x="609600" y="205740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1">
                <a:solidFill>
                  <a:srgbClr val="4239C8"/>
                </a:solidFill>
                <a:latin typeface="Helvetica Neue"/>
                <a:ea typeface="Helvetica Neue"/>
                <a:cs typeface="Helvetica Neue"/>
              </a:defRPr>
            </a:pPr>
            <a:r>
              <a:rPr sz="2325" b="1">
                <a:solidFill>
                  <a:srgbClr val="4239C8"/>
                </a:solidFill>
                <a:latin typeface="Helvetica Neue"/>
                <a:ea typeface="Helvetica Neue"/>
                <a:cs typeface="Helvetica Neue"/>
              </a:rPr>
              <a:t>Propiedades del suelo</a:t>
            </a:r>
          </a:p>
        </p:txBody>
      </p:sp>
      <p:sp>
        <p:nvSpPr>
          <p:cNvPr id="3" name="">
            <a:extLst xmlns:a="http://schemas.openxmlformats.org/drawingml/2006/main">
              <a:ext uri="{FF2B5EF4-FFF2-40B4-BE49-F238E27FC236}">
                <a16:creationId xmlns:a16="http://schemas.microsoft.com/office/drawing/2014/main" id="{6C83EB68-4B0A-42B5-BF1A-ABD2C92045DF}"/>
              </a:ext>
            </a:extLst>
          </p:cNvPr>
          <p:cNvSpPr>
            <a:spLocks xmlns:a="http://schemas.openxmlformats.org/drawingml/2006/main" noGrp="1"/>
          </p:cNvSpPr>
          <p:nvPr/>
        </p:nvSpPr>
        <p:spPr>
          <a:xfrm xmlns:a="http://schemas.openxmlformats.org/drawingml/2006/main">
            <a:off x="609600" y="2819400"/>
            <a:ext cx="49530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F3864"/>
                </a:solidFill>
                <a:latin typeface="Helvetica Neue"/>
                <a:ea typeface="Helvetica Neue"/>
                <a:cs typeface="Helvetica Neue"/>
              </a:defRPr>
            </a:pPr>
            <a:r>
              <a:rPr sz="2325" b="0">
                <a:solidFill>
                  <a:srgbClr val="1F3864"/>
                </a:solidFill>
                <a:latin typeface="Helvetica Neue"/>
                <a:ea typeface="Helvetica Neue"/>
                <a:cs typeface="Helvetica Neue"/>
              </a:rPr>
              <a:t>¿Qué muestran los análisis de pH por territorio y fecha?</a:t>
            </a:r>
          </a:p>
        </p:txBody>
      </p:sp>
      <p:sp>
        <p:nvSpPr>
          <p:cNvPr id="4" name="">
            <a:extLst xmlns:a="http://schemas.openxmlformats.org/drawingml/2006/main">
              <a:ext uri="{FF2B5EF4-FFF2-40B4-BE49-F238E27FC236}">
                <a16:creationId xmlns:a16="http://schemas.microsoft.com/office/drawing/2014/main" id="{7A25B3D7-E778-4B18-B5A0-4584EB54E5A0}"/>
              </a:ext>
            </a:extLst>
          </p:cNvPr>
          <p:cNvSpPr>
            <a:spLocks xmlns:a="http://schemas.openxmlformats.org/drawingml/2006/main" noGrp="1"/>
          </p:cNvSpPr>
          <p:nvPr/>
        </p:nvSpPr>
        <p:spPr>
          <a:xfrm xmlns:a="http://schemas.openxmlformats.org/drawingml/2006/main">
            <a:off x="6572250" y="2057400"/>
            <a:ext cx="5010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1">
                <a:solidFill>
                  <a:srgbClr val="4239C8"/>
                </a:solidFill>
                <a:latin typeface="Helvetica Neue"/>
                <a:ea typeface="Helvetica Neue"/>
                <a:cs typeface="Helvetica Neue"/>
              </a:defRPr>
            </a:pPr>
            <a:r>
              <a:rPr sz="2325" b="1">
                <a:solidFill>
                  <a:srgbClr val="4239C8"/>
                </a:solidFill>
                <a:latin typeface="Helvetica Neue"/>
                <a:ea typeface="Helvetica Neue"/>
                <a:cs typeface="Helvetica Neue"/>
              </a:rPr>
              <a:t>Rendimiento agrícola</a:t>
            </a:r>
          </a:p>
        </p:txBody>
      </p:sp>
      <p:sp>
        <p:nvSpPr>
          <p:cNvPr id="5" name="">
            <a:extLst xmlns:a="http://schemas.openxmlformats.org/drawingml/2006/main">
              <a:ext uri="{FF2B5EF4-FFF2-40B4-BE49-F238E27FC236}">
                <a16:creationId xmlns:a16="http://schemas.microsoft.com/office/drawing/2014/main" id="{0B773907-F42E-4E3C-A1EC-1EC9F3CE6080}"/>
              </a:ext>
            </a:extLst>
          </p:cNvPr>
          <p:cNvSpPr>
            <a:spLocks xmlns:a="http://schemas.openxmlformats.org/drawingml/2006/main" noGrp="1"/>
          </p:cNvSpPr>
          <p:nvPr/>
        </p:nvSpPr>
        <p:spPr>
          <a:xfrm xmlns:a="http://schemas.openxmlformats.org/drawingml/2006/main">
            <a:off x="6572250" y="2819400"/>
            <a:ext cx="48768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F3864"/>
                </a:solidFill>
                <a:latin typeface="Helvetica Neue"/>
                <a:ea typeface="Helvetica Neue"/>
                <a:cs typeface="Helvetica Neue"/>
              </a:defRPr>
            </a:pPr>
            <a:r>
              <a:rPr sz="2325" b="0">
                <a:solidFill>
                  <a:srgbClr val="1F3864"/>
                </a:solidFill>
                <a:latin typeface="Helvetica Neue"/>
                <a:ea typeface="Helvetica Neue"/>
                <a:cs typeface="Helvetica Neue"/>
              </a:rPr>
              <a:t>¿Cómo varía un cultivo entre municipios y años?</a:t>
            </a:r>
          </a:p>
        </p:txBody>
      </p:sp>
      <p:sp>
        <p:nvSpPr>
          <p:cNvPr id="19" name="">
            <a:extLst xmlns:a="http://schemas.openxmlformats.org/drawingml/2006/main">
              <a:ext uri="{FF2B5EF4-FFF2-40B4-BE49-F238E27FC236}">
                <a16:creationId xmlns:a16="http://schemas.microsoft.com/office/drawing/2014/main" id="{87D74F6E-BD32-477D-A921-2608DB66A72B}"/>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799C0899-AFD0-4861-BD39-DFD26075B6F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1" name="">
            <a:extLst xmlns:a="http://schemas.openxmlformats.org/drawingml/2006/main">
              <a:ext uri="{FF2B5EF4-FFF2-40B4-BE49-F238E27FC236}">
                <a16:creationId xmlns:a16="http://schemas.microsoft.com/office/drawing/2014/main" id="{9A3F0F4B-4187-42FD-9805-F1F61F842FE8}"/>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2" name="">
            <a:extLst xmlns:a="http://schemas.openxmlformats.org/drawingml/2006/main">
              <a:ext uri="{FF2B5EF4-FFF2-40B4-BE49-F238E27FC236}">
                <a16:creationId xmlns:a16="http://schemas.microsoft.com/office/drawing/2014/main" id="{91306A4F-F542-4DE9-A48E-08365916BE0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15</a:t>
            </a:r>
          </a:p>
        </p:txBody>
      </p:sp>
    </p:spTree>
    <p:extLst>
      <p:ext uri="{BB962C8B-B14F-4D97-AF65-F5344CB8AC3E}">
        <p14:creationId xmlns:p14="http://schemas.microsoft.com/office/powerpoint/2010/main" val="415037878"/>
      </p:ext>
    </p:extLst>
  </p:cSld>
  <p:transition spd="med" advClick="1">
    <p:fade/>
  </p:transition>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348ebc7fd06483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f9e20a08b824e3a"/>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0C3763-094B-4DE0-9B9B-CC398928B441}"/>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Dos casos para la misma ingeniería</a:t>
            </a:r>
          </a:p>
        </p:txBody>
      </p:sp>
      <p:sp>
        <p:nvSpPr>
          <p:cNvPr id="4" name="">
            <a:extLst xmlns:a="http://schemas.openxmlformats.org/drawingml/2006/main">
              <a:ext uri="{FF2B5EF4-FFF2-40B4-BE49-F238E27FC236}">
                <a16:creationId xmlns:a16="http://schemas.microsoft.com/office/drawing/2014/main" id="{7ADDA93D-7668-4E4F-AA11-E87ADEA56BF8}"/>
              </a:ext>
            </a:extLst>
          </p:cNvPr>
          <p:cNvSpPr>
            <a:spLocks xmlns:a="http://schemas.openxmlformats.org/drawingml/2006/main" noGrp="1"/>
          </p:cNvSpPr>
          <p:nvPr/>
        </p:nvSpPr>
        <p:spPr>
          <a:xfrm xmlns:a="http://schemas.openxmlformats.org/drawingml/2006/main">
            <a:off x="7620000" y="15716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PQRS de salud</a:t>
            </a:r>
          </a:p>
        </p:txBody>
      </p:sp>
      <p:sp>
        <p:nvSpPr>
          <p:cNvPr id="5" name="">
            <a:extLst xmlns:a="http://schemas.openxmlformats.org/drawingml/2006/main">
              <a:ext uri="{FF2B5EF4-FFF2-40B4-BE49-F238E27FC236}">
                <a16:creationId xmlns:a16="http://schemas.microsoft.com/office/drawing/2014/main" id="{C353AA4B-95B2-4B38-A133-603AD5C05E66}"/>
              </a:ext>
            </a:extLst>
          </p:cNvPr>
          <p:cNvSpPr>
            <a:spLocks xmlns:a="http://schemas.openxmlformats.org/drawingml/2006/main" noGrp="1"/>
          </p:cNvSpPr>
          <p:nvPr/>
        </p:nvSpPr>
        <p:spPr>
          <a:xfrm xmlns:a="http://schemas.openxmlformats.org/drawingml/2006/main">
            <a:off x="7620000" y="20097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Reportes por período, entidad y territorio. Revisar esquema y duplicados.</a:t>
            </a:r>
          </a:p>
        </p:txBody>
      </p:sp>
      <p:sp>
        <p:nvSpPr>
          <p:cNvPr id="6" name="">
            <a:extLst xmlns:a="http://schemas.openxmlformats.org/drawingml/2006/main">
              <a:ext uri="{FF2B5EF4-FFF2-40B4-BE49-F238E27FC236}">
                <a16:creationId xmlns:a16="http://schemas.microsoft.com/office/drawing/2014/main" id="{9D81D625-DAFF-489A-9640-A77F0AFF2975}"/>
              </a:ext>
            </a:extLst>
          </p:cNvPr>
          <p:cNvSpPr>
            <a:spLocks xmlns:a="http://schemas.openxmlformats.org/drawingml/2006/main" noGrp="1"/>
          </p:cNvSpPr>
          <p:nvPr/>
        </p:nvSpPr>
        <p:spPr>
          <a:xfrm xmlns:a="http://schemas.openxmlformats.org/drawingml/2006/main">
            <a:off x="7620000" y="29622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Datos agroambientales</a:t>
            </a:r>
          </a:p>
        </p:txBody>
      </p:sp>
      <p:sp>
        <p:nvSpPr>
          <p:cNvPr id="7" name="">
            <a:extLst xmlns:a="http://schemas.openxmlformats.org/drawingml/2006/main">
              <a:ext uri="{FF2B5EF4-FFF2-40B4-BE49-F238E27FC236}">
                <a16:creationId xmlns:a16="http://schemas.microsoft.com/office/drawing/2014/main" id="{05E0ABEA-76F2-4C0C-92D7-924AF451B2B6}"/>
              </a:ext>
            </a:extLst>
          </p:cNvPr>
          <p:cNvSpPr>
            <a:spLocks xmlns:a="http://schemas.openxmlformats.org/drawingml/2006/main" noGrp="1"/>
          </p:cNvSpPr>
          <p:nvPr/>
        </p:nvSpPr>
        <p:spPr>
          <a:xfrm xmlns:a="http://schemas.openxmlformats.org/drawingml/2006/main">
            <a:off x="7620000" y="34004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Muestras de suelo y producción agrícola con unidades distintas.</a:t>
            </a:r>
          </a:p>
        </p:txBody>
      </p:sp>
      <p:sp>
        <p:nvSpPr>
          <p:cNvPr id="8" name="">
            <a:extLst xmlns:a="http://schemas.openxmlformats.org/drawingml/2006/main">
              <a:ext uri="{FF2B5EF4-FFF2-40B4-BE49-F238E27FC236}">
                <a16:creationId xmlns:a16="http://schemas.microsoft.com/office/drawing/2014/main" id="{E1FFBB39-E26B-4CB0-9998-541F1CFE795C}"/>
              </a:ext>
            </a:extLst>
          </p:cNvPr>
          <p:cNvSpPr>
            <a:spLocks xmlns:a="http://schemas.openxmlformats.org/drawingml/2006/main" noGrp="1"/>
          </p:cNvSpPr>
          <p:nvPr/>
        </p:nvSpPr>
        <p:spPr>
          <a:xfrm xmlns:a="http://schemas.openxmlformats.org/drawingml/2006/main">
            <a:off x="7620000" y="43529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Pregunta común</a:t>
            </a:r>
          </a:p>
        </p:txBody>
      </p:sp>
      <p:sp>
        <p:nvSpPr>
          <p:cNvPr id="9" name="">
            <a:extLst xmlns:a="http://schemas.openxmlformats.org/drawingml/2006/main">
              <a:ext uri="{FF2B5EF4-FFF2-40B4-BE49-F238E27FC236}">
                <a16:creationId xmlns:a16="http://schemas.microsoft.com/office/drawing/2014/main" id="{715253E6-B454-420E-B316-D78B7378C7B7}"/>
              </a:ext>
            </a:extLst>
          </p:cNvPr>
          <p:cNvSpPr>
            <a:spLocks xmlns:a="http://schemas.openxmlformats.org/drawingml/2006/main" noGrp="1"/>
          </p:cNvSpPr>
          <p:nvPr/>
        </p:nvSpPr>
        <p:spPr>
          <a:xfrm xmlns:a="http://schemas.openxmlformats.org/drawingml/2006/main">
            <a:off x="7620000" y="47910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¿Qué evidencia respalda el resultado y cuánto cuesta obtenerlo?</a:t>
            </a:r>
          </a:p>
        </p:txBody>
      </p:sp>
      <p:sp>
        <p:nvSpPr>
          <p:cNvPr id="10" name="">
            <a:extLst xmlns:a="http://schemas.openxmlformats.org/drawingml/2006/main">
              <a:ext uri="{FF2B5EF4-FFF2-40B4-BE49-F238E27FC236}">
                <a16:creationId xmlns:a16="http://schemas.microsoft.com/office/drawing/2014/main" id="{32CD8926-764C-42F3-A2FD-5CBD7971DFA5}"/>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Comparar procedencia, granularidad y costo entre dominios distintos</a:t>
            </a:r>
          </a:p>
        </p:txBody>
      </p:sp>
      <p:sp>
        <p:nvSpPr>
          <p:cNvPr id="23" name="">
            <a:extLst xmlns:a="http://schemas.openxmlformats.org/drawingml/2006/main">
              <a:ext uri="{FF2B5EF4-FFF2-40B4-BE49-F238E27FC236}">
                <a16:creationId xmlns:a16="http://schemas.microsoft.com/office/drawing/2014/main" id="{A2383DFA-CE36-4CD5-B783-DF361CCBF26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E7276880-C658-4F79-A776-202AFF71B2E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5" name="">
            <a:extLst xmlns:a="http://schemas.openxmlformats.org/drawingml/2006/main">
              <a:ext uri="{FF2B5EF4-FFF2-40B4-BE49-F238E27FC236}">
                <a16:creationId xmlns:a16="http://schemas.microsoft.com/office/drawing/2014/main" id="{DAFCF027-E80B-4D50-AF81-1A7DD5CA5D06}"/>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6" name="">
            <a:extLst xmlns:a="http://schemas.openxmlformats.org/drawingml/2006/main">
              <a:ext uri="{FF2B5EF4-FFF2-40B4-BE49-F238E27FC236}">
                <a16:creationId xmlns:a16="http://schemas.microsoft.com/office/drawing/2014/main" id="{9190C192-FD24-4EAB-A713-BFAA9DE1C25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16</a:t>
            </a:r>
          </a:p>
        </p:txBody>
      </p:sp>
    </p:spTree>
    <p:extLst>
      <p:ext uri="{BB962C8B-B14F-4D97-AF65-F5344CB8AC3E}">
        <p14:creationId xmlns:p14="http://schemas.microsoft.com/office/powerpoint/2010/main" val="149896270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09baf4763804833"/>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1e113b44ebc4fba"/>
          <a:stretch xmlns:a="http://schemas.openxmlformats.org/drawingml/2006/main"/>
        </p:blipFill>
        <p:spPr>
          <a:xfrm xmlns:a="http://schemas.openxmlformats.org/drawingml/2006/main">
            <a:off x="5067300" y="1412875"/>
            <a:ext cx="6705600" cy="4470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C041CEB-2E61-4DC0-9484-150E802C790D}"/>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Capacidad y calidad</a:t>
            </a:r>
          </a:p>
        </p:txBody>
      </p:sp>
      <p:sp>
        <p:nvSpPr>
          <p:cNvPr id="11" name="">
            <a:extLst xmlns:a="http://schemas.openxmlformats.org/drawingml/2006/main">
              <a:ext uri="{FF2B5EF4-FFF2-40B4-BE49-F238E27FC236}">
                <a16:creationId xmlns:a16="http://schemas.microsoft.com/office/drawing/2014/main" id="{850CE237-F4EC-44D2-8801-95F83B4716E6}"/>
              </a:ext>
            </a:extLst>
          </p:cNvPr>
          <p:cNvSpPr>
            <a:spLocks xmlns:a="http://schemas.openxmlformats.org/drawingml/2006/main" noGrp="1"/>
          </p:cNvSpPr>
          <p:nvPr/>
        </p:nvSpPr>
        <p:spPr>
          <a:xfrm xmlns:a="http://schemas.openxmlformats.org/drawingml/2006/main">
            <a:off x="6096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Capacidad</a:t>
            </a:r>
          </a:p>
        </p:txBody>
      </p:sp>
      <p:sp>
        <p:nvSpPr>
          <p:cNvPr id="12" name="">
            <a:extLst xmlns:a="http://schemas.openxmlformats.org/drawingml/2006/main">
              <a:ext uri="{FF2B5EF4-FFF2-40B4-BE49-F238E27FC236}">
                <a16:creationId xmlns:a16="http://schemas.microsoft.com/office/drawing/2014/main" id="{BA8B96CE-60E9-4ED8-A3AC-7192BB491769}"/>
              </a:ext>
            </a:extLst>
          </p:cNvPr>
          <p:cNvSpPr>
            <a:spLocks xmlns:a="http://schemas.openxmlformats.org/drawingml/2006/main" noGrp="1"/>
          </p:cNvSpPr>
          <p:nvPr/>
        </p:nvSpPr>
        <p:spPr>
          <a:xfrm xmlns:a="http://schemas.openxmlformats.org/drawingml/2006/main">
            <a:off x="6096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La consulta correcta supera la memoria o el plazo disponible.</a:t>
            </a:r>
          </a:p>
        </p:txBody>
      </p:sp>
      <p:sp>
        <p:nvSpPr>
          <p:cNvPr id="13" name="">
            <a:extLst xmlns:a="http://schemas.openxmlformats.org/drawingml/2006/main">
              <a:ext uri="{FF2B5EF4-FFF2-40B4-BE49-F238E27FC236}">
                <a16:creationId xmlns:a16="http://schemas.microsoft.com/office/drawing/2014/main" id="{29A6BE81-4579-4152-A139-E3DA66B1E656}"/>
              </a:ext>
            </a:extLst>
          </p:cNvPr>
          <p:cNvSpPr>
            <a:spLocks xmlns:a="http://schemas.openxmlformats.org/drawingml/2006/main" noGrp="1"/>
          </p:cNvSpPr>
          <p:nvPr/>
        </p:nvSpPr>
        <p:spPr>
          <a:xfrm xmlns:a="http://schemas.openxmlformats.org/drawingml/2006/main">
            <a:off x="6096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Calidad</a:t>
            </a:r>
          </a:p>
        </p:txBody>
      </p:sp>
      <p:sp>
        <p:nvSpPr>
          <p:cNvPr id="14" name="">
            <a:extLst xmlns:a="http://schemas.openxmlformats.org/drawingml/2006/main">
              <a:ext uri="{FF2B5EF4-FFF2-40B4-BE49-F238E27FC236}">
                <a16:creationId xmlns:a16="http://schemas.microsoft.com/office/drawing/2014/main" id="{5D203D63-EF62-450B-8EA9-B574D35503AD}"/>
              </a:ext>
            </a:extLst>
          </p:cNvPr>
          <p:cNvSpPr>
            <a:spLocks xmlns:a="http://schemas.openxmlformats.org/drawingml/2006/main" noGrp="1"/>
          </p:cNvSpPr>
          <p:nvPr/>
        </p:nvSpPr>
        <p:spPr>
          <a:xfrm xmlns:a="http://schemas.openxmlformats.org/drawingml/2006/main">
            <a:off x="6096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El resultado llega rápido, pero contiene duplicados o reglas ambiguas.</a:t>
            </a:r>
          </a:p>
        </p:txBody>
      </p:sp>
      <p:sp>
        <p:nvSpPr>
          <p:cNvPr id="15" name="">
            <a:extLst xmlns:a="http://schemas.openxmlformats.org/drawingml/2006/main">
              <a:ext uri="{FF2B5EF4-FFF2-40B4-BE49-F238E27FC236}">
                <a16:creationId xmlns:a16="http://schemas.microsoft.com/office/drawing/2014/main" id="{044EF908-E7E6-40F7-A8D9-A8195A03AE2C}"/>
              </a:ext>
            </a:extLst>
          </p:cNvPr>
          <p:cNvSpPr>
            <a:spLocks xmlns:a="http://schemas.openxmlformats.org/drawingml/2006/main" noGrp="1"/>
          </p:cNvSpPr>
          <p:nvPr/>
        </p:nvSpPr>
        <p:spPr>
          <a:xfrm xmlns:a="http://schemas.openxmlformats.org/drawingml/2006/main">
            <a:off x="6096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Diagnóstico</a:t>
            </a:r>
          </a:p>
        </p:txBody>
      </p:sp>
      <p:sp>
        <p:nvSpPr>
          <p:cNvPr id="16" name="">
            <a:extLst xmlns:a="http://schemas.openxmlformats.org/drawingml/2006/main">
              <a:ext uri="{FF2B5EF4-FFF2-40B4-BE49-F238E27FC236}">
                <a16:creationId xmlns:a16="http://schemas.microsoft.com/office/drawing/2014/main" id="{3A23B95D-A644-42A8-A259-DDE34280F565}"/>
              </a:ext>
            </a:extLst>
          </p:cNvPr>
          <p:cNvSpPr>
            <a:spLocks xmlns:a="http://schemas.openxmlformats.org/drawingml/2006/main" noGrp="1"/>
          </p:cNvSpPr>
          <p:nvPr/>
        </p:nvSpPr>
        <p:spPr>
          <a:xfrm xmlns:a="http://schemas.openxmlformats.org/drawingml/2006/main">
            <a:off x="6096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Medir recursos y validar resultados son controles complementarios.</a:t>
            </a:r>
          </a:p>
        </p:txBody>
      </p:sp>
      <p:sp>
        <p:nvSpPr>
          <p:cNvPr id="17" name="">
            <a:extLst xmlns:a="http://schemas.openxmlformats.org/drawingml/2006/main">
              <a:ext uri="{FF2B5EF4-FFF2-40B4-BE49-F238E27FC236}">
                <a16:creationId xmlns:a16="http://schemas.microsoft.com/office/drawing/2014/main" id="{5F51AB18-BB0F-4F48-B9B8-9D579E2E5861}"/>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Añadir máquinas no corrige una clave incorrecta ni una regla ambigua</a:t>
            </a:r>
          </a:p>
        </p:txBody>
      </p:sp>
      <p:sp>
        <p:nvSpPr>
          <p:cNvPr id="32" name="">
            <a:extLst xmlns:a="http://schemas.openxmlformats.org/drawingml/2006/main">
              <a:ext uri="{FF2B5EF4-FFF2-40B4-BE49-F238E27FC236}">
                <a16:creationId xmlns:a16="http://schemas.microsoft.com/office/drawing/2014/main" id="{544583EF-9D63-425C-9E0A-E143088DCEF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0864BC5A-E308-45FE-AB10-D01742D779C3}"/>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1F050747-C8F9-4EB0-A440-86461CF220BC}"/>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5" name="">
            <a:extLst xmlns:a="http://schemas.openxmlformats.org/drawingml/2006/main">
              <a:ext uri="{FF2B5EF4-FFF2-40B4-BE49-F238E27FC236}">
                <a16:creationId xmlns:a16="http://schemas.microsoft.com/office/drawing/2014/main" id="{C20F2287-D9B9-421C-9117-4D70B660B22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17</a:t>
            </a:r>
          </a:p>
        </p:txBody>
      </p:sp>
    </p:spTree>
    <p:extLst>
      <p:ext uri="{BB962C8B-B14F-4D97-AF65-F5344CB8AC3E}">
        <p14:creationId xmlns:p14="http://schemas.microsoft.com/office/powerpoint/2010/main" val="163441830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185ccbe095f4ae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99ce2879e2445a5"/>
          <a:stretch xmlns:a="http://schemas.openxmlformats.org/drawingml/2006/main"/>
        </p:blipFill>
        <p:spPr>
          <a:xfrm xmlns:a="http://schemas.openxmlformats.org/drawingml/2006/main">
            <a:off x="3631406" y="1390650"/>
            <a:ext cx="4929188" cy="32861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0CBCF0-DF2F-45F3-8B40-8252ABB236D2}"/>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Cargar un dataset implica varias operaciones</a:t>
            </a:r>
          </a:p>
        </p:txBody>
      </p:sp>
      <p:sp>
        <p:nvSpPr>
          <p:cNvPr id="9" name="">
            <a:extLst xmlns:a="http://schemas.openxmlformats.org/drawingml/2006/main">
              <a:ext uri="{FF2B5EF4-FFF2-40B4-BE49-F238E27FC236}">
                <a16:creationId xmlns:a16="http://schemas.microsoft.com/office/drawing/2014/main" id="{E78ED320-8810-44D2-B242-17E683F4CBD5}"/>
              </a:ext>
            </a:extLst>
          </p:cNvPr>
          <p:cNvSpPr>
            <a:spLocks xmlns:a="http://schemas.openxmlformats.org/drawingml/2006/main" noGrp="1"/>
          </p:cNvSpPr>
          <p:nvPr/>
        </p:nvSpPr>
        <p:spPr>
          <a:xfrm xmlns:a="http://schemas.openxmlformats.org/drawingml/2006/main">
            <a:off x="609600" y="4857750"/>
            <a:ext cx="2514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5546ED"/>
                </a:solidFill>
                <a:latin typeface="Calibri"/>
                <a:ea typeface="Calibri"/>
                <a:cs typeface="Calibri"/>
              </a:defRPr>
            </a:pPr>
            <a:r>
              <a:rPr sz="1875" b="1">
                <a:solidFill>
                  <a:srgbClr val="5546ED"/>
                </a:solidFill>
                <a:latin typeface="Calibri"/>
                <a:ea typeface="Calibri"/>
                <a:cs typeface="Calibri"/>
              </a:rPr>
              <a:t>Descargar</a:t>
            </a:r>
          </a:p>
        </p:txBody>
      </p:sp>
      <p:sp>
        <p:nvSpPr>
          <p:cNvPr id="10" name="">
            <a:extLst xmlns:a="http://schemas.openxmlformats.org/drawingml/2006/main">
              <a:ext uri="{FF2B5EF4-FFF2-40B4-BE49-F238E27FC236}">
                <a16:creationId xmlns:a16="http://schemas.microsoft.com/office/drawing/2014/main" id="{D76123FC-92C9-4617-BB87-C23EB5603399}"/>
              </a:ext>
            </a:extLst>
          </p:cNvPr>
          <p:cNvSpPr>
            <a:spLocks xmlns:a="http://schemas.openxmlformats.org/drawingml/2006/main" noGrp="1"/>
          </p:cNvSpPr>
          <p:nvPr/>
        </p:nvSpPr>
        <p:spPr>
          <a:xfrm xmlns:a="http://schemas.openxmlformats.org/drawingml/2006/main">
            <a:off x="609600" y="52673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alibri"/>
                <a:ea typeface="Calibri"/>
                <a:cs typeface="Calibri"/>
              </a:defRPr>
            </a:pPr>
            <a:r>
              <a:rPr sz="1650" b="0">
                <a:solidFill>
                  <a:srgbClr val="203B68"/>
                </a:solidFill>
                <a:latin typeface="Calibri"/>
                <a:ea typeface="Calibri"/>
                <a:cs typeface="Calibri"/>
              </a:rPr>
              <a:t>Red y espacio en el destino.</a:t>
            </a:r>
          </a:p>
        </p:txBody>
      </p:sp>
      <p:sp>
        <p:nvSpPr>
          <p:cNvPr id="11" name="">
            <a:extLst xmlns:a="http://schemas.openxmlformats.org/drawingml/2006/main">
              <a:ext uri="{FF2B5EF4-FFF2-40B4-BE49-F238E27FC236}">
                <a16:creationId xmlns:a16="http://schemas.microsoft.com/office/drawing/2014/main" id="{FE35629B-37FF-42C1-B8D5-07F4CE061EAA}"/>
              </a:ext>
            </a:extLst>
          </p:cNvPr>
          <p:cNvSpPr>
            <a:spLocks xmlns:a="http://schemas.openxmlformats.org/drawingml/2006/main" noGrp="1"/>
          </p:cNvSpPr>
          <p:nvPr/>
        </p:nvSpPr>
        <p:spPr>
          <a:xfrm xmlns:a="http://schemas.openxmlformats.org/drawingml/2006/main">
            <a:off x="3362325" y="4857750"/>
            <a:ext cx="2514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C948B"/>
                </a:solidFill>
                <a:latin typeface="Calibri"/>
                <a:ea typeface="Calibri"/>
                <a:cs typeface="Calibri"/>
              </a:defRPr>
            </a:pPr>
            <a:r>
              <a:rPr sz="1875" b="1">
                <a:solidFill>
                  <a:srgbClr val="0C948B"/>
                </a:solidFill>
                <a:latin typeface="Calibri"/>
                <a:ea typeface="Calibri"/>
                <a:cs typeface="Calibri"/>
              </a:rPr>
              <a:t>Leer y decodificar</a:t>
            </a:r>
          </a:p>
        </p:txBody>
      </p:sp>
      <p:sp>
        <p:nvSpPr>
          <p:cNvPr id="12" name="">
            <a:extLst xmlns:a="http://schemas.openxmlformats.org/drawingml/2006/main">
              <a:ext uri="{FF2B5EF4-FFF2-40B4-BE49-F238E27FC236}">
                <a16:creationId xmlns:a16="http://schemas.microsoft.com/office/drawing/2014/main" id="{775E011C-52AA-4743-B130-BFD8E3B8854F}"/>
              </a:ext>
            </a:extLst>
          </p:cNvPr>
          <p:cNvSpPr>
            <a:spLocks xmlns:a="http://schemas.openxmlformats.org/drawingml/2006/main" noGrp="1"/>
          </p:cNvSpPr>
          <p:nvPr/>
        </p:nvSpPr>
        <p:spPr>
          <a:xfrm xmlns:a="http://schemas.openxmlformats.org/drawingml/2006/main">
            <a:off x="3362325" y="52673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alibri"/>
                <a:ea typeface="Calibri"/>
                <a:cs typeface="Calibri"/>
              </a:defRPr>
            </a:pPr>
            <a:r>
              <a:rPr sz="1650" b="0">
                <a:solidFill>
                  <a:srgbClr val="203B68"/>
                </a:solidFill>
                <a:latin typeface="Calibri"/>
                <a:ea typeface="Calibri"/>
                <a:cs typeface="Calibri"/>
              </a:rPr>
              <a:t>Disco, CPU, compresión y tipos.</a:t>
            </a:r>
          </a:p>
        </p:txBody>
      </p:sp>
      <p:sp>
        <p:nvSpPr>
          <p:cNvPr id="13" name="">
            <a:extLst xmlns:a="http://schemas.openxmlformats.org/drawingml/2006/main">
              <a:ext uri="{FF2B5EF4-FFF2-40B4-BE49-F238E27FC236}">
                <a16:creationId xmlns:a16="http://schemas.microsoft.com/office/drawing/2014/main" id="{A201440C-C2C5-4D83-A958-182A4E29778E}"/>
              </a:ext>
            </a:extLst>
          </p:cNvPr>
          <p:cNvSpPr>
            <a:spLocks xmlns:a="http://schemas.openxmlformats.org/drawingml/2006/main" noGrp="1"/>
          </p:cNvSpPr>
          <p:nvPr/>
        </p:nvSpPr>
        <p:spPr>
          <a:xfrm xmlns:a="http://schemas.openxmlformats.org/drawingml/2006/main">
            <a:off x="6115050" y="4857750"/>
            <a:ext cx="2514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CF4E48"/>
                </a:solidFill>
                <a:latin typeface="Calibri"/>
                <a:ea typeface="Calibri"/>
                <a:cs typeface="Calibri"/>
              </a:defRPr>
            </a:pPr>
            <a:r>
              <a:rPr sz="1875" b="1">
                <a:solidFill>
                  <a:srgbClr val="CF4E48"/>
                </a:solidFill>
                <a:latin typeface="Calibri"/>
                <a:ea typeface="Calibri"/>
                <a:cs typeface="Calibri"/>
              </a:rPr>
              <a:t>Transformar</a:t>
            </a:r>
          </a:p>
        </p:txBody>
      </p:sp>
      <p:sp>
        <p:nvSpPr>
          <p:cNvPr id="14" name="">
            <a:extLst xmlns:a="http://schemas.openxmlformats.org/drawingml/2006/main">
              <a:ext uri="{FF2B5EF4-FFF2-40B4-BE49-F238E27FC236}">
                <a16:creationId xmlns:a16="http://schemas.microsoft.com/office/drawing/2014/main" id="{B3C1E94A-4B25-4869-95D8-7B78D73A4D58}"/>
              </a:ext>
            </a:extLst>
          </p:cNvPr>
          <p:cNvSpPr>
            <a:spLocks xmlns:a="http://schemas.openxmlformats.org/drawingml/2006/main" noGrp="1"/>
          </p:cNvSpPr>
          <p:nvPr/>
        </p:nvSpPr>
        <p:spPr>
          <a:xfrm xmlns:a="http://schemas.openxmlformats.org/drawingml/2006/main">
            <a:off x="6115050" y="52673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alibri"/>
                <a:ea typeface="Calibri"/>
                <a:cs typeface="Calibri"/>
              </a:defRPr>
            </a:pPr>
            <a:r>
              <a:rPr sz="1650" b="0">
                <a:solidFill>
                  <a:srgbClr val="203B68"/>
                </a:solidFill>
                <a:latin typeface="Calibri"/>
                <a:ea typeface="Calibri"/>
                <a:cs typeface="Calibri"/>
              </a:rPr>
              <a:t>Memoria, filtros, joins y temporales.</a:t>
            </a:r>
          </a:p>
        </p:txBody>
      </p:sp>
      <p:sp>
        <p:nvSpPr>
          <p:cNvPr id="15" name="">
            <a:extLst xmlns:a="http://schemas.openxmlformats.org/drawingml/2006/main">
              <a:ext uri="{FF2B5EF4-FFF2-40B4-BE49-F238E27FC236}">
                <a16:creationId xmlns:a16="http://schemas.microsoft.com/office/drawing/2014/main" id="{AB50DA49-BD50-4D10-B02F-2E0633E8A983}"/>
              </a:ext>
            </a:extLst>
          </p:cNvPr>
          <p:cNvSpPr>
            <a:spLocks xmlns:a="http://schemas.openxmlformats.org/drawingml/2006/main" noGrp="1"/>
          </p:cNvSpPr>
          <p:nvPr/>
        </p:nvSpPr>
        <p:spPr>
          <a:xfrm xmlns:a="http://schemas.openxmlformats.org/drawingml/2006/main">
            <a:off x="8867775" y="4857750"/>
            <a:ext cx="2514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A56B08"/>
                </a:solidFill>
                <a:latin typeface="Calibri"/>
                <a:ea typeface="Calibri"/>
                <a:cs typeface="Calibri"/>
              </a:defRPr>
            </a:pPr>
            <a:r>
              <a:rPr sz="1875" b="1">
                <a:solidFill>
                  <a:srgbClr val="A56B08"/>
                </a:solidFill>
                <a:latin typeface="Calibri"/>
                <a:ea typeface="Calibri"/>
                <a:cs typeface="Calibri"/>
              </a:rPr>
              <a:t>Guardar y validar</a:t>
            </a:r>
          </a:p>
        </p:txBody>
      </p:sp>
      <p:sp>
        <p:nvSpPr>
          <p:cNvPr id="16" name="">
            <a:extLst xmlns:a="http://schemas.openxmlformats.org/drawingml/2006/main">
              <a:ext uri="{FF2B5EF4-FFF2-40B4-BE49-F238E27FC236}">
                <a16:creationId xmlns:a16="http://schemas.microsoft.com/office/drawing/2014/main" id="{EC2366A5-95D6-41E2-8C48-3D1701E0ABE0}"/>
              </a:ext>
            </a:extLst>
          </p:cNvPr>
          <p:cNvSpPr>
            <a:spLocks xmlns:a="http://schemas.openxmlformats.org/drawingml/2006/main" noGrp="1"/>
          </p:cNvSpPr>
          <p:nvPr/>
        </p:nvSpPr>
        <p:spPr>
          <a:xfrm xmlns:a="http://schemas.openxmlformats.org/drawingml/2006/main">
            <a:off x="8867775" y="52673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203B68"/>
                </a:solidFill>
                <a:latin typeface="Calibri"/>
                <a:ea typeface="Calibri"/>
                <a:cs typeface="Calibri"/>
              </a:defRPr>
            </a:pPr>
            <a:r>
              <a:rPr sz="1650" b="0">
                <a:solidFill>
                  <a:srgbClr val="203B68"/>
                </a:solidFill>
                <a:latin typeface="Calibri"/>
                <a:ea typeface="Calibri"/>
                <a:cs typeface="Calibri"/>
              </a:rPr>
              <a:t>Escritura de resultados y evidencia de control.</a:t>
            </a:r>
          </a:p>
        </p:txBody>
      </p:sp>
      <p:sp>
        <p:nvSpPr>
          <p:cNvPr id="17" name="">
            <a:extLst xmlns:a="http://schemas.openxmlformats.org/drawingml/2006/main">
              <a:ext uri="{FF2B5EF4-FFF2-40B4-BE49-F238E27FC236}">
                <a16:creationId xmlns:a16="http://schemas.microsoft.com/office/drawing/2014/main" id="{061038F6-670C-4A86-8E1E-D0014401B5B4}"/>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Archivo en disco y tabla materializada en RAM pueden ocupar tamaños distintos</a:t>
            </a:r>
          </a:p>
        </p:txBody>
      </p:sp>
      <p:sp>
        <p:nvSpPr>
          <p:cNvPr id="32" name="">
            <a:extLst xmlns:a="http://schemas.openxmlformats.org/drawingml/2006/main">
              <a:ext uri="{FF2B5EF4-FFF2-40B4-BE49-F238E27FC236}">
                <a16:creationId xmlns:a16="http://schemas.microsoft.com/office/drawing/2014/main" id="{B101E8B3-C5E0-467C-9A77-0F0D562D098F}"/>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B470DE2F-87AF-4327-8AB5-634681BCD8CB}"/>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5C561A2A-2597-4329-91C4-BDD95EC4748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5" name="">
            <a:extLst xmlns:a="http://schemas.openxmlformats.org/drawingml/2006/main">
              <a:ext uri="{FF2B5EF4-FFF2-40B4-BE49-F238E27FC236}">
                <a16:creationId xmlns:a16="http://schemas.microsoft.com/office/drawing/2014/main" id="{DB5833A0-5E8A-4CE4-AFD9-A490FBDA0907}"/>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18</a:t>
            </a:r>
          </a:p>
        </p:txBody>
      </p:sp>
    </p:spTree>
    <p:extLst>
      <p:ext uri="{BB962C8B-B14F-4D97-AF65-F5344CB8AC3E}">
        <p14:creationId xmlns:p14="http://schemas.microsoft.com/office/powerpoint/2010/main" val="176154866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tgtEl>
                                          <p:spTgt spid="15"/>
                                        </p:tgtEl>
                                        <p:attrNameLst>
                                          <p:attrName>style.visibility</p:attrName>
                                        </p:attrNameLst>
                                      </p:cBhvr>
                                      <p:to>
                                        <p:strVal val="visible"/>
                                      </p:to>
                                    </p:set>
                                    <p:animEffect transition="in" filter="fade">
                                      <p:cBhvr>
                                        <p:cTn id="31" dur="300"/>
                                        <p:tgtEl>
                                          <p:spTgt spid="15"/>
                                        </p:tgtEl>
                                      </p:cBhvr>
                                    </p:animEffect>
                                  </p:childTnLst>
                                </p:cTn>
                              </p:par>
                              <p:par>
                                <p:cTn id="32" presetID="10" presetClass="entr" presetSubtype="0" fill="hold" nodeType="clickEffect">
                                  <p:stCondLst>
                                    <p:cond delay="0"/>
                                  </p:stCondLst>
                                  <p:childTnLst>
                                    <p:set>
                                      <p:cBhvr>
                                        <p:cTn id="33" dur="1" fill="hold"/>
                                        <p:tgtEl>
                                          <p:spTgt spid="16"/>
                                        </p:tgtEl>
                                        <p:attrNameLst>
                                          <p:attrName>style.visibility</p:attrName>
                                        </p:attrNameLst>
                                      </p:cBhvr>
                                      <p:to>
                                        <p:strVal val="visible"/>
                                      </p:to>
                                    </p:set>
                                    <p:animEffect transition="in" filter="fade">
                                      <p:cBhvr>
                                        <p:cTn id="34"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5b61aa6e10a14b5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f215c807a0744b0"/>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9B8768-5765-4DEB-8FF2-EB8E73307D1E}"/>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El mismo problema en tres tamaños</a:t>
            </a:r>
          </a:p>
        </p:txBody>
      </p:sp>
      <p:sp>
        <p:nvSpPr>
          <p:cNvPr id="14" name="">
            <a:extLst xmlns:a="http://schemas.openxmlformats.org/drawingml/2006/main">
              <a:ext uri="{FF2B5EF4-FFF2-40B4-BE49-F238E27FC236}">
                <a16:creationId xmlns:a16="http://schemas.microsoft.com/office/drawing/2014/main" id="{496B6918-ED2E-42E2-A8E3-4468451377CC}"/>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2 GB: carga completa</a:t>
            </a:r>
          </a:p>
        </p:txBody>
      </p:sp>
      <p:sp>
        <p:nvSpPr>
          <p:cNvPr id="15" name="">
            <a:extLst xmlns:a="http://schemas.openxmlformats.org/drawingml/2006/main">
              <a:ext uri="{FF2B5EF4-FFF2-40B4-BE49-F238E27FC236}">
                <a16:creationId xmlns:a16="http://schemas.microsoft.com/office/drawing/2014/main" id="{68663282-B9E2-4681-8BA5-202393B5EAED}"/>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Según los supuestos del portátil.</a:t>
            </a:r>
          </a:p>
        </p:txBody>
      </p:sp>
      <p:sp>
        <p:nvSpPr>
          <p:cNvPr id="16" name="">
            <a:extLst xmlns:a="http://schemas.openxmlformats.org/drawingml/2006/main">
              <a:ext uri="{FF2B5EF4-FFF2-40B4-BE49-F238E27FC236}">
                <a16:creationId xmlns:a16="http://schemas.microsoft.com/office/drawing/2014/main" id="{D7D3AF4B-8760-4B08-820E-FDA5393F19C3}"/>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20 GB: bloques</a:t>
            </a:r>
          </a:p>
        </p:txBody>
      </p:sp>
      <p:sp>
        <p:nvSpPr>
          <p:cNvPr id="17" name="">
            <a:extLst xmlns:a="http://schemas.openxmlformats.org/drawingml/2006/main">
              <a:ext uri="{FF2B5EF4-FFF2-40B4-BE49-F238E27FC236}">
                <a16:creationId xmlns:a16="http://schemas.microsoft.com/office/drawing/2014/main" id="{68E4E45B-F816-4EB1-A682-238C761CE696}"/>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Acumular sumas y conteos parciales.</a:t>
            </a:r>
          </a:p>
        </p:txBody>
      </p:sp>
      <p:sp>
        <p:nvSpPr>
          <p:cNvPr id="18" name="">
            <a:extLst xmlns:a="http://schemas.openxmlformats.org/drawingml/2006/main">
              <a:ext uri="{FF2B5EF4-FFF2-40B4-BE49-F238E27FC236}">
                <a16:creationId xmlns:a16="http://schemas.microsoft.com/office/drawing/2014/main" id="{887A089F-5F1E-4C14-8785-2FB6D90B7BE7}"/>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2 TB: otro almacenamiento</a:t>
            </a:r>
          </a:p>
        </p:txBody>
      </p:sp>
      <p:sp>
        <p:nvSpPr>
          <p:cNvPr id="19" name="">
            <a:extLst xmlns:a="http://schemas.openxmlformats.org/drawingml/2006/main">
              <a:ext uri="{FF2B5EF4-FFF2-40B4-BE49-F238E27FC236}">
                <a16:creationId xmlns:a16="http://schemas.microsoft.com/office/drawing/2014/main" id="{E0754572-AA1B-45BF-8951-3D6B81087DD4}"/>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Consulta remota, subconjunto o servidor.</a:t>
            </a:r>
          </a:p>
        </p:txBody>
      </p:sp>
      <p:sp>
        <p:nvSpPr>
          <p:cNvPr id="20" name="">
            <a:extLst xmlns:a="http://schemas.openxmlformats.org/drawingml/2006/main">
              <a:ext uri="{FF2B5EF4-FFF2-40B4-BE49-F238E27FC236}">
                <a16:creationId xmlns:a16="http://schemas.microsoft.com/office/drawing/2014/main" id="{25D78878-453E-4AAA-926F-4863DE912B03}"/>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Mismo CSV y consulta: temperatura media y conteos por municipio y día</a:t>
            </a:r>
          </a:p>
        </p:txBody>
      </p:sp>
      <p:sp>
        <p:nvSpPr>
          <p:cNvPr id="35" name="">
            <a:extLst xmlns:a="http://schemas.openxmlformats.org/drawingml/2006/main">
              <a:ext uri="{FF2B5EF4-FFF2-40B4-BE49-F238E27FC236}">
                <a16:creationId xmlns:a16="http://schemas.microsoft.com/office/drawing/2014/main" id="{0E69859E-2814-41CD-B504-F128AB1D7C2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43DDF82A-8819-47EA-9BBE-D17104536D2D}"/>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7" name="">
            <a:extLst xmlns:a="http://schemas.openxmlformats.org/drawingml/2006/main">
              <a:ext uri="{FF2B5EF4-FFF2-40B4-BE49-F238E27FC236}">
                <a16:creationId xmlns:a16="http://schemas.microsoft.com/office/drawing/2014/main" id="{82F45FDE-1982-4D67-BDD2-2A32398FC8DB}"/>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8" name="">
            <a:extLst xmlns:a="http://schemas.openxmlformats.org/drawingml/2006/main">
              <a:ext uri="{FF2B5EF4-FFF2-40B4-BE49-F238E27FC236}">
                <a16:creationId xmlns:a16="http://schemas.microsoft.com/office/drawing/2014/main" id="{0949CF4F-EFF8-4D65-975D-BA14C488653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19</a:t>
            </a:r>
          </a:p>
        </p:txBody>
      </p:sp>
    </p:spTree>
    <p:extLst>
      <p:ext uri="{BB962C8B-B14F-4D97-AF65-F5344CB8AC3E}">
        <p14:creationId xmlns:p14="http://schemas.microsoft.com/office/powerpoint/2010/main" val="119968945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4"/>
                                        </p:tgtEl>
                                        <p:attrNameLst>
                                          <p:attrName>style.visibility</p:attrName>
                                        </p:attrNameLst>
                                      </p:cBhvr>
                                      <p:to>
                                        <p:strVal val="visible"/>
                                      </p:to>
                                    </p:set>
                                    <p:animEffect transition="in" filter="fade">
                                      <p:cBhvr>
                                        <p:cTn id="7" dur="300"/>
                                        <p:tgtEl>
                                          <p:spTgt spid="14"/>
                                        </p:tgtEl>
                                      </p:cBhvr>
                                    </p:animEffect>
                                  </p:childTnLst>
                                </p:cTn>
                              </p:par>
                              <p:par>
                                <p:cTn id="8" presetID="10" presetClass="entr" presetSubtype="0" fill="hold" nodeType="clickEffect">
                                  <p:stCondLst>
                                    <p:cond delay="0"/>
                                  </p:stCondLst>
                                  <p:childTnLst>
                                    <p:set>
                                      <p:cBhvr>
                                        <p:cTn id="9" dur="1" fill="hold"/>
                                        <p:tgtEl>
                                          <p:spTgt spid="15"/>
                                        </p:tgtEl>
                                        <p:attrNameLst>
                                          <p:attrName>style.visibility</p:attrName>
                                        </p:attrNameLst>
                                      </p:cBhvr>
                                      <p:to>
                                        <p:strVal val="visible"/>
                                      </p:to>
                                    </p:set>
                                    <p:animEffect transition="in" filter="fade">
                                      <p:cBhvr>
                                        <p:cTn id="10" dur="3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6"/>
                                        </p:tgtEl>
                                        <p:attrNameLst>
                                          <p:attrName>style.visibility</p:attrName>
                                        </p:attrNameLst>
                                      </p:cBhvr>
                                      <p:to>
                                        <p:strVal val="visible"/>
                                      </p:to>
                                    </p:set>
                                    <p:animEffect transition="in" filter="fade">
                                      <p:cBhvr>
                                        <p:cTn id="15" dur="300"/>
                                        <p:tgtEl>
                                          <p:spTgt spid="16"/>
                                        </p:tgtEl>
                                      </p:cBhvr>
                                    </p:animEffect>
                                  </p:childTnLst>
                                </p:cTn>
                              </p:par>
                              <p:par>
                                <p:cTn id="16" presetID="10" presetClass="entr" presetSubtype="0" fill="hold" nodeType="clickEffect">
                                  <p:stCondLst>
                                    <p:cond delay="0"/>
                                  </p:stCondLst>
                                  <p:childTnLst>
                                    <p:set>
                                      <p:cBhvr>
                                        <p:cTn id="17" dur="1" fill="hold"/>
                                        <p:tgtEl>
                                          <p:spTgt spid="17"/>
                                        </p:tgtEl>
                                        <p:attrNameLst>
                                          <p:attrName>style.visibility</p:attrName>
                                        </p:attrNameLst>
                                      </p:cBhvr>
                                      <p:to>
                                        <p:strVal val="visible"/>
                                      </p:to>
                                    </p:set>
                                    <p:animEffect transition="in" filter="fade">
                                      <p:cBhvr>
                                        <p:cTn id="18" dur="3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8"/>
                                        </p:tgtEl>
                                        <p:attrNameLst>
                                          <p:attrName>style.visibility</p:attrName>
                                        </p:attrNameLst>
                                      </p:cBhvr>
                                      <p:to>
                                        <p:strVal val="visible"/>
                                      </p:to>
                                    </p:set>
                                    <p:animEffect transition="in" filter="fade">
                                      <p:cBhvr>
                                        <p:cTn id="23" dur="300"/>
                                        <p:tgtEl>
                                          <p:spTgt spid="18"/>
                                        </p:tgtEl>
                                      </p:cBhvr>
                                    </p:animEffect>
                                  </p:childTnLst>
                                </p:cTn>
                              </p:par>
                              <p:par>
                                <p:cTn id="24" presetID="10" presetClass="entr" presetSubtype="0" fill="hold" nodeType="clickEffect">
                                  <p:stCondLst>
                                    <p:cond delay="0"/>
                                  </p:stCondLst>
                                  <p:childTnLst>
                                    <p:set>
                                      <p:cBhvr>
                                        <p:cTn id="25" dur="1" fill="hold"/>
                                        <p:tgtEl>
                                          <p:spTgt spid="19"/>
                                        </p:tgtEl>
                                        <p:attrNameLst>
                                          <p:attrName>style.visibility</p:attrName>
                                        </p:attrNameLst>
                                      </p:cBhvr>
                                      <p:to>
                                        <p:strVal val="visible"/>
                                      </p:to>
                                    </p:set>
                                    <p:animEffect transition="in" filter="fade">
                                      <p:cBhvr>
                                        <p:cTn id="26"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6e55385651c8444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c50acc54841643d9"/>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320A00-DC76-460B-B830-0A97D8BF736B}"/>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Supuestos del portátil</a:t>
            </a:r>
          </a:p>
        </p:txBody>
      </p:sp>
      <p:sp>
        <p:nvSpPr>
          <p:cNvPr id="9" name="">
            <a:extLst xmlns:a="http://schemas.openxmlformats.org/drawingml/2006/main">
              <a:ext uri="{FF2B5EF4-FFF2-40B4-BE49-F238E27FC236}">
                <a16:creationId xmlns:a16="http://schemas.microsoft.com/office/drawing/2014/main" id="{691B9202-5E04-4C14-82E4-991D826B1D08}"/>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Capacidad disponible</a:t>
            </a:r>
          </a:p>
        </p:txBody>
      </p:sp>
      <p:sp>
        <p:nvSpPr>
          <p:cNvPr id="10" name="">
            <a:extLst xmlns:a="http://schemas.openxmlformats.org/drawingml/2006/main">
              <a:ext uri="{FF2B5EF4-FFF2-40B4-BE49-F238E27FC236}">
                <a16:creationId xmlns:a16="http://schemas.microsoft.com/office/drawing/2014/main" id="{E496B17F-BEB8-4FF7-831C-87E5957528BC}"/>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10 GB de RAM para el proceso y 300 GB libres en SSD.</a:t>
            </a:r>
          </a:p>
        </p:txBody>
      </p:sp>
      <p:sp>
        <p:nvSpPr>
          <p:cNvPr id="11" name="">
            <a:extLst xmlns:a="http://schemas.openxmlformats.org/drawingml/2006/main">
              <a:ext uri="{FF2B5EF4-FFF2-40B4-BE49-F238E27FC236}">
                <a16:creationId xmlns:a16="http://schemas.microsoft.com/office/drawing/2014/main" id="{8FC49849-DA87-4FAF-9621-CC2485E65717}"/>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Tasas efectivas supuestas</a:t>
            </a:r>
          </a:p>
        </p:txBody>
      </p:sp>
      <p:sp>
        <p:nvSpPr>
          <p:cNvPr id="12" name="">
            <a:extLst xmlns:a="http://schemas.openxmlformats.org/drawingml/2006/main">
              <a:ext uri="{FF2B5EF4-FFF2-40B4-BE49-F238E27FC236}">
                <a16:creationId xmlns:a16="http://schemas.microsoft.com/office/drawing/2014/main" id="{CC9B328E-BF4E-4367-BCF4-5DA94613D87B}"/>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Red: 12,5 MB/s. Lectura: 500 MB/s. Proceso: 100 MB/s.</a:t>
            </a:r>
          </a:p>
        </p:txBody>
      </p:sp>
      <p:sp>
        <p:nvSpPr>
          <p:cNvPr id="13" name="">
            <a:extLst xmlns:a="http://schemas.openxmlformats.org/drawingml/2006/main">
              <a:ext uri="{FF2B5EF4-FFF2-40B4-BE49-F238E27FC236}">
                <a16:creationId xmlns:a16="http://schemas.microsoft.com/office/drawing/2014/main" id="{58A81282-AABC-42EA-BC1D-C6E255CF90CD}"/>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Modelo de cálculo</a:t>
            </a:r>
          </a:p>
        </p:txBody>
      </p:sp>
      <p:sp>
        <p:nvSpPr>
          <p:cNvPr id="14" name="">
            <a:extLst xmlns:a="http://schemas.openxmlformats.org/drawingml/2006/main">
              <a:ext uri="{FF2B5EF4-FFF2-40B4-BE49-F238E27FC236}">
                <a16:creationId xmlns:a16="http://schemas.microsoft.com/office/drawing/2014/main" id="{BCE15714-F972-4771-89EA-664C6951518A}"/>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RAM al materializar: 3 × D. Presupuesto de disco: 3 × D.</a:t>
            </a:r>
          </a:p>
        </p:txBody>
      </p:sp>
      <p:sp>
        <p:nvSpPr>
          <p:cNvPr id="15" name="">
            <a:extLst xmlns:a="http://schemas.openxmlformats.org/drawingml/2006/main">
              <a:ext uri="{FF2B5EF4-FFF2-40B4-BE49-F238E27FC236}">
                <a16:creationId xmlns:a16="http://schemas.microsoft.com/office/drawing/2014/main" id="{9653B052-F45A-438C-A236-9918F905F9E1}"/>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Portátil con 16 GB de RAM. D = CSV sin comprimir. Unidades decimales</a:t>
            </a:r>
          </a:p>
        </p:txBody>
      </p:sp>
      <p:sp>
        <p:nvSpPr>
          <p:cNvPr id="30" name="">
            <a:extLst xmlns:a="http://schemas.openxmlformats.org/drawingml/2006/main">
              <a:ext uri="{FF2B5EF4-FFF2-40B4-BE49-F238E27FC236}">
                <a16:creationId xmlns:a16="http://schemas.microsoft.com/office/drawing/2014/main" id="{DB46C8C2-3257-4FD0-9E66-51C692E0277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1" name="">
            <a:extLst xmlns:a="http://schemas.openxmlformats.org/drawingml/2006/main">
              <a:ext uri="{FF2B5EF4-FFF2-40B4-BE49-F238E27FC236}">
                <a16:creationId xmlns:a16="http://schemas.microsoft.com/office/drawing/2014/main" id="{F0CA729B-1F04-45D4-8FB6-CBEC7C62EC4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2" name="">
            <a:extLst xmlns:a="http://schemas.openxmlformats.org/drawingml/2006/main">
              <a:ext uri="{FF2B5EF4-FFF2-40B4-BE49-F238E27FC236}">
                <a16:creationId xmlns:a16="http://schemas.microsoft.com/office/drawing/2014/main" id="{625C4F4E-C14F-4B26-B7D9-36A3CC7F0D86}"/>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3" name="">
            <a:extLst xmlns:a="http://schemas.openxmlformats.org/drawingml/2006/main">
              <a:ext uri="{FF2B5EF4-FFF2-40B4-BE49-F238E27FC236}">
                <a16:creationId xmlns:a16="http://schemas.microsoft.com/office/drawing/2014/main" id="{C5DDFFA2-7285-4BC0-8B74-61B9B766F58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20</a:t>
            </a:r>
          </a:p>
        </p:txBody>
      </p:sp>
    </p:spTree>
    <p:extLst>
      <p:ext uri="{BB962C8B-B14F-4D97-AF65-F5344CB8AC3E}">
        <p14:creationId xmlns:p14="http://schemas.microsoft.com/office/powerpoint/2010/main" val="62592181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8a54f7e7080446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7DB32C-211B-488A-86B9-9E773570220C}"/>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Demostración teórica: elección de estrategia</a:t>
            </a:r>
          </a:p>
        </p:txBody>
      </p:sp>
      <p:sp>
        <p:nvSpPr>
          <p:cNvPr id="5" name="">
            <a:extLst xmlns:a="http://schemas.openxmlformats.org/drawingml/2006/main">
              <a:ext uri="{FF2B5EF4-FFF2-40B4-BE49-F238E27FC236}">
                <a16:creationId xmlns:a16="http://schemas.microsoft.com/office/drawing/2014/main" id="{D301D076-0E54-4FB1-AEB7-01071D906416}"/>
              </a:ext>
            </a:extLst>
          </p:cNvPr>
          <p:cNvSpPr>
            <a:spLocks xmlns:a="http://schemas.openxmlformats.org/drawingml/2006/main" noGrp="1"/>
          </p:cNvSpPr>
          <p:nvPr/>
        </p:nvSpPr>
        <p:spPr>
          <a:xfrm xmlns:a="http://schemas.openxmlformats.org/drawingml/2006/main">
            <a:off x="609600" y="1638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10 minutos: capacidad y tiempos</a:t>
            </a:r>
          </a:p>
        </p:txBody>
      </p:sp>
      <p:sp>
        <p:nvSpPr>
          <p:cNvPr id="6" name="">
            <a:extLst xmlns:a="http://schemas.openxmlformats.org/drawingml/2006/main">
              <a:ext uri="{FF2B5EF4-FFF2-40B4-BE49-F238E27FC236}">
                <a16:creationId xmlns:a16="http://schemas.microsoft.com/office/drawing/2014/main" id="{F513025B-156F-4B59-BC61-A4F2D3DBABC3}"/>
              </a:ext>
            </a:extLst>
          </p:cNvPr>
          <p:cNvSpPr>
            <a:spLocks xmlns:a="http://schemas.openxmlformats.org/drawingml/2006/main" noGrp="1"/>
          </p:cNvSpPr>
          <p:nvPr/>
        </p:nvSpPr>
        <p:spPr>
          <a:xfrm xmlns:a="http://schemas.openxmlformats.org/drawingml/2006/main">
            <a:off x="609600" y="20955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Para cada tamaño, estimar RAM, disco, descarga, lectura local y procesamiento. Identificar la primera restricción.</a:t>
            </a:r>
          </a:p>
        </p:txBody>
      </p:sp>
      <p:sp>
        <p:nvSpPr>
          <p:cNvPr id="7" name="">
            <a:extLst xmlns:a="http://schemas.openxmlformats.org/drawingml/2006/main">
              <a:ext uri="{FF2B5EF4-FFF2-40B4-BE49-F238E27FC236}">
                <a16:creationId xmlns:a16="http://schemas.microsoft.com/office/drawing/2014/main" id="{B7B93D12-6BBA-4F53-AD6C-8667880FFA1E}"/>
              </a:ext>
            </a:extLst>
          </p:cNvPr>
          <p:cNvSpPr>
            <a:spLocks xmlns:a="http://schemas.openxmlformats.org/drawingml/2006/main" noGrp="1"/>
          </p:cNvSpPr>
          <p:nvPr/>
        </p:nvSpPr>
        <p:spPr>
          <a:xfrm xmlns:a="http://schemas.openxmlformats.org/drawingml/2006/main">
            <a:off x="609600" y="3048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15 minutos: una propuesta demostrada</a:t>
            </a:r>
          </a:p>
        </p:txBody>
      </p:sp>
      <p:sp>
        <p:nvSpPr>
          <p:cNvPr id="8" name="">
            <a:extLst xmlns:a="http://schemas.openxmlformats.org/drawingml/2006/main">
              <a:ext uri="{FF2B5EF4-FFF2-40B4-BE49-F238E27FC236}">
                <a16:creationId xmlns:a16="http://schemas.microsoft.com/office/drawing/2014/main" id="{ABD6A31A-7CCC-4157-B186-D274774D4B84}"/>
              </a:ext>
            </a:extLst>
          </p:cNvPr>
          <p:cNvSpPr>
            <a:spLocks xmlns:a="http://schemas.openxmlformats.org/drawingml/2006/main" noGrp="1"/>
          </p:cNvSpPr>
          <p:nvPr/>
        </p:nvSpPr>
        <p:spPr>
          <a:xfrm xmlns:a="http://schemas.openxmlformats.org/drawingml/2006/main">
            <a:off x="609600" y="3505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Elegir carga completa, bloques, servidor o cómputo distribuido. Explicar cómo se conserva el resultado.</a:t>
            </a:r>
          </a:p>
        </p:txBody>
      </p:sp>
      <p:sp>
        <p:nvSpPr>
          <p:cNvPr id="9" name="">
            <a:extLst xmlns:a="http://schemas.openxmlformats.org/drawingml/2006/main">
              <a:ext uri="{FF2B5EF4-FFF2-40B4-BE49-F238E27FC236}">
                <a16:creationId xmlns:a16="http://schemas.microsoft.com/office/drawing/2014/main" id="{C7E8B60E-AE8D-46B8-9E59-C36D2C41BE49}"/>
              </a:ext>
            </a:extLst>
          </p:cNvPr>
          <p:cNvSpPr>
            <a:spLocks xmlns:a="http://schemas.openxmlformats.org/drawingml/2006/main" noGrp="1"/>
          </p:cNvSpPr>
          <p:nvPr/>
        </p:nvSpPr>
        <p:spPr>
          <a:xfrm xmlns:a="http://schemas.openxmlformats.org/drawingml/2006/main">
            <a:off x="609600" y="44577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10 minutos: contraste y decisión</a:t>
            </a:r>
          </a:p>
        </p:txBody>
      </p:sp>
      <p:sp>
        <p:nvSpPr>
          <p:cNvPr id="10" name="">
            <a:extLst xmlns:a="http://schemas.openxmlformats.org/drawingml/2006/main">
              <a:ext uri="{FF2B5EF4-FFF2-40B4-BE49-F238E27FC236}">
                <a16:creationId xmlns:a16="http://schemas.microsoft.com/office/drawing/2014/main" id="{0DF4F253-803A-428B-A4B2-8A12C862D737}"/>
              </a:ext>
            </a:extLst>
          </p:cNvPr>
          <p:cNvSpPr>
            <a:spLocks xmlns:a="http://schemas.openxmlformats.org/drawingml/2006/main" noGrp="1"/>
          </p:cNvSpPr>
          <p:nvPr/>
        </p:nvSpPr>
        <p:spPr>
          <a:xfrm xmlns:a="http://schemas.openxmlformats.org/drawingml/2006/main">
            <a:off x="609600" y="49149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Defender la propuesta para un informe nocturno y para una respuesta en 30 minutos. Comparar costos y riesgos.</a:t>
            </a:r>
          </a:p>
        </p:txBody>
      </p:sp>
      <p:sp>
        <p:nvSpPr>
          <p:cNvPr id="11" name="">
            <a:extLst xmlns:a="http://schemas.openxmlformats.org/drawingml/2006/main">
              <a:ext uri="{FF2B5EF4-FFF2-40B4-BE49-F238E27FC236}">
                <a16:creationId xmlns:a16="http://schemas.microsoft.com/office/drawing/2014/main" id="{0BFE2784-D9D5-4B29-AB9F-C556796F8F4E}"/>
              </a:ext>
            </a:extLst>
          </p:cNvPr>
          <p:cNvSpPr>
            <a:spLocks xmlns:a="http://schemas.openxmlformats.org/drawingml/2006/main" noGrp="1"/>
          </p:cNvSpPr>
          <p:nvPr/>
        </p:nvSpPr>
        <p:spPr>
          <a:xfrm xmlns:a="http://schemas.openxmlformats.org/drawingml/2006/main">
            <a:off x="609600" y="59626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F3864"/>
                </a:solidFill>
                <a:latin typeface="Calibri"/>
                <a:ea typeface="Calibri"/>
                <a:cs typeface="Calibri"/>
              </a:defRPr>
            </a:pPr>
            <a:r>
              <a:rPr sz="1425" b="0">
                <a:solidFill>
                  <a:srgbClr val="1F3864"/>
                </a:solidFill>
                <a:latin typeface="Calibri"/>
                <a:ea typeface="Calibri"/>
                <a:cs typeface="Calibri"/>
              </a:rPr>
              <a:t>Modelo docente: matriz comparativa, estrategia elegida y dos supuestos por verificar</a:t>
            </a:r>
          </a:p>
        </p:txBody>
      </p:sp>
      <p:sp>
        <p:nvSpPr>
          <p:cNvPr id="22" name="">
            <a:extLst xmlns:a="http://schemas.openxmlformats.org/drawingml/2006/main">
              <a:ext uri="{FF2B5EF4-FFF2-40B4-BE49-F238E27FC236}">
                <a16:creationId xmlns:a16="http://schemas.microsoft.com/office/drawing/2014/main" id="{C35010AA-51F8-4B1B-AD30-5C8568E4A59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C79A7EC2-457F-458F-ABBD-BC2F36A3C26F}"/>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4" name="">
            <a:extLst xmlns:a="http://schemas.openxmlformats.org/drawingml/2006/main">
              <a:ext uri="{FF2B5EF4-FFF2-40B4-BE49-F238E27FC236}">
                <a16:creationId xmlns:a16="http://schemas.microsoft.com/office/drawing/2014/main" id="{4B4E3B8C-FE63-4ACE-81DF-2BC6D484A54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5" name="">
            <a:extLst xmlns:a="http://schemas.openxmlformats.org/drawingml/2006/main">
              <a:ext uri="{FF2B5EF4-FFF2-40B4-BE49-F238E27FC236}">
                <a16:creationId xmlns:a16="http://schemas.microsoft.com/office/drawing/2014/main" id="{965F2818-9DE7-46C7-8AAA-540786ADEE70}"/>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21</a:t>
            </a:r>
          </a:p>
        </p:txBody>
      </p:sp>
    </p:spTree>
    <p:extLst>
      <p:ext uri="{BB962C8B-B14F-4D97-AF65-F5344CB8AC3E}">
        <p14:creationId xmlns:p14="http://schemas.microsoft.com/office/powerpoint/2010/main" val="1082610244"/>
      </p:ext>
    </p:extLst>
  </p:cSld>
  <p:transition spd="med" advClick="1">
    <p:fade/>
  </p:transition>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769079ab71a4c0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28" name=""/>
          <p:cNvGraphicFramePr/>
          <p:nvPr/>
        </p:nvGraphicFramePr>
        <p:xfrm>
          <a:off xmlns:a="http://schemas.openxmlformats.org/drawingml/2006/main" x="609600" y="1676400"/>
          <a:ext xmlns:a="http://schemas.openxmlformats.org/drawingml/2006/main" cx="10972800" cy="3429000"/>
        </p:xfrm>
        <a:graphic xmlns:a="http://schemas.openxmlformats.org/drawingml/2006/main">
          <a:graphicData uri="http://schemas.openxmlformats.org/drawingml/2006/table">
            <a:tbl>
              <a:tblPr/>
              <a:tblGrid>
                <a:gridCol w="2000250"/>
                <a:gridCol w="2809875"/>
                <a:gridCol w="2857500"/>
                <a:gridCol w="3305175"/>
              </a:tblGrid>
              <a:tr h="857250">
                <a:tc>
                  <a:txBody>
                    <a:bodyPr/>
                    <a:lstStyle/>
                    <a:p>
                      <a:r>
                        <a:rPr sz="1875" b="1">
                          <a:solidFill>
                            <a:srgbClr val="FFFFFF"/>
                          </a:solidFill>
                          <a:latin typeface="Calibri"/>
                          <a:ea typeface="Calibri"/>
                          <a:cs typeface="Calibri"/>
                        </a:rPr>
                        <a:t>Tamaño CSV</a:t>
                      </a:r>
                    </a:p>
                  </a:txBody>
                  <a:tcPr marL="91440" marR="91440" marT="45720" marB="45720">
                    <a:solidFill>
                      <a:srgbClr val="4239C8"/>
                    </a:solidFill>
                  </a:tcPr>
                </a:tc>
                <a:tc>
                  <a:txBody>
                    <a:bodyPr/>
                    <a:lstStyle/>
                    <a:p>
                      <a:r>
                        <a:rPr sz="1875" b="1">
                          <a:solidFill>
                            <a:srgbClr val="FFFFFF"/>
                          </a:solidFill>
                          <a:latin typeface="Calibri"/>
                          <a:ea typeface="Calibri"/>
                          <a:cs typeface="Calibri"/>
                        </a:rPr>
                        <a:t>RAM al materializar</a:t>
                      </a:r>
                    </a:p>
                  </a:txBody>
                  <a:tcPr marL="91440" marR="91440" marT="45720" marB="45720">
                    <a:solidFill>
                      <a:srgbClr val="4239C8"/>
                    </a:solidFill>
                  </a:tcPr>
                </a:tc>
                <a:tc>
                  <a:txBody>
                    <a:bodyPr/>
                    <a:lstStyle/>
                    <a:p>
                      <a:r>
                        <a:rPr sz="1875" b="1">
                          <a:solidFill>
                            <a:srgbClr val="FFFFFF"/>
                          </a:solidFill>
                          <a:latin typeface="Calibri"/>
                          <a:ea typeface="Calibri"/>
                          <a:cs typeface="Calibri"/>
                        </a:rPr>
                        <a:t>Disco presupuestado</a:t>
                      </a:r>
                    </a:p>
                  </a:txBody>
                  <a:tcPr marL="91440" marR="91440" marT="45720" marB="45720">
                    <a:solidFill>
                      <a:srgbClr val="4239C8"/>
                    </a:solidFill>
                  </a:tcPr>
                </a:tc>
                <a:tc>
                  <a:txBody>
                    <a:bodyPr/>
                    <a:lstStyle/>
                    <a:p>
                      <a:r>
                        <a:rPr sz="1875" b="1">
                          <a:solidFill>
                            <a:srgbClr val="FFFFFF"/>
                          </a:solidFill>
                          <a:latin typeface="Calibri"/>
                          <a:ea typeface="Calibri"/>
                          <a:cs typeface="Calibri"/>
                        </a:rPr>
                        <a:t>Portátil</a:t>
                      </a:r>
                    </a:p>
                  </a:txBody>
                  <a:tcPr marL="91440" marR="91440" marT="45720" marB="45720">
                    <a:solidFill>
                      <a:srgbClr val="4239C8"/>
                    </a:solidFill>
                  </a:tcPr>
                </a:tc>
              </a:tr>
              <a:tr h="857250">
                <a:tc>
                  <a:txBody>
                    <a:bodyPr/>
                    <a:lstStyle/>
                    <a:p>
                      <a:r>
                        <a:rPr sz="1875" b="0">
                          <a:solidFill>
                            <a:srgbClr val="1F3864"/>
                          </a:solidFill>
                          <a:latin typeface="Calibri"/>
                          <a:ea typeface="Calibri"/>
                          <a:cs typeface="Calibri"/>
                        </a:rPr>
                        <a:t>2 GB</a:t>
                      </a:r>
                    </a:p>
                  </a:txBody>
                  <a:tcPr marL="91440" marR="91440" marT="45720" marB="45720">
                    <a:solidFill>
                      <a:srgbClr val="F1F3FA"/>
                    </a:solidFill>
                  </a:tcPr>
                </a:tc>
                <a:tc>
                  <a:txBody>
                    <a:bodyPr/>
                    <a:lstStyle/>
                    <a:p>
                      <a:r>
                        <a:rPr sz="1875" b="0">
                          <a:solidFill>
                            <a:srgbClr val="1F3864"/>
                          </a:solidFill>
                          <a:latin typeface="Calibri"/>
                          <a:ea typeface="Calibri"/>
                          <a:cs typeface="Calibri"/>
                        </a:rPr>
                        <a:t>6 GB</a:t>
                      </a:r>
                    </a:p>
                  </a:txBody>
                  <a:tcPr marL="91440" marR="91440" marT="45720" marB="45720">
                    <a:solidFill>
                      <a:srgbClr val="F1F3FA"/>
                    </a:solidFill>
                  </a:tcPr>
                </a:tc>
                <a:tc>
                  <a:txBody>
                    <a:bodyPr/>
                    <a:lstStyle/>
                    <a:p>
                      <a:r>
                        <a:rPr sz="1875" b="0">
                          <a:solidFill>
                            <a:srgbClr val="1F3864"/>
                          </a:solidFill>
                          <a:latin typeface="Calibri"/>
                          <a:ea typeface="Calibri"/>
                          <a:cs typeface="Calibri"/>
                        </a:rPr>
                        <a:t>6 GB</a:t>
                      </a:r>
                    </a:p>
                  </a:txBody>
                  <a:tcPr marL="91440" marR="91440" marT="45720" marB="45720">
                    <a:solidFill>
                      <a:srgbClr val="F1F3FA"/>
                    </a:solidFill>
                  </a:tcPr>
                </a:tc>
                <a:tc>
                  <a:txBody>
                    <a:bodyPr/>
                    <a:lstStyle/>
                    <a:p>
                      <a:r>
                        <a:rPr sz="1875" b="0">
                          <a:solidFill>
                            <a:srgbClr val="1F3864"/>
                          </a:solidFill>
                          <a:latin typeface="Calibri"/>
                          <a:ea typeface="Calibri"/>
                          <a:cs typeface="Calibri"/>
                        </a:rPr>
                        <a:t>Cabe según el modelo</a:t>
                      </a:r>
                    </a:p>
                  </a:txBody>
                  <a:tcPr marL="91440" marR="91440" marT="45720" marB="45720">
                    <a:solidFill>
                      <a:srgbClr val="F1F3FA"/>
                    </a:solidFill>
                  </a:tcPr>
                </a:tc>
              </a:tr>
              <a:tr h="857250">
                <a:tc>
                  <a:txBody>
                    <a:bodyPr/>
                    <a:lstStyle/>
                    <a:p>
                      <a:r>
                        <a:rPr sz="1875" b="0">
                          <a:solidFill>
                            <a:srgbClr val="1F3864"/>
                          </a:solidFill>
                          <a:latin typeface="Calibri"/>
                          <a:ea typeface="Calibri"/>
                          <a:cs typeface="Calibri"/>
                        </a:rPr>
                        <a:t>20 GB</a:t>
                      </a:r>
                    </a:p>
                  </a:txBody>
                  <a:tcPr marL="91440" marR="91440" marT="45720" marB="45720">
                    <a:solidFill>
                      <a:srgbClr val="FFFFFF"/>
                    </a:solidFill>
                  </a:tcPr>
                </a:tc>
                <a:tc>
                  <a:txBody>
                    <a:bodyPr/>
                    <a:lstStyle/>
                    <a:p>
                      <a:r>
                        <a:rPr sz="1875" b="0">
                          <a:solidFill>
                            <a:srgbClr val="1F3864"/>
                          </a:solidFill>
                          <a:latin typeface="Calibri"/>
                          <a:ea typeface="Calibri"/>
                          <a:cs typeface="Calibri"/>
                        </a:rPr>
                        <a:t>60 GB</a:t>
                      </a:r>
                    </a:p>
                  </a:txBody>
                  <a:tcPr marL="91440" marR="91440" marT="45720" marB="45720">
                    <a:solidFill>
                      <a:srgbClr val="FFFFFF"/>
                    </a:solidFill>
                  </a:tcPr>
                </a:tc>
                <a:tc>
                  <a:txBody>
                    <a:bodyPr/>
                    <a:lstStyle/>
                    <a:p>
                      <a:r>
                        <a:rPr sz="1875" b="0">
                          <a:solidFill>
                            <a:srgbClr val="1F3864"/>
                          </a:solidFill>
                          <a:latin typeface="Calibri"/>
                          <a:ea typeface="Calibri"/>
                          <a:cs typeface="Calibri"/>
                        </a:rPr>
                        <a:t>60 GB</a:t>
                      </a:r>
                    </a:p>
                  </a:txBody>
                  <a:tcPr marL="91440" marR="91440" marT="45720" marB="45720">
                    <a:solidFill>
                      <a:srgbClr val="FFFFFF"/>
                    </a:solidFill>
                  </a:tcPr>
                </a:tc>
                <a:tc>
                  <a:txBody>
                    <a:bodyPr/>
                    <a:lstStyle/>
                    <a:p>
                      <a:r>
                        <a:rPr sz="1875" b="0">
                          <a:solidFill>
                            <a:srgbClr val="1F3864"/>
                          </a:solidFill>
                          <a:latin typeface="Calibri"/>
                          <a:ea typeface="Calibri"/>
                          <a:cs typeface="Calibri"/>
                        </a:rPr>
                        <a:t>Cabe en disco, no en RAM</a:t>
                      </a:r>
                    </a:p>
                  </a:txBody>
                  <a:tcPr marL="91440" marR="91440" marT="45720" marB="45720">
                    <a:solidFill>
                      <a:srgbClr val="FFFFFF"/>
                    </a:solidFill>
                  </a:tcPr>
                </a:tc>
              </a:tr>
              <a:tr h="857250">
                <a:tc>
                  <a:txBody>
                    <a:bodyPr/>
                    <a:lstStyle/>
                    <a:p>
                      <a:r>
                        <a:rPr sz="1875" b="0">
                          <a:solidFill>
                            <a:srgbClr val="1F3864"/>
                          </a:solidFill>
                          <a:latin typeface="Calibri"/>
                          <a:ea typeface="Calibri"/>
                          <a:cs typeface="Calibri"/>
                        </a:rPr>
                        <a:t>2 TB</a:t>
                      </a:r>
                    </a:p>
                  </a:txBody>
                  <a:tcPr marL="91440" marR="91440" marT="45720" marB="45720">
                    <a:solidFill>
                      <a:srgbClr val="F1F3FA"/>
                    </a:solidFill>
                  </a:tcPr>
                </a:tc>
                <a:tc>
                  <a:txBody>
                    <a:bodyPr/>
                    <a:lstStyle/>
                    <a:p>
                      <a:r>
                        <a:rPr sz="1875" b="0">
                          <a:solidFill>
                            <a:srgbClr val="1F3864"/>
                          </a:solidFill>
                          <a:latin typeface="Calibri"/>
                          <a:ea typeface="Calibri"/>
                          <a:cs typeface="Calibri"/>
                        </a:rPr>
                        <a:t>6 TB</a:t>
                      </a:r>
                    </a:p>
                  </a:txBody>
                  <a:tcPr marL="91440" marR="91440" marT="45720" marB="45720">
                    <a:solidFill>
                      <a:srgbClr val="F1F3FA"/>
                    </a:solidFill>
                  </a:tcPr>
                </a:tc>
                <a:tc>
                  <a:txBody>
                    <a:bodyPr/>
                    <a:lstStyle/>
                    <a:p>
                      <a:r>
                        <a:rPr sz="1875" b="0">
                          <a:solidFill>
                            <a:srgbClr val="1F3864"/>
                          </a:solidFill>
                          <a:latin typeface="Calibri"/>
                          <a:ea typeface="Calibri"/>
                          <a:cs typeface="Calibri"/>
                        </a:rPr>
                        <a:t>6 TB</a:t>
                      </a:r>
                    </a:p>
                  </a:txBody>
                  <a:tcPr marL="91440" marR="91440" marT="45720" marB="45720">
                    <a:solidFill>
                      <a:srgbClr val="F1F3FA"/>
                    </a:solidFill>
                  </a:tcPr>
                </a:tc>
                <a:tc>
                  <a:txBody>
                    <a:bodyPr/>
                    <a:lstStyle/>
                    <a:p>
                      <a:r>
                        <a:rPr sz="1875" b="0">
                          <a:solidFill>
                            <a:srgbClr val="1F3864"/>
                          </a:solidFill>
                          <a:latin typeface="Calibri"/>
                          <a:ea typeface="Calibri"/>
                          <a:cs typeface="Calibri"/>
                        </a:rPr>
                        <a:t>No cabe localmente</a:t>
                      </a:r>
                    </a:p>
                  </a:txBody>
                  <a:tcPr marL="91440" marR="91440" marT="45720" marB="45720">
                    <a:solidFill>
                      <a:srgbClr val="F1F3FA"/>
                    </a:solidFill>
                  </a:tcPr>
                </a:tc>
              </a:tr>
            </a:tbl>
          </a:graphicData>
        </a:graphic>
      </p:graphicFrame>
      <p:sp>
        <p:nvSpPr>
          <p:cNvPr id="2" name="">
            <a:extLst xmlns:a="http://schemas.openxmlformats.org/drawingml/2006/main">
              <a:ext uri="{FF2B5EF4-FFF2-40B4-BE49-F238E27FC236}">
                <a16:creationId xmlns:a16="http://schemas.microsoft.com/office/drawing/2014/main" id="{703DE218-81BD-46E8-8F81-EBEB1DF306C3}"/>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Solución: capacidad de memoria y disco</a:t>
            </a:r>
          </a:p>
        </p:txBody>
      </p:sp>
      <p:sp>
        <p:nvSpPr>
          <p:cNvPr id="6" name="">
            <a:extLst xmlns:a="http://schemas.openxmlformats.org/drawingml/2006/main">
              <a:ext uri="{FF2B5EF4-FFF2-40B4-BE49-F238E27FC236}">
                <a16:creationId xmlns:a16="http://schemas.microsoft.com/office/drawing/2014/main" id="{1DB87377-82B1-4093-8B4A-2474F7550684}"/>
              </a:ext>
            </a:extLst>
          </p:cNvPr>
          <p:cNvSpPr>
            <a:spLocks xmlns:a="http://schemas.openxmlformats.org/drawingml/2006/main" noGrp="1"/>
          </p:cNvSpPr>
          <p:nvPr/>
        </p:nvSpPr>
        <p:spPr>
          <a:xfrm xmlns:a="http://schemas.openxmlformats.org/drawingml/2006/main">
            <a:off x="609600" y="58102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3864"/>
                </a:solidFill>
                <a:latin typeface="Calibri"/>
                <a:ea typeface="Calibri"/>
                <a:cs typeface="Calibri"/>
              </a:defRPr>
            </a:pPr>
            <a:r>
              <a:rPr sz="1575" b="0">
                <a:solidFill>
                  <a:srgbClr val="1F3864"/>
                </a:solidFill>
                <a:latin typeface="Calibri"/>
                <a:ea typeface="Calibri"/>
                <a:cs typeface="Calibri"/>
              </a:rPr>
              <a:t>Superar la RAM permite estudiar bloques o procesamiento con temporales en disco.</a:t>
            </a:r>
          </a:p>
        </p:txBody>
      </p:sp>
      <p:sp>
        <p:nvSpPr>
          <p:cNvPr id="21" name="">
            <a:extLst xmlns:a="http://schemas.openxmlformats.org/drawingml/2006/main">
              <a:ext uri="{FF2B5EF4-FFF2-40B4-BE49-F238E27FC236}">
                <a16:creationId xmlns:a16="http://schemas.microsoft.com/office/drawing/2014/main" id="{21AB25A9-C2AC-4006-899D-B21770D27D4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60498D5C-6A94-4081-A0C9-8B2BE758454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3" name="">
            <a:extLst xmlns:a="http://schemas.openxmlformats.org/drawingml/2006/main">
              <a:ext uri="{FF2B5EF4-FFF2-40B4-BE49-F238E27FC236}">
                <a16:creationId xmlns:a16="http://schemas.microsoft.com/office/drawing/2014/main" id="{9F327C2E-2507-465B-876B-E78EC3CE094C}"/>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4" name="">
            <a:extLst xmlns:a="http://schemas.openxmlformats.org/drawingml/2006/main">
              <a:ext uri="{FF2B5EF4-FFF2-40B4-BE49-F238E27FC236}">
                <a16:creationId xmlns:a16="http://schemas.microsoft.com/office/drawing/2014/main" id="{6AA7C06F-479E-4886-8EDC-CAB85487B12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22</a:t>
            </a:r>
          </a:p>
        </p:txBody>
      </p:sp>
    </p:spTree>
    <p:extLst>
      <p:ext uri="{BB962C8B-B14F-4D97-AF65-F5344CB8AC3E}">
        <p14:creationId xmlns:p14="http://schemas.microsoft.com/office/powerpoint/2010/main" val="1819476242"/>
      </p:ext>
    </p:extLst>
  </p:cSld>
  <p:transition spd="med" advClick="1">
    <p:fade/>
  </p:transition>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faaa0f1fd4d4b2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28" name=""/>
          <p:cNvGraphicFramePr/>
          <p:nvPr/>
        </p:nvGraphicFramePr>
        <p:xfrm>
          <a:off xmlns:a="http://schemas.openxmlformats.org/drawingml/2006/main" x="609600" y="1676400"/>
          <a:ext xmlns:a="http://schemas.openxmlformats.org/drawingml/2006/main" cx="10972800" cy="3524250"/>
        </p:xfrm>
        <a:graphic xmlns:a="http://schemas.openxmlformats.org/drawingml/2006/main">
          <a:graphicData uri="http://schemas.openxmlformats.org/drawingml/2006/table">
            <a:tbl>
              <a:tblPr/>
              <a:tblGrid>
                <a:gridCol w="3905250"/>
                <a:gridCol w="2238375"/>
                <a:gridCol w="2238375"/>
                <a:gridCol w="2590800"/>
              </a:tblGrid>
              <a:tr h="881063">
                <a:tc>
                  <a:txBody>
                    <a:bodyPr/>
                    <a:lstStyle/>
                    <a:p>
                      <a:r>
                        <a:rPr sz="1800" b="1">
                          <a:solidFill>
                            <a:srgbClr val="FFFFFF"/>
                          </a:solidFill>
                          <a:latin typeface="Calibri"/>
                          <a:ea typeface="Calibri"/>
                          <a:cs typeface="Calibri"/>
                        </a:rPr>
                        <a:t>Operación aislada</a:t>
                      </a:r>
                    </a:p>
                  </a:txBody>
                  <a:tcPr marL="91440" marR="91440" marT="45720" marB="45720">
                    <a:solidFill>
                      <a:srgbClr val="4239C8"/>
                    </a:solidFill>
                  </a:tcPr>
                </a:tc>
                <a:tc>
                  <a:txBody>
                    <a:bodyPr/>
                    <a:lstStyle/>
                    <a:p>
                      <a:r>
                        <a:rPr sz="1800" b="1">
                          <a:solidFill>
                            <a:srgbClr val="FFFFFF"/>
                          </a:solidFill>
                          <a:latin typeface="Calibri"/>
                          <a:ea typeface="Calibri"/>
                          <a:cs typeface="Calibri"/>
                        </a:rPr>
                        <a:t>2 GB</a:t>
                      </a:r>
                    </a:p>
                  </a:txBody>
                  <a:tcPr marL="91440" marR="91440" marT="45720" marB="45720">
                    <a:solidFill>
                      <a:srgbClr val="4239C8"/>
                    </a:solidFill>
                  </a:tcPr>
                </a:tc>
                <a:tc>
                  <a:txBody>
                    <a:bodyPr/>
                    <a:lstStyle/>
                    <a:p>
                      <a:r>
                        <a:rPr sz="1800" b="1">
                          <a:solidFill>
                            <a:srgbClr val="FFFFFF"/>
                          </a:solidFill>
                          <a:latin typeface="Calibri"/>
                          <a:ea typeface="Calibri"/>
                          <a:cs typeface="Calibri"/>
                        </a:rPr>
                        <a:t>20 GB</a:t>
                      </a:r>
                    </a:p>
                  </a:txBody>
                  <a:tcPr marL="91440" marR="91440" marT="45720" marB="45720">
                    <a:solidFill>
                      <a:srgbClr val="4239C8"/>
                    </a:solidFill>
                  </a:tcPr>
                </a:tc>
                <a:tc>
                  <a:txBody>
                    <a:bodyPr/>
                    <a:lstStyle/>
                    <a:p>
                      <a:r>
                        <a:rPr sz="1800" b="1">
                          <a:solidFill>
                            <a:srgbClr val="FFFFFF"/>
                          </a:solidFill>
                          <a:latin typeface="Calibri"/>
                          <a:ea typeface="Calibri"/>
                          <a:cs typeface="Calibri"/>
                        </a:rPr>
                        <a:t>2 TB</a:t>
                      </a:r>
                    </a:p>
                  </a:txBody>
                  <a:tcPr marL="91440" marR="91440" marT="45720" marB="45720">
                    <a:solidFill>
                      <a:srgbClr val="4239C8"/>
                    </a:solidFill>
                  </a:tcPr>
                </a:tc>
              </a:tr>
              <a:tr h="881063">
                <a:tc>
                  <a:txBody>
                    <a:bodyPr/>
                    <a:lstStyle/>
                    <a:p>
                      <a:r>
                        <a:rPr sz="1800" b="0">
                          <a:solidFill>
                            <a:srgbClr val="1F3864"/>
                          </a:solidFill>
                          <a:latin typeface="Calibri"/>
                          <a:ea typeface="Calibri"/>
                          <a:cs typeface="Calibri"/>
                        </a:rPr>
                        <a:t>Descarga a 12,5 MB/s</a:t>
                      </a:r>
                    </a:p>
                  </a:txBody>
                  <a:tcPr marL="91440" marR="91440" marT="45720" marB="45720">
                    <a:solidFill>
                      <a:srgbClr val="F1F3FA"/>
                    </a:solidFill>
                  </a:tcPr>
                </a:tc>
                <a:tc>
                  <a:txBody>
                    <a:bodyPr/>
                    <a:lstStyle/>
                    <a:p>
                      <a:r>
                        <a:rPr sz="1800" b="0">
                          <a:solidFill>
                            <a:srgbClr val="1F3864"/>
                          </a:solidFill>
                          <a:latin typeface="Calibri"/>
                          <a:ea typeface="Calibri"/>
                          <a:cs typeface="Calibri"/>
                        </a:rPr>
                        <a:t>2 min 40 s</a:t>
                      </a:r>
                    </a:p>
                  </a:txBody>
                  <a:tcPr marL="91440" marR="91440" marT="45720" marB="45720">
                    <a:solidFill>
                      <a:srgbClr val="F1F3FA"/>
                    </a:solidFill>
                  </a:tcPr>
                </a:tc>
                <a:tc>
                  <a:txBody>
                    <a:bodyPr/>
                    <a:lstStyle/>
                    <a:p>
                      <a:r>
                        <a:rPr sz="1800" b="0">
                          <a:solidFill>
                            <a:srgbClr val="1F3864"/>
                          </a:solidFill>
                          <a:latin typeface="Calibri"/>
                          <a:ea typeface="Calibri"/>
                          <a:cs typeface="Calibri"/>
                        </a:rPr>
                        <a:t>26 min 40 s</a:t>
                      </a:r>
                    </a:p>
                  </a:txBody>
                  <a:tcPr marL="91440" marR="91440" marT="45720" marB="45720">
                    <a:solidFill>
                      <a:srgbClr val="F1F3FA"/>
                    </a:solidFill>
                  </a:tcPr>
                </a:tc>
                <a:tc>
                  <a:txBody>
                    <a:bodyPr/>
                    <a:lstStyle/>
                    <a:p>
                      <a:r>
                        <a:rPr sz="1800" b="0">
                          <a:solidFill>
                            <a:srgbClr val="1F3864"/>
                          </a:solidFill>
                          <a:latin typeface="Calibri"/>
                          <a:ea typeface="Calibri"/>
                          <a:cs typeface="Calibri"/>
                        </a:rPr>
                        <a:t>44 h 26 min 40 s</a:t>
                      </a:r>
                    </a:p>
                  </a:txBody>
                  <a:tcPr marL="91440" marR="91440" marT="45720" marB="45720">
                    <a:solidFill>
                      <a:srgbClr val="F1F3FA"/>
                    </a:solidFill>
                  </a:tcPr>
                </a:tc>
              </a:tr>
              <a:tr h="881063">
                <a:tc>
                  <a:txBody>
                    <a:bodyPr/>
                    <a:lstStyle/>
                    <a:p>
                      <a:r>
                        <a:rPr sz="1800" b="0">
                          <a:solidFill>
                            <a:srgbClr val="1F3864"/>
                          </a:solidFill>
                          <a:latin typeface="Calibri"/>
                          <a:ea typeface="Calibri"/>
                          <a:cs typeface="Calibri"/>
                        </a:rPr>
                        <a:t>Lectura a 500 MB/s</a:t>
                      </a:r>
                    </a:p>
                  </a:txBody>
                  <a:tcPr marL="91440" marR="91440" marT="45720" marB="45720">
                    <a:solidFill>
                      <a:srgbClr val="FFFFFF"/>
                    </a:solidFill>
                  </a:tcPr>
                </a:tc>
                <a:tc>
                  <a:txBody>
                    <a:bodyPr/>
                    <a:lstStyle/>
                    <a:p>
                      <a:r>
                        <a:rPr sz="1800" b="0">
                          <a:solidFill>
                            <a:srgbClr val="1F3864"/>
                          </a:solidFill>
                          <a:latin typeface="Calibri"/>
                          <a:ea typeface="Calibri"/>
                          <a:cs typeface="Calibri"/>
                        </a:rPr>
                        <a:t>4 s</a:t>
                      </a:r>
                    </a:p>
                  </a:txBody>
                  <a:tcPr marL="91440" marR="91440" marT="45720" marB="45720">
                    <a:solidFill>
                      <a:srgbClr val="FFFFFF"/>
                    </a:solidFill>
                  </a:tcPr>
                </a:tc>
                <a:tc>
                  <a:txBody>
                    <a:bodyPr/>
                    <a:lstStyle/>
                    <a:p>
                      <a:r>
                        <a:rPr sz="1800" b="0">
                          <a:solidFill>
                            <a:srgbClr val="1F3864"/>
                          </a:solidFill>
                          <a:latin typeface="Calibri"/>
                          <a:ea typeface="Calibri"/>
                          <a:cs typeface="Calibri"/>
                        </a:rPr>
                        <a:t>40 s</a:t>
                      </a:r>
                    </a:p>
                  </a:txBody>
                  <a:tcPr marL="91440" marR="91440" marT="45720" marB="45720">
                    <a:solidFill>
                      <a:srgbClr val="FFFFFF"/>
                    </a:solidFill>
                  </a:tcPr>
                </a:tc>
                <a:tc>
                  <a:txBody>
                    <a:bodyPr/>
                    <a:lstStyle/>
                    <a:p>
                      <a:r>
                        <a:rPr sz="1800" b="0">
                          <a:solidFill>
                            <a:srgbClr val="1F3864"/>
                          </a:solidFill>
                          <a:latin typeface="Calibri"/>
                          <a:ea typeface="Calibri"/>
                          <a:cs typeface="Calibri"/>
                        </a:rPr>
                        <a:t>1 h 6 min 40 s</a:t>
                      </a:r>
                    </a:p>
                  </a:txBody>
                  <a:tcPr marL="91440" marR="91440" marT="45720" marB="45720">
                    <a:solidFill>
                      <a:srgbClr val="FFFFFF"/>
                    </a:solidFill>
                  </a:tcPr>
                </a:tc>
              </a:tr>
              <a:tr h="881063">
                <a:tc>
                  <a:txBody>
                    <a:bodyPr/>
                    <a:lstStyle/>
                    <a:p>
                      <a:r>
                        <a:rPr sz="1800" b="0">
                          <a:solidFill>
                            <a:srgbClr val="1F3864"/>
                          </a:solidFill>
                          <a:latin typeface="Calibri"/>
                          <a:ea typeface="Calibri"/>
                          <a:cs typeface="Calibri"/>
                        </a:rPr>
                        <a:t>Proceso a 100 MB/s</a:t>
                      </a:r>
                    </a:p>
                  </a:txBody>
                  <a:tcPr marL="91440" marR="91440" marT="45720" marB="45720">
                    <a:solidFill>
                      <a:srgbClr val="F1F3FA"/>
                    </a:solidFill>
                  </a:tcPr>
                </a:tc>
                <a:tc>
                  <a:txBody>
                    <a:bodyPr/>
                    <a:lstStyle/>
                    <a:p>
                      <a:r>
                        <a:rPr sz="1800" b="0">
                          <a:solidFill>
                            <a:srgbClr val="1F3864"/>
                          </a:solidFill>
                          <a:latin typeface="Calibri"/>
                          <a:ea typeface="Calibri"/>
                          <a:cs typeface="Calibri"/>
                        </a:rPr>
                        <a:t>20 s</a:t>
                      </a:r>
                    </a:p>
                  </a:txBody>
                  <a:tcPr marL="91440" marR="91440" marT="45720" marB="45720">
                    <a:solidFill>
                      <a:srgbClr val="F1F3FA"/>
                    </a:solidFill>
                  </a:tcPr>
                </a:tc>
                <a:tc>
                  <a:txBody>
                    <a:bodyPr/>
                    <a:lstStyle/>
                    <a:p>
                      <a:r>
                        <a:rPr sz="1800" b="0">
                          <a:solidFill>
                            <a:srgbClr val="1F3864"/>
                          </a:solidFill>
                          <a:latin typeface="Calibri"/>
                          <a:ea typeface="Calibri"/>
                          <a:cs typeface="Calibri"/>
                        </a:rPr>
                        <a:t>3 min 20 s</a:t>
                      </a:r>
                    </a:p>
                  </a:txBody>
                  <a:tcPr marL="91440" marR="91440" marT="45720" marB="45720">
                    <a:solidFill>
                      <a:srgbClr val="F1F3FA"/>
                    </a:solidFill>
                  </a:tcPr>
                </a:tc>
                <a:tc>
                  <a:txBody>
                    <a:bodyPr/>
                    <a:lstStyle/>
                    <a:p>
                      <a:r>
                        <a:rPr sz="1800" b="0">
                          <a:solidFill>
                            <a:srgbClr val="1F3864"/>
                          </a:solidFill>
                          <a:latin typeface="Calibri"/>
                          <a:ea typeface="Calibri"/>
                          <a:cs typeface="Calibri"/>
                        </a:rPr>
                        <a:t>5 h 33 min 20 s</a:t>
                      </a:r>
                    </a:p>
                  </a:txBody>
                  <a:tcPr marL="91440" marR="91440" marT="45720" marB="45720">
                    <a:solidFill>
                      <a:srgbClr val="F1F3FA"/>
                    </a:solidFill>
                  </a:tcPr>
                </a:tc>
              </a:tr>
            </a:tbl>
          </a:graphicData>
        </a:graphic>
      </p:graphicFrame>
      <p:sp>
        <p:nvSpPr>
          <p:cNvPr id="2" name="">
            <a:extLst xmlns:a="http://schemas.openxmlformats.org/drawingml/2006/main">
              <a:ext uri="{FF2B5EF4-FFF2-40B4-BE49-F238E27FC236}">
                <a16:creationId xmlns:a16="http://schemas.microsoft.com/office/drawing/2014/main" id="{9F04D1B3-522F-4E40-978E-D7EF0DC03D47}"/>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Solución: tiempos de referencia</a:t>
            </a:r>
          </a:p>
        </p:txBody>
      </p:sp>
      <p:sp>
        <p:nvSpPr>
          <p:cNvPr id="6" name="">
            <a:extLst xmlns:a="http://schemas.openxmlformats.org/drawingml/2006/main">
              <a:ext uri="{FF2B5EF4-FFF2-40B4-BE49-F238E27FC236}">
                <a16:creationId xmlns:a16="http://schemas.microsoft.com/office/drawing/2014/main" id="{202925E6-B225-473E-8CC9-D4B22ABF103C}"/>
              </a:ext>
            </a:extLst>
          </p:cNvPr>
          <p:cNvSpPr>
            <a:spLocks xmlns:a="http://schemas.openxmlformats.org/drawingml/2006/main" noGrp="1"/>
          </p:cNvSpPr>
          <p:nvPr/>
        </p:nvSpPr>
        <p:spPr>
          <a:xfrm xmlns:a="http://schemas.openxmlformats.org/drawingml/2006/main">
            <a:off x="609600" y="58102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3864"/>
                </a:solidFill>
                <a:latin typeface="Calibri"/>
                <a:ea typeface="Calibri"/>
                <a:cs typeface="Calibri"/>
              </a:defRPr>
            </a:pPr>
            <a:r>
              <a:rPr sz="1575" b="0">
                <a:solidFill>
                  <a:srgbClr val="1F3864"/>
                </a:solidFill>
                <a:latin typeface="Calibri"/>
                <a:ea typeface="Calibri"/>
                <a:cs typeface="Calibri"/>
              </a:rPr>
              <a:t>T = D / tasa. Etapas aisladas, sin escritura ni reintentos. 2 TB exige otro almacenamiento.</a:t>
            </a:r>
          </a:p>
        </p:txBody>
      </p:sp>
      <p:sp>
        <p:nvSpPr>
          <p:cNvPr id="21" name="">
            <a:extLst xmlns:a="http://schemas.openxmlformats.org/drawingml/2006/main">
              <a:ext uri="{FF2B5EF4-FFF2-40B4-BE49-F238E27FC236}">
                <a16:creationId xmlns:a16="http://schemas.microsoft.com/office/drawing/2014/main" id="{74E94111-39CB-4A50-94F0-97469F0398CB}"/>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691C19E0-EB07-4826-A339-5A4239C4340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3" name="">
            <a:extLst xmlns:a="http://schemas.openxmlformats.org/drawingml/2006/main">
              <a:ext uri="{FF2B5EF4-FFF2-40B4-BE49-F238E27FC236}">
                <a16:creationId xmlns:a16="http://schemas.microsoft.com/office/drawing/2014/main" id="{8EAF69A2-E7FE-4DE0-8AC0-9B06FF259AC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4" name="">
            <a:extLst xmlns:a="http://schemas.openxmlformats.org/drawingml/2006/main">
              <a:ext uri="{FF2B5EF4-FFF2-40B4-BE49-F238E27FC236}">
                <a16:creationId xmlns:a16="http://schemas.microsoft.com/office/drawing/2014/main" id="{24E2B8A8-0402-4A24-A6A5-64E7D8266E3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23</a:t>
            </a:r>
          </a:p>
        </p:txBody>
      </p:sp>
    </p:spTree>
    <p:extLst>
      <p:ext uri="{BB962C8B-B14F-4D97-AF65-F5344CB8AC3E}">
        <p14:creationId xmlns:p14="http://schemas.microsoft.com/office/powerpoint/2010/main" val="1314661572"/>
      </p:ext>
    </p:extLst>
  </p:cSld>
  <p:transition spd="med" advClick="1">
    <p:fade/>
  </p:transition>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11ce65c3c984b5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2A4DA9-0DE0-46E4-80B1-9F83984548DB}"/>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Qué puede resolver el portátil</a:t>
            </a:r>
          </a:p>
        </p:txBody>
      </p:sp>
      <p:sp>
        <p:nvSpPr>
          <p:cNvPr id="5" name="">
            <a:extLst xmlns:a="http://schemas.openxmlformats.org/drawingml/2006/main">
              <a:ext uri="{FF2B5EF4-FFF2-40B4-BE49-F238E27FC236}">
                <a16:creationId xmlns:a16="http://schemas.microsoft.com/office/drawing/2014/main" id="{E4038BF5-6D01-4850-B554-3BB7B585DED4}"/>
              </a:ext>
            </a:extLst>
          </p:cNvPr>
          <p:cNvSpPr>
            <a:spLocks xmlns:a="http://schemas.openxmlformats.org/drawingml/2006/main" noGrp="1"/>
          </p:cNvSpPr>
          <p:nvPr/>
        </p:nvSpPr>
        <p:spPr>
          <a:xfrm xmlns:a="http://schemas.openxmlformats.org/drawingml/2006/main">
            <a:off x="609600" y="1638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2 GB: procesamiento local completo</a:t>
            </a:r>
          </a:p>
        </p:txBody>
      </p:sp>
      <p:sp>
        <p:nvSpPr>
          <p:cNvPr id="6" name="">
            <a:extLst xmlns:a="http://schemas.openxmlformats.org/drawingml/2006/main">
              <a:ext uri="{FF2B5EF4-FFF2-40B4-BE49-F238E27FC236}">
                <a16:creationId xmlns:a16="http://schemas.microsoft.com/office/drawing/2014/main" id="{BEB8C855-33EE-4476-A4A7-EEE7961C4D3A}"/>
              </a:ext>
            </a:extLst>
          </p:cNvPr>
          <p:cNvSpPr>
            <a:spLocks xmlns:a="http://schemas.openxmlformats.org/drawingml/2006/main" noGrp="1"/>
          </p:cNvSpPr>
          <p:nvPr/>
        </p:nvSpPr>
        <p:spPr>
          <a:xfrm xmlns:a="http://schemas.openxmlformats.org/drawingml/2006/main">
            <a:off x="609600" y="20955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La tabla estimada ocupa 6 GB. Medir el pico de memoria y dejar espacio para resultados e intermediarios.</a:t>
            </a:r>
          </a:p>
        </p:txBody>
      </p:sp>
      <p:sp>
        <p:nvSpPr>
          <p:cNvPr id="7" name="">
            <a:extLst xmlns:a="http://schemas.openxmlformats.org/drawingml/2006/main">
              <a:ext uri="{FF2B5EF4-FFF2-40B4-BE49-F238E27FC236}">
                <a16:creationId xmlns:a16="http://schemas.microsoft.com/office/drawing/2014/main" id="{E9608C6D-7B65-4697-9529-A149CDF5A2A7}"/>
              </a:ext>
            </a:extLst>
          </p:cNvPr>
          <p:cNvSpPr>
            <a:spLocks xmlns:a="http://schemas.openxmlformats.org/drawingml/2006/main" noGrp="1"/>
          </p:cNvSpPr>
          <p:nvPr/>
        </p:nvSpPr>
        <p:spPr>
          <a:xfrm xmlns:a="http://schemas.openxmlformats.org/drawingml/2006/main">
            <a:off x="609600" y="3048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20 GB: lectura por bloques o motor local</a:t>
            </a:r>
          </a:p>
        </p:txBody>
      </p:sp>
      <p:sp>
        <p:nvSpPr>
          <p:cNvPr id="8" name="">
            <a:extLst xmlns:a="http://schemas.openxmlformats.org/drawingml/2006/main">
              <a:ext uri="{FF2B5EF4-FFF2-40B4-BE49-F238E27FC236}">
                <a16:creationId xmlns:a16="http://schemas.microsoft.com/office/drawing/2014/main" id="{710597BE-85B2-43F6-BA8B-B4197532C7E8}"/>
              </a:ext>
            </a:extLst>
          </p:cNvPr>
          <p:cNvSpPr>
            <a:spLocks xmlns:a="http://schemas.openxmlformats.org/drawingml/2006/main" noGrp="1"/>
          </p:cNvSpPr>
          <p:nvPr/>
        </p:nvSpPr>
        <p:spPr>
          <a:xfrm xmlns:a="http://schemas.openxmlformats.org/drawingml/2006/main">
            <a:off x="609600" y="3505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Filtrar columnas y mantener sumas y conteos parciales. DuckDB puede usar temporales en disco para ciertas operaciones.</a:t>
            </a:r>
          </a:p>
        </p:txBody>
      </p:sp>
      <p:sp>
        <p:nvSpPr>
          <p:cNvPr id="9" name="">
            <a:extLst xmlns:a="http://schemas.openxmlformats.org/drawingml/2006/main">
              <a:ext uri="{FF2B5EF4-FFF2-40B4-BE49-F238E27FC236}">
                <a16:creationId xmlns:a16="http://schemas.microsoft.com/office/drawing/2014/main" id="{F3F1B9AD-A6A8-49A1-9A60-5FA4C4CAB23F}"/>
              </a:ext>
            </a:extLst>
          </p:cNvPr>
          <p:cNvSpPr>
            <a:spLocks xmlns:a="http://schemas.openxmlformats.org/drawingml/2006/main" noGrp="1"/>
          </p:cNvSpPr>
          <p:nvPr/>
        </p:nvSpPr>
        <p:spPr>
          <a:xfrm xmlns:a="http://schemas.openxmlformats.org/drawingml/2006/main">
            <a:off x="609600" y="44577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2 TB: consulta remota o subconjunto</a:t>
            </a:r>
          </a:p>
        </p:txBody>
      </p:sp>
      <p:sp>
        <p:nvSpPr>
          <p:cNvPr id="10" name="">
            <a:extLst xmlns:a="http://schemas.openxmlformats.org/drawingml/2006/main">
              <a:ext uri="{FF2B5EF4-FFF2-40B4-BE49-F238E27FC236}">
                <a16:creationId xmlns:a16="http://schemas.microsoft.com/office/drawing/2014/main" id="{CC203A6E-7504-4959-A95E-65F701339863}"/>
              </a:ext>
            </a:extLst>
          </p:cNvPr>
          <p:cNvSpPr>
            <a:spLocks xmlns:a="http://schemas.openxmlformats.org/drawingml/2006/main" noGrp="1"/>
          </p:cNvSpPr>
          <p:nvPr/>
        </p:nvSpPr>
        <p:spPr>
          <a:xfrm xmlns:a="http://schemas.openxmlformats.org/drawingml/2006/main">
            <a:off x="609600" y="49149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El equipo puede enviar una consulta y recibir el resumen. Descargar y almacenar todo el CSV excede los 300 GB libres.</a:t>
            </a:r>
          </a:p>
        </p:txBody>
      </p:sp>
      <p:sp>
        <p:nvSpPr>
          <p:cNvPr id="11" name="">
            <a:extLst xmlns:a="http://schemas.openxmlformats.org/drawingml/2006/main">
              <a:ext uri="{FF2B5EF4-FFF2-40B4-BE49-F238E27FC236}">
                <a16:creationId xmlns:a16="http://schemas.microsoft.com/office/drawing/2014/main" id="{F1B23161-20D2-4F1B-A759-CFD33CB1F558}"/>
              </a:ext>
            </a:extLst>
          </p:cNvPr>
          <p:cNvSpPr>
            <a:spLocks xmlns:a="http://schemas.openxmlformats.org/drawingml/2006/main" noGrp="1"/>
          </p:cNvSpPr>
          <p:nvPr/>
        </p:nvSpPr>
        <p:spPr>
          <a:xfrm xmlns:a="http://schemas.openxmlformats.org/drawingml/2006/main">
            <a:off x="609600" y="59626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F3864"/>
                </a:solidFill>
                <a:latin typeface="Calibri"/>
                <a:ea typeface="Calibri"/>
                <a:cs typeface="Calibri"/>
              </a:defRPr>
            </a:pPr>
            <a:r>
              <a:rPr sz="1425" b="0">
                <a:solidFill>
                  <a:srgbClr val="1F3864"/>
                </a:solidFill>
                <a:latin typeface="Calibri"/>
                <a:ea typeface="Calibri"/>
                <a:cs typeface="Calibri"/>
              </a:rPr>
              <a:t>El tamaño del archivo por sí solo no determina la necesidad de un clúster</a:t>
            </a:r>
          </a:p>
        </p:txBody>
      </p:sp>
      <p:sp>
        <p:nvSpPr>
          <p:cNvPr id="22" name="">
            <a:extLst xmlns:a="http://schemas.openxmlformats.org/drawingml/2006/main">
              <a:ext uri="{FF2B5EF4-FFF2-40B4-BE49-F238E27FC236}">
                <a16:creationId xmlns:a16="http://schemas.microsoft.com/office/drawing/2014/main" id="{C3320861-CC8F-494F-B04D-DA1E8BAD732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D49A924A-AEAB-46A0-8C57-DC576D88CB5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4" name="">
            <a:extLst xmlns:a="http://schemas.openxmlformats.org/drawingml/2006/main">
              <a:ext uri="{FF2B5EF4-FFF2-40B4-BE49-F238E27FC236}">
                <a16:creationId xmlns:a16="http://schemas.microsoft.com/office/drawing/2014/main" id="{1F1A8C54-8802-46E3-837F-99C0B2E8EC61}"/>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5" name="">
            <a:extLst xmlns:a="http://schemas.openxmlformats.org/drawingml/2006/main">
              <a:ext uri="{FF2B5EF4-FFF2-40B4-BE49-F238E27FC236}">
                <a16:creationId xmlns:a16="http://schemas.microsoft.com/office/drawing/2014/main" id="{E2B65685-2FEE-4328-902A-D0BB1D109E3A}"/>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24</a:t>
            </a:r>
          </a:p>
        </p:txBody>
      </p:sp>
    </p:spTree>
    <p:extLst>
      <p:ext uri="{BB962C8B-B14F-4D97-AF65-F5344CB8AC3E}">
        <p14:creationId xmlns:p14="http://schemas.microsoft.com/office/powerpoint/2010/main" val="1611516803"/>
      </p:ext>
    </p:extLst>
  </p:cSld>
  <p:transition spd="med" advClick="1">
    <p:fade/>
  </p:transition>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156af8a39ea49b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640868ec9e24b0e"/>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4FC215-ACAE-4E7D-A731-729885EC6F46}"/>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Por qué cambia el algoritmo</a:t>
            </a:r>
          </a:p>
        </p:txBody>
      </p:sp>
      <p:sp>
        <p:nvSpPr>
          <p:cNvPr id="13" name="">
            <a:extLst xmlns:a="http://schemas.openxmlformats.org/drawingml/2006/main">
              <a:ext uri="{FF2B5EF4-FFF2-40B4-BE49-F238E27FC236}">
                <a16:creationId xmlns:a16="http://schemas.microsoft.com/office/drawing/2014/main" id="{E530E2F1-BA61-4872-996E-8DBD3550A38A}"/>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Por bloque y grupo</a:t>
            </a:r>
          </a:p>
        </p:txBody>
      </p:sp>
      <p:sp>
        <p:nvSpPr>
          <p:cNvPr id="14" name="">
            <a:extLst xmlns:a="http://schemas.openxmlformats.org/drawingml/2006/main">
              <a:ext uri="{FF2B5EF4-FFF2-40B4-BE49-F238E27FC236}">
                <a16:creationId xmlns:a16="http://schemas.microsoft.com/office/drawing/2014/main" id="{BCB89AD5-DB34-4C6A-B323-E9716904FDD9}"/>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Conservar suma y número de lecturas válidas.</a:t>
            </a:r>
          </a:p>
        </p:txBody>
      </p:sp>
      <p:sp>
        <p:nvSpPr>
          <p:cNvPr id="15" name="">
            <a:extLst xmlns:a="http://schemas.openxmlformats.org/drawingml/2006/main">
              <a:ext uri="{FF2B5EF4-FFF2-40B4-BE49-F238E27FC236}">
                <a16:creationId xmlns:a16="http://schemas.microsoft.com/office/drawing/2014/main" id="{B2FAD7B3-8E0F-415C-A360-3D62D9C84307}"/>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Al combinar</a:t>
            </a:r>
          </a:p>
        </p:txBody>
      </p:sp>
      <p:sp>
        <p:nvSpPr>
          <p:cNvPr id="16" name="">
            <a:extLst xmlns:a="http://schemas.openxmlformats.org/drawingml/2006/main">
              <a:ext uri="{FF2B5EF4-FFF2-40B4-BE49-F238E27FC236}">
                <a16:creationId xmlns:a16="http://schemas.microsoft.com/office/drawing/2014/main" id="{F7139059-D814-423F-8366-B3B384F0364B}"/>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Sumar las sumas y los conteos. Dividir solo al final.</a:t>
            </a:r>
          </a:p>
        </p:txBody>
      </p:sp>
      <p:sp>
        <p:nvSpPr>
          <p:cNvPr id="17" name="">
            <a:extLst xmlns:a="http://schemas.openxmlformats.org/drawingml/2006/main">
              <a:ext uri="{FF2B5EF4-FFF2-40B4-BE49-F238E27FC236}">
                <a16:creationId xmlns:a16="http://schemas.microsoft.com/office/drawing/2014/main" id="{E8B3ED84-B154-4AE4-8745-0F4EF4DF45E2}"/>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Estado intermedio</a:t>
            </a:r>
          </a:p>
        </p:txBody>
      </p:sp>
      <p:sp>
        <p:nvSpPr>
          <p:cNvPr id="18" name="">
            <a:extLst xmlns:a="http://schemas.openxmlformats.org/drawingml/2006/main">
              <a:ext uri="{FF2B5EF4-FFF2-40B4-BE49-F238E27FC236}">
                <a16:creationId xmlns:a16="http://schemas.microsoft.com/office/drawing/2014/main" id="{87BE5A44-0F3E-489F-AA68-31B2DDC9671C}"/>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Joins y ordenamientos pueden necesitar temporales en disco.</a:t>
            </a:r>
          </a:p>
        </p:txBody>
      </p:sp>
      <p:sp>
        <p:nvSpPr>
          <p:cNvPr id="19" name="">
            <a:extLst xmlns:a="http://schemas.openxmlformats.org/drawingml/2006/main">
              <a:ext uri="{FF2B5EF4-FFF2-40B4-BE49-F238E27FC236}">
                <a16:creationId xmlns:a16="http://schemas.microsoft.com/office/drawing/2014/main" id="{5EB570E5-4EC7-46EB-9FFB-5CC02D5C2835}"/>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Media final = suma total / conteo total. No promediar medias sin ponderar</a:t>
            </a:r>
          </a:p>
        </p:txBody>
      </p:sp>
      <p:sp>
        <p:nvSpPr>
          <p:cNvPr id="34" name="">
            <a:extLst xmlns:a="http://schemas.openxmlformats.org/drawingml/2006/main">
              <a:ext uri="{FF2B5EF4-FFF2-40B4-BE49-F238E27FC236}">
                <a16:creationId xmlns:a16="http://schemas.microsoft.com/office/drawing/2014/main" id="{3821965A-D6BB-448D-B43D-EFB077B8678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89EDB1D2-0109-494B-ADB0-785E2E68443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D6D7F30A-B8F9-4701-8F5E-B432A851142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7" name="">
            <a:extLst xmlns:a="http://schemas.openxmlformats.org/drawingml/2006/main">
              <a:ext uri="{FF2B5EF4-FFF2-40B4-BE49-F238E27FC236}">
                <a16:creationId xmlns:a16="http://schemas.microsoft.com/office/drawing/2014/main" id="{CBFBD185-FB4B-43BA-ADCA-BEEC8E42144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25</a:t>
            </a:r>
          </a:p>
        </p:txBody>
      </p:sp>
    </p:spTree>
    <p:extLst>
      <p:ext uri="{BB962C8B-B14F-4D97-AF65-F5344CB8AC3E}">
        <p14:creationId xmlns:p14="http://schemas.microsoft.com/office/powerpoint/2010/main" val="123289449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3"/>
                                        </p:tgtEl>
                                        <p:attrNameLst>
                                          <p:attrName>style.visibility</p:attrName>
                                        </p:attrNameLst>
                                      </p:cBhvr>
                                      <p:to>
                                        <p:strVal val="visible"/>
                                      </p:to>
                                    </p:set>
                                    <p:animEffect transition="in" filter="fade">
                                      <p:cBhvr>
                                        <p:cTn id="7" dur="300"/>
                                        <p:tgtEl>
                                          <p:spTgt spid="13"/>
                                        </p:tgtEl>
                                      </p:cBhvr>
                                    </p:animEffect>
                                  </p:childTnLst>
                                </p:cTn>
                              </p:par>
                              <p:par>
                                <p:cTn id="8" presetID="10" presetClass="entr" presetSubtype="0" fill="hold" nodeType="clickEffect">
                                  <p:stCondLst>
                                    <p:cond delay="0"/>
                                  </p:stCondLst>
                                  <p:childTnLst>
                                    <p:set>
                                      <p:cBhvr>
                                        <p:cTn id="9" dur="1" fill="hold"/>
                                        <p:tgtEl>
                                          <p:spTgt spid="14"/>
                                        </p:tgtEl>
                                        <p:attrNameLst>
                                          <p:attrName>style.visibility</p:attrName>
                                        </p:attrNameLst>
                                      </p:cBhvr>
                                      <p:to>
                                        <p:strVal val="visible"/>
                                      </p:to>
                                    </p:set>
                                    <p:animEffect transition="in" filter="fade">
                                      <p:cBhvr>
                                        <p:cTn id="10" dur="3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5"/>
                                        </p:tgtEl>
                                        <p:attrNameLst>
                                          <p:attrName>style.visibility</p:attrName>
                                        </p:attrNameLst>
                                      </p:cBhvr>
                                      <p:to>
                                        <p:strVal val="visible"/>
                                      </p:to>
                                    </p:set>
                                    <p:animEffect transition="in" filter="fade">
                                      <p:cBhvr>
                                        <p:cTn id="15" dur="300"/>
                                        <p:tgtEl>
                                          <p:spTgt spid="15"/>
                                        </p:tgtEl>
                                      </p:cBhvr>
                                    </p:animEffect>
                                  </p:childTnLst>
                                </p:cTn>
                              </p:par>
                              <p:par>
                                <p:cTn id="16" presetID="10" presetClass="entr" presetSubtype="0" fill="hold" nodeType="clickEffect">
                                  <p:stCondLst>
                                    <p:cond delay="0"/>
                                  </p:stCondLst>
                                  <p:childTnLst>
                                    <p:set>
                                      <p:cBhvr>
                                        <p:cTn id="17" dur="1" fill="hold"/>
                                        <p:tgtEl>
                                          <p:spTgt spid="16"/>
                                        </p:tgtEl>
                                        <p:attrNameLst>
                                          <p:attrName>style.visibility</p:attrName>
                                        </p:attrNameLst>
                                      </p:cBhvr>
                                      <p:to>
                                        <p:strVal val="visible"/>
                                      </p:to>
                                    </p:set>
                                    <p:animEffect transition="in" filter="fade">
                                      <p:cBhvr>
                                        <p:cTn id="18" dur="3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7"/>
                                        </p:tgtEl>
                                        <p:attrNameLst>
                                          <p:attrName>style.visibility</p:attrName>
                                        </p:attrNameLst>
                                      </p:cBhvr>
                                      <p:to>
                                        <p:strVal val="visible"/>
                                      </p:to>
                                    </p:set>
                                    <p:animEffect transition="in" filter="fade">
                                      <p:cBhvr>
                                        <p:cTn id="23" dur="300"/>
                                        <p:tgtEl>
                                          <p:spTgt spid="17"/>
                                        </p:tgtEl>
                                      </p:cBhvr>
                                    </p:animEffect>
                                  </p:childTnLst>
                                </p:cTn>
                              </p:par>
                              <p:par>
                                <p:cTn id="24" presetID="10" presetClass="entr" presetSubtype="0" fill="hold" nodeType="clickEffect">
                                  <p:stCondLst>
                                    <p:cond delay="0"/>
                                  </p:stCondLst>
                                  <p:childTnLst>
                                    <p:set>
                                      <p:cBhvr>
                                        <p:cTn id="25" dur="1" fill="hold"/>
                                        <p:tgtEl>
                                          <p:spTgt spid="18"/>
                                        </p:tgtEl>
                                        <p:attrNameLst>
                                          <p:attrName>style.visibility</p:attrName>
                                        </p:attrNameLst>
                                      </p:cBhvr>
                                      <p:to>
                                        <p:strVal val="visible"/>
                                      </p:to>
                                    </p:set>
                                    <p:animEffect transition="in" filter="fade">
                                      <p:cBhvr>
                                        <p:cTn id="26"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88a255616004e1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28" name=""/>
          <p:cNvGraphicFramePr/>
          <p:nvPr/>
        </p:nvGraphicFramePr>
        <p:xfrm>
          <a:off xmlns:a="http://schemas.openxmlformats.org/drawingml/2006/main" x="609600" y="1676400"/>
          <a:ext xmlns:a="http://schemas.openxmlformats.org/drawingml/2006/main" cx="10972800" cy="4000500"/>
        </p:xfrm>
        <a:graphic xmlns:a="http://schemas.openxmlformats.org/drawingml/2006/main">
          <a:graphicData uri="http://schemas.openxmlformats.org/drawingml/2006/table">
            <a:tbl>
              <a:tblPr/>
              <a:tblGrid>
                <a:gridCol w="4667250"/>
                <a:gridCol w="6305550"/>
              </a:tblGrid>
              <a:tr h="666750">
                <a:tc>
                  <a:txBody>
                    <a:bodyPr/>
                    <a:lstStyle/>
                    <a:p>
                      <a:r>
                        <a:rPr sz="1800" b="1">
                          <a:solidFill>
                            <a:srgbClr val="FFFFFF"/>
                          </a:solidFill>
                          <a:latin typeface="Calibri"/>
                          <a:ea typeface="Calibri"/>
                          <a:cs typeface="Calibri"/>
                        </a:rPr>
                        <a:t>Supuesto / resultado</a:t>
                      </a:r>
                    </a:p>
                  </a:txBody>
                  <a:tcPr marL="91440" marR="91440" marT="45720" marB="45720">
                    <a:solidFill>
                      <a:srgbClr val="4239C8"/>
                    </a:solidFill>
                  </a:tcPr>
                </a:tc>
                <a:tc>
                  <a:txBody>
                    <a:bodyPr/>
                    <a:lstStyle/>
                    <a:p>
                      <a:r>
                        <a:rPr sz="1800" b="1">
                          <a:solidFill>
                            <a:srgbClr val="FFFFFF"/>
                          </a:solidFill>
                          <a:latin typeface="Calibri"/>
                          <a:ea typeface="Calibri"/>
                          <a:cs typeface="Calibri"/>
                        </a:rPr>
                        <a:t>Estimación</a:t>
                      </a:r>
                    </a:p>
                  </a:txBody>
                  <a:tcPr marL="91440" marR="91440" marT="45720" marB="45720">
                    <a:solidFill>
                      <a:srgbClr val="4239C8"/>
                    </a:solidFill>
                  </a:tcPr>
                </a:tc>
              </a:tr>
              <a:tr h="666750">
                <a:tc>
                  <a:txBody>
                    <a:bodyPr/>
                    <a:lstStyle/>
                    <a:p>
                      <a:r>
                        <a:rPr sz="1800" b="0">
                          <a:solidFill>
                            <a:srgbClr val="1F3864"/>
                          </a:solidFill>
                          <a:latin typeface="Calibri"/>
                          <a:ea typeface="Calibri"/>
                          <a:cs typeface="Calibri"/>
                        </a:rPr>
                        <a:t>Servidor</a:t>
                      </a:r>
                    </a:p>
                  </a:txBody>
                  <a:tcPr marL="91440" marR="91440" marT="45720" marB="45720">
                    <a:solidFill>
                      <a:srgbClr val="F1F3FA"/>
                    </a:solidFill>
                  </a:tcPr>
                </a:tc>
                <a:tc>
                  <a:txBody>
                    <a:bodyPr/>
                    <a:lstStyle/>
                    <a:p>
                      <a:r>
                        <a:rPr sz="1800" b="0">
                          <a:solidFill>
                            <a:srgbClr val="1F3864"/>
                          </a:solidFill>
                          <a:latin typeface="Calibri"/>
                          <a:ea typeface="Calibri"/>
                          <a:cs typeface="Calibri"/>
                        </a:rPr>
                        <a:t>64 GB RAM, 48 GB utilizables, 8 TB libres</a:t>
                      </a:r>
                    </a:p>
                  </a:txBody>
                  <a:tcPr marL="91440" marR="91440" marT="45720" marB="45720">
                    <a:solidFill>
                      <a:srgbClr val="F1F3FA"/>
                    </a:solidFill>
                  </a:tcPr>
                </a:tc>
              </a:tr>
              <a:tr h="666750">
                <a:tc>
                  <a:txBody>
                    <a:bodyPr/>
                    <a:lstStyle/>
                    <a:p>
                      <a:r>
                        <a:rPr sz="1800" b="0">
                          <a:solidFill>
                            <a:srgbClr val="1F3864"/>
                          </a:solidFill>
                          <a:latin typeface="Calibri"/>
                          <a:ea typeface="Calibri"/>
                          <a:cs typeface="Calibri"/>
                        </a:rPr>
                        <a:t>Red / lectura / procesamiento</a:t>
                      </a:r>
                    </a:p>
                  </a:txBody>
                  <a:tcPr marL="91440" marR="91440" marT="45720" marB="45720">
                    <a:solidFill>
                      <a:srgbClr val="FFFFFF"/>
                    </a:solidFill>
                  </a:tcPr>
                </a:tc>
                <a:tc>
                  <a:txBody>
                    <a:bodyPr/>
                    <a:lstStyle/>
                    <a:p>
                      <a:r>
                        <a:rPr sz="1800" b="0">
                          <a:solidFill>
                            <a:srgbClr val="1F3864"/>
                          </a:solidFill>
                          <a:latin typeface="Calibri"/>
                          <a:ea typeface="Calibri"/>
                          <a:cs typeface="Calibri"/>
                        </a:rPr>
                        <a:t>125 / 1.000 / 400 MB/s efectivos</a:t>
                      </a:r>
                    </a:p>
                  </a:txBody>
                  <a:tcPr marL="91440" marR="91440" marT="45720" marB="45720">
                    <a:solidFill>
                      <a:srgbClr val="FFFFFF"/>
                    </a:solidFill>
                  </a:tcPr>
                </a:tc>
              </a:tr>
              <a:tr h="666750">
                <a:tc>
                  <a:txBody>
                    <a:bodyPr/>
                    <a:lstStyle/>
                    <a:p>
                      <a:r>
                        <a:rPr sz="1800" b="0">
                          <a:solidFill>
                            <a:srgbClr val="1F3864"/>
                          </a:solidFill>
                          <a:latin typeface="Calibri"/>
                          <a:ea typeface="Calibri"/>
                          <a:cs typeface="Calibri"/>
                        </a:rPr>
                        <a:t>Descarga de 2 TB</a:t>
                      </a:r>
                    </a:p>
                  </a:txBody>
                  <a:tcPr marL="91440" marR="91440" marT="45720" marB="45720">
                    <a:solidFill>
                      <a:srgbClr val="F1F3FA"/>
                    </a:solidFill>
                  </a:tcPr>
                </a:tc>
                <a:tc>
                  <a:txBody>
                    <a:bodyPr/>
                    <a:lstStyle/>
                    <a:p>
                      <a:r>
                        <a:rPr sz="1800" b="0">
                          <a:solidFill>
                            <a:srgbClr val="1F3864"/>
                          </a:solidFill>
                          <a:latin typeface="Calibri"/>
                          <a:ea typeface="Calibri"/>
                          <a:cs typeface="Calibri"/>
                        </a:rPr>
                        <a:t>4 h 26 min 40 s</a:t>
                      </a:r>
                    </a:p>
                  </a:txBody>
                  <a:tcPr marL="91440" marR="91440" marT="45720" marB="45720">
                    <a:solidFill>
                      <a:srgbClr val="F1F3FA"/>
                    </a:solidFill>
                  </a:tcPr>
                </a:tc>
              </a:tr>
              <a:tr h="666750">
                <a:tc>
                  <a:txBody>
                    <a:bodyPr/>
                    <a:lstStyle/>
                    <a:p>
                      <a:r>
                        <a:rPr sz="1800" b="0">
                          <a:solidFill>
                            <a:srgbClr val="1F3864"/>
                          </a:solidFill>
                          <a:latin typeface="Calibri"/>
                          <a:ea typeface="Calibri"/>
                          <a:cs typeface="Calibri"/>
                        </a:rPr>
                        <a:t>Lectura local / procesamiento</a:t>
                      </a:r>
                    </a:p>
                  </a:txBody>
                  <a:tcPr marL="91440" marR="91440" marT="45720" marB="45720">
                    <a:solidFill>
                      <a:srgbClr val="FFFFFF"/>
                    </a:solidFill>
                  </a:tcPr>
                </a:tc>
                <a:tc>
                  <a:txBody>
                    <a:bodyPr/>
                    <a:lstStyle/>
                    <a:p>
                      <a:r>
                        <a:rPr sz="1800" b="0">
                          <a:solidFill>
                            <a:srgbClr val="1F3864"/>
                          </a:solidFill>
                          <a:latin typeface="Calibri"/>
                          <a:ea typeface="Calibri"/>
                          <a:cs typeface="Calibri"/>
                        </a:rPr>
                        <a:t>33 min 20 s / 1 h 23 min 20 s</a:t>
                      </a:r>
                    </a:p>
                  </a:txBody>
                  <a:tcPr marL="91440" marR="91440" marT="45720" marB="45720">
                    <a:solidFill>
                      <a:srgbClr val="FFFFFF"/>
                    </a:solidFill>
                  </a:tcPr>
                </a:tc>
              </a:tr>
              <a:tr h="666750">
                <a:tc>
                  <a:txBody>
                    <a:bodyPr/>
                    <a:lstStyle/>
                    <a:p>
                      <a:r>
                        <a:rPr sz="1800" b="0">
                          <a:solidFill>
                            <a:srgbClr val="1F3864"/>
                          </a:solidFill>
                          <a:latin typeface="Calibri"/>
                          <a:ea typeface="Calibri"/>
                          <a:cs typeface="Calibri"/>
                        </a:rPr>
                        <a:t>RAM y disco según el modelo</a:t>
                      </a:r>
                    </a:p>
                  </a:txBody>
                  <a:tcPr marL="91440" marR="91440" marT="45720" marB="45720">
                    <a:solidFill>
                      <a:srgbClr val="F1F3FA"/>
                    </a:solidFill>
                  </a:tcPr>
                </a:tc>
                <a:tc>
                  <a:txBody>
                    <a:bodyPr/>
                    <a:lstStyle/>
                    <a:p>
                      <a:r>
                        <a:rPr sz="1800" b="0">
                          <a:solidFill>
                            <a:srgbClr val="1F3864"/>
                          </a:solidFill>
                          <a:latin typeface="Calibri"/>
                          <a:ea typeface="Calibri"/>
                          <a:cs typeface="Calibri"/>
                        </a:rPr>
                        <a:t>6 TB no caben en RAM. 6 TB sí caben en disco.</a:t>
                      </a:r>
                    </a:p>
                  </a:txBody>
                  <a:tcPr marL="91440" marR="91440" marT="45720" marB="45720">
                    <a:solidFill>
                      <a:srgbClr val="F1F3FA"/>
                    </a:solidFill>
                  </a:tcPr>
                </a:tc>
              </a:tr>
            </a:tbl>
          </a:graphicData>
        </a:graphic>
      </p:graphicFrame>
      <p:sp>
        <p:nvSpPr>
          <p:cNvPr id="2" name="">
            <a:extLst xmlns:a="http://schemas.openxmlformats.org/drawingml/2006/main">
              <a:ext uri="{FF2B5EF4-FFF2-40B4-BE49-F238E27FC236}">
                <a16:creationId xmlns:a16="http://schemas.microsoft.com/office/drawing/2014/main" id="{3F88C7D6-2EA6-4F82-8C91-AD7C408BB5E8}"/>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2 TB en un servidor pequeño</a:t>
            </a:r>
          </a:p>
        </p:txBody>
      </p:sp>
      <p:sp>
        <p:nvSpPr>
          <p:cNvPr id="6" name="">
            <a:extLst xmlns:a="http://schemas.openxmlformats.org/drawingml/2006/main">
              <a:ext uri="{FF2B5EF4-FFF2-40B4-BE49-F238E27FC236}">
                <a16:creationId xmlns:a16="http://schemas.microsoft.com/office/drawing/2014/main" id="{0EAB3CA1-A632-49CB-88CB-516A2A4A4499}"/>
              </a:ext>
            </a:extLst>
          </p:cNvPr>
          <p:cNvSpPr>
            <a:spLocks xmlns:a="http://schemas.openxmlformats.org/drawingml/2006/main" noGrp="1"/>
          </p:cNvSpPr>
          <p:nvPr/>
        </p:nvSpPr>
        <p:spPr>
          <a:xfrm xmlns:a="http://schemas.openxmlformats.org/drawingml/2006/main">
            <a:off x="609600" y="58102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3864"/>
                </a:solidFill>
                <a:latin typeface="Calibri"/>
                <a:ea typeface="Calibri"/>
                <a:cs typeface="Calibri"/>
              </a:defRPr>
            </a:pPr>
            <a:r>
              <a:rPr sz="1575" b="0">
                <a:solidFill>
                  <a:srgbClr val="1F3864"/>
                </a:solidFill>
                <a:latin typeface="Calibri"/>
                <a:ea typeface="Calibri"/>
                <a:cs typeface="Calibri"/>
              </a:rPr>
              <a:t>Más disco y CPU pueden bastar para un proceso nocturno. Un plazo de 30 min cambia la decisión.</a:t>
            </a:r>
          </a:p>
        </p:txBody>
      </p:sp>
      <p:sp>
        <p:nvSpPr>
          <p:cNvPr id="21" name="">
            <a:extLst xmlns:a="http://schemas.openxmlformats.org/drawingml/2006/main">
              <a:ext uri="{FF2B5EF4-FFF2-40B4-BE49-F238E27FC236}">
                <a16:creationId xmlns:a16="http://schemas.microsoft.com/office/drawing/2014/main" id="{CF73CABE-1118-4C5E-BA0B-39127A81633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6D6453A9-9302-405D-894B-FA5320DF2CA6}"/>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3" name="">
            <a:extLst xmlns:a="http://schemas.openxmlformats.org/drawingml/2006/main">
              <a:ext uri="{FF2B5EF4-FFF2-40B4-BE49-F238E27FC236}">
                <a16:creationId xmlns:a16="http://schemas.microsoft.com/office/drawing/2014/main" id="{3ECA6156-84F9-439D-B36A-4FDC625DD71E}"/>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4" name="">
            <a:extLst xmlns:a="http://schemas.openxmlformats.org/drawingml/2006/main">
              <a:ext uri="{FF2B5EF4-FFF2-40B4-BE49-F238E27FC236}">
                <a16:creationId xmlns:a16="http://schemas.microsoft.com/office/drawing/2014/main" id="{CA9FC7E1-BDFD-4028-AF71-1504B9ED28DC}"/>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26</a:t>
            </a:r>
          </a:p>
        </p:txBody>
      </p:sp>
    </p:spTree>
    <p:extLst>
      <p:ext uri="{BB962C8B-B14F-4D97-AF65-F5344CB8AC3E}">
        <p14:creationId xmlns:p14="http://schemas.microsoft.com/office/powerpoint/2010/main" val="349201465"/>
      </p:ext>
    </p:extLst>
  </p:cSld>
  <p:transition spd="med" advClick="1">
    <p:fade/>
  </p:transition>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5540a188f1840a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56A8AA-29C2-4BA6-9F78-078720D92D0F}"/>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Filtrar antes o distribuir el trabajo</a:t>
            </a:r>
          </a:p>
        </p:txBody>
      </p:sp>
      <p:sp>
        <p:nvSpPr>
          <p:cNvPr id="5" name="">
            <a:extLst xmlns:a="http://schemas.openxmlformats.org/drawingml/2006/main">
              <a:ext uri="{FF2B5EF4-FFF2-40B4-BE49-F238E27FC236}">
                <a16:creationId xmlns:a16="http://schemas.microsoft.com/office/drawing/2014/main" id="{92346502-B869-4FFF-B5FC-1F4AE36CB7D3}"/>
              </a:ext>
            </a:extLst>
          </p:cNvPr>
          <p:cNvSpPr>
            <a:spLocks xmlns:a="http://schemas.openxmlformats.org/drawingml/2006/main" noGrp="1"/>
          </p:cNvSpPr>
          <p:nvPr/>
        </p:nvSpPr>
        <p:spPr>
          <a:xfrm xmlns:a="http://schemas.openxmlformats.org/drawingml/2006/main">
            <a:off x="609600" y="1638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Lectura selectiva</a:t>
            </a:r>
          </a:p>
        </p:txBody>
      </p:sp>
      <p:sp>
        <p:nvSpPr>
          <p:cNvPr id="6" name="">
            <a:extLst xmlns:a="http://schemas.openxmlformats.org/drawingml/2006/main">
              <a:ext uri="{FF2B5EF4-FFF2-40B4-BE49-F238E27FC236}">
                <a16:creationId xmlns:a16="http://schemas.microsoft.com/office/drawing/2014/main" id="{7BF76CA3-FB6C-4A35-A864-3BFDF3681D23}"/>
              </a:ext>
            </a:extLst>
          </p:cNvPr>
          <p:cNvSpPr>
            <a:spLocks xmlns:a="http://schemas.openxmlformats.org/drawingml/2006/main" noGrp="1"/>
          </p:cNvSpPr>
          <p:nvPr/>
        </p:nvSpPr>
        <p:spPr>
          <a:xfrm xmlns:a="http://schemas.openxmlformats.org/drawingml/2006/main">
            <a:off x="609600" y="20955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Si particiones y metadatos permiten leer solo el 1 % de 2 TB, se examinan 20 GB. Un filtro al final de un CSV puede exigir leerlo completo.</a:t>
            </a:r>
          </a:p>
        </p:txBody>
      </p:sp>
      <p:sp>
        <p:nvSpPr>
          <p:cNvPr id="7" name="">
            <a:extLst xmlns:a="http://schemas.openxmlformats.org/drawingml/2006/main">
              <a:ext uri="{FF2B5EF4-FFF2-40B4-BE49-F238E27FC236}">
                <a16:creationId xmlns:a16="http://schemas.microsoft.com/office/drawing/2014/main" id="{0EE88B16-91AA-45D2-9391-0FD1496FB92E}"/>
              </a:ext>
            </a:extLst>
          </p:cNvPr>
          <p:cNvSpPr>
            <a:spLocks xmlns:a="http://schemas.openxmlformats.org/drawingml/2006/main" noGrp="1"/>
          </p:cNvSpPr>
          <p:nvPr/>
        </p:nvSpPr>
        <p:spPr>
          <a:xfrm xmlns:a="http://schemas.openxmlformats.org/drawingml/2006/main">
            <a:off x="609600" y="3048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Plazo de 30 minutos</a:t>
            </a:r>
          </a:p>
        </p:txBody>
      </p:sp>
      <p:sp>
        <p:nvSpPr>
          <p:cNvPr id="8" name="">
            <a:extLst xmlns:a="http://schemas.openxmlformats.org/drawingml/2006/main">
              <a:ext uri="{FF2B5EF4-FFF2-40B4-BE49-F238E27FC236}">
                <a16:creationId xmlns:a16="http://schemas.microsoft.com/office/drawing/2014/main" id="{E223D706-3595-4FA9-8851-8E40AE73B78A}"/>
              </a:ext>
            </a:extLst>
          </p:cNvPr>
          <p:cNvSpPr>
            <a:spLocks xmlns:a="http://schemas.openxmlformats.org/drawingml/2006/main" noGrp="1"/>
          </p:cNvSpPr>
          <p:nvPr/>
        </p:nvSpPr>
        <p:spPr>
          <a:xfrm xmlns:a="http://schemas.openxmlformats.org/drawingml/2006/main">
            <a:off x="609600" y="3505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Procesar 2 TB completos exige al menos 1.111 MB/s de entrada agregada, más margen para escritura y coordinación.</a:t>
            </a:r>
          </a:p>
        </p:txBody>
      </p:sp>
      <p:sp>
        <p:nvSpPr>
          <p:cNvPr id="9" name="">
            <a:extLst xmlns:a="http://schemas.openxmlformats.org/drawingml/2006/main">
              <a:ext uri="{FF2B5EF4-FFF2-40B4-BE49-F238E27FC236}">
                <a16:creationId xmlns:a16="http://schemas.microsoft.com/office/drawing/2014/main" id="{5F22F237-73B5-48B7-9311-1EBF15EB710B}"/>
              </a:ext>
            </a:extLst>
          </p:cNvPr>
          <p:cNvSpPr>
            <a:spLocks xmlns:a="http://schemas.openxmlformats.org/drawingml/2006/main" noGrp="1"/>
          </p:cNvSpPr>
          <p:nvPr/>
        </p:nvSpPr>
        <p:spPr>
          <a:xfrm xmlns:a="http://schemas.openxmlformats.org/drawingml/2006/main">
            <a:off x="609600" y="44577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Distribución con un presupuesto explícito</a:t>
            </a:r>
          </a:p>
        </p:txBody>
      </p:sp>
      <p:sp>
        <p:nvSpPr>
          <p:cNvPr id="10" name="">
            <a:extLst xmlns:a="http://schemas.openxmlformats.org/drawingml/2006/main">
              <a:ext uri="{FF2B5EF4-FFF2-40B4-BE49-F238E27FC236}">
                <a16:creationId xmlns:a16="http://schemas.microsoft.com/office/drawing/2014/main" id="{78F5F479-215E-4312-A958-E8BECD198023}"/>
              </a:ext>
            </a:extLst>
          </p:cNvPr>
          <p:cNvSpPr>
            <a:spLocks xmlns:a="http://schemas.openxmlformats.org/drawingml/2006/main" noGrp="1"/>
          </p:cNvSpPr>
          <p:nvPr/>
        </p:nvSpPr>
        <p:spPr>
          <a:xfrm xmlns:a="http://schemas.openxmlformats.org/drawingml/2006/main">
            <a:off x="609600" y="49149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Cuatro trabajadores a 400 MB/s darían 20 min 50 s en el modelo ideal. Red, almacenamiento compartido y repartición pueden impedirlo.</a:t>
            </a:r>
          </a:p>
        </p:txBody>
      </p:sp>
      <p:sp>
        <p:nvSpPr>
          <p:cNvPr id="11" name="">
            <a:extLst xmlns:a="http://schemas.openxmlformats.org/drawingml/2006/main">
              <a:ext uri="{FF2B5EF4-FFF2-40B4-BE49-F238E27FC236}">
                <a16:creationId xmlns:a16="http://schemas.microsoft.com/office/drawing/2014/main" id="{B0781C1F-7D91-4F63-8FF9-BB6C0ECDF492}"/>
              </a:ext>
            </a:extLst>
          </p:cNvPr>
          <p:cNvSpPr>
            <a:spLocks xmlns:a="http://schemas.openxmlformats.org/drawingml/2006/main" noGrp="1"/>
          </p:cNvSpPr>
          <p:nvPr/>
        </p:nvSpPr>
        <p:spPr>
          <a:xfrm xmlns:a="http://schemas.openxmlformats.org/drawingml/2006/main">
            <a:off x="609600" y="59626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F3864"/>
                </a:solidFill>
                <a:latin typeface="Calibri"/>
                <a:ea typeface="Calibri"/>
                <a:cs typeface="Calibri"/>
              </a:defRPr>
            </a:pPr>
            <a:r>
              <a:rPr sz="1425" b="0">
                <a:solidFill>
                  <a:srgbClr val="1F3864"/>
                </a:solidFill>
                <a:latin typeface="Calibri"/>
                <a:ea typeface="Calibri"/>
                <a:cs typeface="Calibri"/>
              </a:rPr>
              <a:t>La selección de una arquitectura requiere medir el flujo completo</a:t>
            </a:r>
          </a:p>
        </p:txBody>
      </p:sp>
      <p:sp>
        <p:nvSpPr>
          <p:cNvPr id="22" name="">
            <a:extLst xmlns:a="http://schemas.openxmlformats.org/drawingml/2006/main">
              <a:ext uri="{FF2B5EF4-FFF2-40B4-BE49-F238E27FC236}">
                <a16:creationId xmlns:a16="http://schemas.microsoft.com/office/drawing/2014/main" id="{3AA09167-B658-4E9B-BE60-6C35BE9516EF}"/>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E6479BA3-CD14-4655-A6BE-4EECE282ADA6}"/>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4" name="">
            <a:extLst xmlns:a="http://schemas.openxmlformats.org/drawingml/2006/main">
              <a:ext uri="{FF2B5EF4-FFF2-40B4-BE49-F238E27FC236}">
                <a16:creationId xmlns:a16="http://schemas.microsoft.com/office/drawing/2014/main" id="{D9644A48-5BAF-4CF8-B588-360B1DC6F6F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5" name="">
            <a:extLst xmlns:a="http://schemas.openxmlformats.org/drawingml/2006/main">
              <a:ext uri="{FF2B5EF4-FFF2-40B4-BE49-F238E27FC236}">
                <a16:creationId xmlns:a16="http://schemas.microsoft.com/office/drawing/2014/main" id="{BBBFA11E-2EE5-49EC-A565-44A88FB1BFE3}"/>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27</a:t>
            </a:r>
          </a:p>
        </p:txBody>
      </p:sp>
    </p:spTree>
    <p:extLst>
      <p:ext uri="{BB962C8B-B14F-4D97-AF65-F5344CB8AC3E}">
        <p14:creationId xmlns:p14="http://schemas.microsoft.com/office/powerpoint/2010/main" val="229377183"/>
      </p:ext>
    </p:extLst>
  </p:cSld>
  <p:transition spd="med" advClick="1">
    <p:fade/>
  </p:transition>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3f0621ee03c433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d6e52b9652d4d21"/>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3A588A-9914-4361-B53D-15500A21F145}"/>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Velocidad: cuando la entrada supera la salida</a:t>
            </a:r>
          </a:p>
        </p:txBody>
      </p:sp>
      <p:sp>
        <p:nvSpPr>
          <p:cNvPr id="14" name="">
            <a:extLst xmlns:a="http://schemas.openxmlformats.org/drawingml/2006/main">
              <a:ext uri="{FF2B5EF4-FFF2-40B4-BE49-F238E27FC236}">
                <a16:creationId xmlns:a16="http://schemas.microsoft.com/office/drawing/2014/main" id="{D8F725A9-06A8-41F5-8BAC-26F10415B7AE}"/>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Entran 120 MB/s</a:t>
            </a:r>
          </a:p>
        </p:txBody>
      </p:sp>
      <p:sp>
        <p:nvSpPr>
          <p:cNvPr id="15" name="">
            <a:extLst xmlns:a="http://schemas.openxmlformats.org/drawingml/2006/main">
              <a:ext uri="{FF2B5EF4-FFF2-40B4-BE49-F238E27FC236}">
                <a16:creationId xmlns:a16="http://schemas.microsoft.com/office/drawing/2014/main" id="{D505C232-3831-438E-A4E5-DE261A6A759A}"/>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El proceso atiende 100 MB/s.</a:t>
            </a:r>
          </a:p>
        </p:txBody>
      </p:sp>
      <p:sp>
        <p:nvSpPr>
          <p:cNvPr id="16" name="">
            <a:extLst xmlns:a="http://schemas.openxmlformats.org/drawingml/2006/main">
              <a:ext uri="{FF2B5EF4-FFF2-40B4-BE49-F238E27FC236}">
                <a16:creationId xmlns:a16="http://schemas.microsoft.com/office/drawing/2014/main" id="{27378888-A406-4729-8808-00FCBB088EDA}"/>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La cola crece 20 MB/s</a:t>
            </a:r>
          </a:p>
        </p:txBody>
      </p:sp>
      <p:sp>
        <p:nvSpPr>
          <p:cNvPr id="17" name="">
            <a:extLst xmlns:a="http://schemas.openxmlformats.org/drawingml/2006/main">
              <a:ext uri="{FF2B5EF4-FFF2-40B4-BE49-F238E27FC236}">
                <a16:creationId xmlns:a16="http://schemas.microsoft.com/office/drawing/2014/main" id="{A8BE5143-F1C1-4484-BD76-FBCF63BE13A4}"/>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Se acumulan 72 GB en una hora.</a:t>
            </a:r>
          </a:p>
        </p:txBody>
      </p:sp>
      <p:sp>
        <p:nvSpPr>
          <p:cNvPr id="18" name="">
            <a:extLst xmlns:a="http://schemas.openxmlformats.org/drawingml/2006/main">
              <a:ext uri="{FF2B5EF4-FFF2-40B4-BE49-F238E27FC236}">
                <a16:creationId xmlns:a16="http://schemas.microsoft.com/office/drawing/2014/main" id="{447BF843-5164-4772-A4C1-85C1277E51CB}"/>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300 GB libres</a:t>
            </a:r>
          </a:p>
        </p:txBody>
      </p:sp>
      <p:sp>
        <p:nvSpPr>
          <p:cNvPr id="19" name="">
            <a:extLst xmlns:a="http://schemas.openxmlformats.org/drawingml/2006/main">
              <a:ext uri="{FF2B5EF4-FFF2-40B4-BE49-F238E27FC236}">
                <a16:creationId xmlns:a16="http://schemas.microsoft.com/office/drawing/2014/main" id="{370238C8-5B21-421C-8319-F6B9B76AC730}"/>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Se agotan en 4 h 10 min bajo este modelo.</a:t>
            </a:r>
          </a:p>
        </p:txBody>
      </p:sp>
      <p:sp>
        <p:nvSpPr>
          <p:cNvPr id="20" name="">
            <a:extLst xmlns:a="http://schemas.openxmlformats.org/drawingml/2006/main">
              <a:ext uri="{FF2B5EF4-FFF2-40B4-BE49-F238E27FC236}">
                <a16:creationId xmlns:a16="http://schemas.microsoft.com/office/drawing/2014/main" id="{3521433E-FB53-4674-96D9-F561841808C6}"/>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Hipótesis: tasas sostenidas y espacio dedicado solo a la cola</a:t>
            </a:r>
          </a:p>
        </p:txBody>
      </p:sp>
      <p:sp>
        <p:nvSpPr>
          <p:cNvPr id="35" name="">
            <a:extLst xmlns:a="http://schemas.openxmlformats.org/drawingml/2006/main">
              <a:ext uri="{FF2B5EF4-FFF2-40B4-BE49-F238E27FC236}">
                <a16:creationId xmlns:a16="http://schemas.microsoft.com/office/drawing/2014/main" id="{CBD1B662-3F67-469C-B698-294794C57E56}"/>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6" name="">
            <a:extLst xmlns:a="http://schemas.openxmlformats.org/drawingml/2006/main">
              <a:ext uri="{FF2B5EF4-FFF2-40B4-BE49-F238E27FC236}">
                <a16:creationId xmlns:a16="http://schemas.microsoft.com/office/drawing/2014/main" id="{BFE16F06-E895-4930-A7D3-14740747E974}"/>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7" name="">
            <a:extLst xmlns:a="http://schemas.openxmlformats.org/drawingml/2006/main">
              <a:ext uri="{FF2B5EF4-FFF2-40B4-BE49-F238E27FC236}">
                <a16:creationId xmlns:a16="http://schemas.microsoft.com/office/drawing/2014/main" id="{D030B1B2-AD6F-444D-BB21-CD31F0A7B44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8" name="">
            <a:extLst xmlns:a="http://schemas.openxmlformats.org/drawingml/2006/main">
              <a:ext uri="{FF2B5EF4-FFF2-40B4-BE49-F238E27FC236}">
                <a16:creationId xmlns:a16="http://schemas.microsoft.com/office/drawing/2014/main" id="{5F49FAB2-D4B5-4076-AF5F-38D7844193D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28</a:t>
            </a:r>
          </a:p>
        </p:txBody>
      </p:sp>
    </p:spTree>
    <p:extLst>
      <p:ext uri="{BB962C8B-B14F-4D97-AF65-F5344CB8AC3E}">
        <p14:creationId xmlns:p14="http://schemas.microsoft.com/office/powerpoint/2010/main" val="8109829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4"/>
                                        </p:tgtEl>
                                        <p:attrNameLst>
                                          <p:attrName>style.visibility</p:attrName>
                                        </p:attrNameLst>
                                      </p:cBhvr>
                                      <p:to>
                                        <p:strVal val="visible"/>
                                      </p:to>
                                    </p:set>
                                    <p:animEffect transition="in" filter="fade">
                                      <p:cBhvr>
                                        <p:cTn id="7" dur="300"/>
                                        <p:tgtEl>
                                          <p:spTgt spid="14"/>
                                        </p:tgtEl>
                                      </p:cBhvr>
                                    </p:animEffect>
                                  </p:childTnLst>
                                </p:cTn>
                              </p:par>
                              <p:par>
                                <p:cTn id="8" presetID="10" presetClass="entr" presetSubtype="0" fill="hold" nodeType="clickEffect">
                                  <p:stCondLst>
                                    <p:cond delay="0"/>
                                  </p:stCondLst>
                                  <p:childTnLst>
                                    <p:set>
                                      <p:cBhvr>
                                        <p:cTn id="9" dur="1" fill="hold"/>
                                        <p:tgtEl>
                                          <p:spTgt spid="15"/>
                                        </p:tgtEl>
                                        <p:attrNameLst>
                                          <p:attrName>style.visibility</p:attrName>
                                        </p:attrNameLst>
                                      </p:cBhvr>
                                      <p:to>
                                        <p:strVal val="visible"/>
                                      </p:to>
                                    </p:set>
                                    <p:animEffect transition="in" filter="fade">
                                      <p:cBhvr>
                                        <p:cTn id="10" dur="3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6"/>
                                        </p:tgtEl>
                                        <p:attrNameLst>
                                          <p:attrName>style.visibility</p:attrName>
                                        </p:attrNameLst>
                                      </p:cBhvr>
                                      <p:to>
                                        <p:strVal val="visible"/>
                                      </p:to>
                                    </p:set>
                                    <p:animEffect transition="in" filter="fade">
                                      <p:cBhvr>
                                        <p:cTn id="15" dur="300"/>
                                        <p:tgtEl>
                                          <p:spTgt spid="16"/>
                                        </p:tgtEl>
                                      </p:cBhvr>
                                    </p:animEffect>
                                  </p:childTnLst>
                                </p:cTn>
                              </p:par>
                              <p:par>
                                <p:cTn id="16" presetID="10" presetClass="entr" presetSubtype="0" fill="hold" nodeType="clickEffect">
                                  <p:stCondLst>
                                    <p:cond delay="0"/>
                                  </p:stCondLst>
                                  <p:childTnLst>
                                    <p:set>
                                      <p:cBhvr>
                                        <p:cTn id="17" dur="1" fill="hold"/>
                                        <p:tgtEl>
                                          <p:spTgt spid="17"/>
                                        </p:tgtEl>
                                        <p:attrNameLst>
                                          <p:attrName>style.visibility</p:attrName>
                                        </p:attrNameLst>
                                      </p:cBhvr>
                                      <p:to>
                                        <p:strVal val="visible"/>
                                      </p:to>
                                    </p:set>
                                    <p:animEffect transition="in" filter="fade">
                                      <p:cBhvr>
                                        <p:cTn id="18" dur="3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8"/>
                                        </p:tgtEl>
                                        <p:attrNameLst>
                                          <p:attrName>style.visibility</p:attrName>
                                        </p:attrNameLst>
                                      </p:cBhvr>
                                      <p:to>
                                        <p:strVal val="visible"/>
                                      </p:to>
                                    </p:set>
                                    <p:animEffect transition="in" filter="fade">
                                      <p:cBhvr>
                                        <p:cTn id="23" dur="300"/>
                                        <p:tgtEl>
                                          <p:spTgt spid="18"/>
                                        </p:tgtEl>
                                      </p:cBhvr>
                                    </p:animEffect>
                                  </p:childTnLst>
                                </p:cTn>
                              </p:par>
                              <p:par>
                                <p:cTn id="24" presetID="10" presetClass="entr" presetSubtype="0" fill="hold" nodeType="clickEffect">
                                  <p:stCondLst>
                                    <p:cond delay="0"/>
                                  </p:stCondLst>
                                  <p:childTnLst>
                                    <p:set>
                                      <p:cBhvr>
                                        <p:cTn id="25" dur="1" fill="hold"/>
                                        <p:tgtEl>
                                          <p:spTgt spid="19"/>
                                        </p:tgtEl>
                                        <p:attrNameLst>
                                          <p:attrName>style.visibility</p:attrName>
                                        </p:attrNameLst>
                                      </p:cBhvr>
                                      <p:to>
                                        <p:strVal val="visible"/>
                                      </p:to>
                                    </p:set>
                                    <p:animEffect transition="in" filter="fade">
                                      <p:cBhvr>
                                        <p:cTn id="26"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6696fa2913442a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E6220EB-A846-406E-A863-D09217A3C40B}"/>
              </a:ext>
            </a:extLst>
          </p:cNvPr>
          <p:cNvSpPr>
            <a:spLocks xmlns:a="http://schemas.openxmlformats.org/drawingml/2006/main" noGrp="1"/>
          </p:cNvSpPr>
          <p:nvPr/>
        </p:nvSpPr>
        <p:spPr>
          <a:xfrm xmlns:a="http://schemas.openxmlformats.org/drawingml/2006/main">
            <a:off x="1638300" y="285750"/>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La estrategia depende de la restricción</a:t>
            </a:r>
          </a:p>
        </p:txBody>
      </p:sp>
      <p:sp>
        <p:nvSpPr>
          <p:cNvPr id="5" name="">
            <a:extLst xmlns:a="http://schemas.openxmlformats.org/drawingml/2006/main">
              <a:ext uri="{FF2B5EF4-FFF2-40B4-BE49-F238E27FC236}">
                <a16:creationId xmlns:a16="http://schemas.microsoft.com/office/drawing/2014/main" id="{442C4EAF-83A0-4D36-AFA2-79C415DD8370}"/>
              </a:ext>
            </a:extLst>
          </p:cNvPr>
          <p:cNvSpPr>
            <a:spLocks xmlns:a="http://schemas.openxmlformats.org/drawingml/2006/main" noGrp="1"/>
          </p:cNvSpPr>
          <p:nvPr/>
        </p:nvSpPr>
        <p:spPr>
          <a:xfrm xmlns:a="http://schemas.openxmlformats.org/drawingml/2006/main">
            <a:off x="609600" y="1638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El resultado analítico permanece</a:t>
            </a:r>
          </a:p>
        </p:txBody>
      </p:sp>
      <p:sp>
        <p:nvSpPr>
          <p:cNvPr id="6" name="">
            <a:extLst xmlns:a="http://schemas.openxmlformats.org/drawingml/2006/main">
              <a:ext uri="{FF2B5EF4-FFF2-40B4-BE49-F238E27FC236}">
                <a16:creationId xmlns:a16="http://schemas.microsoft.com/office/drawing/2014/main" id="{C1F43FD8-05B2-4EE7-A7F5-5E45F07B2223}"/>
              </a:ext>
            </a:extLst>
          </p:cNvPr>
          <p:cNvSpPr>
            <a:spLocks xmlns:a="http://schemas.openxmlformats.org/drawingml/2006/main" noGrp="1"/>
          </p:cNvSpPr>
          <p:nvPr/>
        </p:nvSpPr>
        <p:spPr>
          <a:xfrm xmlns:a="http://schemas.openxmlformats.org/drawingml/2006/main">
            <a:off x="609600" y="20955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La pregunta y las reglas de calidad son las mismas. Cambian el movimiento de datos y el plan de ejecución.</a:t>
            </a:r>
          </a:p>
        </p:txBody>
      </p:sp>
      <p:sp>
        <p:nvSpPr>
          <p:cNvPr id="7" name="">
            <a:extLst xmlns:a="http://schemas.openxmlformats.org/drawingml/2006/main">
              <a:ext uri="{FF2B5EF4-FFF2-40B4-BE49-F238E27FC236}">
                <a16:creationId xmlns:a16="http://schemas.microsoft.com/office/drawing/2014/main" id="{8517604F-4B48-41DF-B5D5-177312532204}"/>
              </a:ext>
            </a:extLst>
          </p:cNvPr>
          <p:cNvSpPr>
            <a:spLocks xmlns:a="http://schemas.openxmlformats.org/drawingml/2006/main" noGrp="1"/>
          </p:cNvSpPr>
          <p:nvPr/>
        </p:nvSpPr>
        <p:spPr>
          <a:xfrm xmlns:a="http://schemas.openxmlformats.org/drawingml/2006/main">
            <a:off x="609600" y="3048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La escala introduce nuevos costos</a:t>
            </a:r>
          </a:p>
        </p:txBody>
      </p:sp>
      <p:sp>
        <p:nvSpPr>
          <p:cNvPr id="8" name="">
            <a:extLst xmlns:a="http://schemas.openxmlformats.org/drawingml/2006/main">
              <a:ext uri="{FF2B5EF4-FFF2-40B4-BE49-F238E27FC236}">
                <a16:creationId xmlns:a16="http://schemas.microsoft.com/office/drawing/2014/main" id="{92B38E72-9470-4CB4-8D13-AEA4F79A06F6}"/>
              </a:ext>
            </a:extLst>
          </p:cNvPr>
          <p:cNvSpPr>
            <a:spLocks xmlns:a="http://schemas.openxmlformats.org/drawingml/2006/main" noGrp="1"/>
          </p:cNvSpPr>
          <p:nvPr/>
        </p:nvSpPr>
        <p:spPr>
          <a:xfrm xmlns:a="http://schemas.openxmlformats.org/drawingml/2006/main">
            <a:off x="609600" y="35052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Memoria intermedia, temporales, coordinación, duplicación y recuperación deben entrar en el cálculo.</a:t>
            </a:r>
          </a:p>
        </p:txBody>
      </p:sp>
      <p:sp>
        <p:nvSpPr>
          <p:cNvPr id="9" name="">
            <a:extLst xmlns:a="http://schemas.openxmlformats.org/drawingml/2006/main">
              <a:ext uri="{FF2B5EF4-FFF2-40B4-BE49-F238E27FC236}">
                <a16:creationId xmlns:a16="http://schemas.microsoft.com/office/drawing/2014/main" id="{BD4A9451-642E-4946-B742-2926F8819A88}"/>
              </a:ext>
            </a:extLst>
          </p:cNvPr>
          <p:cNvSpPr>
            <a:spLocks xmlns:a="http://schemas.openxmlformats.org/drawingml/2006/main" noGrp="1"/>
          </p:cNvSpPr>
          <p:nvPr/>
        </p:nvSpPr>
        <p:spPr>
          <a:xfrm xmlns:a="http://schemas.openxmlformats.org/drawingml/2006/main">
            <a:off x="609600" y="44577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239C8"/>
                </a:solidFill>
                <a:latin typeface="Calibri"/>
                <a:ea typeface="Calibri"/>
                <a:cs typeface="Calibri"/>
              </a:defRPr>
            </a:pPr>
            <a:r>
              <a:rPr sz="2250" b="1">
                <a:solidFill>
                  <a:srgbClr val="4239C8"/>
                </a:solidFill>
                <a:latin typeface="Calibri"/>
                <a:ea typeface="Calibri"/>
                <a:cs typeface="Calibri"/>
              </a:rPr>
              <a:t>Criterio para elegir</a:t>
            </a:r>
          </a:p>
        </p:txBody>
      </p:sp>
      <p:sp>
        <p:nvSpPr>
          <p:cNvPr id="10" name="">
            <a:extLst xmlns:a="http://schemas.openxmlformats.org/drawingml/2006/main">
              <a:ext uri="{FF2B5EF4-FFF2-40B4-BE49-F238E27FC236}">
                <a16:creationId xmlns:a16="http://schemas.microsoft.com/office/drawing/2014/main" id="{9757D9A2-AE0A-482F-AEED-4C664C10D25E}"/>
              </a:ext>
            </a:extLst>
          </p:cNvPr>
          <p:cNvSpPr>
            <a:spLocks xmlns:a="http://schemas.openxmlformats.org/drawingml/2006/main" noGrp="1"/>
          </p:cNvSpPr>
          <p:nvPr/>
        </p:nvSpPr>
        <p:spPr>
          <a:xfrm xmlns:a="http://schemas.openxmlformats.org/drawingml/2006/main">
            <a:off x="609600" y="491490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3864"/>
                </a:solidFill>
                <a:latin typeface="Calibri"/>
                <a:ea typeface="Calibri"/>
                <a:cs typeface="Calibri"/>
              </a:defRPr>
            </a:pPr>
            <a:r>
              <a:rPr sz="2175" b="0">
                <a:solidFill>
                  <a:srgbClr val="1F3864"/>
                </a:solidFill>
                <a:latin typeface="Calibri"/>
                <a:ea typeface="Calibri"/>
                <a:cs typeface="Calibri"/>
              </a:rPr>
              <a:t>Preferir la solución más simple que cumpla capacidad, plazo, calidad y presupuesto con margen medido.</a:t>
            </a:r>
          </a:p>
        </p:txBody>
      </p:sp>
      <p:sp>
        <p:nvSpPr>
          <p:cNvPr id="21" name="">
            <a:extLst xmlns:a="http://schemas.openxmlformats.org/drawingml/2006/main">
              <a:ext uri="{FF2B5EF4-FFF2-40B4-BE49-F238E27FC236}">
                <a16:creationId xmlns:a16="http://schemas.microsoft.com/office/drawing/2014/main" id="{85382477-1E4C-4B50-9163-65EC9CD307E3}"/>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424AA7FF-74A1-4D61-80CD-F219F6E7B60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3" name="">
            <a:extLst xmlns:a="http://schemas.openxmlformats.org/drawingml/2006/main">
              <a:ext uri="{FF2B5EF4-FFF2-40B4-BE49-F238E27FC236}">
                <a16:creationId xmlns:a16="http://schemas.microsoft.com/office/drawing/2014/main" id="{B5C11147-D3C5-4C99-B96B-04F26952145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4" name="">
            <a:extLst xmlns:a="http://schemas.openxmlformats.org/drawingml/2006/main">
              <a:ext uri="{FF2B5EF4-FFF2-40B4-BE49-F238E27FC236}">
                <a16:creationId xmlns:a16="http://schemas.microsoft.com/office/drawing/2014/main" id="{5B0F1E7A-B432-4F1F-AB11-CABB3CE31619}"/>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29</a:t>
            </a:r>
          </a:p>
        </p:txBody>
      </p:sp>
    </p:spTree>
    <p:extLst>
      <p:ext uri="{BB962C8B-B14F-4D97-AF65-F5344CB8AC3E}">
        <p14:creationId xmlns:p14="http://schemas.microsoft.com/office/powerpoint/2010/main" val="87940888"/>
      </p:ext>
    </p:extLst>
  </p:cSld>
  <p:transition spd="med" advClick="1">
    <p:fade/>
  </p:transition>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0c08b5e650c4cd1"/>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90206C-F963-4FE3-891E-5C2DFA0B7332}"/>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Pregunta de contraste</a:t>
            </a:r>
          </a:p>
        </p:txBody>
      </p:sp>
      <p:sp>
        <p:nvSpPr>
          <p:cNvPr id="2" name="">
            <a:extLst xmlns:a="http://schemas.openxmlformats.org/drawingml/2006/main">
              <a:ext uri="{FF2B5EF4-FFF2-40B4-BE49-F238E27FC236}">
                <a16:creationId xmlns:a16="http://schemas.microsoft.com/office/drawing/2014/main" id="{52FDBD11-C92F-4B8D-867D-D017D315A20A}"/>
              </a:ext>
            </a:extLst>
          </p:cNvPr>
          <p:cNvSpPr>
            <a:spLocks xmlns:a="http://schemas.openxmlformats.org/drawingml/2006/main" noGrp="1"/>
          </p:cNvSpPr>
          <p:nvPr/>
        </p:nvSpPr>
        <p:spPr>
          <a:xfrm xmlns:a="http://schemas.openxmlformats.org/drawingml/2006/main">
            <a:off x="609600" y="2019300"/>
            <a:ext cx="10477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F3864"/>
                </a:solidFill>
                <a:latin typeface="Helvetica Neue"/>
                <a:ea typeface="Helvetica Neue"/>
                <a:cs typeface="Helvetica Neue"/>
              </a:defRPr>
            </a:pPr>
            <a:r>
              <a:rPr sz="3450" b="1">
                <a:solidFill>
                  <a:srgbClr val="1F3864"/>
                </a:solidFill>
                <a:latin typeface="Helvetica Neue"/>
                <a:ea typeface="Helvetica Neue"/>
                <a:cs typeface="Helvetica Neue"/>
              </a:rPr>
              <a:t>Una consulta tarda diez minutos.</a:t>
            </a:r>
          </a:p>
          <a:p xmlns:a="http://schemas.openxmlformats.org/drawingml/2006/main">
            <a:pPr>
              <a:buNone/>
              <a:defRPr sz="3450" b="1">
                <a:solidFill>
                  <a:srgbClr val="1F3864"/>
                </a:solidFill>
                <a:latin typeface="Helvetica Neue"/>
                <a:ea typeface="Helvetica Neue"/>
                <a:cs typeface="Helvetica Neue"/>
              </a:defRPr>
            </a:pPr>
            <a:r>
              <a:rPr sz="3450" b="1">
                <a:solidFill>
                  <a:srgbClr val="1F3864"/>
                </a:solidFill>
                <a:latin typeface="Helvetica Neue"/>
                <a:ea typeface="Helvetica Neue"/>
                <a:cs typeface="Helvetica Neue"/>
              </a:rPr>
              <a:t>¿Qué medirías antes de añadir máquinas?</a:t>
            </a:r>
          </a:p>
        </p:txBody>
      </p:sp>
      <p:sp>
        <p:nvSpPr>
          <p:cNvPr id="3" name="">
            <a:extLst xmlns:a="http://schemas.openxmlformats.org/drawingml/2006/main">
              <a:ext uri="{FF2B5EF4-FFF2-40B4-BE49-F238E27FC236}">
                <a16:creationId xmlns:a16="http://schemas.microsoft.com/office/drawing/2014/main" id="{1EEE74D9-0AEB-409D-BEB4-49F3BAFB783A}"/>
              </a:ext>
            </a:extLst>
          </p:cNvPr>
          <p:cNvSpPr>
            <a:spLocks xmlns:a="http://schemas.openxmlformats.org/drawingml/2006/main" noGrp="1"/>
          </p:cNvSpPr>
          <p:nvPr/>
        </p:nvSpPr>
        <p:spPr>
          <a:xfrm xmlns:a="http://schemas.openxmlformats.org/drawingml/2006/main">
            <a:off x="609600" y="54387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Respuesta individual y discusión en grupo</a:t>
            </a:r>
          </a:p>
        </p:txBody>
      </p:sp>
      <p:sp>
        <p:nvSpPr>
          <p:cNvPr id="17" name="">
            <a:extLst xmlns:a="http://schemas.openxmlformats.org/drawingml/2006/main">
              <a:ext uri="{FF2B5EF4-FFF2-40B4-BE49-F238E27FC236}">
                <a16:creationId xmlns:a16="http://schemas.microsoft.com/office/drawing/2014/main" id="{298F5DB7-9DE3-4F0C-9B1B-E3470591ADC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F2A87A64-FA37-4160-8704-1B8EE6D00A5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E8B84516-0C87-4B44-BD5D-68CFDD22DAE8}"/>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0" name="">
            <a:extLst xmlns:a="http://schemas.openxmlformats.org/drawingml/2006/main">
              <a:ext uri="{FF2B5EF4-FFF2-40B4-BE49-F238E27FC236}">
                <a16:creationId xmlns:a16="http://schemas.microsoft.com/office/drawing/2014/main" id="{4C9CCF2D-0532-4F62-84B8-80CFFA4714A0}"/>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30</a:t>
            </a:r>
          </a:p>
        </p:txBody>
      </p:sp>
    </p:spTree>
    <p:extLst>
      <p:ext uri="{BB962C8B-B14F-4D97-AF65-F5344CB8AC3E}">
        <p14:creationId xmlns:p14="http://schemas.microsoft.com/office/powerpoint/2010/main" val="1278640340"/>
      </p:ext>
    </p:extLst>
  </p:cSld>
  <p:transition spd="med" advClick="1">
    <p:fade/>
  </p:transition>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37d2a87873e406f"/>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ba152a1b1a244bf"/>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0115C80-0E47-4C02-98FF-839CA1529E93}"/>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Escalamiento vertical y horizontal</a:t>
            </a:r>
          </a:p>
        </p:txBody>
      </p:sp>
      <p:sp>
        <p:nvSpPr>
          <p:cNvPr id="11" name="">
            <a:extLst xmlns:a="http://schemas.openxmlformats.org/drawingml/2006/main">
              <a:ext uri="{FF2B5EF4-FFF2-40B4-BE49-F238E27FC236}">
                <a16:creationId xmlns:a16="http://schemas.microsoft.com/office/drawing/2014/main" id="{2142457B-2050-49D8-AD9F-0657DDC001E0}"/>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Vertical</a:t>
            </a:r>
          </a:p>
        </p:txBody>
      </p:sp>
      <p:sp>
        <p:nvSpPr>
          <p:cNvPr id="12" name="">
            <a:extLst xmlns:a="http://schemas.openxmlformats.org/drawingml/2006/main">
              <a:ext uri="{FF2B5EF4-FFF2-40B4-BE49-F238E27FC236}">
                <a16:creationId xmlns:a16="http://schemas.microsoft.com/office/drawing/2014/main" id="{C67F6E27-29A6-4EB7-A484-D60878DE8816}"/>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Más CPU, RAM o disco en una máquina.</a:t>
            </a:r>
          </a:p>
        </p:txBody>
      </p:sp>
      <p:sp>
        <p:nvSpPr>
          <p:cNvPr id="13" name="">
            <a:extLst xmlns:a="http://schemas.openxmlformats.org/drawingml/2006/main">
              <a:ext uri="{FF2B5EF4-FFF2-40B4-BE49-F238E27FC236}">
                <a16:creationId xmlns:a16="http://schemas.microsoft.com/office/drawing/2014/main" id="{29B6C091-5465-4155-99E5-A44C115DEC40}"/>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Horizontal</a:t>
            </a:r>
          </a:p>
        </p:txBody>
      </p:sp>
      <p:sp>
        <p:nvSpPr>
          <p:cNvPr id="14" name="">
            <a:extLst xmlns:a="http://schemas.openxmlformats.org/drawingml/2006/main">
              <a:ext uri="{FF2B5EF4-FFF2-40B4-BE49-F238E27FC236}">
                <a16:creationId xmlns:a16="http://schemas.microsoft.com/office/drawing/2014/main" id="{CEE26339-65D6-45D2-B1E6-40C5F262FCB5}"/>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Repartir el trabajo entre máquinas.</a:t>
            </a:r>
          </a:p>
        </p:txBody>
      </p:sp>
      <p:sp>
        <p:nvSpPr>
          <p:cNvPr id="15" name="">
            <a:extLst xmlns:a="http://schemas.openxmlformats.org/drawingml/2006/main">
              <a:ext uri="{FF2B5EF4-FFF2-40B4-BE49-F238E27FC236}">
                <a16:creationId xmlns:a16="http://schemas.microsoft.com/office/drawing/2014/main" id="{A3DFAA7F-5FC9-409A-A49C-E4B02CB1E815}"/>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Costo del reparto</a:t>
            </a:r>
          </a:p>
        </p:txBody>
      </p:sp>
      <p:sp>
        <p:nvSpPr>
          <p:cNvPr id="16" name="">
            <a:extLst xmlns:a="http://schemas.openxmlformats.org/drawingml/2006/main">
              <a:ext uri="{FF2B5EF4-FFF2-40B4-BE49-F238E27FC236}">
                <a16:creationId xmlns:a16="http://schemas.microsoft.com/office/drawing/2014/main" id="{53C05379-F480-4E05-9ABF-5557118B8D35}"/>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Partición, comunicación y coordinación.</a:t>
            </a:r>
          </a:p>
        </p:txBody>
      </p:sp>
      <p:sp>
        <p:nvSpPr>
          <p:cNvPr id="17" name="">
            <a:extLst xmlns:a="http://schemas.openxmlformats.org/drawingml/2006/main">
              <a:ext uri="{FF2B5EF4-FFF2-40B4-BE49-F238E27FC236}">
                <a16:creationId xmlns:a16="http://schemas.microsoft.com/office/drawing/2014/main" id="{FDF886D9-898A-4D15-97B8-A706FAFAFE6C}"/>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 restricción medida determina la estrategia</a:t>
            </a:r>
          </a:p>
        </p:txBody>
      </p:sp>
      <p:sp>
        <p:nvSpPr>
          <p:cNvPr id="32" name="">
            <a:extLst xmlns:a="http://schemas.openxmlformats.org/drawingml/2006/main">
              <a:ext uri="{FF2B5EF4-FFF2-40B4-BE49-F238E27FC236}">
                <a16:creationId xmlns:a16="http://schemas.microsoft.com/office/drawing/2014/main" id="{62128E86-8B00-4092-BE02-AF591EE5B87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613BC139-4541-4CCE-9285-326BD022BC0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A462A55A-9E8D-4726-9DA9-CB130905E10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5" name="">
            <a:extLst xmlns:a="http://schemas.openxmlformats.org/drawingml/2006/main">
              <a:ext uri="{FF2B5EF4-FFF2-40B4-BE49-F238E27FC236}">
                <a16:creationId xmlns:a16="http://schemas.microsoft.com/office/drawing/2014/main" id="{4E961F34-C5EB-41E2-A466-A10E46FAEC0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31</a:t>
            </a:r>
          </a:p>
        </p:txBody>
      </p:sp>
    </p:spTree>
    <p:extLst>
      <p:ext uri="{BB962C8B-B14F-4D97-AF65-F5344CB8AC3E}">
        <p14:creationId xmlns:p14="http://schemas.microsoft.com/office/powerpoint/2010/main" val="194177247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8a9960b64a44562"/>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7BB65E6-FAAD-40E9-AE80-D5111BE8E950}"/>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Límite del paralelismo</a:t>
            </a:r>
          </a:p>
        </p:txBody>
      </p:sp>
      <p:sp>
        <p:nvSpPr>
          <p:cNvPr id="2" name="">
            <a:extLst xmlns:a="http://schemas.openxmlformats.org/drawingml/2006/main">
              <a:ext uri="{FF2B5EF4-FFF2-40B4-BE49-F238E27FC236}">
                <a16:creationId xmlns:a16="http://schemas.microsoft.com/office/drawing/2014/main" id="{25833BD4-F585-4D2A-BCE1-39BCE49997F0}"/>
              </a:ext>
            </a:extLst>
          </p:cNvPr>
          <p:cNvSpPr>
            <a:spLocks xmlns:a="http://schemas.openxmlformats.org/drawingml/2006/main" noGrp="1"/>
          </p:cNvSpPr>
          <p:nvPr/>
        </p:nvSpPr>
        <p:spPr>
          <a:xfrm xmlns:a="http://schemas.openxmlformats.org/drawingml/2006/main">
            <a:off x="609600" y="2247900"/>
            <a:ext cx="11049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4575" b="1">
                <a:solidFill>
                  <a:srgbClr val="1F3864"/>
                </a:solidFill>
                <a:latin typeface="Helvetica Neue"/>
                <a:ea typeface="Helvetica Neue"/>
                <a:cs typeface="Helvetica Neue"/>
              </a:defRPr>
            </a:pPr>
            <a:r>
              <a:rPr sz="4575" b="1">
                <a:solidFill>
                  <a:srgbClr val="1F3864"/>
                </a:solidFill>
                <a:latin typeface="Helvetica Neue"/>
                <a:ea typeface="Helvetica Neue"/>
                <a:cs typeface="Helvetica Neue"/>
              </a:rPr>
              <a:t>S(p) = 1 / [(1 − f) + f / p]</a:t>
            </a:r>
          </a:p>
        </p:txBody>
      </p:sp>
      <p:sp>
        <p:nvSpPr>
          <p:cNvPr id="3" name="">
            <a:extLst xmlns:a="http://schemas.openxmlformats.org/drawingml/2006/main">
              <a:ext uri="{FF2B5EF4-FFF2-40B4-BE49-F238E27FC236}">
                <a16:creationId xmlns:a16="http://schemas.microsoft.com/office/drawing/2014/main" id="{B751A412-26F6-42AD-8828-C681735DAACD}"/>
              </a:ext>
            </a:extLst>
          </p:cNvPr>
          <p:cNvSpPr>
            <a:spLocks xmlns:a="http://schemas.openxmlformats.org/drawingml/2006/main" noGrp="1"/>
          </p:cNvSpPr>
          <p:nvPr/>
        </p:nvSpPr>
        <p:spPr>
          <a:xfrm xmlns:a="http://schemas.openxmlformats.org/drawingml/2006/main">
            <a:off x="609600" y="4105275"/>
            <a:ext cx="10287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1F3864"/>
                </a:solidFill>
                <a:latin typeface="Helvetica Neue"/>
                <a:ea typeface="Helvetica Neue"/>
                <a:cs typeface="Helvetica Neue"/>
              </a:defRPr>
            </a:pPr>
            <a:r>
              <a:rPr sz="2250" b="0">
                <a:solidFill>
                  <a:srgbClr val="1F3864"/>
                </a:solidFill>
                <a:latin typeface="Helvetica Neue"/>
                <a:ea typeface="Helvetica Neue"/>
                <a:cs typeface="Helvetica Neue"/>
              </a:rPr>
              <a:t>f = fracción paralelizable</a:t>
            </a:r>
          </a:p>
          <a:p xmlns:a="http://schemas.openxmlformats.org/drawingml/2006/main">
            <a:pPr>
              <a:buNone/>
              <a:defRPr sz="2250" b="0">
                <a:solidFill>
                  <a:srgbClr val="1F3864"/>
                </a:solidFill>
                <a:latin typeface="Helvetica Neue"/>
                <a:ea typeface="Helvetica Neue"/>
                <a:cs typeface="Helvetica Neue"/>
              </a:defRPr>
            </a:pPr>
            <a:r>
              <a:rPr sz="2250" b="0">
                <a:solidFill>
                  <a:srgbClr val="1F3864"/>
                </a:solidFill>
                <a:latin typeface="Helvetica Neue"/>
                <a:ea typeface="Helvetica Neue"/>
                <a:cs typeface="Helvetica Neue"/>
              </a:rPr>
              <a:t>p = número de procesadores</a:t>
            </a:r>
          </a:p>
          <a:p xmlns:a="http://schemas.openxmlformats.org/drawingml/2006/main">
            <a:pPr>
              <a:buNone/>
              <a:defRPr sz="2250" b="0">
                <a:solidFill>
                  <a:srgbClr val="1F3864"/>
                </a:solidFill>
                <a:latin typeface="Helvetica Neue"/>
                <a:ea typeface="Helvetica Neue"/>
                <a:cs typeface="Helvetica Neue"/>
              </a:defRPr>
            </a:pPr>
            <a:r>
              <a:rPr sz="2250" b="0">
                <a:solidFill>
                  <a:srgbClr val="1F3864"/>
                </a:solidFill>
                <a:latin typeface="Helvetica Neue"/>
                <a:ea typeface="Helvetica Neue"/>
                <a:cs typeface="Helvetica Neue"/>
              </a:rPr>
              <a:t>Supuesto: sin sobrecostos de comunicación</a:t>
            </a:r>
          </a:p>
        </p:txBody>
      </p:sp>
      <p:sp>
        <p:nvSpPr>
          <p:cNvPr id="17" name="">
            <a:extLst xmlns:a="http://schemas.openxmlformats.org/drawingml/2006/main">
              <a:ext uri="{FF2B5EF4-FFF2-40B4-BE49-F238E27FC236}">
                <a16:creationId xmlns:a16="http://schemas.microsoft.com/office/drawing/2014/main" id="{CC84DCB7-DC9C-4860-8358-9D83927B0E8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7AED2EA2-8167-4B3A-886F-E003EE207A03}"/>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9107BDAE-7279-4ED2-B360-E8673CD14C3C}"/>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0" name="">
            <a:extLst xmlns:a="http://schemas.openxmlformats.org/drawingml/2006/main">
              <a:ext uri="{FF2B5EF4-FFF2-40B4-BE49-F238E27FC236}">
                <a16:creationId xmlns:a16="http://schemas.microsoft.com/office/drawing/2014/main" id="{03B751B4-DBC8-4BDC-8325-DF56AB16043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32</a:t>
            </a:r>
          </a:p>
        </p:txBody>
      </p:sp>
    </p:spTree>
    <p:extLst>
      <p:ext uri="{BB962C8B-B14F-4D97-AF65-F5344CB8AC3E}">
        <p14:creationId xmlns:p14="http://schemas.microsoft.com/office/powerpoint/2010/main" val="1881759390"/>
      </p:ext>
    </p:extLst>
  </p:cSld>
  <p:transition spd="med" advClick="1">
    <p:fade/>
  </p:transition>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a21a2b93ef24710"/>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graphicFrame>
        <p:nvGraphicFramePr>
          <p:cNvPr id="28" name="Chart"/>
          <p:cNvGraphicFramePr/>
          <p:nvPr/>
        </p:nvGraphicFramePr>
        <p:xfrm>
          <a:off xmlns:a="http://schemas.openxmlformats.org/drawingml/2006/main" x="809625" y="1666875"/>
          <a:ext xmlns:a="http://schemas.openxmlformats.org/drawingml/2006/main" cx="10477500" cy="3714750"/>
        </p:xfrm>
        <a:graphic xmlns:a="http://schemas.openxmlformats.org/drawingml/2006/main">
          <a:graphicData uri="http://schemas.openxmlformats.org/drawingml/2006/chart">
            <c:chart xmlns:r="http://schemas.openxmlformats.org/officeDocument/2006/relationships" xmlns:c="http://schemas.openxmlformats.org/drawingml/2006/chart" r:id="Rf0747b985ad34437"/>
          </a:graphicData>
        </a:graphic>
      </p:graphicFrame>
      <p:sp>
        <p:nvSpPr>
          <p:cNvPr id="6" name="">
            <a:extLst xmlns:a="http://schemas.openxmlformats.org/drawingml/2006/main">
              <a:ext uri="{FF2B5EF4-FFF2-40B4-BE49-F238E27FC236}">
                <a16:creationId xmlns:a16="http://schemas.microsoft.com/office/drawing/2014/main" id="{0F311A19-8AFD-47D0-BDC2-09D3322A7221}"/>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Más procesadores, rendimiento limitado</a:t>
            </a:r>
          </a:p>
        </p:txBody>
      </p:sp>
      <p:sp>
        <p:nvSpPr>
          <p:cNvPr id="3" name="">
            <a:extLst xmlns:a="http://schemas.openxmlformats.org/drawingml/2006/main">
              <a:ext uri="{FF2B5EF4-FFF2-40B4-BE49-F238E27FC236}">
                <a16:creationId xmlns:a16="http://schemas.microsoft.com/office/drawing/2014/main" id="{5D226BEB-1D08-4915-A0AB-7667B5EABE8F}"/>
              </a:ext>
            </a:extLst>
          </p:cNvPr>
          <p:cNvSpPr>
            <a:spLocks xmlns:a="http://schemas.openxmlformats.org/drawingml/2006/main" noGrp="1"/>
          </p:cNvSpPr>
          <p:nvPr/>
        </p:nvSpPr>
        <p:spPr>
          <a:xfrm xmlns:a="http://schemas.openxmlformats.org/drawingml/2006/main">
            <a:off x="609600" y="57054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1">
                <a:solidFill>
                  <a:srgbClr val="1F3864"/>
                </a:solidFill>
                <a:latin typeface="Helvetica Neue"/>
                <a:ea typeface="Helvetica Neue"/>
                <a:cs typeface="Helvetica Neue"/>
              </a:defRPr>
            </a:pPr>
            <a:r>
              <a:rPr sz="2025" b="1">
                <a:solidFill>
                  <a:srgbClr val="1F3864"/>
                </a:solidFill>
                <a:latin typeface="Helvetica Neue"/>
                <a:ea typeface="Helvetica Neue"/>
                <a:cs typeface="Helvetica Neue"/>
              </a:rPr>
              <a:t>Modelo con 80 % paralelizable. Límite teórico: 5 veces.</a:t>
            </a:r>
          </a:p>
        </p:txBody>
      </p:sp>
      <p:sp>
        <p:nvSpPr>
          <p:cNvPr id="21" name="">
            <a:extLst xmlns:a="http://schemas.openxmlformats.org/drawingml/2006/main">
              <a:ext uri="{FF2B5EF4-FFF2-40B4-BE49-F238E27FC236}">
                <a16:creationId xmlns:a16="http://schemas.microsoft.com/office/drawing/2014/main" id="{49F4C520-B127-4BC6-8205-F6F11D7BF37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5FCD9BCA-760E-414A-B60A-2D408A26FE4B}"/>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3" name="">
            <a:extLst xmlns:a="http://schemas.openxmlformats.org/drawingml/2006/main">
              <a:ext uri="{FF2B5EF4-FFF2-40B4-BE49-F238E27FC236}">
                <a16:creationId xmlns:a16="http://schemas.microsoft.com/office/drawing/2014/main" id="{587C01DE-CDDB-4933-838A-4B4D0D600F0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4" name="">
            <a:extLst xmlns:a="http://schemas.openxmlformats.org/drawingml/2006/main">
              <a:ext uri="{FF2B5EF4-FFF2-40B4-BE49-F238E27FC236}">
                <a16:creationId xmlns:a16="http://schemas.microsoft.com/office/drawing/2014/main" id="{84057062-98F0-412E-807D-D7E8FE558D97}"/>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33</a:t>
            </a:r>
          </a:p>
        </p:txBody>
      </p:sp>
    </p:spTree>
    <p:extLst>
      <p:ext uri="{BB962C8B-B14F-4D97-AF65-F5344CB8AC3E}">
        <p14:creationId xmlns:p14="http://schemas.microsoft.com/office/powerpoint/2010/main" val="1184979081"/>
      </p:ext>
    </p:extLst>
  </p:cSld>
  <p:transition spd="med" advClick="1">
    <p:fade/>
  </p:transition>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2ed31063d934031"/>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877a7be8ad24df5"/>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C97C23F-998A-4E73-9870-20191B7D8B36}"/>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Latencia y throughput</a:t>
            </a:r>
          </a:p>
        </p:txBody>
      </p:sp>
      <p:sp>
        <p:nvSpPr>
          <p:cNvPr id="11" name="">
            <a:extLst xmlns:a="http://schemas.openxmlformats.org/drawingml/2006/main">
              <a:ext uri="{FF2B5EF4-FFF2-40B4-BE49-F238E27FC236}">
                <a16:creationId xmlns:a16="http://schemas.microsoft.com/office/drawing/2014/main" id="{16087B8E-9012-42C8-81D1-AA90177453C2}"/>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Latencia</a:t>
            </a:r>
          </a:p>
        </p:txBody>
      </p:sp>
      <p:sp>
        <p:nvSpPr>
          <p:cNvPr id="12" name="">
            <a:extLst xmlns:a="http://schemas.openxmlformats.org/drawingml/2006/main">
              <a:ext uri="{FF2B5EF4-FFF2-40B4-BE49-F238E27FC236}">
                <a16:creationId xmlns:a16="http://schemas.microsoft.com/office/drawing/2014/main" id="{4E75AB14-5AD9-4843-AE27-B62EC0A661FB}"/>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Tiempo entre una solicitud y su respuesta.</a:t>
            </a:r>
          </a:p>
        </p:txBody>
      </p:sp>
      <p:sp>
        <p:nvSpPr>
          <p:cNvPr id="13" name="">
            <a:extLst xmlns:a="http://schemas.openxmlformats.org/drawingml/2006/main">
              <a:ext uri="{FF2B5EF4-FFF2-40B4-BE49-F238E27FC236}">
                <a16:creationId xmlns:a16="http://schemas.microsoft.com/office/drawing/2014/main" id="{E30E2B25-26F9-4BF5-BA8D-2D21AD1638ED}"/>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Throughput</a:t>
            </a:r>
          </a:p>
        </p:txBody>
      </p:sp>
      <p:sp>
        <p:nvSpPr>
          <p:cNvPr id="14" name="">
            <a:extLst xmlns:a="http://schemas.openxmlformats.org/drawingml/2006/main">
              <a:ext uri="{FF2B5EF4-FFF2-40B4-BE49-F238E27FC236}">
                <a16:creationId xmlns:a16="http://schemas.microsoft.com/office/drawing/2014/main" id="{4CC9DCBC-7554-42EE-AAE8-4F31C1AEE288}"/>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Trabajo completado por unidad de tiempo.</a:t>
            </a:r>
          </a:p>
        </p:txBody>
      </p:sp>
      <p:sp>
        <p:nvSpPr>
          <p:cNvPr id="15" name="">
            <a:extLst xmlns:a="http://schemas.openxmlformats.org/drawingml/2006/main">
              <a:ext uri="{FF2B5EF4-FFF2-40B4-BE49-F238E27FC236}">
                <a16:creationId xmlns:a16="http://schemas.microsoft.com/office/drawing/2014/main" id="{9197C270-71CD-4E45-930B-1023A8CC0039}"/>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Dos mediciones</a:t>
            </a:r>
          </a:p>
        </p:txBody>
      </p:sp>
      <p:sp>
        <p:nvSpPr>
          <p:cNvPr id="16" name="">
            <a:extLst xmlns:a="http://schemas.openxmlformats.org/drawingml/2006/main">
              <a:ext uri="{FF2B5EF4-FFF2-40B4-BE49-F238E27FC236}">
                <a16:creationId xmlns:a16="http://schemas.microsoft.com/office/drawing/2014/main" id="{8E80FF9F-075B-4B85-AC12-796BCBF859B5}"/>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Segundos por consulta y eventos por segundo responden preguntas distintas.</a:t>
            </a:r>
          </a:p>
        </p:txBody>
      </p:sp>
      <p:sp>
        <p:nvSpPr>
          <p:cNvPr id="17" name="">
            <a:extLst xmlns:a="http://schemas.openxmlformats.org/drawingml/2006/main">
              <a:ext uri="{FF2B5EF4-FFF2-40B4-BE49-F238E27FC236}">
                <a16:creationId xmlns:a16="http://schemas.microsoft.com/office/drawing/2014/main" id="{55BBCE8E-341E-4E88-9413-0A8B98C120E1}"/>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El procesamiento por lotes puede elevar throughput y también aumentar latencia</a:t>
            </a:r>
          </a:p>
        </p:txBody>
      </p:sp>
      <p:sp>
        <p:nvSpPr>
          <p:cNvPr id="32" name="">
            <a:extLst xmlns:a="http://schemas.openxmlformats.org/drawingml/2006/main">
              <a:ext uri="{FF2B5EF4-FFF2-40B4-BE49-F238E27FC236}">
                <a16:creationId xmlns:a16="http://schemas.microsoft.com/office/drawing/2014/main" id="{29AAB955-ECA4-4950-84FD-454FFAC67D66}"/>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9FF750DE-CCB6-4ECC-A4E2-90773465A9A3}"/>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E84B2597-C97C-4DF4-8183-BD5A0DDF1FDC}"/>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5" name="">
            <a:extLst xmlns:a="http://schemas.openxmlformats.org/drawingml/2006/main">
              <a:ext uri="{FF2B5EF4-FFF2-40B4-BE49-F238E27FC236}">
                <a16:creationId xmlns:a16="http://schemas.microsoft.com/office/drawing/2014/main" id="{1E73018B-493E-4299-B857-9BC9F4EF25D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34</a:t>
            </a:r>
          </a:p>
        </p:txBody>
      </p:sp>
    </p:spTree>
    <p:extLst>
      <p:ext uri="{BB962C8B-B14F-4D97-AF65-F5344CB8AC3E}">
        <p14:creationId xmlns:p14="http://schemas.microsoft.com/office/powerpoint/2010/main" val="66433027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219dd7772df4f62"/>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D4BAEAE-42D6-44D7-9C17-AA3E1270427A}"/>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Receso</a:t>
            </a:r>
          </a:p>
        </p:txBody>
      </p:sp>
      <p:sp>
        <p:nvSpPr>
          <p:cNvPr id="2" name="">
            <a:extLst xmlns:a="http://schemas.openxmlformats.org/drawingml/2006/main">
              <a:ext uri="{FF2B5EF4-FFF2-40B4-BE49-F238E27FC236}">
                <a16:creationId xmlns:a16="http://schemas.microsoft.com/office/drawing/2014/main" id="{19DD799B-170C-4F9A-845F-507C7627F495}"/>
              </a:ext>
            </a:extLst>
          </p:cNvPr>
          <p:cNvSpPr>
            <a:spLocks xmlns:a="http://schemas.openxmlformats.org/drawingml/2006/main" noGrp="1"/>
          </p:cNvSpPr>
          <p:nvPr/>
        </p:nvSpPr>
        <p:spPr>
          <a:xfrm xmlns:a="http://schemas.openxmlformats.org/drawingml/2006/main">
            <a:off x="6096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20:00–20:15</a:t>
            </a:r>
          </a:p>
        </p:txBody>
      </p:sp>
      <p:sp>
        <p:nvSpPr>
          <p:cNvPr id="3" name="">
            <a:extLst xmlns:a="http://schemas.openxmlformats.org/drawingml/2006/main">
              <a:ext uri="{FF2B5EF4-FFF2-40B4-BE49-F238E27FC236}">
                <a16:creationId xmlns:a16="http://schemas.microsoft.com/office/drawing/2014/main" id="{38572C5F-9D0C-4E65-8A54-2EECAEF3A071}"/>
              </a:ext>
            </a:extLst>
          </p:cNvPr>
          <p:cNvSpPr>
            <a:spLocks xmlns:a="http://schemas.openxmlformats.org/drawingml/2006/main" noGrp="1"/>
          </p:cNvSpPr>
          <p:nvPr/>
        </p:nvSpPr>
        <p:spPr>
          <a:xfrm xmlns:a="http://schemas.openxmlformats.org/drawingml/2006/main">
            <a:off x="609600" y="45243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F3864"/>
                </a:solidFill>
                <a:latin typeface="Helvetica Neue"/>
                <a:ea typeface="Helvetica Neue"/>
                <a:cs typeface="Helvetica Neue"/>
              </a:defRPr>
            </a:pPr>
            <a:r>
              <a:rPr sz="2400" b="0">
                <a:solidFill>
                  <a:srgbClr val="1F3864"/>
                </a:solidFill>
                <a:latin typeface="Helvetica Neue"/>
                <a:ea typeface="Helvetica Neue"/>
                <a:cs typeface="Helvetica Neue"/>
              </a:rPr>
              <a:t>Regresamos con la ficha del problema</a:t>
            </a:r>
          </a:p>
        </p:txBody>
      </p:sp>
      <p:sp>
        <p:nvSpPr>
          <p:cNvPr id="17" name="">
            <a:extLst xmlns:a="http://schemas.openxmlformats.org/drawingml/2006/main">
              <a:ext uri="{FF2B5EF4-FFF2-40B4-BE49-F238E27FC236}">
                <a16:creationId xmlns:a16="http://schemas.microsoft.com/office/drawing/2014/main" id="{93F62317-E408-4CC8-9EBA-ED7E5482986F}"/>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5520A6EA-3C9B-457B-BCA5-E0B8AC896EE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53E777E1-4458-41DE-95AC-63E5D6800948}"/>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0" name="">
            <a:extLst xmlns:a="http://schemas.openxmlformats.org/drawingml/2006/main">
              <a:ext uri="{FF2B5EF4-FFF2-40B4-BE49-F238E27FC236}">
                <a16:creationId xmlns:a16="http://schemas.microsoft.com/office/drawing/2014/main" id="{724A9F17-46E4-49D0-9893-8D79B9D77925}"/>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35</a:t>
            </a:r>
          </a:p>
        </p:txBody>
      </p:sp>
    </p:spTree>
    <p:extLst>
      <p:ext uri="{BB962C8B-B14F-4D97-AF65-F5344CB8AC3E}">
        <p14:creationId xmlns:p14="http://schemas.microsoft.com/office/powerpoint/2010/main" val="1134223317"/>
      </p:ext>
    </p:extLst>
  </p:cSld>
  <p:transition spd="med" advClick="1">
    <p:fade/>
  </p:transition>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b54cd27d5cf4e3a"/>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948750-BDE8-4B38-AB62-E0777D93539C}"/>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Tamaño del corte docente</a:t>
            </a:r>
          </a:p>
        </p:txBody>
      </p:sp>
      <p:sp>
        <p:nvSpPr>
          <p:cNvPr id="2" name="">
            <a:extLst xmlns:a="http://schemas.openxmlformats.org/drawingml/2006/main">
              <a:ext uri="{FF2B5EF4-FFF2-40B4-BE49-F238E27FC236}">
                <a16:creationId xmlns:a16="http://schemas.microsoft.com/office/drawing/2014/main" id="{99774AC5-9297-4C98-AB8A-2466B9C18C7A}"/>
              </a:ext>
            </a:extLst>
          </p:cNvPr>
          <p:cNvSpPr>
            <a:spLocks xmlns:a="http://schemas.openxmlformats.org/drawingml/2006/main" noGrp="1"/>
          </p:cNvSpPr>
          <p:nvPr/>
        </p:nvSpPr>
        <p:spPr>
          <a:xfrm xmlns:a="http://schemas.openxmlformats.org/drawingml/2006/main">
            <a:off x="609600" y="2009775"/>
            <a:ext cx="10953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136,4 MB</a:t>
            </a:r>
          </a:p>
        </p:txBody>
      </p:sp>
      <p:sp>
        <p:nvSpPr>
          <p:cNvPr id="3" name="">
            <a:extLst xmlns:a="http://schemas.openxmlformats.org/drawingml/2006/main">
              <a:ext uri="{FF2B5EF4-FFF2-40B4-BE49-F238E27FC236}">
                <a16:creationId xmlns:a16="http://schemas.microsoft.com/office/drawing/2014/main" id="{4786CA37-DBA7-466F-9E56-09CF9D6691D6}"/>
              </a:ext>
            </a:extLst>
          </p:cNvPr>
          <p:cNvSpPr>
            <a:spLocks xmlns:a="http://schemas.openxmlformats.org/drawingml/2006/main" noGrp="1"/>
          </p:cNvSpPr>
          <p:nvPr/>
        </p:nvSpPr>
        <p:spPr>
          <a:xfrm xmlns:a="http://schemas.openxmlformats.org/drawingml/2006/main">
            <a:off x="609600" y="36766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F3864"/>
                </a:solidFill>
                <a:latin typeface="Helvetica Neue"/>
                <a:ea typeface="Helvetica Neue"/>
                <a:cs typeface="Helvetica Neue"/>
              </a:defRPr>
            </a:pPr>
            <a:r>
              <a:rPr sz="2550" b="1">
                <a:solidFill>
                  <a:srgbClr val="1F3864"/>
                </a:solidFill>
                <a:latin typeface="Helvetica Neue"/>
                <a:ea typeface="Helvetica Neue"/>
                <a:cs typeface="Helvetica Neue"/>
              </a:rPr>
              <a:t>12 archivos originales descargados</a:t>
            </a:r>
          </a:p>
        </p:txBody>
      </p:sp>
      <p:sp>
        <p:nvSpPr>
          <p:cNvPr id="4" name="">
            <a:extLst xmlns:a="http://schemas.openxmlformats.org/drawingml/2006/main">
              <a:ext uri="{FF2B5EF4-FFF2-40B4-BE49-F238E27FC236}">
                <a16:creationId xmlns:a16="http://schemas.microsoft.com/office/drawing/2014/main" id="{05B5544C-0799-4F7E-9D60-5F984A91283F}"/>
              </a:ext>
            </a:extLst>
          </p:cNvPr>
          <p:cNvSpPr>
            <a:spLocks xmlns:a="http://schemas.openxmlformats.org/drawingml/2006/main" noGrp="1"/>
          </p:cNvSpPr>
          <p:nvPr/>
        </p:nvSpPr>
        <p:spPr>
          <a:xfrm xmlns:a="http://schemas.openxmlformats.org/drawingml/2006/main">
            <a:off x="609600" y="51435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025" b="0">
                <a:solidFill>
                  <a:srgbClr val="1F3864"/>
                </a:solidFill>
                <a:latin typeface="Helvetica Neue"/>
                <a:ea typeface="Helvetica Neue"/>
                <a:cs typeface="Helvetica Neue"/>
              </a:defRPr>
            </a:pPr>
            <a:r>
              <a:rPr sz="2025" b="0">
                <a:solidFill>
                  <a:srgbClr val="1F3864"/>
                </a:solidFill>
                <a:latin typeface="Helvetica Neue"/>
                <a:ea typeface="Helvetica Neue"/>
                <a:cs typeface="Helvetica Neue"/>
              </a:rPr>
              <a:t>Antes de extraer shapes o crear salidas. MB decimales.</a:t>
            </a:r>
          </a:p>
        </p:txBody>
      </p:sp>
      <p:sp>
        <p:nvSpPr>
          <p:cNvPr id="18" name="">
            <a:extLst xmlns:a="http://schemas.openxmlformats.org/drawingml/2006/main">
              <a:ext uri="{FF2B5EF4-FFF2-40B4-BE49-F238E27FC236}">
                <a16:creationId xmlns:a16="http://schemas.microsoft.com/office/drawing/2014/main" id="{46A75CC1-D6A7-4C63-A784-ECB49032CFA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9" name="">
            <a:extLst xmlns:a="http://schemas.openxmlformats.org/drawingml/2006/main">
              <a:ext uri="{FF2B5EF4-FFF2-40B4-BE49-F238E27FC236}">
                <a16:creationId xmlns:a16="http://schemas.microsoft.com/office/drawing/2014/main" id="{AA62CEC7-C983-4CD5-912E-615FF1828E4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0" name="">
            <a:extLst xmlns:a="http://schemas.openxmlformats.org/drawingml/2006/main">
              <a:ext uri="{FF2B5EF4-FFF2-40B4-BE49-F238E27FC236}">
                <a16:creationId xmlns:a16="http://schemas.microsoft.com/office/drawing/2014/main" id="{9231767A-02C8-4767-B725-3E7991A49C9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1" name="">
            <a:extLst xmlns:a="http://schemas.openxmlformats.org/drawingml/2006/main">
              <a:ext uri="{FF2B5EF4-FFF2-40B4-BE49-F238E27FC236}">
                <a16:creationId xmlns:a16="http://schemas.microsoft.com/office/drawing/2014/main" id="{2B37384A-B268-4BC5-81A1-F852428667C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36</a:t>
            </a:r>
          </a:p>
        </p:txBody>
      </p:sp>
    </p:spTree>
    <p:extLst>
      <p:ext uri="{BB962C8B-B14F-4D97-AF65-F5344CB8AC3E}">
        <p14:creationId xmlns:p14="http://schemas.microsoft.com/office/powerpoint/2010/main" val="1587861886"/>
      </p:ext>
    </p:extLst>
  </p:cSld>
  <p:transition spd="med" advClick="1">
    <p:fade/>
  </p:transition>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71f3a9314a948b5"/>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f2f830a730346bc"/>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57B4899-63A5-4A98-AF5D-E00383933447}"/>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Componentes de una solución de datos</a:t>
            </a:r>
          </a:p>
        </p:txBody>
      </p:sp>
      <p:sp>
        <p:nvSpPr>
          <p:cNvPr id="10" name="">
            <a:extLst xmlns:a="http://schemas.openxmlformats.org/drawingml/2006/main">
              <a:ext uri="{FF2B5EF4-FFF2-40B4-BE49-F238E27FC236}">
                <a16:creationId xmlns:a16="http://schemas.microsoft.com/office/drawing/2014/main" id="{F3A42833-A09D-45A7-8295-3CBE454ADC49}"/>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Entradas y descarga</a:t>
            </a:r>
          </a:p>
        </p:txBody>
      </p:sp>
      <p:sp>
        <p:nvSpPr>
          <p:cNvPr id="11" name="">
            <a:extLst xmlns:a="http://schemas.openxmlformats.org/drawingml/2006/main">
              <a:ext uri="{FF2B5EF4-FFF2-40B4-BE49-F238E27FC236}">
                <a16:creationId xmlns:a16="http://schemas.microsoft.com/office/drawing/2014/main" id="{07568103-E98D-4146-BAC2-645213305540}"/>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Registrar procedencia y conservar originales.</a:t>
            </a:r>
          </a:p>
        </p:txBody>
      </p:sp>
      <p:sp>
        <p:nvSpPr>
          <p:cNvPr id="12" name="">
            <a:extLst xmlns:a="http://schemas.openxmlformats.org/drawingml/2006/main">
              <a:ext uri="{FF2B5EF4-FFF2-40B4-BE49-F238E27FC236}">
                <a16:creationId xmlns:a16="http://schemas.microsoft.com/office/drawing/2014/main" id="{82C97FA7-C06C-49AD-9618-02F9F6CFC613}"/>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Calidad y proceso</a:t>
            </a:r>
          </a:p>
        </p:txBody>
      </p:sp>
      <p:sp>
        <p:nvSpPr>
          <p:cNvPr id="13" name="">
            <a:extLst xmlns:a="http://schemas.openxmlformats.org/drawingml/2006/main">
              <a:ext uri="{FF2B5EF4-FFF2-40B4-BE49-F238E27FC236}">
                <a16:creationId xmlns:a16="http://schemas.microsoft.com/office/drawing/2014/main" id="{2B795631-C8D0-420E-800A-A1084DA6E9B4}"/>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Validar, transformar y producir resultados.</a:t>
            </a:r>
          </a:p>
        </p:txBody>
      </p:sp>
      <p:sp>
        <p:nvSpPr>
          <p:cNvPr id="14" name="">
            <a:extLst xmlns:a="http://schemas.openxmlformats.org/drawingml/2006/main">
              <a:ext uri="{FF2B5EF4-FFF2-40B4-BE49-F238E27FC236}">
                <a16:creationId xmlns:a16="http://schemas.microsoft.com/office/drawing/2014/main" id="{50FFA5BE-FDF8-45DC-A7B3-68A3273E5F7A}"/>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Uso y trazabilidad</a:t>
            </a:r>
          </a:p>
        </p:txBody>
      </p:sp>
      <p:sp>
        <p:nvSpPr>
          <p:cNvPr id="15" name="">
            <a:extLst xmlns:a="http://schemas.openxmlformats.org/drawingml/2006/main">
              <a:ext uri="{FF2B5EF4-FFF2-40B4-BE49-F238E27FC236}">
                <a16:creationId xmlns:a16="http://schemas.microsoft.com/office/drawing/2014/main" id="{10B3284D-A08C-4F31-BB9D-0CD55D98B815}"/>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Una decisión verificable y un recorrido reproducible.</a:t>
            </a:r>
          </a:p>
        </p:txBody>
      </p:sp>
      <p:sp>
        <p:nvSpPr>
          <p:cNvPr id="16" name="">
            <a:extLst xmlns:a="http://schemas.openxmlformats.org/drawingml/2006/main">
              <a:ext uri="{FF2B5EF4-FFF2-40B4-BE49-F238E27FC236}">
                <a16:creationId xmlns:a16="http://schemas.microsoft.com/office/drawing/2014/main" id="{9338A3E0-7052-4E75-996E-E1B8BD2051FA}"/>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 calidad y la trazabilidad acompañan todo el recorrido</a:t>
            </a:r>
          </a:p>
        </p:txBody>
      </p:sp>
      <p:sp>
        <p:nvSpPr>
          <p:cNvPr id="31" name="">
            <a:extLst xmlns:a="http://schemas.openxmlformats.org/drawingml/2006/main">
              <a:ext uri="{FF2B5EF4-FFF2-40B4-BE49-F238E27FC236}">
                <a16:creationId xmlns:a16="http://schemas.microsoft.com/office/drawing/2014/main" id="{CE1B8E1F-7406-47F5-81E9-1865A90B74C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2" name="">
            <a:extLst xmlns:a="http://schemas.openxmlformats.org/drawingml/2006/main">
              <a:ext uri="{FF2B5EF4-FFF2-40B4-BE49-F238E27FC236}">
                <a16:creationId xmlns:a16="http://schemas.microsoft.com/office/drawing/2014/main" id="{0BDF697A-B468-4B43-8CCA-ACA46752E72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3" name="">
            <a:extLst xmlns:a="http://schemas.openxmlformats.org/drawingml/2006/main">
              <a:ext uri="{FF2B5EF4-FFF2-40B4-BE49-F238E27FC236}">
                <a16:creationId xmlns:a16="http://schemas.microsoft.com/office/drawing/2014/main" id="{3D11B362-266D-44AA-B399-AC0CDD39B24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4" name="">
            <a:extLst xmlns:a="http://schemas.openxmlformats.org/drawingml/2006/main">
              <a:ext uri="{FF2B5EF4-FFF2-40B4-BE49-F238E27FC236}">
                <a16:creationId xmlns:a16="http://schemas.microsoft.com/office/drawing/2014/main" id="{BA296EE8-BB35-48F0-A561-7D031B9A1F0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37</a:t>
            </a:r>
          </a:p>
        </p:txBody>
      </p:sp>
    </p:spTree>
    <p:extLst>
      <p:ext uri="{BB962C8B-B14F-4D97-AF65-F5344CB8AC3E}">
        <p14:creationId xmlns:p14="http://schemas.microsoft.com/office/powerpoint/2010/main" val="114299300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0"/>
                                        </p:tgtEl>
                                        <p:attrNameLst>
                                          <p:attrName>style.visibility</p:attrName>
                                        </p:attrNameLst>
                                      </p:cBhvr>
                                      <p:to>
                                        <p:strVal val="visible"/>
                                      </p:to>
                                    </p:set>
                                    <p:animEffect transition="in" filter="fade">
                                      <p:cBhvr>
                                        <p:cTn id="7" dur="300"/>
                                        <p:tgtEl>
                                          <p:spTgt spid="10"/>
                                        </p:tgtEl>
                                      </p:cBhvr>
                                    </p:animEffect>
                                  </p:childTnLst>
                                </p:cTn>
                              </p:par>
                              <p:par>
                                <p:cTn id="8" presetID="10" presetClass="entr" presetSubtype="0" fill="hold" nodeType="clickEffect">
                                  <p:stCondLst>
                                    <p:cond delay="0"/>
                                  </p:stCondLst>
                                  <p:childTnLst>
                                    <p:set>
                                      <p:cBhvr>
                                        <p:cTn id="9" dur="1" fill="hold"/>
                                        <p:tgtEl>
                                          <p:spTgt spid="11"/>
                                        </p:tgtEl>
                                        <p:attrNameLst>
                                          <p:attrName>style.visibility</p:attrName>
                                        </p:attrNameLst>
                                      </p:cBhvr>
                                      <p:to>
                                        <p:strVal val="visible"/>
                                      </p:to>
                                    </p:set>
                                    <p:animEffect transition="in" filter="fade">
                                      <p:cBhvr>
                                        <p:cTn id="10" dur="3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2"/>
                                        </p:tgtEl>
                                        <p:attrNameLst>
                                          <p:attrName>style.visibility</p:attrName>
                                        </p:attrNameLst>
                                      </p:cBhvr>
                                      <p:to>
                                        <p:strVal val="visible"/>
                                      </p:to>
                                    </p:set>
                                    <p:animEffect transition="in" filter="fade">
                                      <p:cBhvr>
                                        <p:cTn id="15" dur="300"/>
                                        <p:tgtEl>
                                          <p:spTgt spid="12"/>
                                        </p:tgtEl>
                                      </p:cBhvr>
                                    </p:animEffect>
                                  </p:childTnLst>
                                </p:cTn>
                              </p:par>
                              <p:par>
                                <p:cTn id="16" presetID="10" presetClass="entr" presetSubtype="0" fill="hold" nodeType="clickEffect">
                                  <p:stCondLst>
                                    <p:cond delay="0"/>
                                  </p:stCondLst>
                                  <p:childTnLst>
                                    <p:set>
                                      <p:cBhvr>
                                        <p:cTn id="17" dur="1" fill="hold"/>
                                        <p:tgtEl>
                                          <p:spTgt spid="13"/>
                                        </p:tgtEl>
                                        <p:attrNameLst>
                                          <p:attrName>style.visibility</p:attrName>
                                        </p:attrNameLst>
                                      </p:cBhvr>
                                      <p:to>
                                        <p:strVal val="visible"/>
                                      </p:to>
                                    </p:set>
                                    <p:animEffect transition="in" filter="fade">
                                      <p:cBhvr>
                                        <p:cTn id="18" dur="3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4"/>
                                        </p:tgtEl>
                                        <p:attrNameLst>
                                          <p:attrName>style.visibility</p:attrName>
                                        </p:attrNameLst>
                                      </p:cBhvr>
                                      <p:to>
                                        <p:strVal val="visible"/>
                                      </p:to>
                                    </p:set>
                                    <p:animEffect transition="in" filter="fade">
                                      <p:cBhvr>
                                        <p:cTn id="23" dur="300"/>
                                        <p:tgtEl>
                                          <p:spTgt spid="14"/>
                                        </p:tgtEl>
                                      </p:cBhvr>
                                    </p:animEffect>
                                  </p:childTnLst>
                                </p:cTn>
                              </p:par>
                              <p:par>
                                <p:cTn id="24" presetID="10" presetClass="entr" presetSubtype="0" fill="hold" nodeType="clickEffect">
                                  <p:stCondLst>
                                    <p:cond delay="0"/>
                                  </p:stCondLst>
                                  <p:childTnLst>
                                    <p:set>
                                      <p:cBhvr>
                                        <p:cTn id="25" dur="1" fill="hold"/>
                                        <p:tgtEl>
                                          <p:spTgt spid="15"/>
                                        </p:tgtEl>
                                        <p:attrNameLst>
                                          <p:attrName>style.visibility</p:attrName>
                                        </p:attrNameLst>
                                      </p:cBhvr>
                                      <p:to>
                                        <p:strVal val="visible"/>
                                      </p:to>
                                    </p:set>
                                    <p:animEffect transition="in" filter="fade">
                                      <p:cBhvr>
                                        <p:cTn id="26"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36c0183418547b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9110C7-46DB-4274-AFE4-9B89778A8FBF}"/>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Ciclo de vida de un producto de datos</a:t>
            </a:r>
          </a:p>
        </p:txBody>
      </p:sp>
      <p:sp>
        <p:nvSpPr>
          <p:cNvPr id="3" name="">
            <a:extLst xmlns:a="http://schemas.openxmlformats.org/drawingml/2006/main">
              <a:ext uri="{FF2B5EF4-FFF2-40B4-BE49-F238E27FC236}">
                <a16:creationId xmlns:a16="http://schemas.microsoft.com/office/drawing/2014/main" id="{6CF5F3B3-D656-40C3-8CD2-D3E251786CFF}"/>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Adquirir y conservar</a:t>
            </a:r>
          </a:p>
        </p:txBody>
      </p:sp>
      <p:sp>
        <p:nvSpPr>
          <p:cNvPr id="4" name="">
            <a:extLst xmlns:a="http://schemas.openxmlformats.org/drawingml/2006/main">
              <a:ext uri="{FF2B5EF4-FFF2-40B4-BE49-F238E27FC236}">
                <a16:creationId xmlns:a16="http://schemas.microsoft.com/office/drawing/2014/main" id="{AF55C31F-778C-4FA3-AC13-1DCCBD517E50}"/>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Fuente, fecha de corte, licencia, hash y copia original.</a:t>
            </a:r>
          </a:p>
        </p:txBody>
      </p:sp>
      <p:sp>
        <p:nvSpPr>
          <p:cNvPr id="5" name="">
            <a:extLst xmlns:a="http://schemas.openxmlformats.org/drawingml/2006/main">
              <a:ext uri="{FF2B5EF4-FFF2-40B4-BE49-F238E27FC236}">
                <a16:creationId xmlns:a16="http://schemas.microsoft.com/office/drawing/2014/main" id="{9E13B28D-DF29-4E7A-9570-B8AF7A245D7B}"/>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Transformar y verificar</a:t>
            </a:r>
          </a:p>
        </p:txBody>
      </p:sp>
      <p:sp>
        <p:nvSpPr>
          <p:cNvPr id="6" name="">
            <a:extLst xmlns:a="http://schemas.openxmlformats.org/drawingml/2006/main">
              <a:ext uri="{FF2B5EF4-FFF2-40B4-BE49-F238E27FC236}">
                <a16:creationId xmlns:a16="http://schemas.microsoft.com/office/drawing/2014/main" id="{4250F315-F47F-4378-98F4-B8E936F815D2}"/>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Contrato, reglas y conciliación de entradas y salidas.</a:t>
            </a:r>
          </a:p>
        </p:txBody>
      </p:sp>
      <p:sp>
        <p:nvSpPr>
          <p:cNvPr id="7" name="">
            <a:extLst xmlns:a="http://schemas.openxmlformats.org/drawingml/2006/main">
              <a:ext uri="{FF2B5EF4-FFF2-40B4-BE49-F238E27FC236}">
                <a16:creationId xmlns:a16="http://schemas.microsoft.com/office/drawing/2014/main" id="{448C8BB1-5009-4A20-80D1-999AE17B974C}"/>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Publicar y operar</a:t>
            </a:r>
          </a:p>
        </p:txBody>
      </p:sp>
      <p:sp>
        <p:nvSpPr>
          <p:cNvPr id="8" name="">
            <a:extLst xmlns:a="http://schemas.openxmlformats.org/drawingml/2006/main">
              <a:ext uri="{FF2B5EF4-FFF2-40B4-BE49-F238E27FC236}">
                <a16:creationId xmlns:a16="http://schemas.microsoft.com/office/drawing/2014/main" id="{8AE358A1-025C-4734-A411-2BDC45333B20}"/>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Producto con clave, versión de datos, responsable y monitoreo.</a:t>
            </a:r>
          </a:p>
        </p:txBody>
      </p:sp>
      <p:sp>
        <p:nvSpPr>
          <p:cNvPr id="9" name="">
            <a:extLst xmlns:a="http://schemas.openxmlformats.org/drawingml/2006/main">
              <a:ext uri="{FF2B5EF4-FFF2-40B4-BE49-F238E27FC236}">
                <a16:creationId xmlns:a16="http://schemas.microsoft.com/office/drawing/2014/main" id="{28E34877-38D3-4EA7-A8D0-E0722E181316}"/>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Cada salida debe poder reconstruirse desde las entradas y las reglas</a:t>
            </a:r>
          </a:p>
        </p:txBody>
      </p:sp>
      <p:sp>
        <p:nvSpPr>
          <p:cNvPr id="19" name="">
            <a:extLst xmlns:a="http://schemas.openxmlformats.org/drawingml/2006/main">
              <a:ext uri="{FF2B5EF4-FFF2-40B4-BE49-F238E27FC236}">
                <a16:creationId xmlns:a16="http://schemas.microsoft.com/office/drawing/2014/main" id="{FF5EC33A-BEEE-479B-969B-986C1FCB8A41}"/>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A07BE822-E3CD-47D5-9983-A93B7353F3F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1" name="">
            <a:extLst xmlns:a="http://schemas.openxmlformats.org/drawingml/2006/main">
              <a:ext uri="{FF2B5EF4-FFF2-40B4-BE49-F238E27FC236}">
                <a16:creationId xmlns:a16="http://schemas.microsoft.com/office/drawing/2014/main" id="{A96D47DC-F13B-47D1-8360-12F9CBCDCFDC}"/>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2" name="">
            <a:extLst xmlns:a="http://schemas.openxmlformats.org/drawingml/2006/main">
              <a:ext uri="{FF2B5EF4-FFF2-40B4-BE49-F238E27FC236}">
                <a16:creationId xmlns:a16="http://schemas.microsoft.com/office/drawing/2014/main" id="{3DFAF6E6-D513-47BB-9821-F383FC7AD0A2}"/>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38</a:t>
            </a:r>
          </a:p>
        </p:txBody>
      </p:sp>
    </p:spTree>
    <p:extLst>
      <p:ext uri="{BB962C8B-B14F-4D97-AF65-F5344CB8AC3E}">
        <p14:creationId xmlns:p14="http://schemas.microsoft.com/office/powerpoint/2010/main" val="53469490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ac34a9c977947b1"/>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6814450-4056-4B6D-A545-E30277C17CF7}"/>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Partición y réplica</a:t>
            </a:r>
          </a:p>
        </p:txBody>
      </p:sp>
      <p:sp>
        <p:nvSpPr>
          <p:cNvPr id="2" name="">
            <a:extLst xmlns:a="http://schemas.openxmlformats.org/drawingml/2006/main">
              <a:ext uri="{FF2B5EF4-FFF2-40B4-BE49-F238E27FC236}">
                <a16:creationId xmlns:a16="http://schemas.microsoft.com/office/drawing/2014/main" id="{D133BC4D-224B-4114-9D15-50EA48A70AB0}"/>
              </a:ext>
            </a:extLst>
          </p:cNvPr>
          <p:cNvSpPr>
            <a:spLocks xmlns:a="http://schemas.openxmlformats.org/drawingml/2006/main" noGrp="1"/>
          </p:cNvSpPr>
          <p:nvPr/>
        </p:nvSpPr>
        <p:spPr>
          <a:xfrm xmlns:a="http://schemas.openxmlformats.org/drawingml/2006/main">
            <a:off x="609600" y="2057400"/>
            <a:ext cx="502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1">
                <a:solidFill>
                  <a:srgbClr val="4239C8"/>
                </a:solidFill>
                <a:latin typeface="Helvetica Neue"/>
                <a:ea typeface="Helvetica Neue"/>
                <a:cs typeface="Helvetica Neue"/>
              </a:defRPr>
            </a:pPr>
            <a:r>
              <a:rPr sz="2325" b="1">
                <a:solidFill>
                  <a:srgbClr val="4239C8"/>
                </a:solidFill>
                <a:latin typeface="Helvetica Neue"/>
                <a:ea typeface="Helvetica Neue"/>
                <a:cs typeface="Helvetica Neue"/>
              </a:rPr>
              <a:t>Partición</a:t>
            </a:r>
          </a:p>
        </p:txBody>
      </p:sp>
      <p:sp>
        <p:nvSpPr>
          <p:cNvPr id="3" name="">
            <a:extLst xmlns:a="http://schemas.openxmlformats.org/drawingml/2006/main">
              <a:ext uri="{FF2B5EF4-FFF2-40B4-BE49-F238E27FC236}">
                <a16:creationId xmlns:a16="http://schemas.microsoft.com/office/drawing/2014/main" id="{7A5A8BA5-57A2-4603-8978-633D219910B7}"/>
              </a:ext>
            </a:extLst>
          </p:cNvPr>
          <p:cNvSpPr>
            <a:spLocks xmlns:a="http://schemas.openxmlformats.org/drawingml/2006/main" noGrp="1"/>
          </p:cNvSpPr>
          <p:nvPr/>
        </p:nvSpPr>
        <p:spPr>
          <a:xfrm xmlns:a="http://schemas.openxmlformats.org/drawingml/2006/main">
            <a:off x="609600" y="2819400"/>
            <a:ext cx="49530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F3864"/>
                </a:solidFill>
                <a:latin typeface="Helvetica Neue"/>
                <a:ea typeface="Helvetica Neue"/>
                <a:cs typeface="Helvetica Neue"/>
              </a:defRPr>
            </a:pPr>
            <a:r>
              <a:rPr sz="2325" b="0">
                <a:solidFill>
                  <a:srgbClr val="1F3864"/>
                </a:solidFill>
                <a:latin typeface="Helvetica Neue"/>
                <a:ea typeface="Helvetica Neue"/>
                <a:cs typeface="Helvetica Neue"/>
              </a:rPr>
              <a:t>Divide los datos o el trabajo.</a:t>
            </a:r>
          </a:p>
          <a:p xmlns:a="http://schemas.openxmlformats.org/drawingml/2006/main">
            <a:pPr>
              <a:buNone/>
              <a:defRPr sz="2325" b="0">
                <a:solidFill>
                  <a:srgbClr val="1F3864"/>
                </a:solidFill>
                <a:latin typeface="Helvetica Neue"/>
                <a:ea typeface="Helvetica Neue"/>
                <a:cs typeface="Helvetica Neue"/>
              </a:defRPr>
            </a:pPr>
            <a:r>
              <a:rPr sz="2325" b="0">
                <a:solidFill>
                  <a:srgbClr val="1F3864"/>
                </a:solidFill>
                <a:latin typeface="Helvetica Neue"/>
                <a:ea typeface="Helvetica Neue"/>
                <a:cs typeface="Helvetica Neue"/>
              </a:rPr>
              <a:t>Ejemplo: registros EVA agrupados por año.</a:t>
            </a:r>
          </a:p>
        </p:txBody>
      </p:sp>
      <p:sp>
        <p:nvSpPr>
          <p:cNvPr id="4" name="">
            <a:extLst xmlns:a="http://schemas.openxmlformats.org/drawingml/2006/main">
              <a:ext uri="{FF2B5EF4-FFF2-40B4-BE49-F238E27FC236}">
                <a16:creationId xmlns:a16="http://schemas.microsoft.com/office/drawing/2014/main" id="{A32F8D87-7495-4F22-8411-298BA3BDE06C}"/>
              </a:ext>
            </a:extLst>
          </p:cNvPr>
          <p:cNvSpPr>
            <a:spLocks xmlns:a="http://schemas.openxmlformats.org/drawingml/2006/main" noGrp="1"/>
          </p:cNvSpPr>
          <p:nvPr/>
        </p:nvSpPr>
        <p:spPr>
          <a:xfrm xmlns:a="http://schemas.openxmlformats.org/drawingml/2006/main">
            <a:off x="6572250" y="2057400"/>
            <a:ext cx="5010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1">
                <a:solidFill>
                  <a:srgbClr val="4239C8"/>
                </a:solidFill>
                <a:latin typeface="Helvetica Neue"/>
                <a:ea typeface="Helvetica Neue"/>
                <a:cs typeface="Helvetica Neue"/>
              </a:defRPr>
            </a:pPr>
            <a:r>
              <a:rPr sz="2325" b="1">
                <a:solidFill>
                  <a:srgbClr val="4239C8"/>
                </a:solidFill>
                <a:latin typeface="Helvetica Neue"/>
                <a:ea typeface="Helvetica Neue"/>
                <a:cs typeface="Helvetica Neue"/>
              </a:rPr>
              <a:t>Réplica</a:t>
            </a:r>
          </a:p>
        </p:txBody>
      </p:sp>
      <p:sp>
        <p:nvSpPr>
          <p:cNvPr id="5" name="">
            <a:extLst xmlns:a="http://schemas.openxmlformats.org/drawingml/2006/main">
              <a:ext uri="{FF2B5EF4-FFF2-40B4-BE49-F238E27FC236}">
                <a16:creationId xmlns:a16="http://schemas.microsoft.com/office/drawing/2014/main" id="{0A4E08BE-9C72-4DA3-B6A1-CD0B791A5A06}"/>
              </a:ext>
            </a:extLst>
          </p:cNvPr>
          <p:cNvSpPr>
            <a:spLocks xmlns:a="http://schemas.openxmlformats.org/drawingml/2006/main" noGrp="1"/>
          </p:cNvSpPr>
          <p:nvPr/>
        </p:nvSpPr>
        <p:spPr>
          <a:xfrm xmlns:a="http://schemas.openxmlformats.org/drawingml/2006/main">
            <a:off x="6572250" y="2819400"/>
            <a:ext cx="48768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0">
                <a:solidFill>
                  <a:srgbClr val="1F3864"/>
                </a:solidFill>
                <a:latin typeface="Helvetica Neue"/>
                <a:ea typeface="Helvetica Neue"/>
                <a:cs typeface="Helvetica Neue"/>
              </a:defRPr>
            </a:pPr>
            <a:r>
              <a:rPr sz="2325" b="0">
                <a:solidFill>
                  <a:srgbClr val="1F3864"/>
                </a:solidFill>
                <a:latin typeface="Helvetica Neue"/>
                <a:ea typeface="Helvetica Neue"/>
                <a:cs typeface="Helvetica Neue"/>
              </a:rPr>
              <a:t>Conserva copias para disponibilidad.</a:t>
            </a:r>
          </a:p>
          <a:p xmlns:a="http://schemas.openxmlformats.org/drawingml/2006/main">
            <a:pPr>
              <a:buNone/>
              <a:defRPr sz="2325" b="0">
                <a:solidFill>
                  <a:srgbClr val="1F3864"/>
                </a:solidFill>
                <a:latin typeface="Helvetica Neue"/>
                <a:ea typeface="Helvetica Neue"/>
                <a:cs typeface="Helvetica Neue"/>
              </a:defRPr>
            </a:pPr>
            <a:r>
              <a:rPr sz="2325" b="0">
                <a:solidFill>
                  <a:srgbClr val="1F3864"/>
                </a:solidFill>
                <a:latin typeface="Helvetica Neue"/>
                <a:ea typeface="Helvetica Neue"/>
                <a:cs typeface="Helvetica Neue"/>
              </a:rPr>
              <a:t>Añade sincronización y almacenamiento.</a:t>
            </a:r>
          </a:p>
        </p:txBody>
      </p:sp>
      <p:sp>
        <p:nvSpPr>
          <p:cNvPr id="19" name="">
            <a:extLst xmlns:a="http://schemas.openxmlformats.org/drawingml/2006/main">
              <a:ext uri="{FF2B5EF4-FFF2-40B4-BE49-F238E27FC236}">
                <a16:creationId xmlns:a16="http://schemas.microsoft.com/office/drawing/2014/main" id="{EB23B62D-6677-414B-AC26-9B989FFE41B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76DA2E54-F2DD-4BE8-A3D0-3230B43142E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1" name="">
            <a:extLst xmlns:a="http://schemas.openxmlformats.org/drawingml/2006/main">
              <a:ext uri="{FF2B5EF4-FFF2-40B4-BE49-F238E27FC236}">
                <a16:creationId xmlns:a16="http://schemas.microsoft.com/office/drawing/2014/main" id="{626F6CCE-C448-43FC-9243-885F53D3EEB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2" name="">
            <a:extLst xmlns:a="http://schemas.openxmlformats.org/drawingml/2006/main">
              <a:ext uri="{FF2B5EF4-FFF2-40B4-BE49-F238E27FC236}">
                <a16:creationId xmlns:a16="http://schemas.microsoft.com/office/drawing/2014/main" id="{767C8928-B4F5-4010-9680-99CD56C4D796}"/>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39</a:t>
            </a:r>
          </a:p>
        </p:txBody>
      </p:sp>
    </p:spTree>
    <p:extLst>
      <p:ext uri="{BB962C8B-B14F-4D97-AF65-F5344CB8AC3E}">
        <p14:creationId xmlns:p14="http://schemas.microsoft.com/office/powerpoint/2010/main" val="1761704921"/>
      </p:ext>
    </p:extLst>
  </p:cSld>
  <p:transition spd="med" advClick="1">
    <p:fade/>
  </p:transition>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46e1681118643fe"/>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4f649f7bea045c8"/>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85404F3-18EB-496A-8D50-8664230F00F0}"/>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Reintentos e idempotencia</a:t>
            </a:r>
          </a:p>
        </p:txBody>
      </p:sp>
      <p:sp>
        <p:nvSpPr>
          <p:cNvPr id="11" name="">
            <a:extLst xmlns:a="http://schemas.openxmlformats.org/drawingml/2006/main">
              <a:ext uri="{FF2B5EF4-FFF2-40B4-BE49-F238E27FC236}">
                <a16:creationId xmlns:a16="http://schemas.microsoft.com/office/drawing/2014/main" id="{0F31B776-D388-4355-B333-C167F72AB465}"/>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Reintentar</a:t>
            </a:r>
          </a:p>
        </p:txBody>
      </p:sp>
      <p:sp>
        <p:nvSpPr>
          <p:cNvPr id="12" name="">
            <a:extLst xmlns:a="http://schemas.openxmlformats.org/drawingml/2006/main">
              <a:ext uri="{FF2B5EF4-FFF2-40B4-BE49-F238E27FC236}">
                <a16:creationId xmlns:a16="http://schemas.microsoft.com/office/drawing/2014/main" id="{BAFF7901-1EAE-47EE-993F-76B55C0EC54D}"/>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Una interrupción puede obligar a repetir una operación.</a:t>
            </a:r>
          </a:p>
        </p:txBody>
      </p:sp>
      <p:sp>
        <p:nvSpPr>
          <p:cNvPr id="13" name="">
            <a:extLst xmlns:a="http://schemas.openxmlformats.org/drawingml/2006/main">
              <a:ext uri="{FF2B5EF4-FFF2-40B4-BE49-F238E27FC236}">
                <a16:creationId xmlns:a16="http://schemas.microsoft.com/office/drawing/2014/main" id="{9E4109F0-84AB-4F9F-9E48-1BA50CFF9929}"/>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Evitar duplicación</a:t>
            </a:r>
          </a:p>
        </p:txBody>
      </p:sp>
      <p:sp>
        <p:nvSpPr>
          <p:cNvPr id="14" name="">
            <a:extLst xmlns:a="http://schemas.openxmlformats.org/drawingml/2006/main">
              <a:ext uri="{FF2B5EF4-FFF2-40B4-BE49-F238E27FC236}">
                <a16:creationId xmlns:a16="http://schemas.microsoft.com/office/drawing/2014/main" id="{014E974C-4DFF-4EE8-910F-8FC7815BD7A9}"/>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Conservar el original si existe y verificar su hash.</a:t>
            </a:r>
          </a:p>
        </p:txBody>
      </p:sp>
      <p:sp>
        <p:nvSpPr>
          <p:cNvPr id="15" name="">
            <a:extLst xmlns:a="http://schemas.openxmlformats.org/drawingml/2006/main">
              <a:ext uri="{FF2B5EF4-FFF2-40B4-BE49-F238E27FC236}">
                <a16:creationId xmlns:a16="http://schemas.microsoft.com/office/drawing/2014/main" id="{812D3EE1-A7E4-4FBD-8637-791CBF36AB0E}"/>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Resultado reproducible</a:t>
            </a:r>
          </a:p>
        </p:txBody>
      </p:sp>
      <p:sp>
        <p:nvSpPr>
          <p:cNvPr id="16" name="">
            <a:extLst xmlns:a="http://schemas.openxmlformats.org/drawingml/2006/main">
              <a:ext uri="{FF2B5EF4-FFF2-40B4-BE49-F238E27FC236}">
                <a16:creationId xmlns:a16="http://schemas.microsoft.com/office/drawing/2014/main" id="{57724542-49C1-4945-B8F0-51C29D5C9606}"/>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Los mismos datos y reglas deben producir el mismo resultado.</a:t>
            </a:r>
          </a:p>
        </p:txBody>
      </p:sp>
      <p:sp>
        <p:nvSpPr>
          <p:cNvPr id="17" name="">
            <a:extLst xmlns:a="http://schemas.openxmlformats.org/drawingml/2006/main">
              <a:ext uri="{FF2B5EF4-FFF2-40B4-BE49-F238E27FC236}">
                <a16:creationId xmlns:a16="http://schemas.microsoft.com/office/drawing/2014/main" id="{8BE9FC80-2331-4B93-892A-63F9E531F6D2}"/>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Diseñar qué ocurre al ejecutar el mismo paso por segunda vez</a:t>
            </a:r>
          </a:p>
        </p:txBody>
      </p:sp>
      <p:sp>
        <p:nvSpPr>
          <p:cNvPr id="32" name="">
            <a:extLst xmlns:a="http://schemas.openxmlformats.org/drawingml/2006/main">
              <a:ext uri="{FF2B5EF4-FFF2-40B4-BE49-F238E27FC236}">
                <a16:creationId xmlns:a16="http://schemas.microsoft.com/office/drawing/2014/main" id="{2AE9E9B1-378B-4C81-AE45-E2D6669EA76F}"/>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3" name="">
            <a:extLst xmlns:a="http://schemas.openxmlformats.org/drawingml/2006/main">
              <a:ext uri="{FF2B5EF4-FFF2-40B4-BE49-F238E27FC236}">
                <a16:creationId xmlns:a16="http://schemas.microsoft.com/office/drawing/2014/main" id="{41366EDB-CEA1-4ECF-885B-602376435AB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4" name="">
            <a:extLst xmlns:a="http://schemas.openxmlformats.org/drawingml/2006/main">
              <a:ext uri="{FF2B5EF4-FFF2-40B4-BE49-F238E27FC236}">
                <a16:creationId xmlns:a16="http://schemas.microsoft.com/office/drawing/2014/main" id="{329A33F3-D89C-496D-888F-D9810E87A4CF}"/>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5" name="">
            <a:extLst xmlns:a="http://schemas.openxmlformats.org/drawingml/2006/main">
              <a:ext uri="{FF2B5EF4-FFF2-40B4-BE49-F238E27FC236}">
                <a16:creationId xmlns:a16="http://schemas.microsoft.com/office/drawing/2014/main" id="{E64E1EDC-EF96-4E11-9B31-9B985B5313BC}"/>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40</a:t>
            </a:r>
          </a:p>
        </p:txBody>
      </p:sp>
    </p:spTree>
    <p:extLst>
      <p:ext uri="{BB962C8B-B14F-4D97-AF65-F5344CB8AC3E}">
        <p14:creationId xmlns:p14="http://schemas.microsoft.com/office/powerpoint/2010/main" val="108129071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95250a5185549b8"/>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2677B0B-118D-483C-879B-07DFDA7990E8}"/>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E01 · Pregunta y procedencia</a:t>
            </a:r>
          </a:p>
        </p:txBody>
      </p:sp>
      <p:sp>
        <p:nvSpPr>
          <p:cNvPr id="2" name="">
            <a:extLst xmlns:a="http://schemas.openxmlformats.org/drawingml/2006/main">
              <a:ext uri="{FF2B5EF4-FFF2-40B4-BE49-F238E27FC236}">
                <a16:creationId xmlns:a16="http://schemas.microsoft.com/office/drawing/2014/main" id="{F8B20E67-EE61-44C4-A675-4D295FD359F5}"/>
              </a:ext>
            </a:extLst>
          </p:cNvPr>
          <p:cNvSpPr>
            <a:spLocks xmlns:a="http://schemas.openxmlformats.org/drawingml/2006/main" noGrp="1"/>
          </p:cNvSpPr>
          <p:nvPr/>
        </p:nvSpPr>
        <p:spPr>
          <a:xfrm xmlns:a="http://schemas.openxmlformats.org/drawingml/2006/main">
            <a:off x="609600" y="1971675"/>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225" b="1">
                <a:solidFill>
                  <a:srgbClr val="1F3864"/>
                </a:solidFill>
                <a:latin typeface="Helvetica Neue"/>
                <a:ea typeface="Helvetica Neue"/>
                <a:cs typeface="Helvetica Neue"/>
              </a:defRPr>
            </a:pPr>
            <a:r>
              <a:rPr sz="3225" b="1">
                <a:solidFill>
                  <a:srgbClr val="1F3864"/>
                </a:solidFill>
                <a:latin typeface="Helvetica Neue"/>
                <a:ea typeface="Helvetica Neue"/>
                <a:cs typeface="Helvetica Neue"/>
              </a:rPr>
              <a:t>75 minutos</a:t>
            </a:r>
          </a:p>
        </p:txBody>
      </p:sp>
      <p:sp>
        <p:nvSpPr>
          <p:cNvPr id="3" name="">
            <a:extLst xmlns:a="http://schemas.openxmlformats.org/drawingml/2006/main">
              <a:ext uri="{FF2B5EF4-FFF2-40B4-BE49-F238E27FC236}">
                <a16:creationId xmlns:a16="http://schemas.microsoft.com/office/drawing/2014/main" id="{1687F385-A2A5-4A9E-8D29-1634998E7E7C}"/>
              </a:ext>
            </a:extLst>
          </p:cNvPr>
          <p:cNvSpPr>
            <a:spLocks xmlns:a="http://schemas.openxmlformats.org/drawingml/2006/main" noGrp="1"/>
          </p:cNvSpPr>
          <p:nvPr/>
        </p:nvSpPr>
        <p:spPr>
          <a:xfrm xmlns:a="http://schemas.openxmlformats.org/drawingml/2006/main">
            <a:off x="609600" y="28575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1F3864"/>
                </a:solidFill>
                <a:latin typeface="Helvetica Neue"/>
                <a:ea typeface="Helvetica Neue"/>
                <a:cs typeface="Helvetica Neue"/>
              </a:defRPr>
            </a:pPr>
            <a:r>
              <a:rPr sz="1500" b="1">
                <a:solidFill>
                  <a:srgbClr val="1F3864"/>
                </a:solidFill>
                <a:latin typeface="Helvetica Neue"/>
                <a:ea typeface="Helvetica Neue"/>
                <a:cs typeface="Helvetica Neue"/>
              </a:rPr>
              <a:t>DEMOSTRACIÓN DOCENTE</a:t>
            </a:r>
          </a:p>
        </p:txBody>
      </p:sp>
      <p:sp>
        <p:nvSpPr>
          <p:cNvPr id="4" name="">
            <a:extLst xmlns:a="http://schemas.openxmlformats.org/drawingml/2006/main">
              <a:ext uri="{FF2B5EF4-FFF2-40B4-BE49-F238E27FC236}">
                <a16:creationId xmlns:a16="http://schemas.microsoft.com/office/drawing/2014/main" id="{F16E2798-C1AB-4EA6-9CEA-E2CBC07B9819}"/>
              </a:ext>
            </a:extLst>
          </p:cNvPr>
          <p:cNvSpPr>
            <a:spLocks xmlns:a="http://schemas.openxmlformats.org/drawingml/2006/main" noGrp="1"/>
          </p:cNvSpPr>
          <p:nvPr/>
        </p:nvSpPr>
        <p:spPr>
          <a:xfrm xmlns:a="http://schemas.openxmlformats.org/drawingml/2006/main">
            <a:off x="3886200" y="1952625"/>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7E36C15A-3F92-4F0A-9746-BE305324192E}"/>
              </a:ext>
            </a:extLst>
          </p:cNvPr>
          <p:cNvSpPr>
            <a:spLocks xmlns:a="http://schemas.openxmlformats.org/drawingml/2006/main" noGrp="1"/>
          </p:cNvSpPr>
          <p:nvPr/>
        </p:nvSpPr>
        <p:spPr>
          <a:xfrm xmlns:a="http://schemas.openxmlformats.org/drawingml/2006/main">
            <a:off x="4638675" y="1952625"/>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Identificar la unidad de cada fuente.</a:t>
            </a:r>
          </a:p>
        </p:txBody>
      </p:sp>
      <p:sp>
        <p:nvSpPr>
          <p:cNvPr id="6" name="">
            <a:extLst xmlns:a="http://schemas.openxmlformats.org/drawingml/2006/main">
              <a:ext uri="{FF2B5EF4-FFF2-40B4-BE49-F238E27FC236}">
                <a16:creationId xmlns:a16="http://schemas.microsoft.com/office/drawing/2014/main" id="{AB818152-A747-405E-9B5E-5EA5119CCFDD}"/>
              </a:ext>
            </a:extLst>
          </p:cNvPr>
          <p:cNvSpPr>
            <a:spLocks xmlns:a="http://schemas.openxmlformats.org/drawingml/2006/main" noGrp="1"/>
          </p:cNvSpPr>
          <p:nvPr/>
        </p:nvSpPr>
        <p:spPr>
          <a:xfrm xmlns:a="http://schemas.openxmlformats.org/drawingml/2006/main">
            <a:off x="3886200" y="2686050"/>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26D25AAC-201B-4432-92BD-F5E263413D5D}"/>
              </a:ext>
            </a:extLst>
          </p:cNvPr>
          <p:cNvSpPr>
            <a:spLocks xmlns:a="http://schemas.openxmlformats.org/drawingml/2006/main" noGrp="1"/>
          </p:cNvSpPr>
          <p:nvPr/>
        </p:nvSpPr>
        <p:spPr>
          <a:xfrm xmlns:a="http://schemas.openxmlformats.org/drawingml/2006/main">
            <a:off x="4638675" y="2686050"/>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Formular una pregunta verificable.</a:t>
            </a:r>
          </a:p>
        </p:txBody>
      </p:sp>
      <p:sp>
        <p:nvSpPr>
          <p:cNvPr id="8" name="">
            <a:extLst xmlns:a="http://schemas.openxmlformats.org/drawingml/2006/main">
              <a:ext uri="{FF2B5EF4-FFF2-40B4-BE49-F238E27FC236}">
                <a16:creationId xmlns:a16="http://schemas.microsoft.com/office/drawing/2014/main" id="{37EE8A56-DDD1-48BB-ABF4-407E795E1DBD}"/>
              </a:ext>
            </a:extLst>
          </p:cNvPr>
          <p:cNvSpPr>
            <a:spLocks xmlns:a="http://schemas.openxmlformats.org/drawingml/2006/main" noGrp="1"/>
          </p:cNvSpPr>
          <p:nvPr/>
        </p:nvSpPr>
        <p:spPr>
          <a:xfrm xmlns:a="http://schemas.openxmlformats.org/drawingml/2006/main">
            <a:off x="3886200" y="3419475"/>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03</a:t>
            </a:r>
          </a:p>
        </p:txBody>
      </p:sp>
      <p:sp>
        <p:nvSpPr>
          <p:cNvPr id="9" name="">
            <a:extLst xmlns:a="http://schemas.openxmlformats.org/drawingml/2006/main">
              <a:ext uri="{FF2B5EF4-FFF2-40B4-BE49-F238E27FC236}">
                <a16:creationId xmlns:a16="http://schemas.microsoft.com/office/drawing/2014/main" id="{900F27D7-3BCB-4109-B215-FFA891D889CF}"/>
              </a:ext>
            </a:extLst>
          </p:cNvPr>
          <p:cNvSpPr>
            <a:spLocks xmlns:a="http://schemas.openxmlformats.org/drawingml/2006/main" noGrp="1"/>
          </p:cNvSpPr>
          <p:nvPr/>
        </p:nvSpPr>
        <p:spPr>
          <a:xfrm xmlns:a="http://schemas.openxmlformats.org/drawingml/2006/main">
            <a:off x="4638675" y="3419475"/>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Registrar procedencia, escala y límites.</a:t>
            </a:r>
          </a:p>
        </p:txBody>
      </p:sp>
      <p:sp>
        <p:nvSpPr>
          <p:cNvPr id="10" name="">
            <a:extLst xmlns:a="http://schemas.openxmlformats.org/drawingml/2006/main">
              <a:ext uri="{FF2B5EF4-FFF2-40B4-BE49-F238E27FC236}">
                <a16:creationId xmlns:a16="http://schemas.microsoft.com/office/drawing/2014/main" id="{0A80F400-5B90-47EB-9DD2-2304257EBE19}"/>
              </a:ext>
            </a:extLst>
          </p:cNvPr>
          <p:cNvSpPr>
            <a:spLocks xmlns:a="http://schemas.openxmlformats.org/drawingml/2006/main" noGrp="1"/>
          </p:cNvSpPr>
          <p:nvPr/>
        </p:nvSpPr>
        <p:spPr>
          <a:xfrm xmlns:a="http://schemas.openxmlformats.org/drawingml/2006/main">
            <a:off x="3886200" y="4152900"/>
            <a:ext cx="58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04</a:t>
            </a:r>
          </a:p>
        </p:txBody>
      </p:sp>
      <p:sp>
        <p:nvSpPr>
          <p:cNvPr id="11" name="">
            <a:extLst xmlns:a="http://schemas.openxmlformats.org/drawingml/2006/main">
              <a:ext uri="{FF2B5EF4-FFF2-40B4-BE49-F238E27FC236}">
                <a16:creationId xmlns:a16="http://schemas.microsoft.com/office/drawing/2014/main" id="{015A7E4A-1AAA-4DE1-9381-02A614015F0E}"/>
              </a:ext>
            </a:extLst>
          </p:cNvPr>
          <p:cNvSpPr>
            <a:spLocks xmlns:a="http://schemas.openxmlformats.org/drawingml/2006/main" noGrp="1"/>
          </p:cNvSpPr>
          <p:nvPr/>
        </p:nvSpPr>
        <p:spPr>
          <a:xfrm xmlns:a="http://schemas.openxmlformats.org/drawingml/2006/main">
            <a:off x="4638675" y="4152900"/>
            <a:ext cx="6791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0">
                <a:solidFill>
                  <a:srgbClr val="1F3864"/>
                </a:solidFill>
                <a:latin typeface="Helvetica Neue"/>
                <a:ea typeface="Helvetica Neue"/>
                <a:cs typeface="Helvetica Neue"/>
              </a:defRPr>
            </a:pPr>
            <a:r>
              <a:rPr sz="2100" b="0">
                <a:solidFill>
                  <a:srgbClr val="1F3864"/>
                </a:solidFill>
                <a:latin typeface="Helvetica Neue"/>
                <a:ea typeface="Helvetica Neue"/>
                <a:cs typeface="Helvetica Neue"/>
              </a:rPr>
              <a:t>El profesor contrasta dos fichas de ejemplo.</a:t>
            </a:r>
          </a:p>
        </p:txBody>
      </p:sp>
      <p:sp>
        <p:nvSpPr>
          <p:cNvPr id="12" name="">
            <a:extLst xmlns:a="http://schemas.openxmlformats.org/drawingml/2006/main">
              <a:ext uri="{FF2B5EF4-FFF2-40B4-BE49-F238E27FC236}">
                <a16:creationId xmlns:a16="http://schemas.microsoft.com/office/drawing/2014/main" id="{D78C9C5D-4827-4D1C-A5B3-E5136D2943FF}"/>
              </a:ext>
            </a:extLst>
          </p:cNvPr>
          <p:cNvSpPr>
            <a:spLocks xmlns:a="http://schemas.openxmlformats.org/drawingml/2006/main" noGrp="1"/>
          </p:cNvSpPr>
          <p:nvPr/>
        </p:nvSpPr>
        <p:spPr>
          <a:xfrm xmlns:a="http://schemas.openxmlformats.org/drawingml/2006/main">
            <a:off x="609600" y="5391150"/>
            <a:ext cx="1090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4239C8"/>
                </a:solidFill>
                <a:latin typeface="Helvetica Neue"/>
                <a:ea typeface="Helvetica Neue"/>
                <a:cs typeface="Helvetica Neue"/>
              </a:defRPr>
            </a:pPr>
            <a:r>
              <a:rPr sz="1875" b="1">
                <a:solidFill>
                  <a:srgbClr val="4239C8"/>
                </a:solidFill>
                <a:latin typeface="Helvetica Neue"/>
                <a:ea typeface="Helvetica Neue"/>
                <a:cs typeface="Helvetica Neue"/>
              </a:rPr>
              <a:t>Modelo docente: ficha de una página con pregunta, unidad, fuentes, criterio de éxito y dos límites.</a:t>
            </a:r>
          </a:p>
        </p:txBody>
      </p:sp>
      <p:sp>
        <p:nvSpPr>
          <p:cNvPr id="26" name="">
            <a:extLst xmlns:a="http://schemas.openxmlformats.org/drawingml/2006/main">
              <a:ext uri="{FF2B5EF4-FFF2-40B4-BE49-F238E27FC236}">
                <a16:creationId xmlns:a16="http://schemas.microsoft.com/office/drawing/2014/main" id="{D93C7150-9A8C-4F22-8A9C-04775F6E3A3E}"/>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7" name="">
            <a:extLst xmlns:a="http://schemas.openxmlformats.org/drawingml/2006/main">
              <a:ext uri="{FF2B5EF4-FFF2-40B4-BE49-F238E27FC236}">
                <a16:creationId xmlns:a16="http://schemas.microsoft.com/office/drawing/2014/main" id="{94915D8A-24A5-41EF-AA07-7F87F2A3F6C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E01 — Ejercicio 01: Pregunta y procedencia</a:t>
            </a:r>
          </a:p>
        </p:txBody>
      </p:sp>
      <p:sp>
        <p:nvSpPr>
          <p:cNvPr id="28" name="">
            <a:extLst xmlns:a="http://schemas.openxmlformats.org/drawingml/2006/main">
              <a:ext uri="{FF2B5EF4-FFF2-40B4-BE49-F238E27FC236}">
                <a16:creationId xmlns:a16="http://schemas.microsoft.com/office/drawing/2014/main" id="{D7F9A7D6-B2C0-47CF-8216-D4CD7C47BE5E}"/>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9" name="">
            <a:extLst xmlns:a="http://schemas.openxmlformats.org/drawingml/2006/main">
              <a:ext uri="{FF2B5EF4-FFF2-40B4-BE49-F238E27FC236}">
                <a16:creationId xmlns:a16="http://schemas.microsoft.com/office/drawing/2014/main" id="{044EBC99-EC16-484F-9E69-8A968770E50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41</a:t>
            </a:r>
          </a:p>
        </p:txBody>
      </p:sp>
    </p:spTree>
    <p:extLst>
      <p:ext uri="{BB962C8B-B14F-4D97-AF65-F5344CB8AC3E}">
        <p14:creationId xmlns:p14="http://schemas.microsoft.com/office/powerpoint/2010/main" val="718118225"/>
      </p:ext>
    </p:extLst>
  </p:cSld>
  <p:transition spd="med" advClick="1">
    <p:fade/>
  </p:transition>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6" name=""/>
          <p:cNvGraphicFramePr/>
          <p:nvPr/>
        </p:nvGraphicFramePr>
        <p:xfrm>
          <a:off xmlns:a="http://schemas.openxmlformats.org/drawingml/2006/main" x="609600" y="1809750"/>
          <a:ext xmlns:a="http://schemas.openxmlformats.org/drawingml/2006/main" cx="10972800" cy="3095625"/>
        </p:xfrm>
        <a:graphic xmlns:a="http://schemas.openxmlformats.org/drawingml/2006/main">
          <a:graphicData uri="http://schemas.openxmlformats.org/drawingml/2006/table">
            <a:tbl>
              <a:tblPr/>
              <a:tblGrid>
                <a:gridCol w="3072384"/>
                <a:gridCol w="7900416"/>
              </a:tblGrid>
              <a:tr h="619125">
                <a:tc>
                  <a:txBody>
                    <a:bodyPr/>
                    <a:lstStyle/>
                    <a:p>
                      <a:r>
                        <a:rPr sz="1725" b="1">
                          <a:solidFill>
                            <a:srgbClr val="FFFFFF"/>
                          </a:solidFill>
                          <a:latin typeface="Helvetica Neue"/>
                          <a:ea typeface="Helvetica Neue"/>
                          <a:cs typeface="Helvetica Neue"/>
                        </a:rPr>
                        <a:t>Elemento</a:t>
                      </a:r>
                    </a:p>
                  </a:txBody>
                  <a:tcPr marL="152400" marR="152400" marT="95250" marB="95250" anchor="ctr">
                    <a:solidFill>
                      <a:srgbClr val="4239C8"/>
                    </a:solidFill>
                  </a:tcPr>
                </a:tc>
                <a:tc>
                  <a:txBody>
                    <a:bodyPr/>
                    <a:lstStyle/>
                    <a:p>
                      <a:r>
                        <a:rPr sz="1725" b="1">
                          <a:solidFill>
                            <a:srgbClr val="FFFFFF"/>
                          </a:solidFill>
                          <a:latin typeface="Helvetica Neue"/>
                          <a:ea typeface="Helvetica Neue"/>
                          <a:cs typeface="Helvetica Neue"/>
                        </a:rPr>
                        <a:t>Pregunta de revisión</a:t>
                      </a:r>
                    </a:p>
                  </a:txBody>
                  <a:tcPr marL="152400" marR="152400" marT="95250" marB="95250" anchor="ctr">
                    <a:solidFill>
                      <a:srgbClr val="4239C8"/>
                    </a:solidFill>
                  </a:tcPr>
                </a:tc>
              </a:tr>
              <a:tr h="619125">
                <a:tc>
                  <a:txBody>
                    <a:bodyPr/>
                    <a:lstStyle/>
                    <a:p>
                      <a:r>
                        <a:rPr sz="1875" b="0">
                          <a:solidFill>
                            <a:srgbClr val="13262C"/>
                          </a:solidFill>
                          <a:latin typeface="Helvetica Neue"/>
                          <a:ea typeface="Helvetica Neue"/>
                          <a:cs typeface="Helvetica Neue"/>
                        </a:rPr>
                        <a:t>Decisión</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¿Quién actúa con el resultado?</a:t>
                      </a:r>
                    </a:p>
                  </a:txBody>
                  <a:tcPr marL="152400" marR="152400" marT="95250" marB="95250" anchor="ctr">
                    <a:solidFill>
                      <a:srgbClr val="F5F7F6"/>
                    </a:solidFill>
                  </a:tcPr>
                </a:tc>
              </a:tr>
              <a:tr h="619125">
                <a:tc>
                  <a:txBody>
                    <a:bodyPr/>
                    <a:lstStyle/>
                    <a:p>
                      <a:r>
                        <a:rPr sz="1875" b="0">
                          <a:solidFill>
                            <a:srgbClr val="13262C"/>
                          </a:solidFill>
                          <a:latin typeface="Helvetica Neue"/>
                          <a:ea typeface="Helvetica Neue"/>
                          <a:cs typeface="Helvetica Neue"/>
                        </a:rPr>
                        <a:t>Unidad</a:t>
                      </a:r>
                    </a:p>
                  </a:txBody>
                  <a:tcPr marL="152400" marR="152400" marT="95250" marB="95250" anchor="ctr">
                    <a:solidFill>
                      <a:srgbClr val="EBF1EF"/>
                    </a:solidFill>
                  </a:tcPr>
                </a:tc>
                <a:tc>
                  <a:txBody>
                    <a:bodyPr/>
                    <a:lstStyle/>
                    <a:p>
                      <a:r>
                        <a:rPr sz="1875" b="0">
                          <a:solidFill>
                            <a:srgbClr val="13262C"/>
                          </a:solidFill>
                          <a:latin typeface="Helvetica Neue"/>
                          <a:ea typeface="Helvetica Neue"/>
                          <a:cs typeface="Helvetica Neue"/>
                        </a:rPr>
                        <a:t>¿Cada fila representa la entidad que analizamos?</a:t>
                      </a:r>
                    </a:p>
                  </a:txBody>
                  <a:tcPr marL="152400" marR="152400" marT="95250" marB="95250" anchor="ctr">
                    <a:solidFill>
                      <a:srgbClr val="EBF1EF"/>
                    </a:solidFill>
                  </a:tcPr>
                </a:tc>
              </a:tr>
              <a:tr h="619125">
                <a:tc>
                  <a:txBody>
                    <a:bodyPr/>
                    <a:lstStyle/>
                    <a:p>
                      <a:r>
                        <a:rPr sz="1875" b="0">
                          <a:solidFill>
                            <a:srgbClr val="13262C"/>
                          </a:solidFill>
                          <a:latin typeface="Helvetica Neue"/>
                          <a:ea typeface="Helvetica Neue"/>
                          <a:cs typeface="Helvetica Neue"/>
                        </a:rPr>
                        <a:t>Criterio de éxito</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¿Podemos verificarlo al terminar?</a:t>
                      </a:r>
                    </a:p>
                  </a:txBody>
                  <a:tcPr marL="152400" marR="152400" marT="95250" marB="95250" anchor="ctr">
                    <a:solidFill>
                      <a:srgbClr val="F5F7F6"/>
                    </a:solidFill>
                  </a:tcPr>
                </a:tc>
              </a:tr>
              <a:tr h="619125">
                <a:tc>
                  <a:txBody>
                    <a:bodyPr/>
                    <a:lstStyle/>
                    <a:p>
                      <a:r>
                        <a:rPr sz="1875" b="0">
                          <a:solidFill>
                            <a:srgbClr val="13262C"/>
                          </a:solidFill>
                          <a:latin typeface="Helvetica Neue"/>
                          <a:ea typeface="Helvetica Neue"/>
                          <a:cs typeface="Helvetica Neue"/>
                        </a:rPr>
                        <a:t>Restricción</a:t>
                      </a:r>
                    </a:p>
                  </a:txBody>
                  <a:tcPr marL="152400" marR="152400" marT="95250" marB="95250" anchor="ctr">
                    <a:solidFill>
                      <a:srgbClr val="EBF1EF"/>
                    </a:solidFill>
                  </a:tcPr>
                </a:tc>
                <a:tc>
                  <a:txBody>
                    <a:bodyPr/>
                    <a:lstStyle/>
                    <a:p>
                      <a:r>
                        <a:rPr sz="1875" b="0">
                          <a:solidFill>
                            <a:srgbClr val="13262C"/>
                          </a:solidFill>
                          <a:latin typeface="Helvetica Neue"/>
                          <a:ea typeface="Helvetica Neue"/>
                          <a:cs typeface="Helvetica Neue"/>
                        </a:rPr>
                        <a:t>¿Cuál es el límite de tiempo, memoria o calidad?</a:t>
                      </a:r>
                    </a:p>
                  </a:txBody>
                  <a:tcPr marL="152400" marR="152400" marT="95250" marB="95250" anchor="ctr">
                    <a:solidFill>
                      <a:srgbClr val="EBF1EF"/>
                    </a:solidFill>
                  </a:tcPr>
                </a:tc>
              </a:tr>
            </a:tbl>
          </a:graphicData>
        </a:graphic>
      </p:graphicFrame>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89e8fcb5bf84e3c"/>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09D6824-F716-4765-9DB1-E2FFD6BD0DA3}"/>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Revisión de la ficha</a:t>
            </a:r>
          </a:p>
        </p:txBody>
      </p:sp>
      <p:sp>
        <p:nvSpPr>
          <p:cNvPr id="20" name="">
            <a:extLst xmlns:a="http://schemas.openxmlformats.org/drawingml/2006/main">
              <a:ext uri="{FF2B5EF4-FFF2-40B4-BE49-F238E27FC236}">
                <a16:creationId xmlns:a16="http://schemas.microsoft.com/office/drawing/2014/main" id="{A5B1E839-6439-4CA1-BD89-42527713844F}"/>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F936E143-0801-4E7F-BDFC-6F0E476F8063}"/>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D83C570D-DDBF-4D24-9B1E-297B49B3BFA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3" name="">
            <a:extLst xmlns:a="http://schemas.openxmlformats.org/drawingml/2006/main">
              <a:ext uri="{FF2B5EF4-FFF2-40B4-BE49-F238E27FC236}">
                <a16:creationId xmlns:a16="http://schemas.microsoft.com/office/drawing/2014/main" id="{794F0071-9110-4AFC-8B3C-6A9C41CF5649}"/>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42</a:t>
            </a:r>
          </a:p>
        </p:txBody>
      </p:sp>
    </p:spTree>
    <p:extLst>
      <p:ext uri="{BB962C8B-B14F-4D97-AF65-F5344CB8AC3E}">
        <p14:creationId xmlns:p14="http://schemas.microsoft.com/office/powerpoint/2010/main" val="508190701"/>
      </p:ext>
    </p:extLst>
  </p:cSld>
  <p:transition spd="med" advClick="1">
    <p:fade/>
  </p:transition>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70bf8be1b474a2c"/>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5066509-6377-41FC-A0B7-F9749A340C2C}"/>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Salida de la sesión</a:t>
            </a:r>
          </a:p>
        </p:txBody>
      </p:sp>
      <p:sp>
        <p:nvSpPr>
          <p:cNvPr id="2" name="">
            <a:extLst xmlns:a="http://schemas.openxmlformats.org/drawingml/2006/main">
              <a:ext uri="{FF2B5EF4-FFF2-40B4-BE49-F238E27FC236}">
                <a16:creationId xmlns:a16="http://schemas.microsoft.com/office/drawing/2014/main" id="{F0A9FB6B-C018-4333-80F8-F274F4FF04D7}"/>
              </a:ext>
            </a:extLst>
          </p:cNvPr>
          <p:cNvSpPr>
            <a:spLocks xmlns:a="http://schemas.openxmlformats.org/drawingml/2006/main" noGrp="1"/>
          </p:cNvSpPr>
          <p:nvPr/>
        </p:nvSpPr>
        <p:spPr>
          <a:xfrm xmlns:a="http://schemas.openxmlformats.org/drawingml/2006/main">
            <a:off x="609600" y="2019300"/>
            <a:ext cx="10477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F3864"/>
                </a:solidFill>
                <a:latin typeface="Helvetica Neue"/>
                <a:ea typeface="Helvetica Neue"/>
                <a:cs typeface="Helvetica Neue"/>
              </a:defRPr>
            </a:pPr>
            <a:r>
              <a:rPr sz="3450" b="1">
                <a:solidFill>
                  <a:srgbClr val="1F3864"/>
                </a:solidFill>
                <a:latin typeface="Helvetica Neue"/>
                <a:ea typeface="Helvetica Neue"/>
                <a:cs typeface="Helvetica Neue"/>
              </a:rPr>
              <a:t>¿Qué evidencia justificaría añadir máquinas en tu caso?</a:t>
            </a:r>
          </a:p>
        </p:txBody>
      </p:sp>
      <p:sp>
        <p:nvSpPr>
          <p:cNvPr id="3" name="">
            <a:extLst xmlns:a="http://schemas.openxmlformats.org/drawingml/2006/main">
              <a:ext uri="{FF2B5EF4-FFF2-40B4-BE49-F238E27FC236}">
                <a16:creationId xmlns:a16="http://schemas.microsoft.com/office/drawing/2014/main" id="{401A4390-49E0-4DF1-A238-9FEC87628434}"/>
              </a:ext>
            </a:extLst>
          </p:cNvPr>
          <p:cNvSpPr>
            <a:spLocks xmlns:a="http://schemas.openxmlformats.org/drawingml/2006/main" noGrp="1"/>
          </p:cNvSpPr>
          <p:nvPr/>
        </p:nvSpPr>
        <p:spPr>
          <a:xfrm xmlns:a="http://schemas.openxmlformats.org/drawingml/2006/main">
            <a:off x="609600" y="54387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Respuesta individual y discusión en grupo</a:t>
            </a:r>
          </a:p>
        </p:txBody>
      </p:sp>
      <p:sp>
        <p:nvSpPr>
          <p:cNvPr id="17" name="">
            <a:extLst xmlns:a="http://schemas.openxmlformats.org/drawingml/2006/main">
              <a:ext uri="{FF2B5EF4-FFF2-40B4-BE49-F238E27FC236}">
                <a16:creationId xmlns:a16="http://schemas.microsoft.com/office/drawing/2014/main" id="{2610A8C7-A216-4F0D-9C50-5E002396638B}"/>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B8BF23BE-B2E2-405F-9F07-5D38908A17B7}"/>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9" name="">
            <a:extLst xmlns:a="http://schemas.openxmlformats.org/drawingml/2006/main">
              <a:ext uri="{FF2B5EF4-FFF2-40B4-BE49-F238E27FC236}">
                <a16:creationId xmlns:a16="http://schemas.microsoft.com/office/drawing/2014/main" id="{6FE283B4-323A-450D-9876-4DC6AC60369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0" name="">
            <a:extLst xmlns:a="http://schemas.openxmlformats.org/drawingml/2006/main">
              <a:ext uri="{FF2B5EF4-FFF2-40B4-BE49-F238E27FC236}">
                <a16:creationId xmlns:a16="http://schemas.microsoft.com/office/drawing/2014/main" id="{AA4FB4DD-DAA5-4200-A249-7213DDE7C722}"/>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43</a:t>
            </a:r>
          </a:p>
        </p:txBody>
      </p:sp>
    </p:spTree>
    <p:extLst>
      <p:ext uri="{BB962C8B-B14F-4D97-AF65-F5344CB8AC3E}">
        <p14:creationId xmlns:p14="http://schemas.microsoft.com/office/powerpoint/2010/main" val="254453879"/>
      </p:ext>
    </p:extLst>
  </p:cSld>
  <p:transition spd="med" advClick="1">
    <p:fade/>
  </p:transition>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821c9de0c4b4e9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8DE39A-03A4-42B5-BC9E-C6AFC1C6F457}"/>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Cierre de la demostración</a:t>
            </a:r>
          </a:p>
        </p:txBody>
      </p:sp>
      <p:sp>
        <p:nvSpPr>
          <p:cNvPr id="3" name="">
            <a:extLst xmlns:a="http://schemas.openxmlformats.org/drawingml/2006/main">
              <a:ext uri="{FF2B5EF4-FFF2-40B4-BE49-F238E27FC236}">
                <a16:creationId xmlns:a16="http://schemas.microsoft.com/office/drawing/2014/main" id="{56EDC11D-E068-4640-BEDB-967EC96851AB}"/>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Referencia que comparte el profesor</a:t>
            </a:r>
          </a:p>
        </p:txBody>
      </p:sp>
      <p:sp>
        <p:nvSpPr>
          <p:cNvPr id="4" name="">
            <a:extLst xmlns:a="http://schemas.openxmlformats.org/drawingml/2006/main">
              <a:ext uri="{FF2B5EF4-FFF2-40B4-BE49-F238E27FC236}">
                <a16:creationId xmlns:a16="http://schemas.microsoft.com/office/drawing/2014/main" id="{2A22E038-1303-41C9-9E9A-C74168B78625}"/>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Código, configuración y ejemplo de controles para reproducir el procedimiento.</a:t>
            </a:r>
          </a:p>
        </p:txBody>
      </p:sp>
      <p:sp>
        <p:nvSpPr>
          <p:cNvPr id="5" name="">
            <a:extLst xmlns:a="http://schemas.openxmlformats.org/drawingml/2006/main">
              <a:ext uri="{FF2B5EF4-FFF2-40B4-BE49-F238E27FC236}">
                <a16:creationId xmlns:a16="http://schemas.microsoft.com/office/drawing/2014/main" id="{09D4E604-6B91-4F8C-B1BB-390B58485E58}"/>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Trabajo del sábado</a:t>
            </a:r>
          </a:p>
        </p:txBody>
      </p:sp>
      <p:sp>
        <p:nvSpPr>
          <p:cNvPr id="6" name="">
            <a:extLst xmlns:a="http://schemas.openxmlformats.org/drawingml/2006/main">
              <a:ext uri="{FF2B5EF4-FFF2-40B4-BE49-F238E27FC236}">
                <a16:creationId xmlns:a16="http://schemas.microsoft.com/office/drawing/2014/main" id="{20DF2195-A554-48C1-97F8-D78B6F857118}"/>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Ficha de problema, presupuesto de recursos, manifiesto, perfil y claves territoriales.</a:t>
            </a:r>
          </a:p>
        </p:txBody>
      </p:sp>
      <p:sp>
        <p:nvSpPr>
          <p:cNvPr id="7" name="">
            <a:extLst xmlns:a="http://schemas.openxmlformats.org/drawingml/2006/main">
              <a:ext uri="{FF2B5EF4-FFF2-40B4-BE49-F238E27FC236}">
                <a16:creationId xmlns:a16="http://schemas.microsoft.com/office/drawing/2014/main" id="{1970A20B-6B0F-4752-929A-165E497759D8}"/>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Entrega durante la clase</a:t>
            </a:r>
          </a:p>
        </p:txBody>
      </p:sp>
      <p:sp>
        <p:nvSpPr>
          <p:cNvPr id="8" name="">
            <a:extLst xmlns:a="http://schemas.openxmlformats.org/drawingml/2006/main">
              <a:ext uri="{FF2B5EF4-FFF2-40B4-BE49-F238E27FC236}">
                <a16:creationId xmlns:a16="http://schemas.microsoft.com/office/drawing/2014/main" id="{BFAF9CBE-6AD5-433A-9E62-BBBB0ED042F1}"/>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2026-10-03 · 16:45–17:00. Los estudiantes ejecutan, verifican y documentan sus propios resultados.</a:t>
            </a:r>
          </a:p>
        </p:txBody>
      </p:sp>
      <p:sp>
        <p:nvSpPr>
          <p:cNvPr id="9" name="">
            <a:extLst xmlns:a="http://schemas.openxmlformats.org/drawingml/2006/main">
              <a:ext uri="{FF2B5EF4-FFF2-40B4-BE49-F238E27FC236}">
                <a16:creationId xmlns:a16="http://schemas.microsoft.com/office/drawing/2014/main" id="{FF9E0EA1-ACA7-48BA-986C-5DE9579414F3}"/>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No se solicita entrega el viernes ni trabajo autónomo obligatorio.</a:t>
            </a:r>
          </a:p>
        </p:txBody>
      </p:sp>
      <p:sp>
        <p:nvSpPr>
          <p:cNvPr id="10" name="">
            <a:extLst xmlns:a="http://schemas.openxmlformats.org/drawingml/2006/main">
              <a:ext uri="{FF2B5EF4-FFF2-40B4-BE49-F238E27FC236}">
                <a16:creationId xmlns:a16="http://schemas.microsoft.com/office/drawing/2014/main" id="{D94A0B7E-8C55-478C-B465-986602324331}"/>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A7D0BD68-F0A5-4604-8DCC-8017E83CACD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2" name="">
            <a:extLst xmlns:a="http://schemas.openxmlformats.org/drawingml/2006/main">
              <a:ext uri="{FF2B5EF4-FFF2-40B4-BE49-F238E27FC236}">
                <a16:creationId xmlns:a16="http://schemas.microsoft.com/office/drawing/2014/main" id="{1D4102A4-5E26-45A5-9972-786946097B9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3" name="">
            <a:extLst xmlns:a="http://schemas.openxmlformats.org/drawingml/2006/main">
              <a:ext uri="{FF2B5EF4-FFF2-40B4-BE49-F238E27FC236}">
                <a16:creationId xmlns:a16="http://schemas.microsoft.com/office/drawing/2014/main" id="{9A35D2E9-9B18-4B15-82E3-2B57B185B325}"/>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44</a:t>
            </a:r>
          </a:p>
        </p:txBody>
      </p:sp>
    </p:spTree>
    <p:extLst>
      <p:ext uri="{BB962C8B-B14F-4D97-AF65-F5344CB8AC3E}">
        <p14:creationId xmlns:p14="http://schemas.microsoft.com/office/powerpoint/2010/main" val="140395024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2026-10-07T19:41:19.1530000Z</dcterms:created>
  <dcterms:modified xsi:type="dcterms:W3CDTF">2026-10-07T19:41:19.1530000Z</dcterms:modified>
</coreProperties>
</file>